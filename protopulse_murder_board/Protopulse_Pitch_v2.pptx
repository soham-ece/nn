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B2430"/>
                </a:solidFill>
                <a:latin typeface="Verdana"/>
              </a:defRPr>
            </a:pPr>
            <a:r>
              <a:rPr sz="900" b="0" i="0" u="none" strike="noStrike">
                <a:solidFill>
                  <a:srgbClr val="1B2430"/>
                </a:solidFill>
                <a:latin typeface="Verdana"/>
              </a:rPr>
              <a:t>Target minutes per step (100 × 160 mm, ~40 parts)</a:t>
            </a:r>
          </a:p>
        </c:rich>
      </c:tx>
      <c:layout/>
      <c:overlay val="0"/>
    </c:title>
    <c:autoTitleDeleted val="0"/>
    <c:plotArea>
      <c:layout/>
      <c:barChart>
        <c:barDir val="bar"/>
        <c:grouping val="clustered"/>
        <c:varyColors val="0"/>
        <c:ser>
          <c:idx val="0"/>
          <c:order val="0"/>
          <c:tx>
            <c:strRef>
              <c:f>Sheet1!$B$1</c:f>
              <c:strCache>
                <c:ptCount val="1"/>
                <c:pt idx="0">
                  <c:v>Low (min)</c:v>
                </c:pt>
              </c:strCache>
            </c:strRef>
          </c:tx>
          <c:spPr>
            <a:solidFill>
              <a:srgbClr val="7A7468"/>
            </a:solidFill>
            <a:effectLst/>
          </c:spPr>
          <c:invertIfNegative val="0"/>
          <c:dLbls>
            <c:numFmt formatCode="#,##0" sourceLinked="0"/>
            <c:txPr>
              <a:bodyPr/>
              <a:lstStyle/>
              <a:p>
                <a:pPr>
                  <a:defRPr b="0" i="0" strike="noStrike" sz="650" u="none">
                    <a:solidFill>
                      <a:srgbClr val="1B2430"/>
                    </a:solidFill>
                    <a:latin typeface="Arial"/>
                  </a:defRPr>
                </a:pPr>
              </a:p>
            </c:txPr>
            <c:showLegendKey val="0"/>
            <c:showVal val="1"/>
            <c:showCatName val="0"/>
            <c:showSerName val="0"/>
            <c:showPercent val="0"/>
            <c:showBubbleSize val="0"/>
            <c:showLeaderLines val="0"/>
          </c:dLbls>
          <c:cat>
            <c:multiLvlStrRef>
              <c:f>Sheet1!$A$2:$A$14</c:f>
              <c:multiLvlStrCache>
                <c:ptCount val="13"/>
                <c:lvl>
                  <c:pt idx="0">
                    <c:v>Load + probe</c:v>
                  </c:pt>
                  <c:pt idx="1">
                    <c:v>Mill</c:v>
                  </c:pt>
                  <c:pt idx="2">
                    <c:v>Drill</c:v>
                  </c:pt>
                  <c:pt idx="3">
                    <c:v>Clean</c:v>
                  </c:pt>
                  <c:pt idx="4">
                    <c:v>Mask coat</c:v>
                  </c:pt>
                  <c:pt idx="5">
                    <c:v>UV image</c:v>
                  </c:pt>
                  <c:pt idx="6">
                    <c:v>Develop + dry</c:v>
                  </c:pt>
                  <c:pt idx="7">
                    <c:v>Flood cure</c:v>
                  </c:pt>
                  <c:pt idx="8">
                    <c:v>Laser stencil</c:v>
                  </c:pt>
                  <c:pt idx="9">
                    <c:v>Paste + release</c:v>
                  </c:pt>
                  <c:pt idx="10">
                    <c:v>Place (manual)</c:v>
                  </c:pt>
                  <c:pt idx="11">
                    <c:v>Reflow + cool</c:v>
                  </c:pt>
                  <c:pt idx="12">
                    <c:v>Test on Mixer</c:v>
                  </c:pt>
                </c:lvl>
              </c:multiLvlStrCache>
            </c:multiLvlStrRef>
          </c:cat>
          <c:val>
            <c:numRef>
              <c:f>Sheet1!$B$2:$B$14</c:f>
              <c:numCache>
                <c:formatCode>General</c:formatCode>
                <c:ptCount val="13"/>
                <c:pt idx="0">
                  <c:v>5</c:v>
                </c:pt>
                <c:pt idx="1">
                  <c:v>25</c:v>
                </c:pt>
                <c:pt idx="2">
                  <c:v>5</c:v>
                </c:pt>
                <c:pt idx="3">
                  <c:v>2</c:v>
                </c:pt>
                <c:pt idx="4">
                  <c:v>3</c:v>
                </c:pt>
                <c:pt idx="5">
                  <c:v>2</c:v>
                </c:pt>
                <c:pt idx="6">
                  <c:v>4</c:v>
                </c:pt>
                <c:pt idx="7">
                  <c:v>5</c:v>
                </c:pt>
                <c:pt idx="8">
                  <c:v>5</c:v>
                </c:pt>
                <c:pt idx="9">
                  <c:v>3</c:v>
                </c:pt>
                <c:pt idx="10">
                  <c:v>7</c:v>
                </c:pt>
                <c:pt idx="11">
                  <c:v>10</c:v>
                </c:pt>
                <c:pt idx="12">
                  <c:v>5</c:v>
                </c:pt>
              </c:numCache>
            </c:numRef>
          </c:val>
        </c:ser>
        <c:ser>
          <c:idx val="1"/>
          <c:order val="1"/>
          <c:tx>
            <c:strRef>
              <c:f>Sheet1!$C$1</c:f>
              <c:strCache>
                <c:ptCount val="1"/>
                <c:pt idx="0">
                  <c:v>High (min)</c:v>
                </c:pt>
              </c:strCache>
            </c:strRef>
          </c:tx>
          <c:spPr>
            <a:solidFill>
              <a:srgbClr val="C8834A"/>
            </a:solidFill>
            <a:effectLst/>
          </c:spPr>
          <c:invertIfNegative val="0"/>
          <c:dLbls>
            <c:numFmt formatCode="#,##0" sourceLinked="0"/>
            <c:txPr>
              <a:bodyPr/>
              <a:lstStyle/>
              <a:p>
                <a:pPr>
                  <a:defRPr b="0" i="0" strike="noStrike" sz="650" u="none">
                    <a:solidFill>
                      <a:srgbClr val="1B2430"/>
                    </a:solidFill>
                    <a:latin typeface="Arial"/>
                  </a:defRPr>
                </a:pPr>
              </a:p>
            </c:txPr>
            <c:showLegendKey val="0"/>
            <c:showVal val="1"/>
            <c:showCatName val="0"/>
            <c:showSerName val="0"/>
            <c:showPercent val="0"/>
            <c:showBubbleSize val="0"/>
            <c:showLeaderLines val="0"/>
          </c:dLbls>
          <c:cat>
            <c:multiLvlStrRef>
              <c:f>Sheet1!$A$2:$A$14</c:f>
              <c:multiLvlStrCache>
                <c:ptCount val="13"/>
                <c:lvl>
                  <c:pt idx="0">
                    <c:v>Load + probe</c:v>
                  </c:pt>
                  <c:pt idx="1">
                    <c:v>Mill</c:v>
                  </c:pt>
                  <c:pt idx="2">
                    <c:v>Drill</c:v>
                  </c:pt>
                  <c:pt idx="3">
                    <c:v>Clean</c:v>
                  </c:pt>
                  <c:pt idx="4">
                    <c:v>Mask coat</c:v>
                  </c:pt>
                  <c:pt idx="5">
                    <c:v>UV image</c:v>
                  </c:pt>
                  <c:pt idx="6">
                    <c:v>Develop + dry</c:v>
                  </c:pt>
                  <c:pt idx="7">
                    <c:v>Flood cure</c:v>
                  </c:pt>
                  <c:pt idx="8">
                    <c:v>Laser stencil</c:v>
                  </c:pt>
                  <c:pt idx="9">
                    <c:v>Paste + release</c:v>
                  </c:pt>
                  <c:pt idx="10">
                    <c:v>Place (manual)</c:v>
                  </c:pt>
                  <c:pt idx="11">
                    <c:v>Reflow + cool</c:v>
                  </c:pt>
                  <c:pt idx="12">
                    <c:v>Test on Mixer</c:v>
                  </c:pt>
                </c:lvl>
              </c:multiLvlStrCache>
            </c:multiLvlStrRef>
          </c:cat>
          <c:val>
            <c:numRef>
              <c:f>Sheet1!$C$2:$C$14</c:f>
              <c:numCache>
                <c:formatCode>General</c:formatCode>
                <c:ptCount val="13"/>
                <c:pt idx="0">
                  <c:v>5</c:v>
                </c:pt>
                <c:pt idx="1">
                  <c:v>45</c:v>
                </c:pt>
                <c:pt idx="2">
                  <c:v>10</c:v>
                </c:pt>
                <c:pt idx="3">
                  <c:v>2</c:v>
                </c:pt>
                <c:pt idx="4">
                  <c:v>5</c:v>
                </c:pt>
                <c:pt idx="5">
                  <c:v>4</c:v>
                </c:pt>
                <c:pt idx="6">
                  <c:v>6</c:v>
                </c:pt>
                <c:pt idx="7">
                  <c:v>10</c:v>
                </c:pt>
                <c:pt idx="8">
                  <c:v>10</c:v>
                </c:pt>
                <c:pt idx="9">
                  <c:v>3</c:v>
                </c:pt>
                <c:pt idx="10">
                  <c:v>14</c:v>
                </c:pt>
                <c:pt idx="11">
                  <c:v>12</c:v>
                </c:pt>
                <c:pt idx="12">
                  <c:v>15</c:v>
                </c:pt>
              </c:numCache>
            </c:numRef>
          </c:val>
        </c:ser>
        <c:dLbls>
          <c:numFmt formatCode="#,##0" sourceLinked="0"/>
          <c:txPr>
            <a:bodyPr/>
            <a:lstStyle/>
            <a:p>
              <a:pPr>
                <a:defRPr b="0" i="0" strike="noStrike" sz="65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B2430"/>
                </a:solidFill>
                <a:latin typeface="Verdana"/>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CE7D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700" b="0" i="0" u="none" strike="noStrike">
                <a:solidFill>
                  <a:srgbClr val="6B6459"/>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750">
              <a:latin typeface="Verdana"/>
              <a:cs typeface="Verdana"/>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B2430"/>
                </a:solidFill>
                <a:latin typeface="Verdana"/>
              </a:defRPr>
            </a:pPr>
            <a:r>
              <a:rPr sz="900" b="0" i="0" u="none" strike="noStrike">
                <a:solidFill>
                  <a:srgbClr val="1B2430"/>
                </a:solidFill>
                <a:latin typeface="Verdana"/>
              </a:rPr>
              <a:t>Baker (₹)</a:t>
            </a:r>
          </a:p>
        </c:rich>
      </c:tx>
      <c:layout/>
      <c:overlay val="0"/>
    </c:title>
    <c:autoTitleDeleted val="0"/>
    <c:plotArea>
      <c:layout/>
      <c:barChart>
        <c:barDir val="col"/>
        <c:grouping val="clustered"/>
        <c:varyColors val="0"/>
        <c:ser>
          <c:idx val="0"/>
          <c:order val="0"/>
          <c:tx>
            <c:strRef>
              <c:f>Sheet1!$B$1</c:f>
              <c:strCache>
                <c:ptCount val="1"/>
                <c:pt idx="0">
                  <c:v>Baker</c:v>
                </c:pt>
              </c:strCache>
            </c:strRef>
          </c:tx>
          <c:spPr>
            <a:solidFill>
              <a:srgbClr val="7A7468"/>
            </a:solidFill>
            <a:effectLst/>
          </c:spPr>
          <c:invertIfNegative val="0"/>
          <c:dLbls>
            <c:numFmt formatCode="[&gt;=100000]&quot;₹&quot;##\,##\,##0;&quot;₹&quot;#,##0" sourceLinked="0"/>
            <c:txPr>
              <a:bodyPr/>
              <a:lstStyle/>
              <a:p>
                <a:pPr>
                  <a:defRPr b="0" i="0" strike="noStrike" sz="850" u="none">
                    <a:solidFill>
                      <a:srgbClr val="000000"/>
                    </a:solidFill>
                    <a:latin typeface="Verdana"/>
                  </a:defRPr>
                </a:pPr>
              </a:p>
            </c:txPr>
            <c:showLegendKey val="0"/>
            <c:showVal val="1"/>
            <c:showCatName val="0"/>
            <c:showSerName val="0"/>
            <c:showPercent val="0"/>
            <c:showBubbleSize val="0"/>
            <c:showLeaderLines val="0"/>
          </c:dLbls>
          <c:dPt>
            <c:idx val="0"/>
            <c:invertIfNegative val="0"/>
            <c:bubble3D val="0"/>
            <c:spPr>
              <a:solidFill>
                <a:srgbClr val="7A7468"/>
              </a:solidFill>
              <a:effectLst/>
            </c:spPr>
          </c:dPt>
          <c:dPt>
            <c:idx val="1"/>
            <c:invertIfNegative val="0"/>
            <c:bubble3D val="0"/>
            <c:spPr>
              <a:solidFill>
                <a:srgbClr val="C8834A"/>
              </a:solidFill>
              <a:effectLst/>
            </c:spPr>
          </c:dPt>
          <c:dPt>
            <c:idx val="2"/>
            <c:invertIfNegative val="0"/>
            <c:bubble3D val="0"/>
            <c:spPr>
              <a:solidFill>
                <a:srgbClr val="1B2430"/>
              </a:solidFill>
              <a:effectLst/>
            </c:spPr>
          </c:dPt>
          <c:cat>
            <c:multiLvlStrRef>
              <c:f>Sheet1!$A$2:$A$4</c:f>
              <c:multiLvlStrCache>
                <c:ptCount val="3"/>
                <c:lvl>
                  <c:pt idx="0">
                    <c:v>Prototype build (India)</c:v>
                  </c:pt>
                  <c:pt idx="1">
                    <c:v>Production unit (China parts, Delhi build)</c:v>
                  </c:pt>
                  <c:pt idx="2">
                    <c:v>Proposed price (ex-GST)</c:v>
                  </c:pt>
                </c:lvl>
              </c:multiLvlStrCache>
            </c:multiLvlStrRef>
          </c:cat>
          <c:val>
            <c:numRef>
              <c:f>Sheet1!$B$2:$B$4</c:f>
              <c:numCache>
                <c:formatCode>General</c:formatCode>
                <c:ptCount val="3"/>
                <c:pt idx="0">
                  <c:v>373418</c:v>
                </c:pt>
                <c:pt idx="1">
                  <c:v>144842</c:v>
                </c:pt>
                <c:pt idx="2">
                  <c:v>349000</c:v>
                </c:pt>
              </c:numCache>
            </c:numRef>
          </c:val>
        </c:ser>
        <c:dLbls>
          <c:numFmt formatCode="[&gt;=100000]&quot;₹&quot;##\,##\,##0;&quot;₹&quot;#,##0" sourceLinked="0"/>
          <c:txPr>
            <a:bodyPr/>
            <a:lstStyle/>
            <a:p>
              <a:pPr>
                <a:defRPr b="0" i="0" strike="noStrike" sz="850" u="none">
                  <a:solidFill>
                    <a:srgbClr val="000000"/>
                  </a:solidFill>
                  <a:latin typeface="Verdana"/>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B2430"/>
                </a:solidFill>
                <a:latin typeface="Verdana"/>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v>
                </c:pt>
              </c:strCache>
            </c:strRef>
          </c:tx>
          <c:spPr>
            <a:solidFill>
              <a:srgbClr val="C8834A"/>
            </a:solidFill>
            <a:effectLst/>
          </c:spPr>
          <c:invertIfNegative val="0"/>
          <c:dLbls>
            <c:numFmt formatCode="[&gt;=100000]&quot;₹&quot;##\,##\,##0;&quot;₹&quot;#,##0" sourceLinked="0"/>
            <c:txPr>
              <a:bodyPr/>
              <a:lstStyle/>
              <a:p>
                <a:pPr>
                  <a:defRPr b="0" i="0" strike="noStrike" sz="800" u="none">
                    <a:solidFill>
                      <a:srgbClr val="000000"/>
                    </a:solidFill>
                    <a:latin typeface="Verdana"/>
                  </a:defRPr>
                </a:pPr>
              </a:p>
            </c:txPr>
            <c:showLegendKey val="0"/>
            <c:showVal val="1"/>
            <c:showCatName val="0"/>
            <c:showSerName val="0"/>
            <c:showPercent val="0"/>
            <c:showBubbleSize val="0"/>
            <c:showLeaderLines val="0"/>
          </c:dLbls>
          <c:cat>
            <c:multiLvlStrRef>
              <c:f>Sheet1!$A$2:$A$9</c:f>
              <c:multiLvlStrCache>
                <c:ptCount val="8"/>
                <c:lvl>
                  <c:pt idx="0">
                    <c:v>Baker prototype</c:v>
                  </c:pt>
                  <c:pt idx="1">
                    <c:v>Process validation</c:v>
                  </c:pt>
                  <c:pt idx="2">
                    <c:v>Proto software</c:v>
                  </c:pt>
                  <c:pt idx="3">
                    <c:v>Safety + IP</c:v>
                  </c:pt>
                  <c:pt idx="4">
                    <c:v>Reserve</c:v>
                  </c:pt>
                  <c:pt idx="5">
                    <c:v>Workshop tools</c:v>
                  </c:pt>
                  <c:pt idx="6">
                    <c:v>Pilot programme</c:v>
                  </c:pt>
                  <c:pt idx="7">
                    <c:v>Mixer (test head)</c:v>
                  </c:pt>
                </c:lvl>
              </c:multiLvlStrCache>
            </c:multiLvlStrRef>
          </c:cat>
          <c:val>
            <c:numRef>
              <c:f>Sheet1!$B$2:$B$9</c:f>
              <c:numCache>
                <c:formatCode>General</c:formatCode>
                <c:ptCount val="8"/>
                <c:pt idx="0">
                  <c:v>373418</c:v>
                </c:pt>
                <c:pt idx="1">
                  <c:v>120000</c:v>
                </c:pt>
                <c:pt idx="2">
                  <c:v>100000</c:v>
                </c:pt>
                <c:pt idx="3">
                  <c:v>90000</c:v>
                </c:pt>
                <c:pt idx="4">
                  <c:v>86735</c:v>
                </c:pt>
                <c:pt idx="5">
                  <c:v>80000</c:v>
                </c:pt>
                <c:pt idx="6">
                  <c:v>75000</c:v>
                </c:pt>
                <c:pt idx="7">
                  <c:v>74847</c:v>
                </c:pt>
              </c:numCache>
            </c:numRef>
          </c:val>
        </c:ser>
        <c:dLbls>
          <c:numFmt formatCode="[&gt;=100000]&quot;₹&quot;##\,##\,##0;&quot;₹&quot;#,##0" sourceLinked="0"/>
          <c:txPr>
            <a:bodyPr/>
            <a:lstStyle/>
            <a:p>
              <a:pPr>
                <a:defRPr b="0" i="0" strike="noStrike" sz="800" u="none">
                  <a:solidFill>
                    <a:srgbClr val="000000"/>
                  </a:solidFill>
                  <a:latin typeface="Verdana"/>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1B2430"/>
                </a:solidFill>
                <a:latin typeface="Verdan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company, not the machines. ProtoPulse builds the physical layer an AI needs to prototype hardware. Proto is the product; Baker and Mixer are the first two machines it drives. This version responds to Prateek's round-1 feedback: softer claims, Proto-first, Baker-first raise, full competition and cost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investor we listened. Each row maps a round-1 comment to the slide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Software has a closed loop: the model writes code, runs it and reads the error. That is why a commerce graduate can ship an app. In hardware the loop breaks at the physical world. A board takes 7 to 20 days to reach India, and nobody measures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that the AI part is real. Investors have put about $100M into AI that produces hardware files. Every one of these outputs a file. None of them owns a machine that makes the board or an instrument that tells the model whether the board works. That missing loop is ProtoPulse.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learning-curve argument. Rungs 1 to 4 are knowledge that AI tools already help with. Rungs 5 to 8 need physical skills and equipment, and the feedback loop is weeks long. Every rung Proto removes brings in a new group of builders: students, product designers, domain experts. Lovable showed what happens to a market when the coding rung goes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positioning Prateek asked for, in the founder's words. We are an engineering and product company. We don't want to become a factory, and we aren't a PCB-mill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input. Proto plans everything, can eventually operate the machines including a 3D printer, sets out the hardware and firmware, tests with real signals, flags problems and guides the user. The human is kept at safety gates and for part 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dive on the software. The moat is the data layer: every run logs what was designed, how it was made and what was measured. File-only AI tools can't collect that. The model is swappable, so we aren't tied to one vendor. MCP connectors are the same mechanism that already connects Claude to Fusion and Blender.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steps, one shuttle. The shuttle is Baker's long X axis and runs under both zones, so the board never leaves its fixture until the parts go on. That registration is our process IP. It's what a stand-alone mill plus a separate stencil can't give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technical slide 1. Stress the design choices that make production cheaper: ball screws on rails instead of finished stages, and the same 10.1-inch UV engine for masking and, later, jig printing.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technical slide 2. Placement is deliberately manual with a printed jig: the jig does the aiming. That brought section F down from ₹20,000 to about ₹4,900, and it's the honest answer to 'it's not fully automated': it isn't meant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Prateek was right that 'send it at night, pick it up in the morning' overclaims. You load boards and place parts. The honest claim: a board in about 1.4 to 2.4 hours, with 15 to 20 minutes of it hands-on. The jig prints in parallel, so it doesn't add time. Compare that with 7 to 20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Listing risks builds trust with a hardware investor. Each one has a test and a fallback, and Phase 1 money is allocated to them: ₹1.2 lakh in the use of 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Mixer closes the loop. Test instruments today show waveforms to a person who has to interpret them. Mixer gives the numbers to Proto, which already knows what the circuit is supposed to do. It's also the production test fixture for Baker in the China factory, so one design does two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production Mixer uses 8-bit converters, lower resolution than an Analog Discovery 3. It's a test head for pass/fail and debugging typical prototype boards, driven by an agent. The prototype keeps 12/14-bit parts so we can tune the analog front end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scalability question directly. Baker isn't meant to scale to production. Our scale comes from the number of labs and teams, not boards per machine. Fabs are a partner and a future referral channel, not an enemy.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competitor either does one step or stops at files. Prices are list prices before Indian duty and GST. Our bundle sits between a desktop CNC and a pro LPKF line, but covers the whole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rough history head on. The companies failed for specific reasons, and each has an answer. We're not a better mill. We're the first product where the machine is how an AI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where competitors beat us is what makes the rest credible to an investor who knows hardware. AI design tools are partners: Proto can take a Flux or KiCad design and make it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costs ₹3.73 lakh because it's bought retail in India with duty and contingency. The production unit is ₹1.45 lakh: ball screws on rails, one controller board, one 24 V rail, China parts. At ₹3.49 lakh the gross margin is 58.5%, normal for low-volume lab equipment with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Prateek's X-lakh question. On direct cost alone, Baker plus Mixer pays back after 59 board iterations against ordering from JLCPCB. A hardware startup iterating twice a week gets there in about 7 months. The workbook lets him change the price and usage and see it recalculate.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rather than a big analyst number. If every AICTE college bought one bundle, that's ₹220 crore of hardware; hardware-relevant startups add ₹84 crore. Institutions have grant budgets: ATLs get ₹20 lakh each, AICTE IDEA Labs about ₹1.1 crore. We start with colleges and startups, then Fab Labs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opens the account. Proto and consumables bring recurring revenue: about ₹1.65 lakh a year per installed Baker at 3 boards a week, roughly half the machine price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stay an engineering company. The factory builds, tests on our Mixer-based fixture and packs. India does incoming QC, the few minimal assembly steps and final test, then ships: India first, then global. This starts only after Phase 1 proves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the step-by-step advice. The ₹10 lakh round funds one thing: Proto driving Baker. Mixer is in it only because a board isn't done until it's tested, and it's only 17% of the hardware budget. Each phase has an exit test before we raise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money goes to the two prototypes, which are costed line by line. The rest goes to proving the process, building the Proto alpha, safety and IP, and three pilots. Every milestone is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Prateek said the strongest moat is hidden in the idea. It is: an agent that learns from real, measured builds. The machines are how we collect that data and how the agent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risk discussion before the investor opens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ask, the exit test and one line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a:t>
            </a:r>
            <a:endParaRPr lang="en-US" sz="700" dirty="0"/>
          </a:p>
        </p:txBody>
      </p:sp>
      <p:sp>
        <p:nvSpPr>
          <p:cNvPr id="6" name="Text 4"/>
          <p:cNvSpPr txBox="1"/>
          <p:nvPr/>
        </p:nvSpPr>
        <p:spPr>
          <a:xfrm>
            <a:off x="457200" y="868680"/>
            <a:ext cx="8229600" cy="182880"/>
          </a:xfrm>
          <a:prstGeom prst="rect">
            <a:avLst/>
          </a:prstGeom>
          <a:noFill/>
          <a:ln/>
        </p:spPr>
        <p:txBody>
          <a:bodyPr wrap="square" lIns="0" tIns="0" rIns="0" bIns="0" rtlCol="0" anchor="t"/>
          <a:lstStyle/>
          <a:p>
            <a:pPr indent="0" marL="0">
              <a:buNone/>
            </a:pPr>
            <a:r>
              <a:rPr lang="en-US" sz="850" dirty="0">
                <a:solidFill>
                  <a:srgbClr val="C8834A"/>
                </a:solidFill>
                <a:latin typeface="Consolas" pitchFamily="34" charset="0"/>
                <a:ea typeface="Consolas" pitchFamily="34" charset="-122"/>
                <a:cs typeface="Consolas" pitchFamily="34" charset="-120"/>
              </a:rPr>
              <a:t>PITCH · REVISED AFTER MURDER BOARD ROUND 1</a:t>
            </a:r>
            <a:endParaRPr lang="en-US" sz="850" dirty="0"/>
          </a:p>
        </p:txBody>
      </p:sp>
      <p:sp>
        <p:nvSpPr>
          <p:cNvPr id="7" name="Text 5"/>
          <p:cNvSpPr txBox="1"/>
          <p:nvPr/>
        </p:nvSpPr>
        <p:spPr>
          <a:xfrm>
            <a:off x="457200" y="1143000"/>
            <a:ext cx="8046720" cy="1325880"/>
          </a:xfrm>
          <a:prstGeom prst="rect">
            <a:avLst/>
          </a:prstGeom>
          <a:noFill/>
          <a:ln/>
        </p:spPr>
        <p:txBody>
          <a:bodyPr wrap="square" lIns="0" tIns="0" rIns="0" bIns="0" rtlCol="0" anchor="t"/>
          <a:lstStyle/>
          <a:p>
            <a:pPr indent="0" marL="0">
              <a:buNone/>
            </a:pPr>
            <a:r>
              <a:rPr lang="en-US" sz="2600" b="1" dirty="0">
                <a:solidFill>
                  <a:srgbClr val="1B2430"/>
                </a:solidFill>
                <a:latin typeface="Verdana" pitchFamily="34" charset="0"/>
                <a:ea typeface="Verdana" pitchFamily="34" charset="-122"/>
                <a:cs typeface="Verdana" pitchFamily="34" charset="-120"/>
              </a:rPr>
              <a:t>From an idea to a tested hardware prototype, with an AI that can use real machines</a:t>
            </a:r>
            <a:endParaRPr lang="en-US" sz="2600" dirty="0"/>
          </a:p>
        </p:txBody>
      </p:sp>
      <p:sp>
        <p:nvSpPr>
          <p:cNvPr id="8" name="Text 6"/>
          <p:cNvSpPr txBox="1"/>
          <p:nvPr/>
        </p:nvSpPr>
        <p:spPr>
          <a:xfrm>
            <a:off x="457200" y="2651760"/>
            <a:ext cx="7498080" cy="548640"/>
          </a:xfrm>
          <a:prstGeom prst="rect">
            <a:avLst/>
          </a:prstGeom>
          <a:noFill/>
          <a:ln/>
        </p:spPr>
        <p:txBody>
          <a:bodyPr wrap="square" lIns="0" tIns="0" rIns="0" bIns="0" rtlCol="0" anchor="t"/>
          <a:lstStyle/>
          <a:p>
            <a:pPr indent="0" marL="0">
              <a:buNone/>
            </a:pPr>
            <a:r>
              <a:rPr lang="en-US" sz="1150" dirty="0">
                <a:solidFill>
                  <a:srgbClr val="1B2430"/>
                </a:solidFill>
                <a:latin typeface="Verdana" pitchFamily="34" charset="0"/>
                <a:ea typeface="Verdana" pitchFamily="34" charset="-122"/>
                <a:cs typeface="Verdana" pitchFamily="34" charset="-120"/>
              </a:rPr>
              <a:t>ProtoPulse builds smart prototyping machines and accessories for an AI. Proto plans and runs the build; Baker makes the board; Mixer tests it.</a:t>
            </a:r>
            <a:endParaRPr lang="en-US" sz="1150" dirty="0"/>
          </a:p>
        </p:txBody>
      </p:sp>
      <p:sp>
        <p:nvSpPr>
          <p:cNvPr id="9" name="Shape 7"/>
          <p:cNvSpPr/>
          <p:nvPr/>
        </p:nvSpPr>
        <p:spPr>
          <a:xfrm>
            <a:off x="457200" y="3429000"/>
            <a:ext cx="2606040" cy="868680"/>
          </a:xfrm>
          <a:prstGeom prst="rect">
            <a:avLst/>
          </a:prstGeom>
          <a:solidFill>
            <a:srgbClr val="FFFFFF"/>
          </a:solidFill>
          <a:ln w="11430">
            <a:solidFill>
              <a:srgbClr val="1B2430"/>
            </a:solidFill>
            <a:prstDash val="solid"/>
          </a:ln>
        </p:spPr>
      </p:sp>
      <p:sp>
        <p:nvSpPr>
          <p:cNvPr id="10" name="Shape 8"/>
          <p:cNvSpPr/>
          <p:nvPr/>
        </p:nvSpPr>
        <p:spPr>
          <a:xfrm>
            <a:off x="457200" y="3429000"/>
            <a:ext cx="54864" cy="868680"/>
          </a:xfrm>
          <a:prstGeom prst="rect">
            <a:avLst/>
          </a:prstGeom>
          <a:solidFill>
            <a:srgbClr val="1B2430"/>
          </a:solidFill>
          <a:ln w="12700">
            <a:solidFill>
              <a:srgbClr val="1B2430"/>
            </a:solidFill>
            <a:prstDash val="solid"/>
          </a:ln>
        </p:spPr>
      </p:sp>
      <p:sp>
        <p:nvSpPr>
          <p:cNvPr id="11" name="Text 9"/>
          <p:cNvSpPr txBox="1"/>
          <p:nvPr/>
        </p:nvSpPr>
        <p:spPr>
          <a:xfrm>
            <a:off x="640080" y="3520440"/>
            <a:ext cx="2286000" cy="228600"/>
          </a:xfrm>
          <a:prstGeom prst="rect">
            <a:avLst/>
          </a:prstGeom>
          <a:noFill/>
          <a:ln/>
        </p:spPr>
        <p:txBody>
          <a:bodyPr wrap="square" lIns="0" tIns="0" rIns="0" bIns="0" rtlCol="0" anchor="t"/>
          <a:lstStyle/>
          <a:p>
            <a:pPr indent="0" marL="0">
              <a:buNone/>
            </a:pPr>
            <a:r>
              <a:rPr lang="en-US" sz="1100" b="1" dirty="0">
                <a:solidFill>
                  <a:srgbClr val="1B2430"/>
                </a:solidFill>
                <a:latin typeface="Verdana" pitchFamily="34" charset="0"/>
                <a:ea typeface="Verdana" pitchFamily="34" charset="-122"/>
                <a:cs typeface="Verdana" pitchFamily="34" charset="-120"/>
              </a:rPr>
              <a:t>Proto</a:t>
            </a:r>
            <a:endParaRPr lang="en-US" sz="1100" dirty="0"/>
          </a:p>
        </p:txBody>
      </p:sp>
      <p:sp>
        <p:nvSpPr>
          <p:cNvPr id="12" name="Text 10"/>
          <p:cNvSpPr txBox="1"/>
          <p:nvPr/>
        </p:nvSpPr>
        <p:spPr>
          <a:xfrm>
            <a:off x="640080" y="3776472"/>
            <a:ext cx="2331720" cy="457200"/>
          </a:xfrm>
          <a:prstGeom prst="rect">
            <a:avLst/>
          </a:prstGeom>
          <a:noFill/>
          <a:ln/>
        </p:spPr>
        <p:txBody>
          <a:bodyPr wrap="square" lIns="0" tIns="0" rIns="0" bIns="0" rtlCol="0" anchor="t"/>
          <a:lstStyle/>
          <a:p>
            <a:pPr indent="0" marL="0">
              <a:buNone/>
            </a:pPr>
            <a:r>
              <a:rPr lang="en-US" sz="800" dirty="0">
                <a:solidFill>
                  <a:srgbClr val="6B6459"/>
                </a:solidFill>
                <a:latin typeface="Verdana" pitchFamily="34" charset="0"/>
                <a:ea typeface="Verdana" pitchFamily="34" charset="-122"/>
                <a:cs typeface="Verdana" pitchFamily="34" charset="-120"/>
              </a:rPr>
              <a:t>The AI: plans, designs, runs the machines, explains the results</a:t>
            </a:r>
            <a:endParaRPr lang="en-US" sz="800" dirty="0"/>
          </a:p>
        </p:txBody>
      </p:sp>
      <p:sp>
        <p:nvSpPr>
          <p:cNvPr id="13" name="Shape 11"/>
          <p:cNvSpPr/>
          <p:nvPr/>
        </p:nvSpPr>
        <p:spPr>
          <a:xfrm>
            <a:off x="3218688" y="3429000"/>
            <a:ext cx="2606040" cy="868680"/>
          </a:xfrm>
          <a:prstGeom prst="rect">
            <a:avLst/>
          </a:prstGeom>
          <a:solidFill>
            <a:srgbClr val="FFFFFF"/>
          </a:solidFill>
          <a:ln w="11430">
            <a:solidFill>
              <a:srgbClr val="C8834A"/>
            </a:solidFill>
            <a:prstDash val="solid"/>
          </a:ln>
        </p:spPr>
      </p:sp>
      <p:sp>
        <p:nvSpPr>
          <p:cNvPr id="14" name="Shape 12"/>
          <p:cNvSpPr/>
          <p:nvPr/>
        </p:nvSpPr>
        <p:spPr>
          <a:xfrm>
            <a:off x="3218688" y="3429000"/>
            <a:ext cx="54864" cy="868680"/>
          </a:xfrm>
          <a:prstGeom prst="rect">
            <a:avLst/>
          </a:prstGeom>
          <a:solidFill>
            <a:srgbClr val="C8834A"/>
          </a:solidFill>
          <a:ln w="12700">
            <a:solidFill>
              <a:srgbClr val="C8834A"/>
            </a:solidFill>
            <a:prstDash val="solid"/>
          </a:ln>
        </p:spPr>
      </p:sp>
      <p:sp>
        <p:nvSpPr>
          <p:cNvPr id="15" name="Text 13"/>
          <p:cNvSpPr txBox="1"/>
          <p:nvPr/>
        </p:nvSpPr>
        <p:spPr>
          <a:xfrm>
            <a:off x="3401568" y="3520440"/>
            <a:ext cx="2286000" cy="228600"/>
          </a:xfrm>
          <a:prstGeom prst="rect">
            <a:avLst/>
          </a:prstGeom>
          <a:noFill/>
          <a:ln/>
        </p:spPr>
        <p:txBody>
          <a:bodyPr wrap="square" lIns="0" tIns="0" rIns="0" bIns="0" rtlCol="0" anchor="t"/>
          <a:lstStyle/>
          <a:p>
            <a:pPr indent="0" marL="0">
              <a:buNone/>
            </a:pPr>
            <a:r>
              <a:rPr lang="en-US" sz="1100" b="1" dirty="0">
                <a:solidFill>
                  <a:srgbClr val="1B2430"/>
                </a:solidFill>
                <a:latin typeface="Verdana" pitchFamily="34" charset="0"/>
                <a:ea typeface="Verdana" pitchFamily="34" charset="-122"/>
                <a:cs typeface="Verdana" pitchFamily="34" charset="-120"/>
              </a:rPr>
              <a:t>Baker</a:t>
            </a:r>
            <a:endParaRPr lang="en-US" sz="1100" dirty="0"/>
          </a:p>
        </p:txBody>
      </p:sp>
      <p:sp>
        <p:nvSpPr>
          <p:cNvPr id="16" name="Text 14"/>
          <p:cNvSpPr txBox="1"/>
          <p:nvPr/>
        </p:nvSpPr>
        <p:spPr>
          <a:xfrm>
            <a:off x="3401568" y="3776472"/>
            <a:ext cx="2331720" cy="457200"/>
          </a:xfrm>
          <a:prstGeom prst="rect">
            <a:avLst/>
          </a:prstGeom>
          <a:noFill/>
          <a:ln/>
        </p:spPr>
        <p:txBody>
          <a:bodyPr wrap="square" lIns="0" tIns="0" rIns="0" bIns="0" rtlCol="0" anchor="t"/>
          <a:lstStyle/>
          <a:p>
            <a:pPr indent="0" marL="0">
              <a:buNone/>
            </a:pPr>
            <a:r>
              <a:rPr lang="en-US" sz="800" dirty="0">
                <a:solidFill>
                  <a:srgbClr val="6B6459"/>
                </a:solidFill>
                <a:latin typeface="Verdana" pitchFamily="34" charset="0"/>
                <a:ea typeface="Verdana" pitchFamily="34" charset="-122"/>
                <a:cs typeface="Verdana" pitchFamily="34" charset="-120"/>
              </a:rPr>
              <a:t>Board cell: mill, mask, stencil, paste, reflow in one frame</a:t>
            </a:r>
            <a:endParaRPr lang="en-US" sz="800" dirty="0"/>
          </a:p>
        </p:txBody>
      </p:sp>
      <p:sp>
        <p:nvSpPr>
          <p:cNvPr id="17" name="Shape 15"/>
          <p:cNvSpPr/>
          <p:nvPr/>
        </p:nvSpPr>
        <p:spPr>
          <a:xfrm>
            <a:off x="5980176" y="3429000"/>
            <a:ext cx="2606040" cy="868680"/>
          </a:xfrm>
          <a:prstGeom prst="rect">
            <a:avLst/>
          </a:prstGeom>
          <a:solidFill>
            <a:srgbClr val="FFFFFF"/>
          </a:solidFill>
          <a:ln w="11430">
            <a:solidFill>
              <a:srgbClr val="5E8C5A"/>
            </a:solidFill>
            <a:prstDash val="solid"/>
          </a:ln>
        </p:spPr>
      </p:sp>
      <p:sp>
        <p:nvSpPr>
          <p:cNvPr id="18" name="Shape 16"/>
          <p:cNvSpPr/>
          <p:nvPr/>
        </p:nvSpPr>
        <p:spPr>
          <a:xfrm>
            <a:off x="5980176" y="3429000"/>
            <a:ext cx="54864" cy="868680"/>
          </a:xfrm>
          <a:prstGeom prst="rect">
            <a:avLst/>
          </a:prstGeom>
          <a:solidFill>
            <a:srgbClr val="5E8C5A"/>
          </a:solidFill>
          <a:ln w="12700">
            <a:solidFill>
              <a:srgbClr val="5E8C5A"/>
            </a:solidFill>
            <a:prstDash val="solid"/>
          </a:ln>
        </p:spPr>
      </p:sp>
      <p:sp>
        <p:nvSpPr>
          <p:cNvPr id="19" name="Text 17"/>
          <p:cNvSpPr txBox="1"/>
          <p:nvPr/>
        </p:nvSpPr>
        <p:spPr>
          <a:xfrm>
            <a:off x="6163056" y="3520440"/>
            <a:ext cx="2286000" cy="228600"/>
          </a:xfrm>
          <a:prstGeom prst="rect">
            <a:avLst/>
          </a:prstGeom>
          <a:noFill/>
          <a:ln/>
        </p:spPr>
        <p:txBody>
          <a:bodyPr wrap="square" lIns="0" tIns="0" rIns="0" bIns="0" rtlCol="0" anchor="t"/>
          <a:lstStyle/>
          <a:p>
            <a:pPr indent="0" marL="0">
              <a:buNone/>
            </a:pPr>
            <a:r>
              <a:rPr lang="en-US" sz="1100" b="1" dirty="0">
                <a:solidFill>
                  <a:srgbClr val="1B2430"/>
                </a:solidFill>
                <a:latin typeface="Verdana" pitchFamily="34" charset="0"/>
                <a:ea typeface="Verdana" pitchFamily="34" charset="-122"/>
                <a:cs typeface="Verdana" pitchFamily="34" charset="-120"/>
              </a:rPr>
              <a:t>Mixer</a:t>
            </a:r>
            <a:endParaRPr lang="en-US" sz="1100" dirty="0"/>
          </a:p>
        </p:txBody>
      </p:sp>
      <p:sp>
        <p:nvSpPr>
          <p:cNvPr id="20" name="Text 18"/>
          <p:cNvSpPr txBox="1"/>
          <p:nvPr/>
        </p:nvSpPr>
        <p:spPr>
          <a:xfrm>
            <a:off x="6163056" y="3776472"/>
            <a:ext cx="2331720" cy="457200"/>
          </a:xfrm>
          <a:prstGeom prst="rect">
            <a:avLst/>
          </a:prstGeom>
          <a:noFill/>
          <a:ln/>
        </p:spPr>
        <p:txBody>
          <a:bodyPr wrap="square" lIns="0" tIns="0" rIns="0" bIns="0" rtlCol="0" anchor="t"/>
          <a:lstStyle/>
          <a:p>
            <a:pPr indent="0" marL="0">
              <a:buNone/>
            </a:pPr>
            <a:r>
              <a:rPr lang="en-US" sz="800" dirty="0">
                <a:solidFill>
                  <a:srgbClr val="6B6459"/>
                </a:solidFill>
                <a:latin typeface="Verdana" pitchFamily="34" charset="0"/>
                <a:ea typeface="Verdana" pitchFamily="34" charset="-122"/>
                <a:cs typeface="Verdana" pitchFamily="34" charset="-120"/>
              </a:rPr>
              <a:t>Test head: eight instruments over one cable, read by Proto</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MURDER BOARD · PRATEEK</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What we changed after round 1</a:t>
            </a:r>
            <a:endParaRPr lang="en-US" sz="1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108960"/>
                <a:gridCol w="4480560"/>
                <a:gridCol w="640080"/>
              </a:tblGrid>
              <a:tr h="347472">
                <a:tc>
                  <a:txBody>
                    <a:bodyPr/>
                    <a:lstStyle/>
                    <a:p>
                      <a:pPr indent="0" marL="0">
                        <a:buNone/>
                      </a:pPr>
                      <a:r>
                        <a:rPr lang="en-US" sz="900" b="1" dirty="0">
                          <a:solidFill>
                            <a:srgbClr val="6B6459"/>
                          </a:solidFill>
                          <a:latin typeface="Verdana" pitchFamily="34" charset="0"/>
                          <a:ea typeface="Verdana" pitchFamily="34" charset="-122"/>
                          <a:cs typeface="Verdana" pitchFamily="34" charset="-120"/>
                        </a:rPr>
                        <a:t>Feedback</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900" b="1" dirty="0">
                          <a:solidFill>
                            <a:srgbClr val="6B6459"/>
                          </a:solidFill>
                          <a:latin typeface="Verdana" pitchFamily="34" charset="0"/>
                          <a:ea typeface="Verdana" pitchFamily="34" charset="-122"/>
                          <a:cs typeface="Verdana" pitchFamily="34" charset="-120"/>
                        </a:rPr>
                        <a:t>What the deck now says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900" b="1" dirty="0">
                          <a:solidFill>
                            <a:srgbClr val="6B6459"/>
                          </a:solidFill>
                          <a:latin typeface="Verdana" pitchFamily="34" charset="0"/>
                          <a:ea typeface="Verdana" pitchFamily="34" charset="-122"/>
                          <a:cs typeface="Verdana" pitchFamily="34" charset="-120"/>
                        </a:rPr>
                        <a:t>Slide</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347472">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Pitch the moat (Proto), not two robots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Proto leads. Baker and Mixer are its first hands and eyes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6–8</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47472">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Don't look like a desktop PCB mill</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Baker is a prototyping cell; we cover why mills struggled</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9, 18</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47472">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Avoid 'replaces a fabrication order'</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We complement fabs. Proto hands frozen designs to them</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16</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47472">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Two products on ₹10 lakh is aggressive</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Phase 1 is Proto + Baker. Mixer is Baker's test head</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25–26</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47472">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'Design at night, board in the morning'</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Targets: ≈1.4–2.4 h per board, ≈15–20 min hands-on</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12</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47472">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Competition and their pricing</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14 alternatives compared, with prices and sources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17–19</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47472">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What does it cost, and does it pay back?</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Build ₹1.45 lakh; price ₹3.49 lakh; pays back after 59 boards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20–21</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47472">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1,000 / 10,000 / 1 lakh boards?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Not for production, by design. Where a fab wins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16</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3</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THE SHIFT</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Software: idea to product in hours. Hardware: still weeks.</a:t>
            </a:r>
            <a:endParaRPr lang="en-US" sz="1900" dirty="0"/>
          </a:p>
        </p:txBody>
      </p:sp>
      <p:sp>
        <p:nvSpPr>
          <p:cNvPr id="8" name="Text 6"/>
          <p:cNvSpPr txBox="1"/>
          <p:nvPr/>
        </p:nvSpPr>
        <p:spPr>
          <a:xfrm>
            <a:off x="457200" y="1234440"/>
            <a:ext cx="3657600" cy="237744"/>
          </a:xfrm>
          <a:prstGeom prst="rect">
            <a:avLst/>
          </a:prstGeom>
          <a:noFill/>
          <a:ln/>
        </p:spPr>
        <p:txBody>
          <a:bodyPr wrap="square" lIns="0" tIns="0" rIns="0" bIns="0" rtlCol="0" anchor="t"/>
          <a:lstStyle/>
          <a:p>
            <a:pPr indent="0" marL="0">
              <a:buNone/>
            </a:pPr>
            <a:r>
              <a:rPr lang="en-US" sz="1200" b="1" dirty="0">
                <a:solidFill>
                  <a:srgbClr val="1B2430"/>
                </a:solidFill>
                <a:latin typeface="Verdana" pitchFamily="34" charset="0"/>
                <a:ea typeface="Verdana" pitchFamily="34" charset="-122"/>
                <a:cs typeface="Verdana" pitchFamily="34" charset="-120"/>
              </a:rPr>
              <a:t>Software, 2026</a:t>
            </a:r>
            <a:endParaRPr lang="en-US" sz="1200" dirty="0"/>
          </a:p>
        </p:txBody>
      </p:sp>
      <p:sp>
        <p:nvSpPr>
          <p:cNvPr id="9" name="Text 7"/>
          <p:cNvSpPr txBox="1"/>
          <p:nvPr/>
        </p:nvSpPr>
        <p:spPr>
          <a:xfrm>
            <a:off x="457200" y="1600200"/>
            <a:ext cx="3840480" cy="548640"/>
          </a:xfrm>
          <a:prstGeom prst="rect">
            <a:avLst/>
          </a:prstGeom>
          <a:noFill/>
          <a:ln/>
        </p:spPr>
        <p:txBody>
          <a:bodyPr wrap="square" lIns="0" tIns="0" rIns="0" bIns="0" rtlCol="0" anchor="t"/>
          <a:lstStyle/>
          <a:p>
            <a:pPr indent="0" marL="0">
              <a:buNone/>
            </a:pPr>
            <a:r>
              <a:rPr lang="en-US" sz="3200" b="1" dirty="0">
                <a:solidFill>
                  <a:srgbClr val="1B2430"/>
                </a:solidFill>
                <a:latin typeface="Verdana" pitchFamily="34" charset="0"/>
                <a:ea typeface="Verdana" pitchFamily="34" charset="-122"/>
                <a:cs typeface="Verdana" pitchFamily="34" charset="-120"/>
              </a:rPr>
              <a:t>$100M ARR</a:t>
            </a:r>
            <a:endParaRPr lang="en-US" sz="3200" dirty="0"/>
          </a:p>
        </p:txBody>
      </p:sp>
      <p:sp>
        <p:nvSpPr>
          <p:cNvPr id="10" name="Text 8"/>
          <p:cNvSpPr txBox="1"/>
          <p:nvPr/>
        </p:nvSpPr>
        <p:spPr>
          <a:xfrm>
            <a:off x="457200" y="2194560"/>
            <a:ext cx="3749040" cy="411480"/>
          </a:xfrm>
          <a:prstGeom prst="rect">
            <a:avLst/>
          </a:prstGeom>
          <a:noFill/>
          <a:ln/>
        </p:spPr>
        <p:txBody>
          <a:bodyPr wrap="square" lIns="0" tIns="0" rIns="0" bIns="0" rtlCol="0" anchor="t"/>
          <a:lstStyle/>
          <a:p>
            <a:pPr indent="0" marL="0">
              <a:buNone/>
            </a:pPr>
            <a:r>
              <a:rPr lang="en-US" sz="950" dirty="0">
                <a:solidFill>
                  <a:srgbClr val="6B6459"/>
                </a:solidFill>
                <a:latin typeface="Verdana" pitchFamily="34" charset="0"/>
                <a:ea typeface="Verdana" pitchFamily="34" charset="-122"/>
                <a:cs typeface="Verdana" pitchFamily="34" charset="-120"/>
              </a:rPr>
              <a:t>Lovable reached it 8 months after launch, selling to people who can't code.</a:t>
            </a:r>
            <a:endParaRPr lang="en-US" sz="950" dirty="0"/>
          </a:p>
        </p:txBody>
      </p:sp>
      <p:sp>
        <p:nvSpPr>
          <p:cNvPr id="11" name="Text 9"/>
          <p:cNvSpPr txBox="1"/>
          <p:nvPr/>
        </p:nvSpPr>
        <p:spPr>
          <a:xfrm>
            <a:off x="457200" y="2788920"/>
            <a:ext cx="3749040" cy="1097280"/>
          </a:xfrm>
          <a:prstGeom prst="rect">
            <a:avLst/>
          </a:prstGeom>
          <a:noFill/>
          <a:ln/>
        </p:spPr>
        <p:txBody>
          <a:bodyPr wrap="square" lIns="0" tIns="0" rIns="0" bIns="0" rtlCol="0" anchor="t"/>
          <a:lstStyle/>
          <a:p>
            <a:pPr marL="165100" indent="-165100">
              <a:spcAft>
                <a:spcPts val="300"/>
              </a:spcAft>
              <a:buSzPct val="100000"/>
              <a:buChar char="—"/>
            </a:pPr>
            <a:r>
              <a:rPr lang="en-US" sz="950" dirty="0">
                <a:solidFill>
                  <a:srgbClr val="1B2430"/>
                </a:solidFill>
                <a:latin typeface="Verdana" pitchFamily="34" charset="0"/>
                <a:ea typeface="Verdana" pitchFamily="34" charset="-122"/>
                <a:cs typeface="Verdana" pitchFamily="34" charset="-120"/>
              </a:rPr>
              <a:t>2.3M active users, 180,000 paying subscribers</a:t>
            </a:r>
            <a:endParaRPr lang="en-US" sz="950" dirty="0"/>
          </a:p>
          <a:p>
            <a:pPr marL="165100" indent="-165100">
              <a:spcAft>
                <a:spcPts val="300"/>
              </a:spcAft>
              <a:buSzPct val="100000"/>
              <a:buChar char="—"/>
            </a:pPr>
            <a:r>
              <a:rPr lang="en-US" sz="950" dirty="0">
                <a:solidFill>
                  <a:srgbClr val="1B2430"/>
                </a:solidFill>
                <a:latin typeface="Verdana" pitchFamily="34" charset="0"/>
                <a:ea typeface="Verdana" pitchFamily="34" charset="-122"/>
                <a:cs typeface="Verdana" pitchFamily="34" charset="-120"/>
              </a:rPr>
              <a:t>$400M ARR by Feb 2026</a:t>
            </a:r>
            <a:endParaRPr lang="en-US" sz="950" dirty="0"/>
          </a:p>
          <a:p>
            <a:pPr marL="165100" indent="-165100">
              <a:spcAft>
                <a:spcPts val="300"/>
              </a:spcAft>
              <a:buSzPct val="100000"/>
              <a:buChar char="—"/>
            </a:pPr>
            <a:r>
              <a:rPr lang="en-US" sz="950" dirty="0">
                <a:solidFill>
                  <a:srgbClr val="1B2430"/>
                </a:solidFill>
                <a:latin typeface="Verdana" pitchFamily="34" charset="0"/>
                <a:ea typeface="Verdana" pitchFamily="34" charset="-122"/>
                <a:cs typeface="Verdana" pitchFamily="34" charset="-120"/>
              </a:rPr>
              <a:t>Describe it, and a model builds, runs and fixes it</a:t>
            </a:r>
            <a:endParaRPr lang="en-US" sz="950" dirty="0"/>
          </a:p>
        </p:txBody>
      </p:sp>
      <p:sp>
        <p:nvSpPr>
          <p:cNvPr id="12" name="Shape 10"/>
          <p:cNvSpPr/>
          <p:nvPr/>
        </p:nvSpPr>
        <p:spPr>
          <a:xfrm>
            <a:off x="4526280" y="1280160"/>
            <a:ext cx="0" cy="3017520"/>
          </a:xfrm>
          <a:prstGeom prst="line">
            <a:avLst/>
          </a:prstGeom>
          <a:noFill/>
          <a:ln w="9525">
            <a:solidFill>
              <a:srgbClr val="D8D2C6"/>
            </a:solidFill>
            <a:prstDash val="solid"/>
          </a:ln>
        </p:spPr>
      </p:sp>
      <p:sp>
        <p:nvSpPr>
          <p:cNvPr id="13" name="Text 11"/>
          <p:cNvSpPr txBox="1"/>
          <p:nvPr/>
        </p:nvSpPr>
        <p:spPr>
          <a:xfrm>
            <a:off x="4846320" y="1234440"/>
            <a:ext cx="3657600" cy="237744"/>
          </a:xfrm>
          <a:prstGeom prst="rect">
            <a:avLst/>
          </a:prstGeom>
          <a:noFill/>
          <a:ln/>
        </p:spPr>
        <p:txBody>
          <a:bodyPr wrap="square" lIns="0" tIns="0" rIns="0" bIns="0" rtlCol="0" anchor="t"/>
          <a:lstStyle/>
          <a:p>
            <a:pPr indent="0" marL="0">
              <a:buNone/>
            </a:pPr>
            <a:r>
              <a:rPr lang="en-US" sz="1200" b="1" dirty="0">
                <a:solidFill>
                  <a:srgbClr val="1B2430"/>
                </a:solidFill>
                <a:latin typeface="Verdana" pitchFamily="34" charset="0"/>
                <a:ea typeface="Verdana" pitchFamily="34" charset="-122"/>
                <a:cs typeface="Verdana" pitchFamily="34" charset="-120"/>
              </a:rPr>
              <a:t>Hardware, 2026</a:t>
            </a:r>
            <a:endParaRPr lang="en-US" sz="1200" dirty="0"/>
          </a:p>
        </p:txBody>
      </p:sp>
      <p:sp>
        <p:nvSpPr>
          <p:cNvPr id="14" name="Text 12"/>
          <p:cNvSpPr txBox="1"/>
          <p:nvPr/>
        </p:nvSpPr>
        <p:spPr>
          <a:xfrm>
            <a:off x="4846320" y="1600200"/>
            <a:ext cx="3840480" cy="548640"/>
          </a:xfrm>
          <a:prstGeom prst="rect">
            <a:avLst/>
          </a:prstGeom>
          <a:noFill/>
          <a:ln/>
        </p:spPr>
        <p:txBody>
          <a:bodyPr wrap="square" lIns="0" tIns="0" rIns="0" bIns="0" rtlCol="0" anchor="t"/>
          <a:lstStyle/>
          <a:p>
            <a:pPr indent="0" marL="0">
              <a:buNone/>
            </a:pPr>
            <a:r>
              <a:rPr lang="en-US" sz="3200" b="1" dirty="0">
                <a:solidFill>
                  <a:srgbClr val="C8834A"/>
                </a:solidFill>
                <a:latin typeface="Verdana" pitchFamily="34" charset="0"/>
                <a:ea typeface="Verdana" pitchFamily="34" charset="-122"/>
                <a:cs typeface="Verdana" pitchFamily="34" charset="-120"/>
              </a:rPr>
              <a:t>7–20 days</a:t>
            </a:r>
            <a:endParaRPr lang="en-US" sz="3200" dirty="0"/>
          </a:p>
        </p:txBody>
      </p:sp>
      <p:sp>
        <p:nvSpPr>
          <p:cNvPr id="15" name="Text 13"/>
          <p:cNvSpPr txBox="1"/>
          <p:nvPr/>
        </p:nvSpPr>
        <p:spPr>
          <a:xfrm>
            <a:off x="4846320" y="2194560"/>
            <a:ext cx="3749040" cy="411480"/>
          </a:xfrm>
          <a:prstGeom prst="rect">
            <a:avLst/>
          </a:prstGeom>
          <a:noFill/>
          <a:ln/>
        </p:spPr>
        <p:txBody>
          <a:bodyPr wrap="square" lIns="0" tIns="0" rIns="0" bIns="0" rtlCol="0" anchor="t"/>
          <a:lstStyle/>
          <a:p>
            <a:pPr indent="0" marL="0">
              <a:buNone/>
            </a:pPr>
            <a:r>
              <a:rPr lang="en-US" sz="950" dirty="0">
                <a:solidFill>
                  <a:srgbClr val="6B6459"/>
                </a:solidFill>
                <a:latin typeface="Verdana" pitchFamily="34" charset="0"/>
                <a:ea typeface="Verdana" pitchFamily="34" charset="-122"/>
                <a:cs typeface="Verdana" pitchFamily="34" charset="-120"/>
              </a:rPr>
              <a:t>for one assembled board from JLCPCB to an Indian desk, door to door.</a:t>
            </a:r>
            <a:endParaRPr lang="en-US" sz="950" dirty="0"/>
          </a:p>
        </p:txBody>
      </p:sp>
      <p:sp>
        <p:nvSpPr>
          <p:cNvPr id="16" name="Text 14"/>
          <p:cNvSpPr txBox="1"/>
          <p:nvPr/>
        </p:nvSpPr>
        <p:spPr>
          <a:xfrm>
            <a:off x="4846320" y="2788920"/>
            <a:ext cx="3749040" cy="1097280"/>
          </a:xfrm>
          <a:prstGeom prst="rect">
            <a:avLst/>
          </a:prstGeom>
          <a:noFill/>
          <a:ln/>
        </p:spPr>
        <p:txBody>
          <a:bodyPr wrap="square" lIns="0" tIns="0" rIns="0" bIns="0" rtlCol="0" anchor="t"/>
          <a:lstStyle/>
          <a:p>
            <a:pPr marL="165100" indent="-165100">
              <a:spcAft>
                <a:spcPts val="300"/>
              </a:spcAft>
              <a:buSzPct val="100000"/>
              <a:buChar char="—"/>
            </a:pPr>
            <a:r>
              <a:rPr lang="en-US" sz="950" dirty="0">
                <a:solidFill>
                  <a:srgbClr val="1B2430"/>
                </a:solidFill>
                <a:latin typeface="Verdana" pitchFamily="34" charset="0"/>
                <a:ea typeface="Verdana" pitchFamily="34" charset="-122"/>
                <a:cs typeface="Verdana" pitchFamily="34" charset="-120"/>
              </a:rPr>
              <a:t>≈₹6,700 per assembled iteration, before parts</a:t>
            </a:r>
            <a:endParaRPr lang="en-US" sz="950" dirty="0"/>
          </a:p>
          <a:p>
            <a:pPr marL="165100" indent="-165100">
              <a:spcAft>
                <a:spcPts val="300"/>
              </a:spcAft>
              <a:buSzPct val="100000"/>
              <a:buChar char="—"/>
            </a:pPr>
            <a:r>
              <a:rPr lang="en-US" sz="950" dirty="0">
                <a:solidFill>
                  <a:srgbClr val="1B2430"/>
                </a:solidFill>
                <a:latin typeface="Verdana" pitchFamily="34" charset="0"/>
                <a:ea typeface="Verdana" pitchFamily="34" charset="-122"/>
                <a:cs typeface="Verdana" pitchFamily="34" charset="-120"/>
              </a:rPr>
              <a:t>5+ separate tools and skills before a board works</a:t>
            </a:r>
            <a:endParaRPr lang="en-US" sz="950" dirty="0"/>
          </a:p>
          <a:p>
            <a:pPr marL="165100" indent="-165100">
              <a:spcAft>
                <a:spcPts val="300"/>
              </a:spcAft>
              <a:buSzPct val="100000"/>
              <a:buChar char="—"/>
            </a:pPr>
            <a:r>
              <a:rPr lang="en-US" sz="950" dirty="0">
                <a:solidFill>
                  <a:srgbClr val="1B2430"/>
                </a:solidFill>
                <a:latin typeface="Verdana" pitchFamily="34" charset="0"/>
                <a:ea typeface="Verdana" pitchFamily="34" charset="-122"/>
                <a:cs typeface="Verdana" pitchFamily="34" charset="-120"/>
              </a:rPr>
              <a:t>The AI can draw the board but can't make it or test it</a:t>
            </a:r>
            <a:endParaRPr lang="en-US" sz="950" dirty="0"/>
          </a:p>
        </p:txBody>
      </p:sp>
      <p:sp>
        <p:nvSpPr>
          <p:cNvPr id="17" name="Text 15"/>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Sources: TechCrunch 23 Jul 2025; founded.com (Feb 2026); zbotic.in India shipping guide; JLCPCB pricing; ProtoPulse economics model (Board Cost sheet).</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4</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THE GAP</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AI already designs hardware files. It stops there.</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023360" cy="914400"/>
        </p:xfrm>
        <a:graphic>
          <a:graphicData uri="http://schemas.openxmlformats.org/drawingml/2006/table">
            <a:tbl>
              <a:tblPr/>
              <a:tblGrid>
                <a:gridCol w="1234440"/>
                <a:gridCol w="1097280"/>
                <a:gridCol w="1691640"/>
              </a:tblGrid>
              <a:tr h="365760">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Company</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What it does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Proof point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36576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Flux</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AI PCB design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$49M raised; 1M+ users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6576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Quilter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AI PCB layout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$40M raised; $25M Series B, Oct 2025</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6576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Diode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AI PCB design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$11.4M Series A, a16z</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6576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Claude + Fusion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CAD connector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Official, May 2026</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6576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Claude + Blender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3D connector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Official, Apr 2026</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9" name="Shape 6"/>
          <p:cNvSpPr/>
          <p:nvPr/>
        </p:nvSpPr>
        <p:spPr>
          <a:xfrm>
            <a:off x="4754880" y="1325880"/>
            <a:ext cx="676656" cy="457200"/>
          </a:xfrm>
          <a:prstGeom prst="rect">
            <a:avLst/>
          </a:prstGeom>
          <a:solidFill>
            <a:srgbClr val="FFFFFF"/>
          </a:solidFill>
          <a:ln w="11430">
            <a:solidFill>
              <a:srgbClr val="1B2430"/>
            </a:solidFill>
            <a:prstDash val="solid"/>
          </a:ln>
        </p:spPr>
      </p:sp>
      <p:sp>
        <p:nvSpPr>
          <p:cNvPr id="10" name="Shape 7"/>
          <p:cNvSpPr/>
          <p:nvPr/>
        </p:nvSpPr>
        <p:spPr>
          <a:xfrm>
            <a:off x="4754880" y="1325880"/>
            <a:ext cx="54864" cy="457200"/>
          </a:xfrm>
          <a:prstGeom prst="rect">
            <a:avLst/>
          </a:prstGeom>
          <a:solidFill>
            <a:srgbClr val="1B2430"/>
          </a:solidFill>
          <a:ln w="12700">
            <a:solidFill>
              <a:srgbClr val="1B2430"/>
            </a:solidFill>
            <a:prstDash val="solid"/>
          </a:ln>
        </p:spPr>
      </p:sp>
      <p:sp>
        <p:nvSpPr>
          <p:cNvPr id="11" name="Text 8"/>
          <p:cNvSpPr txBox="1"/>
          <p:nvPr/>
        </p:nvSpPr>
        <p:spPr>
          <a:xfrm>
            <a:off x="4809744" y="1325880"/>
            <a:ext cx="621792" cy="457200"/>
          </a:xfrm>
          <a:prstGeom prst="rect">
            <a:avLst/>
          </a:prstGeom>
          <a:noFill/>
          <a:ln/>
        </p:spPr>
        <p:txBody>
          <a:bodyPr wrap="square" lIns="0" tIns="0" rIns="0" bIns="0" rtlCol="0" anchor="ctr"/>
          <a:lstStyle/>
          <a:p>
            <a:pPr algn="ctr" indent="0" marL="0">
              <a:buNone/>
            </a:pPr>
            <a:r>
              <a:rPr lang="en-US" sz="900" b="1" dirty="0">
                <a:solidFill>
                  <a:srgbClr val="1B2430"/>
                </a:solidFill>
                <a:latin typeface="Verdana" pitchFamily="34" charset="0"/>
                <a:ea typeface="Verdana" pitchFamily="34" charset="-122"/>
                <a:cs typeface="Verdana" pitchFamily="34" charset="-120"/>
              </a:rPr>
              <a:t>Idea</a:t>
            </a:r>
            <a:endParaRPr lang="en-US" sz="900" dirty="0"/>
          </a:p>
        </p:txBody>
      </p:sp>
      <p:sp>
        <p:nvSpPr>
          <p:cNvPr id="12" name="Shape 9"/>
          <p:cNvSpPr/>
          <p:nvPr/>
        </p:nvSpPr>
        <p:spPr>
          <a:xfrm>
            <a:off x="5541264" y="1325880"/>
            <a:ext cx="676656" cy="457200"/>
          </a:xfrm>
          <a:prstGeom prst="rect">
            <a:avLst/>
          </a:prstGeom>
          <a:solidFill>
            <a:srgbClr val="FFFFFF"/>
          </a:solidFill>
          <a:ln w="11430">
            <a:solidFill>
              <a:srgbClr val="1B2430"/>
            </a:solidFill>
            <a:prstDash val="solid"/>
          </a:ln>
        </p:spPr>
      </p:sp>
      <p:sp>
        <p:nvSpPr>
          <p:cNvPr id="13" name="Shape 10"/>
          <p:cNvSpPr/>
          <p:nvPr/>
        </p:nvSpPr>
        <p:spPr>
          <a:xfrm>
            <a:off x="5541264" y="1325880"/>
            <a:ext cx="54864" cy="457200"/>
          </a:xfrm>
          <a:prstGeom prst="rect">
            <a:avLst/>
          </a:prstGeom>
          <a:solidFill>
            <a:srgbClr val="1B2430"/>
          </a:solidFill>
          <a:ln w="12700">
            <a:solidFill>
              <a:srgbClr val="1B2430"/>
            </a:solidFill>
            <a:prstDash val="solid"/>
          </a:ln>
        </p:spPr>
      </p:sp>
      <p:sp>
        <p:nvSpPr>
          <p:cNvPr id="14" name="Text 11"/>
          <p:cNvSpPr txBox="1"/>
          <p:nvPr/>
        </p:nvSpPr>
        <p:spPr>
          <a:xfrm>
            <a:off x="5596128" y="1325880"/>
            <a:ext cx="621792" cy="457200"/>
          </a:xfrm>
          <a:prstGeom prst="rect">
            <a:avLst/>
          </a:prstGeom>
          <a:noFill/>
          <a:ln/>
        </p:spPr>
        <p:txBody>
          <a:bodyPr wrap="square" lIns="0" tIns="0" rIns="0" bIns="0" rtlCol="0" anchor="ctr"/>
          <a:lstStyle/>
          <a:p>
            <a:pPr algn="ctr" indent="0" marL="0">
              <a:buNone/>
            </a:pPr>
            <a:r>
              <a:rPr lang="en-US" sz="900" b="1" dirty="0">
                <a:solidFill>
                  <a:srgbClr val="1B2430"/>
                </a:solidFill>
                <a:latin typeface="Verdana" pitchFamily="34" charset="0"/>
                <a:ea typeface="Verdana" pitchFamily="34" charset="-122"/>
                <a:cs typeface="Verdana" pitchFamily="34" charset="-120"/>
              </a:rPr>
              <a:t>Files</a:t>
            </a:r>
            <a:endParaRPr lang="en-US" sz="900" dirty="0"/>
          </a:p>
        </p:txBody>
      </p:sp>
      <p:sp>
        <p:nvSpPr>
          <p:cNvPr id="15" name="Shape 12"/>
          <p:cNvSpPr/>
          <p:nvPr/>
        </p:nvSpPr>
        <p:spPr>
          <a:xfrm>
            <a:off x="6327648" y="1325880"/>
            <a:ext cx="676656" cy="457200"/>
          </a:xfrm>
          <a:prstGeom prst="rect">
            <a:avLst/>
          </a:prstGeom>
          <a:solidFill>
            <a:srgbClr val="FFFFFF"/>
          </a:solidFill>
          <a:ln w="11430">
            <a:solidFill>
              <a:srgbClr val="C8834A"/>
            </a:solidFill>
            <a:prstDash val="solid"/>
          </a:ln>
        </p:spPr>
      </p:sp>
      <p:sp>
        <p:nvSpPr>
          <p:cNvPr id="16" name="Shape 13"/>
          <p:cNvSpPr/>
          <p:nvPr/>
        </p:nvSpPr>
        <p:spPr>
          <a:xfrm>
            <a:off x="6327648" y="1325880"/>
            <a:ext cx="54864" cy="457200"/>
          </a:xfrm>
          <a:prstGeom prst="rect">
            <a:avLst/>
          </a:prstGeom>
          <a:solidFill>
            <a:srgbClr val="C8834A"/>
          </a:solidFill>
          <a:ln w="12700">
            <a:solidFill>
              <a:srgbClr val="C8834A"/>
            </a:solidFill>
            <a:prstDash val="solid"/>
          </a:ln>
        </p:spPr>
      </p:sp>
      <p:sp>
        <p:nvSpPr>
          <p:cNvPr id="17" name="Text 14"/>
          <p:cNvSpPr txBox="1"/>
          <p:nvPr/>
        </p:nvSpPr>
        <p:spPr>
          <a:xfrm>
            <a:off x="6382512" y="1325880"/>
            <a:ext cx="621792" cy="457200"/>
          </a:xfrm>
          <a:prstGeom prst="rect">
            <a:avLst/>
          </a:prstGeom>
          <a:noFill/>
          <a:ln/>
        </p:spPr>
        <p:txBody>
          <a:bodyPr wrap="square" lIns="0" tIns="0" rIns="0" bIns="0" rtlCol="0" anchor="ctr"/>
          <a:lstStyle/>
          <a:p>
            <a:pPr algn="ctr" indent="0" marL="0">
              <a:buNone/>
            </a:pPr>
            <a:r>
              <a:rPr lang="en-US" sz="900" b="1" dirty="0">
                <a:solidFill>
                  <a:srgbClr val="1B2430"/>
                </a:solidFill>
                <a:latin typeface="Verdana" pitchFamily="34" charset="0"/>
                <a:ea typeface="Verdana" pitchFamily="34" charset="-122"/>
                <a:cs typeface="Verdana" pitchFamily="34" charset="-120"/>
              </a:rPr>
              <a:t>Board</a:t>
            </a:r>
            <a:endParaRPr lang="en-US" sz="900" dirty="0"/>
          </a:p>
        </p:txBody>
      </p:sp>
      <p:sp>
        <p:nvSpPr>
          <p:cNvPr id="18" name="Shape 15"/>
          <p:cNvSpPr/>
          <p:nvPr/>
        </p:nvSpPr>
        <p:spPr>
          <a:xfrm>
            <a:off x="7114032" y="1325880"/>
            <a:ext cx="676656" cy="457200"/>
          </a:xfrm>
          <a:prstGeom prst="rect">
            <a:avLst/>
          </a:prstGeom>
          <a:solidFill>
            <a:srgbClr val="FFFFFF"/>
          </a:solidFill>
          <a:ln w="11430">
            <a:solidFill>
              <a:srgbClr val="5E8C5A"/>
            </a:solidFill>
            <a:prstDash val="solid"/>
          </a:ln>
        </p:spPr>
      </p:sp>
      <p:sp>
        <p:nvSpPr>
          <p:cNvPr id="19" name="Shape 16"/>
          <p:cNvSpPr/>
          <p:nvPr/>
        </p:nvSpPr>
        <p:spPr>
          <a:xfrm>
            <a:off x="7114032" y="1325880"/>
            <a:ext cx="54864" cy="457200"/>
          </a:xfrm>
          <a:prstGeom prst="rect">
            <a:avLst/>
          </a:prstGeom>
          <a:solidFill>
            <a:srgbClr val="5E8C5A"/>
          </a:solidFill>
          <a:ln w="12700">
            <a:solidFill>
              <a:srgbClr val="5E8C5A"/>
            </a:solidFill>
            <a:prstDash val="solid"/>
          </a:ln>
        </p:spPr>
      </p:sp>
      <p:sp>
        <p:nvSpPr>
          <p:cNvPr id="20" name="Text 17"/>
          <p:cNvSpPr txBox="1"/>
          <p:nvPr/>
        </p:nvSpPr>
        <p:spPr>
          <a:xfrm>
            <a:off x="7168896" y="1325880"/>
            <a:ext cx="621792" cy="457200"/>
          </a:xfrm>
          <a:prstGeom prst="rect">
            <a:avLst/>
          </a:prstGeom>
          <a:noFill/>
          <a:ln/>
        </p:spPr>
        <p:txBody>
          <a:bodyPr wrap="square" lIns="0" tIns="0" rIns="0" bIns="0" rtlCol="0" anchor="ctr"/>
          <a:lstStyle/>
          <a:p>
            <a:pPr algn="ctr" indent="0" marL="0">
              <a:buNone/>
            </a:pPr>
            <a:r>
              <a:rPr lang="en-US" sz="900" b="1" dirty="0">
                <a:solidFill>
                  <a:srgbClr val="1B2430"/>
                </a:solidFill>
                <a:latin typeface="Verdana" pitchFamily="34" charset="0"/>
                <a:ea typeface="Verdana" pitchFamily="34" charset="-122"/>
                <a:cs typeface="Verdana" pitchFamily="34" charset="-120"/>
              </a:rPr>
              <a:t>Test</a:t>
            </a:r>
            <a:endParaRPr lang="en-US" sz="900" dirty="0"/>
          </a:p>
        </p:txBody>
      </p:sp>
      <p:sp>
        <p:nvSpPr>
          <p:cNvPr id="21" name="Shape 18"/>
          <p:cNvSpPr/>
          <p:nvPr/>
        </p:nvSpPr>
        <p:spPr>
          <a:xfrm>
            <a:off x="7900416" y="1325880"/>
            <a:ext cx="676656" cy="457200"/>
          </a:xfrm>
          <a:prstGeom prst="rect">
            <a:avLst/>
          </a:prstGeom>
          <a:solidFill>
            <a:srgbClr val="FFFFFF"/>
          </a:solidFill>
          <a:ln w="11430">
            <a:solidFill>
              <a:srgbClr val="7A7468"/>
            </a:solidFill>
            <a:prstDash val="solid"/>
          </a:ln>
        </p:spPr>
      </p:sp>
      <p:sp>
        <p:nvSpPr>
          <p:cNvPr id="22" name="Shape 19"/>
          <p:cNvSpPr/>
          <p:nvPr/>
        </p:nvSpPr>
        <p:spPr>
          <a:xfrm>
            <a:off x="7900416" y="1325880"/>
            <a:ext cx="54864" cy="457200"/>
          </a:xfrm>
          <a:prstGeom prst="rect">
            <a:avLst/>
          </a:prstGeom>
          <a:solidFill>
            <a:srgbClr val="7A7468"/>
          </a:solidFill>
          <a:ln w="12700">
            <a:solidFill>
              <a:srgbClr val="7A7468"/>
            </a:solidFill>
            <a:prstDash val="solid"/>
          </a:ln>
        </p:spPr>
      </p:sp>
      <p:sp>
        <p:nvSpPr>
          <p:cNvPr id="23" name="Text 20"/>
          <p:cNvSpPr txBox="1"/>
          <p:nvPr/>
        </p:nvSpPr>
        <p:spPr>
          <a:xfrm>
            <a:off x="7955280" y="1325880"/>
            <a:ext cx="621792" cy="457200"/>
          </a:xfrm>
          <a:prstGeom prst="rect">
            <a:avLst/>
          </a:prstGeom>
          <a:noFill/>
          <a:ln/>
        </p:spPr>
        <p:txBody>
          <a:bodyPr wrap="square" lIns="0" tIns="0" rIns="0" bIns="0" rtlCol="0" anchor="ctr"/>
          <a:lstStyle/>
          <a:p>
            <a:pPr algn="ctr" indent="0" marL="0">
              <a:buNone/>
            </a:pPr>
            <a:r>
              <a:rPr lang="en-US" sz="900" b="1" dirty="0">
                <a:solidFill>
                  <a:srgbClr val="1B2430"/>
                </a:solidFill>
                <a:latin typeface="Verdana" pitchFamily="34" charset="0"/>
                <a:ea typeface="Verdana" pitchFamily="34" charset="-122"/>
                <a:cs typeface="Verdana" pitchFamily="34" charset="-120"/>
              </a:rPr>
              <a:t>Learn</a:t>
            </a:r>
            <a:endParaRPr lang="en-US" sz="900" dirty="0"/>
          </a:p>
        </p:txBody>
      </p:sp>
      <p:sp>
        <p:nvSpPr>
          <p:cNvPr id="24" name="Shape 21"/>
          <p:cNvSpPr/>
          <p:nvPr/>
        </p:nvSpPr>
        <p:spPr>
          <a:xfrm>
            <a:off x="6373368" y="1188720"/>
            <a:ext cx="0" cy="868680"/>
          </a:xfrm>
          <a:prstGeom prst="line">
            <a:avLst/>
          </a:prstGeom>
          <a:noFill/>
          <a:ln w="15875">
            <a:solidFill>
              <a:srgbClr val="C8834A"/>
            </a:solidFill>
            <a:prstDash val="dash"/>
          </a:ln>
        </p:spPr>
      </p:sp>
      <p:sp>
        <p:nvSpPr>
          <p:cNvPr id="25" name="Text 22"/>
          <p:cNvSpPr txBox="1"/>
          <p:nvPr/>
        </p:nvSpPr>
        <p:spPr>
          <a:xfrm>
            <a:off x="4754880" y="1874520"/>
            <a:ext cx="1554480" cy="182880"/>
          </a:xfrm>
          <a:prstGeom prst="rect">
            <a:avLst/>
          </a:prstGeom>
          <a:noFill/>
          <a:ln/>
        </p:spPr>
        <p:txBody>
          <a:bodyPr wrap="square" lIns="0" tIns="0" rIns="0" bIns="0" rtlCol="0" anchor="t"/>
          <a:lstStyle/>
          <a:p>
            <a:pPr algn="ctr" indent="0" marL="0">
              <a:buNone/>
            </a:pPr>
            <a:r>
              <a:rPr lang="en-US" sz="750" dirty="0">
                <a:solidFill>
                  <a:srgbClr val="6B6459"/>
                </a:solidFill>
                <a:latin typeface="Consolas" pitchFamily="34" charset="0"/>
                <a:ea typeface="Consolas" pitchFamily="34" charset="-122"/>
                <a:cs typeface="Consolas" pitchFamily="34" charset="-120"/>
              </a:rPr>
              <a:t>AI works here</a:t>
            </a:r>
            <a:endParaRPr lang="en-US" sz="750" dirty="0"/>
          </a:p>
        </p:txBody>
      </p:sp>
      <p:sp>
        <p:nvSpPr>
          <p:cNvPr id="26" name="Text 23"/>
          <p:cNvSpPr txBox="1"/>
          <p:nvPr/>
        </p:nvSpPr>
        <p:spPr>
          <a:xfrm>
            <a:off x="6446520" y="1874520"/>
            <a:ext cx="2240280" cy="182880"/>
          </a:xfrm>
          <a:prstGeom prst="rect">
            <a:avLst/>
          </a:prstGeom>
          <a:noFill/>
          <a:ln/>
        </p:spPr>
        <p:txBody>
          <a:bodyPr wrap="square" lIns="0" tIns="0" rIns="0" bIns="0" rtlCol="0" anchor="t"/>
          <a:lstStyle/>
          <a:p>
            <a:pPr algn="ctr" indent="0" marL="0">
              <a:buNone/>
            </a:pPr>
            <a:r>
              <a:rPr lang="en-US" sz="750" dirty="0">
                <a:solidFill>
                  <a:srgbClr val="C8834A"/>
                </a:solidFill>
                <a:latin typeface="Consolas" pitchFamily="34" charset="0"/>
                <a:ea typeface="Consolas" pitchFamily="34" charset="-122"/>
                <a:cs typeface="Consolas" pitchFamily="34" charset="-120"/>
              </a:rPr>
              <a:t>people, tools and weeks</a:t>
            </a:r>
            <a:endParaRPr lang="en-US" sz="750" dirty="0"/>
          </a:p>
        </p:txBody>
      </p:sp>
      <p:sp>
        <p:nvSpPr>
          <p:cNvPr id="27" name="Shape 24"/>
          <p:cNvSpPr/>
          <p:nvPr/>
        </p:nvSpPr>
        <p:spPr>
          <a:xfrm>
            <a:off x="4754880" y="2377440"/>
            <a:ext cx="3931920" cy="1920240"/>
          </a:xfrm>
          <a:prstGeom prst="rect">
            <a:avLst/>
          </a:prstGeom>
          <a:solidFill>
            <a:srgbClr val="F6F1E8"/>
          </a:solidFill>
          <a:ln w="9525">
            <a:solidFill>
              <a:srgbClr val="F6F1E8"/>
            </a:solidFill>
            <a:prstDash val="solid"/>
          </a:ln>
        </p:spPr>
      </p:sp>
      <p:sp>
        <p:nvSpPr>
          <p:cNvPr id="28" name="Text 25"/>
          <p:cNvSpPr txBox="1"/>
          <p:nvPr/>
        </p:nvSpPr>
        <p:spPr>
          <a:xfrm>
            <a:off x="4937760" y="2514600"/>
            <a:ext cx="3566160" cy="237744"/>
          </a:xfrm>
          <a:prstGeom prst="rect">
            <a:avLst/>
          </a:prstGeom>
          <a:noFill/>
          <a:ln/>
        </p:spPr>
        <p:txBody>
          <a:bodyPr wrap="square" lIns="0" tIns="0" rIns="0" bIns="0" rtlCol="0" anchor="t"/>
          <a:lstStyle/>
          <a:p>
            <a:pPr indent="0" marL="0">
              <a:buNone/>
            </a:pPr>
            <a:r>
              <a:rPr lang="en-US" sz="1050" b="1" dirty="0">
                <a:solidFill>
                  <a:srgbClr val="C8834A"/>
                </a:solidFill>
                <a:latin typeface="Verdana" pitchFamily="34" charset="0"/>
                <a:ea typeface="Verdana" pitchFamily="34" charset="-122"/>
                <a:cs typeface="Verdana" pitchFamily="34" charset="-120"/>
              </a:rPr>
              <a:t>What's missing</a:t>
            </a:r>
            <a:endParaRPr lang="en-US" sz="1050" dirty="0"/>
          </a:p>
        </p:txBody>
      </p:sp>
      <p:sp>
        <p:nvSpPr>
          <p:cNvPr id="29" name="Text 26"/>
          <p:cNvSpPr txBox="1"/>
          <p:nvPr/>
        </p:nvSpPr>
        <p:spPr>
          <a:xfrm>
            <a:off x="4937760" y="2834640"/>
            <a:ext cx="3566160" cy="1371600"/>
          </a:xfrm>
          <a:prstGeom prst="rect">
            <a:avLst/>
          </a:prstGeom>
          <a:noFill/>
          <a:ln/>
        </p:spPr>
        <p:txBody>
          <a:bodyPr wrap="square" lIns="0" tIns="0" rIns="0" bIns="0" rtlCol="0" anchor="t"/>
          <a:lstStyle/>
          <a:p>
            <a:pPr indent="0" marL="0">
              <a:buNone/>
            </a:pPr>
            <a:r>
              <a:rPr lang="en-US" sz="1050" dirty="0">
                <a:solidFill>
                  <a:srgbClr val="1B2430"/>
                </a:solidFill>
                <a:latin typeface="Verdana" pitchFamily="34" charset="0"/>
                <a:ea typeface="Verdana" pitchFamily="34" charset="-122"/>
                <a:cs typeface="Verdana" pitchFamily="34" charset="-120"/>
              </a:rPr>
              <a:t>Machines that take instructions from an agent, and instruments that send real signals back to it. The reasoning is there. What's missing is hands and eyes in the physical world.</a:t>
            </a:r>
            <a:endParaRPr lang="en-US" sz="1050" dirty="0"/>
          </a:p>
        </p:txBody>
      </p:sp>
      <p:sp>
        <p:nvSpPr>
          <p:cNvPr id="30" name="Text 27"/>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Sources: SiliconANGLE 27 Feb 2026 (Flux); BusinessWire 7 Oct 2025 (Quilter); Fenwick (Diode); claude.com/connectors/autodesk-fusion; digitalproduction.com 30 Apr 2026 (Blender).</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5</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WHY EASE GROWS THE MARKET</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How people learn hardware, and where they give up</a:t>
            </a:r>
            <a:endParaRPr lang="en-US" sz="1900" dirty="0"/>
          </a:p>
        </p:txBody>
      </p:sp>
      <p:sp>
        <p:nvSpPr>
          <p:cNvPr id="8" name="Shape 6"/>
          <p:cNvSpPr/>
          <p:nvPr/>
        </p:nvSpPr>
        <p:spPr>
          <a:xfrm>
            <a:off x="457200" y="4160520"/>
            <a:ext cx="4069080" cy="301752"/>
          </a:xfrm>
          <a:prstGeom prst="rect">
            <a:avLst/>
          </a:prstGeom>
          <a:solidFill>
            <a:srgbClr val="FFFFFF"/>
          </a:solidFill>
          <a:ln w="11430">
            <a:solidFill>
              <a:srgbClr val="7A7468"/>
            </a:solidFill>
            <a:prstDash val="solid"/>
          </a:ln>
        </p:spPr>
      </p:sp>
      <p:sp>
        <p:nvSpPr>
          <p:cNvPr id="9" name="Shape 7"/>
          <p:cNvSpPr/>
          <p:nvPr/>
        </p:nvSpPr>
        <p:spPr>
          <a:xfrm>
            <a:off x="457200" y="4160520"/>
            <a:ext cx="54864" cy="301752"/>
          </a:xfrm>
          <a:prstGeom prst="rect">
            <a:avLst/>
          </a:prstGeom>
          <a:solidFill>
            <a:srgbClr val="7A7468"/>
          </a:solidFill>
          <a:ln w="12700">
            <a:solidFill>
              <a:srgbClr val="7A7468"/>
            </a:solidFill>
            <a:prstDash val="solid"/>
          </a:ln>
        </p:spPr>
      </p:sp>
      <p:sp>
        <p:nvSpPr>
          <p:cNvPr id="10" name="Text 8"/>
          <p:cNvSpPr txBox="1"/>
          <p:nvPr/>
        </p:nvSpPr>
        <p:spPr>
          <a:xfrm>
            <a:off x="585216" y="4160520"/>
            <a:ext cx="1600200" cy="30175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01  Idea → spec</a:t>
            </a:r>
            <a:endParaRPr lang="en-US" sz="850" dirty="0"/>
          </a:p>
        </p:txBody>
      </p:sp>
      <p:sp>
        <p:nvSpPr>
          <p:cNvPr id="11" name="Text 9"/>
          <p:cNvSpPr txBox="1"/>
          <p:nvPr/>
        </p:nvSpPr>
        <p:spPr>
          <a:xfrm>
            <a:off x="2194560" y="4160520"/>
            <a:ext cx="2286000" cy="301752"/>
          </a:xfrm>
          <a:prstGeom prst="rect">
            <a:avLst/>
          </a:prstGeom>
          <a:noFill/>
          <a:ln/>
        </p:spPr>
        <p:txBody>
          <a:bodyPr wrap="square" lIns="0" tIns="0" rIns="0" bIns="0" rtlCol="0" anchor="ctr"/>
          <a:lstStyle/>
          <a:p>
            <a:pPr indent="0" marL="0">
              <a:buNone/>
            </a:pPr>
            <a:r>
              <a:rPr lang="en-US" sz="750" dirty="0">
                <a:solidFill>
                  <a:srgbClr val="6B6459"/>
                </a:solidFill>
                <a:latin typeface="Verdana" pitchFamily="34" charset="0"/>
                <a:ea typeface="Verdana" pitchFamily="34" charset="-122"/>
                <a:cs typeface="Verdana" pitchFamily="34" charset="-120"/>
              </a:rPr>
              <a:t>What exactly should it do?</a:t>
            </a:r>
            <a:endParaRPr lang="en-US" sz="750" dirty="0"/>
          </a:p>
        </p:txBody>
      </p:sp>
      <p:sp>
        <p:nvSpPr>
          <p:cNvPr id="12" name="Shape 10"/>
          <p:cNvSpPr/>
          <p:nvPr/>
        </p:nvSpPr>
        <p:spPr>
          <a:xfrm>
            <a:off x="640080" y="3794760"/>
            <a:ext cx="4069080" cy="301752"/>
          </a:xfrm>
          <a:prstGeom prst="rect">
            <a:avLst/>
          </a:prstGeom>
          <a:solidFill>
            <a:srgbClr val="FFFFFF"/>
          </a:solidFill>
          <a:ln w="11430">
            <a:solidFill>
              <a:srgbClr val="7A7468"/>
            </a:solidFill>
            <a:prstDash val="solid"/>
          </a:ln>
        </p:spPr>
      </p:sp>
      <p:sp>
        <p:nvSpPr>
          <p:cNvPr id="13" name="Shape 11"/>
          <p:cNvSpPr/>
          <p:nvPr/>
        </p:nvSpPr>
        <p:spPr>
          <a:xfrm>
            <a:off x="640080" y="3794760"/>
            <a:ext cx="54864" cy="301752"/>
          </a:xfrm>
          <a:prstGeom prst="rect">
            <a:avLst/>
          </a:prstGeom>
          <a:solidFill>
            <a:srgbClr val="7A7468"/>
          </a:solidFill>
          <a:ln w="12700">
            <a:solidFill>
              <a:srgbClr val="7A7468"/>
            </a:solidFill>
            <a:prstDash val="solid"/>
          </a:ln>
        </p:spPr>
      </p:sp>
      <p:sp>
        <p:nvSpPr>
          <p:cNvPr id="14" name="Text 12"/>
          <p:cNvSpPr txBox="1"/>
          <p:nvPr/>
        </p:nvSpPr>
        <p:spPr>
          <a:xfrm>
            <a:off x="768096" y="3794760"/>
            <a:ext cx="1600200" cy="30175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02  Parts</a:t>
            </a:r>
            <a:endParaRPr lang="en-US" sz="850" dirty="0"/>
          </a:p>
        </p:txBody>
      </p:sp>
      <p:sp>
        <p:nvSpPr>
          <p:cNvPr id="15" name="Text 13"/>
          <p:cNvSpPr txBox="1"/>
          <p:nvPr/>
        </p:nvSpPr>
        <p:spPr>
          <a:xfrm>
            <a:off x="2377440" y="3794760"/>
            <a:ext cx="2286000" cy="301752"/>
          </a:xfrm>
          <a:prstGeom prst="rect">
            <a:avLst/>
          </a:prstGeom>
          <a:noFill/>
          <a:ln/>
        </p:spPr>
        <p:txBody>
          <a:bodyPr wrap="square" lIns="0" tIns="0" rIns="0" bIns="0" rtlCol="0" anchor="ctr"/>
          <a:lstStyle/>
          <a:p>
            <a:pPr indent="0" marL="0">
              <a:buNone/>
            </a:pPr>
            <a:r>
              <a:rPr lang="en-US" sz="750" dirty="0">
                <a:solidFill>
                  <a:srgbClr val="6B6459"/>
                </a:solidFill>
                <a:latin typeface="Verdana" pitchFamily="34" charset="0"/>
                <a:ea typeface="Verdana" pitchFamily="34" charset="-122"/>
                <a:cs typeface="Verdana" pitchFamily="34" charset="-120"/>
              </a:rPr>
              <a:t>Datasheets, availability, footprints</a:t>
            </a:r>
            <a:endParaRPr lang="en-US" sz="750" dirty="0"/>
          </a:p>
        </p:txBody>
      </p:sp>
      <p:sp>
        <p:nvSpPr>
          <p:cNvPr id="16" name="Shape 14"/>
          <p:cNvSpPr/>
          <p:nvPr/>
        </p:nvSpPr>
        <p:spPr>
          <a:xfrm>
            <a:off x="822960" y="3429000"/>
            <a:ext cx="4069080" cy="301752"/>
          </a:xfrm>
          <a:prstGeom prst="rect">
            <a:avLst/>
          </a:prstGeom>
          <a:solidFill>
            <a:srgbClr val="FFFFFF"/>
          </a:solidFill>
          <a:ln w="11430">
            <a:solidFill>
              <a:srgbClr val="7A7468"/>
            </a:solidFill>
            <a:prstDash val="solid"/>
          </a:ln>
        </p:spPr>
      </p:sp>
      <p:sp>
        <p:nvSpPr>
          <p:cNvPr id="17" name="Shape 15"/>
          <p:cNvSpPr/>
          <p:nvPr/>
        </p:nvSpPr>
        <p:spPr>
          <a:xfrm>
            <a:off x="822960" y="3429000"/>
            <a:ext cx="54864" cy="301752"/>
          </a:xfrm>
          <a:prstGeom prst="rect">
            <a:avLst/>
          </a:prstGeom>
          <a:solidFill>
            <a:srgbClr val="7A7468"/>
          </a:solidFill>
          <a:ln w="12700">
            <a:solidFill>
              <a:srgbClr val="7A7468"/>
            </a:solidFill>
            <a:prstDash val="solid"/>
          </a:ln>
        </p:spPr>
      </p:sp>
      <p:sp>
        <p:nvSpPr>
          <p:cNvPr id="18" name="Text 16"/>
          <p:cNvSpPr txBox="1"/>
          <p:nvPr/>
        </p:nvSpPr>
        <p:spPr>
          <a:xfrm>
            <a:off x="950976" y="3429000"/>
            <a:ext cx="1600200" cy="30175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03  Schematic</a:t>
            </a:r>
            <a:endParaRPr lang="en-US" sz="850" dirty="0"/>
          </a:p>
        </p:txBody>
      </p:sp>
      <p:sp>
        <p:nvSpPr>
          <p:cNvPr id="19" name="Text 17"/>
          <p:cNvSpPr txBox="1"/>
          <p:nvPr/>
        </p:nvSpPr>
        <p:spPr>
          <a:xfrm>
            <a:off x="2560320" y="3429000"/>
            <a:ext cx="2286000" cy="301752"/>
          </a:xfrm>
          <a:prstGeom prst="rect">
            <a:avLst/>
          </a:prstGeom>
          <a:noFill/>
          <a:ln/>
        </p:spPr>
        <p:txBody>
          <a:bodyPr wrap="square" lIns="0" tIns="0" rIns="0" bIns="0" rtlCol="0" anchor="ctr"/>
          <a:lstStyle/>
          <a:p>
            <a:pPr indent="0" marL="0">
              <a:buNone/>
            </a:pPr>
            <a:r>
              <a:rPr lang="en-US" sz="750" dirty="0">
                <a:solidFill>
                  <a:srgbClr val="6B6459"/>
                </a:solidFill>
                <a:latin typeface="Verdana" pitchFamily="34" charset="0"/>
                <a:ea typeface="Verdana" pitchFamily="34" charset="-122"/>
                <a:cs typeface="Verdana" pitchFamily="34" charset="-120"/>
              </a:rPr>
              <a:t>Circuit theory, reference designs</a:t>
            </a:r>
            <a:endParaRPr lang="en-US" sz="750" dirty="0"/>
          </a:p>
        </p:txBody>
      </p:sp>
      <p:sp>
        <p:nvSpPr>
          <p:cNvPr id="20" name="Shape 18"/>
          <p:cNvSpPr/>
          <p:nvPr/>
        </p:nvSpPr>
        <p:spPr>
          <a:xfrm>
            <a:off x="1005840" y="3063240"/>
            <a:ext cx="4069080" cy="301752"/>
          </a:xfrm>
          <a:prstGeom prst="rect">
            <a:avLst/>
          </a:prstGeom>
          <a:solidFill>
            <a:srgbClr val="FFFFFF"/>
          </a:solidFill>
          <a:ln w="11430">
            <a:solidFill>
              <a:srgbClr val="7A7468"/>
            </a:solidFill>
            <a:prstDash val="solid"/>
          </a:ln>
        </p:spPr>
      </p:sp>
      <p:sp>
        <p:nvSpPr>
          <p:cNvPr id="21" name="Shape 19"/>
          <p:cNvSpPr/>
          <p:nvPr/>
        </p:nvSpPr>
        <p:spPr>
          <a:xfrm>
            <a:off x="1005840" y="3063240"/>
            <a:ext cx="54864" cy="301752"/>
          </a:xfrm>
          <a:prstGeom prst="rect">
            <a:avLst/>
          </a:prstGeom>
          <a:solidFill>
            <a:srgbClr val="7A7468"/>
          </a:solidFill>
          <a:ln w="12700">
            <a:solidFill>
              <a:srgbClr val="7A7468"/>
            </a:solidFill>
            <a:prstDash val="solid"/>
          </a:ln>
        </p:spPr>
      </p:sp>
      <p:sp>
        <p:nvSpPr>
          <p:cNvPr id="22" name="Text 20"/>
          <p:cNvSpPr txBox="1"/>
          <p:nvPr/>
        </p:nvSpPr>
        <p:spPr>
          <a:xfrm>
            <a:off x="1133856" y="3063240"/>
            <a:ext cx="1600200" cy="30175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04  Layout</a:t>
            </a:r>
            <a:endParaRPr lang="en-US" sz="850" dirty="0"/>
          </a:p>
        </p:txBody>
      </p:sp>
      <p:sp>
        <p:nvSpPr>
          <p:cNvPr id="23" name="Text 21"/>
          <p:cNvSpPr txBox="1"/>
          <p:nvPr/>
        </p:nvSpPr>
        <p:spPr>
          <a:xfrm>
            <a:off x="2743200" y="3063240"/>
            <a:ext cx="2286000" cy="301752"/>
          </a:xfrm>
          <a:prstGeom prst="rect">
            <a:avLst/>
          </a:prstGeom>
          <a:noFill/>
          <a:ln/>
        </p:spPr>
        <p:txBody>
          <a:bodyPr wrap="square" lIns="0" tIns="0" rIns="0" bIns="0" rtlCol="0" anchor="ctr"/>
          <a:lstStyle/>
          <a:p>
            <a:pPr indent="0" marL="0">
              <a:buNone/>
            </a:pPr>
            <a:r>
              <a:rPr lang="en-US" sz="750" dirty="0">
                <a:solidFill>
                  <a:srgbClr val="6B6459"/>
                </a:solidFill>
                <a:latin typeface="Verdana" pitchFamily="34" charset="0"/>
                <a:ea typeface="Verdana" pitchFamily="34" charset="-122"/>
                <a:cs typeface="Verdana" pitchFamily="34" charset="-120"/>
              </a:rPr>
              <a:t>EDA tool, DRC, manufacturability</a:t>
            </a:r>
            <a:endParaRPr lang="en-US" sz="750" dirty="0"/>
          </a:p>
        </p:txBody>
      </p:sp>
      <p:sp>
        <p:nvSpPr>
          <p:cNvPr id="24" name="Shape 22"/>
          <p:cNvSpPr/>
          <p:nvPr/>
        </p:nvSpPr>
        <p:spPr>
          <a:xfrm>
            <a:off x="1188720" y="2697480"/>
            <a:ext cx="4069080" cy="301752"/>
          </a:xfrm>
          <a:prstGeom prst="rect">
            <a:avLst/>
          </a:prstGeom>
          <a:solidFill>
            <a:srgbClr val="FFFFFF"/>
          </a:solidFill>
          <a:ln w="11430">
            <a:solidFill>
              <a:srgbClr val="C8834A"/>
            </a:solidFill>
            <a:prstDash val="solid"/>
          </a:ln>
        </p:spPr>
      </p:sp>
      <p:sp>
        <p:nvSpPr>
          <p:cNvPr id="25" name="Shape 23"/>
          <p:cNvSpPr/>
          <p:nvPr/>
        </p:nvSpPr>
        <p:spPr>
          <a:xfrm>
            <a:off x="1188720" y="2697480"/>
            <a:ext cx="54864" cy="301752"/>
          </a:xfrm>
          <a:prstGeom prst="rect">
            <a:avLst/>
          </a:prstGeom>
          <a:solidFill>
            <a:srgbClr val="C8834A"/>
          </a:solidFill>
          <a:ln w="12700">
            <a:solidFill>
              <a:srgbClr val="C8834A"/>
            </a:solidFill>
            <a:prstDash val="solid"/>
          </a:ln>
        </p:spPr>
      </p:sp>
      <p:sp>
        <p:nvSpPr>
          <p:cNvPr id="26" name="Text 24"/>
          <p:cNvSpPr txBox="1"/>
          <p:nvPr/>
        </p:nvSpPr>
        <p:spPr>
          <a:xfrm>
            <a:off x="1316736" y="2697480"/>
            <a:ext cx="1600200" cy="30175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05  Fabrication</a:t>
            </a:r>
            <a:endParaRPr lang="en-US" sz="850" dirty="0"/>
          </a:p>
        </p:txBody>
      </p:sp>
      <p:sp>
        <p:nvSpPr>
          <p:cNvPr id="27" name="Text 25"/>
          <p:cNvSpPr txBox="1"/>
          <p:nvPr/>
        </p:nvSpPr>
        <p:spPr>
          <a:xfrm>
            <a:off x="2926080" y="2697480"/>
            <a:ext cx="2286000" cy="301752"/>
          </a:xfrm>
          <a:prstGeom prst="rect">
            <a:avLst/>
          </a:prstGeom>
          <a:noFill/>
          <a:ln/>
        </p:spPr>
        <p:txBody>
          <a:bodyPr wrap="square" lIns="0" tIns="0" rIns="0" bIns="0" rtlCol="0" anchor="ctr"/>
          <a:lstStyle/>
          <a:p>
            <a:pPr indent="0" marL="0">
              <a:buNone/>
            </a:pPr>
            <a:r>
              <a:rPr lang="en-US" sz="750" dirty="0">
                <a:solidFill>
                  <a:srgbClr val="6B6459"/>
                </a:solidFill>
                <a:latin typeface="Verdana" pitchFamily="34" charset="0"/>
                <a:ea typeface="Verdana" pitchFamily="34" charset="-122"/>
                <a:cs typeface="Verdana" pitchFamily="34" charset="-120"/>
              </a:rPr>
              <a:t>Gerbers, vendors, customs, 7–20 days</a:t>
            </a:r>
            <a:endParaRPr lang="en-US" sz="750" dirty="0"/>
          </a:p>
        </p:txBody>
      </p:sp>
      <p:sp>
        <p:nvSpPr>
          <p:cNvPr id="28" name="Shape 26"/>
          <p:cNvSpPr/>
          <p:nvPr/>
        </p:nvSpPr>
        <p:spPr>
          <a:xfrm>
            <a:off x="1371600" y="2331720"/>
            <a:ext cx="4069080" cy="301752"/>
          </a:xfrm>
          <a:prstGeom prst="rect">
            <a:avLst/>
          </a:prstGeom>
          <a:solidFill>
            <a:srgbClr val="FFFFFF"/>
          </a:solidFill>
          <a:ln w="11430">
            <a:solidFill>
              <a:srgbClr val="C8834A"/>
            </a:solidFill>
            <a:prstDash val="solid"/>
          </a:ln>
        </p:spPr>
      </p:sp>
      <p:sp>
        <p:nvSpPr>
          <p:cNvPr id="29" name="Shape 27"/>
          <p:cNvSpPr/>
          <p:nvPr/>
        </p:nvSpPr>
        <p:spPr>
          <a:xfrm>
            <a:off x="1371600" y="2331720"/>
            <a:ext cx="54864" cy="301752"/>
          </a:xfrm>
          <a:prstGeom prst="rect">
            <a:avLst/>
          </a:prstGeom>
          <a:solidFill>
            <a:srgbClr val="C8834A"/>
          </a:solidFill>
          <a:ln w="12700">
            <a:solidFill>
              <a:srgbClr val="C8834A"/>
            </a:solidFill>
            <a:prstDash val="solid"/>
          </a:ln>
        </p:spPr>
      </p:sp>
      <p:sp>
        <p:nvSpPr>
          <p:cNvPr id="30" name="Text 28"/>
          <p:cNvSpPr txBox="1"/>
          <p:nvPr/>
        </p:nvSpPr>
        <p:spPr>
          <a:xfrm>
            <a:off x="1499616" y="2331720"/>
            <a:ext cx="1600200" cy="30175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06  Assembly</a:t>
            </a:r>
            <a:endParaRPr lang="en-US" sz="850" dirty="0"/>
          </a:p>
        </p:txBody>
      </p:sp>
      <p:sp>
        <p:nvSpPr>
          <p:cNvPr id="31" name="Text 29"/>
          <p:cNvSpPr txBox="1"/>
          <p:nvPr/>
        </p:nvSpPr>
        <p:spPr>
          <a:xfrm>
            <a:off x="3108960" y="2331720"/>
            <a:ext cx="2286000" cy="301752"/>
          </a:xfrm>
          <a:prstGeom prst="rect">
            <a:avLst/>
          </a:prstGeom>
          <a:noFill/>
          <a:ln/>
        </p:spPr>
        <p:txBody>
          <a:bodyPr wrap="square" lIns="0" tIns="0" rIns="0" bIns="0" rtlCol="0" anchor="ctr"/>
          <a:lstStyle/>
          <a:p>
            <a:pPr indent="0" marL="0">
              <a:buNone/>
            </a:pPr>
            <a:r>
              <a:rPr lang="en-US" sz="750" dirty="0">
                <a:solidFill>
                  <a:srgbClr val="6B6459"/>
                </a:solidFill>
                <a:latin typeface="Verdana" pitchFamily="34" charset="0"/>
                <a:ea typeface="Verdana" pitchFamily="34" charset="-122"/>
                <a:cs typeface="Verdana" pitchFamily="34" charset="-120"/>
              </a:rPr>
              <a:t>SMD soldering, stencil, reflow</a:t>
            </a:r>
            <a:endParaRPr lang="en-US" sz="750" dirty="0"/>
          </a:p>
        </p:txBody>
      </p:sp>
      <p:sp>
        <p:nvSpPr>
          <p:cNvPr id="32" name="Shape 30"/>
          <p:cNvSpPr/>
          <p:nvPr/>
        </p:nvSpPr>
        <p:spPr>
          <a:xfrm>
            <a:off x="1554480" y="1965960"/>
            <a:ext cx="4069080" cy="301752"/>
          </a:xfrm>
          <a:prstGeom prst="rect">
            <a:avLst/>
          </a:prstGeom>
          <a:solidFill>
            <a:srgbClr val="FFFFFF"/>
          </a:solidFill>
          <a:ln w="11430">
            <a:solidFill>
              <a:srgbClr val="C8834A"/>
            </a:solidFill>
            <a:prstDash val="solid"/>
          </a:ln>
        </p:spPr>
      </p:sp>
      <p:sp>
        <p:nvSpPr>
          <p:cNvPr id="33" name="Shape 31"/>
          <p:cNvSpPr/>
          <p:nvPr/>
        </p:nvSpPr>
        <p:spPr>
          <a:xfrm>
            <a:off x="1554480" y="1965960"/>
            <a:ext cx="54864" cy="301752"/>
          </a:xfrm>
          <a:prstGeom prst="rect">
            <a:avLst/>
          </a:prstGeom>
          <a:solidFill>
            <a:srgbClr val="C8834A"/>
          </a:solidFill>
          <a:ln w="12700">
            <a:solidFill>
              <a:srgbClr val="C8834A"/>
            </a:solidFill>
            <a:prstDash val="solid"/>
          </a:ln>
        </p:spPr>
      </p:sp>
      <p:sp>
        <p:nvSpPr>
          <p:cNvPr id="34" name="Text 32"/>
          <p:cNvSpPr txBox="1"/>
          <p:nvPr/>
        </p:nvSpPr>
        <p:spPr>
          <a:xfrm>
            <a:off x="1682496" y="1965960"/>
            <a:ext cx="1600200" cy="30175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07  Bring-up</a:t>
            </a:r>
            <a:endParaRPr lang="en-US" sz="850" dirty="0"/>
          </a:p>
        </p:txBody>
      </p:sp>
      <p:sp>
        <p:nvSpPr>
          <p:cNvPr id="35" name="Text 33"/>
          <p:cNvSpPr txBox="1"/>
          <p:nvPr/>
        </p:nvSpPr>
        <p:spPr>
          <a:xfrm>
            <a:off x="3291840" y="1965960"/>
            <a:ext cx="2286000" cy="301752"/>
          </a:xfrm>
          <a:prstGeom prst="rect">
            <a:avLst/>
          </a:prstGeom>
          <a:noFill/>
          <a:ln/>
        </p:spPr>
        <p:txBody>
          <a:bodyPr wrap="square" lIns="0" tIns="0" rIns="0" bIns="0" rtlCol="0" anchor="ctr"/>
          <a:lstStyle/>
          <a:p>
            <a:pPr indent="0" marL="0">
              <a:buNone/>
            </a:pPr>
            <a:r>
              <a:rPr lang="en-US" sz="750" dirty="0">
                <a:solidFill>
                  <a:srgbClr val="6B6459"/>
                </a:solidFill>
                <a:latin typeface="Verdana" pitchFamily="34" charset="0"/>
                <a:ea typeface="Verdana" pitchFamily="34" charset="-122"/>
                <a:cs typeface="Verdana" pitchFamily="34" charset="-120"/>
              </a:rPr>
              <a:t>Scope, logic analyser, firmware</a:t>
            </a:r>
            <a:endParaRPr lang="en-US" sz="750" dirty="0"/>
          </a:p>
        </p:txBody>
      </p:sp>
      <p:sp>
        <p:nvSpPr>
          <p:cNvPr id="36" name="Shape 34"/>
          <p:cNvSpPr/>
          <p:nvPr/>
        </p:nvSpPr>
        <p:spPr>
          <a:xfrm>
            <a:off x="1737360" y="1600200"/>
            <a:ext cx="4069080" cy="301752"/>
          </a:xfrm>
          <a:prstGeom prst="rect">
            <a:avLst/>
          </a:prstGeom>
          <a:solidFill>
            <a:srgbClr val="FFFFFF"/>
          </a:solidFill>
          <a:ln w="11430">
            <a:solidFill>
              <a:srgbClr val="C8834A"/>
            </a:solidFill>
            <a:prstDash val="solid"/>
          </a:ln>
        </p:spPr>
      </p:sp>
      <p:sp>
        <p:nvSpPr>
          <p:cNvPr id="37" name="Shape 35"/>
          <p:cNvSpPr/>
          <p:nvPr/>
        </p:nvSpPr>
        <p:spPr>
          <a:xfrm>
            <a:off x="1737360" y="1600200"/>
            <a:ext cx="54864" cy="301752"/>
          </a:xfrm>
          <a:prstGeom prst="rect">
            <a:avLst/>
          </a:prstGeom>
          <a:solidFill>
            <a:srgbClr val="C8834A"/>
          </a:solidFill>
          <a:ln w="12700">
            <a:solidFill>
              <a:srgbClr val="C8834A"/>
            </a:solidFill>
            <a:prstDash val="solid"/>
          </a:ln>
        </p:spPr>
      </p:sp>
      <p:sp>
        <p:nvSpPr>
          <p:cNvPr id="38" name="Text 36"/>
          <p:cNvSpPr txBox="1"/>
          <p:nvPr/>
        </p:nvSpPr>
        <p:spPr>
          <a:xfrm>
            <a:off x="1865376" y="1600200"/>
            <a:ext cx="1600200" cy="30175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08  Iterate → volume</a:t>
            </a:r>
            <a:endParaRPr lang="en-US" sz="850" dirty="0"/>
          </a:p>
        </p:txBody>
      </p:sp>
      <p:sp>
        <p:nvSpPr>
          <p:cNvPr id="39" name="Text 37"/>
          <p:cNvSpPr txBox="1"/>
          <p:nvPr/>
        </p:nvSpPr>
        <p:spPr>
          <a:xfrm>
            <a:off x="3474720" y="1600200"/>
            <a:ext cx="2286000" cy="301752"/>
          </a:xfrm>
          <a:prstGeom prst="rect">
            <a:avLst/>
          </a:prstGeom>
          <a:noFill/>
          <a:ln/>
        </p:spPr>
        <p:txBody>
          <a:bodyPr wrap="square" lIns="0" tIns="0" rIns="0" bIns="0" rtlCol="0" anchor="ctr"/>
          <a:lstStyle/>
          <a:p>
            <a:pPr indent="0" marL="0">
              <a:buNone/>
            </a:pPr>
            <a:r>
              <a:rPr lang="en-US" sz="750" dirty="0">
                <a:solidFill>
                  <a:srgbClr val="6B6459"/>
                </a:solidFill>
                <a:latin typeface="Verdana" pitchFamily="34" charset="0"/>
                <a:ea typeface="Verdana" pitchFamily="34" charset="-122"/>
                <a:cs typeface="Verdana" pitchFamily="34" charset="-120"/>
              </a:rPr>
              <a:t>Debug root cause; DFM for a fab</a:t>
            </a:r>
            <a:endParaRPr lang="en-US" sz="750" dirty="0"/>
          </a:p>
        </p:txBody>
      </p:sp>
      <p:sp>
        <p:nvSpPr>
          <p:cNvPr id="40" name="Text 38"/>
          <p:cNvSpPr txBox="1"/>
          <p:nvPr/>
        </p:nvSpPr>
        <p:spPr>
          <a:xfrm>
            <a:off x="457200" y="1143000"/>
            <a:ext cx="4572000" cy="201168"/>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Each rung needs new knowledge before you can climb it. Each one loses people.</a:t>
            </a:r>
            <a:endParaRPr lang="en-US" sz="850" dirty="0"/>
          </a:p>
        </p:txBody>
      </p:sp>
      <p:sp>
        <p:nvSpPr>
          <p:cNvPr id="41" name="Shape 39"/>
          <p:cNvSpPr/>
          <p:nvPr/>
        </p:nvSpPr>
        <p:spPr>
          <a:xfrm>
            <a:off x="457200" y="1490472"/>
            <a:ext cx="91440" cy="91440"/>
          </a:xfrm>
          <a:prstGeom prst="rect">
            <a:avLst/>
          </a:prstGeom>
          <a:solidFill>
            <a:srgbClr val="7A7468"/>
          </a:solidFill>
          <a:ln w="12700">
            <a:solidFill>
              <a:srgbClr val="7A7468"/>
            </a:solidFill>
            <a:prstDash val="solid"/>
          </a:ln>
        </p:spPr>
      </p:sp>
      <p:sp>
        <p:nvSpPr>
          <p:cNvPr id="42" name="Text 40"/>
          <p:cNvSpPr txBox="1"/>
          <p:nvPr/>
        </p:nvSpPr>
        <p:spPr>
          <a:xfrm>
            <a:off x="612648" y="1463040"/>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AI already helps</a:t>
            </a:r>
            <a:endParaRPr lang="en-US" sz="700" dirty="0"/>
          </a:p>
        </p:txBody>
      </p:sp>
      <p:sp>
        <p:nvSpPr>
          <p:cNvPr id="43" name="Shape 41"/>
          <p:cNvSpPr/>
          <p:nvPr/>
        </p:nvSpPr>
        <p:spPr>
          <a:xfrm>
            <a:off x="457200" y="1664208"/>
            <a:ext cx="91440" cy="91440"/>
          </a:xfrm>
          <a:prstGeom prst="rect">
            <a:avLst/>
          </a:prstGeom>
          <a:solidFill>
            <a:srgbClr val="C8834A"/>
          </a:solidFill>
          <a:ln w="12700">
            <a:solidFill>
              <a:srgbClr val="C8834A"/>
            </a:solidFill>
            <a:prstDash val="solid"/>
          </a:ln>
        </p:spPr>
      </p:sp>
      <p:sp>
        <p:nvSpPr>
          <p:cNvPr id="44" name="Text 42"/>
          <p:cNvSpPr txBox="1"/>
          <p:nvPr/>
        </p:nvSpPr>
        <p:spPr>
          <a:xfrm>
            <a:off x="612648" y="1636776"/>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Physical: weeks</a:t>
            </a:r>
            <a:endParaRPr lang="en-US" sz="700" dirty="0"/>
          </a:p>
        </p:txBody>
      </p:sp>
      <p:sp>
        <p:nvSpPr>
          <p:cNvPr id="45" name="Shape 43"/>
          <p:cNvSpPr/>
          <p:nvPr/>
        </p:nvSpPr>
        <p:spPr>
          <a:xfrm>
            <a:off x="6217920" y="1188720"/>
            <a:ext cx="2468880" cy="3246120"/>
          </a:xfrm>
          <a:prstGeom prst="rect">
            <a:avLst/>
          </a:prstGeom>
          <a:solidFill>
            <a:srgbClr val="F6F1E8"/>
          </a:solidFill>
          <a:ln w="9525">
            <a:solidFill>
              <a:srgbClr val="F6F1E8"/>
            </a:solidFill>
            <a:prstDash val="solid"/>
          </a:ln>
        </p:spPr>
      </p:sp>
      <p:sp>
        <p:nvSpPr>
          <p:cNvPr id="46" name="Text 44"/>
          <p:cNvSpPr txBox="1"/>
          <p:nvPr/>
        </p:nvSpPr>
        <p:spPr>
          <a:xfrm>
            <a:off x="6400800" y="1325880"/>
            <a:ext cx="2148840" cy="1097280"/>
          </a:xfrm>
          <a:prstGeom prst="rect">
            <a:avLst/>
          </a:prstGeom>
          <a:noFill/>
          <a:ln/>
        </p:spPr>
        <p:txBody>
          <a:bodyPr wrap="square" lIns="0" tIns="0" rIns="0" bIns="0" rtlCol="0" anchor="t"/>
          <a:lstStyle/>
          <a:p>
            <a:pPr indent="0" marL="0">
              <a:buNone/>
            </a:pPr>
            <a:r>
              <a:rPr lang="en-US" sz="950" dirty="0">
                <a:solidFill>
                  <a:srgbClr val="1B2430"/>
                </a:solidFill>
                <a:latin typeface="Verdana" pitchFamily="34" charset="0"/>
                <a:ea typeface="Verdana" pitchFamily="34" charset="-122"/>
                <a:cs typeface="Verdana" pitchFamily="34" charset="-120"/>
              </a:rPr>
              <a:t>People learn by doing: try, observe, adjust (Kolb's cycle). The speed of feedback sets the speed of learning.</a:t>
            </a:r>
            <a:endParaRPr lang="en-US" sz="950" dirty="0"/>
          </a:p>
        </p:txBody>
      </p:sp>
      <p:sp>
        <p:nvSpPr>
          <p:cNvPr id="47" name="Text 45"/>
          <p:cNvSpPr txBox="1"/>
          <p:nvPr/>
        </p:nvSpPr>
        <p:spPr>
          <a:xfrm>
            <a:off x="6400800" y="2514600"/>
            <a:ext cx="2103120" cy="365760"/>
          </a:xfrm>
          <a:prstGeom prst="rect">
            <a:avLst/>
          </a:prstGeom>
          <a:noFill/>
          <a:ln/>
        </p:spPr>
        <p:txBody>
          <a:bodyPr wrap="square" lIns="0" tIns="0" rIns="0" bIns="0" rtlCol="0" anchor="t"/>
          <a:lstStyle/>
          <a:p>
            <a:pPr indent="0" marL="0">
              <a:buNone/>
            </a:pPr>
            <a:r>
              <a:rPr lang="en-US" sz="1800" b="1" dirty="0">
                <a:solidFill>
                  <a:srgbClr val="C8834A"/>
                </a:solidFill>
                <a:latin typeface="Verdana" pitchFamily="34" charset="0"/>
                <a:ea typeface="Verdana" pitchFamily="34" charset="-122"/>
                <a:cs typeface="Verdana" pitchFamily="34" charset="-120"/>
              </a:rPr>
              <a:t>2 weeks</a:t>
            </a:r>
            <a:endParaRPr lang="en-US" sz="1800" dirty="0"/>
          </a:p>
        </p:txBody>
      </p:sp>
      <p:sp>
        <p:nvSpPr>
          <p:cNvPr id="48" name="Text 46"/>
          <p:cNvSpPr txBox="1"/>
          <p:nvPr/>
        </p:nvSpPr>
        <p:spPr>
          <a:xfrm>
            <a:off x="6400800" y="2880360"/>
            <a:ext cx="2148840" cy="411480"/>
          </a:xfrm>
          <a:prstGeom prst="rect">
            <a:avLst/>
          </a:prstGeom>
          <a:noFill/>
          <a:ln/>
        </p:spPr>
        <p:txBody>
          <a:bodyPr wrap="square" lIns="0" tIns="0" rIns="0" bIns="0" rtlCol="0" anchor="t"/>
          <a:lstStyle/>
          <a:p>
            <a:pPr indent="0" marL="0">
              <a:buNone/>
            </a:pPr>
            <a:r>
              <a:rPr lang="en-US" sz="800" dirty="0">
                <a:solidFill>
                  <a:srgbClr val="6B6459"/>
                </a:solidFill>
                <a:latin typeface="Verdana" pitchFamily="34" charset="0"/>
                <a:ea typeface="Verdana" pitchFamily="34" charset="-122"/>
                <a:cs typeface="Verdana" pitchFamily="34" charset="-120"/>
              </a:rPr>
              <a:t>per attempt: beginners give up, experts batch their changes</a:t>
            </a:r>
            <a:endParaRPr lang="en-US" sz="800" dirty="0"/>
          </a:p>
        </p:txBody>
      </p:sp>
      <p:sp>
        <p:nvSpPr>
          <p:cNvPr id="49" name="Text 47"/>
          <p:cNvSpPr txBox="1"/>
          <p:nvPr/>
        </p:nvSpPr>
        <p:spPr>
          <a:xfrm>
            <a:off x="6400800" y="3383280"/>
            <a:ext cx="2103120" cy="365760"/>
          </a:xfrm>
          <a:prstGeom prst="rect">
            <a:avLst/>
          </a:prstGeom>
          <a:noFill/>
          <a:ln/>
        </p:spPr>
        <p:txBody>
          <a:bodyPr wrap="square" lIns="0" tIns="0" rIns="0" bIns="0" rtlCol="0" anchor="t"/>
          <a:lstStyle/>
          <a:p>
            <a:pPr indent="0" marL="0">
              <a:buNone/>
            </a:pPr>
            <a:r>
              <a:rPr lang="en-US" sz="1800" b="1" dirty="0">
                <a:solidFill>
                  <a:srgbClr val="5E8C5A"/>
                </a:solidFill>
                <a:latin typeface="Verdana" pitchFamily="34" charset="0"/>
                <a:ea typeface="Verdana" pitchFamily="34" charset="-122"/>
                <a:cs typeface="Verdana" pitchFamily="34" charset="-120"/>
              </a:rPr>
              <a:t>Same day</a:t>
            </a:r>
            <a:endParaRPr lang="en-US" sz="1800" dirty="0"/>
          </a:p>
        </p:txBody>
      </p:sp>
      <p:sp>
        <p:nvSpPr>
          <p:cNvPr id="50" name="Text 48"/>
          <p:cNvSpPr txBox="1"/>
          <p:nvPr/>
        </p:nvSpPr>
        <p:spPr>
          <a:xfrm>
            <a:off x="6400800" y="3749040"/>
            <a:ext cx="2148840" cy="411480"/>
          </a:xfrm>
          <a:prstGeom prst="rect">
            <a:avLst/>
          </a:prstGeom>
          <a:noFill/>
          <a:ln/>
        </p:spPr>
        <p:txBody>
          <a:bodyPr wrap="square" lIns="0" tIns="0" rIns="0" bIns="0" rtlCol="0" anchor="t"/>
          <a:lstStyle/>
          <a:p>
            <a:pPr indent="0" marL="0">
              <a:buNone/>
            </a:pPr>
            <a:r>
              <a:rPr lang="en-US" sz="800" dirty="0">
                <a:solidFill>
                  <a:srgbClr val="6B6459"/>
                </a:solidFill>
                <a:latin typeface="Verdana" pitchFamily="34" charset="0"/>
                <a:ea typeface="Verdana" pitchFamily="34" charset="-122"/>
                <a:cs typeface="Verdana" pitchFamily="34" charset="-120"/>
              </a:rPr>
              <a:t>per attempt: a student gets many more tries in one semester</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6</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THE COMPANY</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Who we are</a:t>
            </a:r>
            <a:endParaRPr lang="en-US" sz="1900" dirty="0"/>
          </a:p>
        </p:txBody>
      </p:sp>
      <p:sp>
        <p:nvSpPr>
          <p:cNvPr id="8" name="Text 6"/>
          <p:cNvSpPr txBox="1"/>
          <p:nvPr/>
        </p:nvSpPr>
        <p:spPr>
          <a:xfrm>
            <a:off x="457200" y="1188720"/>
            <a:ext cx="8046720" cy="822960"/>
          </a:xfrm>
          <a:prstGeom prst="rect">
            <a:avLst/>
          </a:prstGeom>
          <a:noFill/>
          <a:ln/>
        </p:spPr>
        <p:txBody>
          <a:bodyPr wrap="square" lIns="0" tIns="0" rIns="0" bIns="0" rtlCol="0" anchor="t"/>
          <a:lstStyle/>
          <a:p>
            <a:pPr indent="0" marL="0">
              <a:buNone/>
            </a:pPr>
            <a:r>
              <a:rPr lang="en-US" sz="1700" b="1" dirty="0">
                <a:solidFill>
                  <a:srgbClr val="1B2430"/>
                </a:solidFill>
                <a:latin typeface="Verdana" pitchFamily="34" charset="0"/>
                <a:ea typeface="Verdana" pitchFamily="34" charset="-122"/>
                <a:cs typeface="Verdana" pitchFamily="34" charset="-120"/>
              </a:rPr>
              <a:t>We build smart prototyping machines and accessories for an AI, so going from idea to working prototype feels effortless.</a:t>
            </a:r>
            <a:endParaRPr lang="en-US" sz="1700" dirty="0"/>
          </a:p>
        </p:txBody>
      </p:sp>
      <p:sp>
        <p:nvSpPr>
          <p:cNvPr id="9" name="Shape 7"/>
          <p:cNvSpPr/>
          <p:nvPr/>
        </p:nvSpPr>
        <p:spPr>
          <a:xfrm>
            <a:off x="457200" y="2286000"/>
            <a:ext cx="2606040" cy="1691640"/>
          </a:xfrm>
          <a:prstGeom prst="rect">
            <a:avLst/>
          </a:prstGeom>
          <a:solidFill>
            <a:srgbClr val="FFFFFF"/>
          </a:solidFill>
          <a:ln w="11430">
            <a:solidFill>
              <a:srgbClr val="1B2430"/>
            </a:solidFill>
            <a:prstDash val="solid"/>
          </a:ln>
        </p:spPr>
      </p:sp>
      <p:sp>
        <p:nvSpPr>
          <p:cNvPr id="10" name="Shape 8"/>
          <p:cNvSpPr/>
          <p:nvPr/>
        </p:nvSpPr>
        <p:spPr>
          <a:xfrm>
            <a:off x="457200" y="2286000"/>
            <a:ext cx="54864" cy="1691640"/>
          </a:xfrm>
          <a:prstGeom prst="rect">
            <a:avLst/>
          </a:prstGeom>
          <a:solidFill>
            <a:srgbClr val="1B2430"/>
          </a:solidFill>
          <a:ln w="12700">
            <a:solidFill>
              <a:srgbClr val="1B2430"/>
            </a:solidFill>
            <a:prstDash val="solid"/>
          </a:ln>
        </p:spPr>
      </p:sp>
      <p:sp>
        <p:nvSpPr>
          <p:cNvPr id="11" name="Text 9"/>
          <p:cNvSpPr txBox="1"/>
          <p:nvPr/>
        </p:nvSpPr>
        <p:spPr>
          <a:xfrm>
            <a:off x="658368" y="2423160"/>
            <a:ext cx="2286000" cy="274320"/>
          </a:xfrm>
          <a:prstGeom prst="rect">
            <a:avLst/>
          </a:prstGeom>
          <a:noFill/>
          <a:ln/>
        </p:spPr>
        <p:txBody>
          <a:bodyPr wrap="square" lIns="0" tIns="0" rIns="0" bIns="0" rtlCol="0" anchor="t"/>
          <a:lstStyle/>
          <a:p>
            <a:pPr indent="0" marL="0">
              <a:buNone/>
            </a:pPr>
            <a:r>
              <a:rPr lang="en-US" sz="1150" b="1" dirty="0">
                <a:solidFill>
                  <a:srgbClr val="1B2430"/>
                </a:solidFill>
                <a:latin typeface="Verdana" pitchFamily="34" charset="0"/>
                <a:ea typeface="Verdana" pitchFamily="34" charset="-122"/>
                <a:cs typeface="Verdana" pitchFamily="34" charset="-120"/>
              </a:rPr>
              <a:t>Software team</a:t>
            </a:r>
            <a:endParaRPr lang="en-US" sz="1150" dirty="0"/>
          </a:p>
        </p:txBody>
      </p:sp>
      <p:sp>
        <p:nvSpPr>
          <p:cNvPr id="12" name="Text 10"/>
          <p:cNvSpPr txBox="1"/>
          <p:nvPr/>
        </p:nvSpPr>
        <p:spPr>
          <a:xfrm>
            <a:off x="658368" y="2743200"/>
            <a:ext cx="2286000" cy="114300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Proto: the agent that plans, designs, runs the machines, reads the instruments and explains what happened</a:t>
            </a:r>
            <a:endParaRPr lang="en-US" sz="850" dirty="0"/>
          </a:p>
        </p:txBody>
      </p:sp>
      <p:sp>
        <p:nvSpPr>
          <p:cNvPr id="13" name="Shape 11"/>
          <p:cNvSpPr/>
          <p:nvPr/>
        </p:nvSpPr>
        <p:spPr>
          <a:xfrm>
            <a:off x="3218688" y="2286000"/>
            <a:ext cx="2606040" cy="1691640"/>
          </a:xfrm>
          <a:prstGeom prst="rect">
            <a:avLst/>
          </a:prstGeom>
          <a:solidFill>
            <a:srgbClr val="FFFFFF"/>
          </a:solidFill>
          <a:ln w="11430">
            <a:solidFill>
              <a:srgbClr val="C8834A"/>
            </a:solidFill>
            <a:prstDash val="solid"/>
          </a:ln>
        </p:spPr>
      </p:sp>
      <p:sp>
        <p:nvSpPr>
          <p:cNvPr id="14" name="Shape 12"/>
          <p:cNvSpPr/>
          <p:nvPr/>
        </p:nvSpPr>
        <p:spPr>
          <a:xfrm>
            <a:off x="3218688" y="2286000"/>
            <a:ext cx="54864" cy="1691640"/>
          </a:xfrm>
          <a:prstGeom prst="rect">
            <a:avLst/>
          </a:prstGeom>
          <a:solidFill>
            <a:srgbClr val="C8834A"/>
          </a:solidFill>
          <a:ln w="12700">
            <a:solidFill>
              <a:srgbClr val="C8834A"/>
            </a:solidFill>
            <a:prstDash val="solid"/>
          </a:ln>
        </p:spPr>
      </p:sp>
      <p:sp>
        <p:nvSpPr>
          <p:cNvPr id="15" name="Text 13"/>
          <p:cNvSpPr txBox="1"/>
          <p:nvPr/>
        </p:nvSpPr>
        <p:spPr>
          <a:xfrm>
            <a:off x="3419856" y="2423160"/>
            <a:ext cx="2286000" cy="274320"/>
          </a:xfrm>
          <a:prstGeom prst="rect">
            <a:avLst/>
          </a:prstGeom>
          <a:noFill/>
          <a:ln/>
        </p:spPr>
        <p:txBody>
          <a:bodyPr wrap="square" lIns="0" tIns="0" rIns="0" bIns="0" rtlCol="0" anchor="t"/>
          <a:lstStyle/>
          <a:p>
            <a:pPr indent="0" marL="0">
              <a:buNone/>
            </a:pPr>
            <a:r>
              <a:rPr lang="en-US" sz="1150" b="1" dirty="0">
                <a:solidFill>
                  <a:srgbClr val="1B2430"/>
                </a:solidFill>
                <a:latin typeface="Verdana" pitchFamily="34" charset="0"/>
                <a:ea typeface="Verdana" pitchFamily="34" charset="-122"/>
                <a:cs typeface="Verdana" pitchFamily="34" charset="-120"/>
              </a:rPr>
              <a:t>Hardware team</a:t>
            </a:r>
            <a:endParaRPr lang="en-US" sz="1150" dirty="0"/>
          </a:p>
        </p:txBody>
      </p:sp>
      <p:sp>
        <p:nvSpPr>
          <p:cNvPr id="16" name="Text 14"/>
          <p:cNvSpPr txBox="1"/>
          <p:nvPr/>
        </p:nvSpPr>
        <p:spPr>
          <a:xfrm>
            <a:off x="3419856" y="2743200"/>
            <a:ext cx="2286000" cy="114300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Baker and Mixer first. Later: 3D-printer integration and more smart accessories, all with an agent API</a:t>
            </a:r>
            <a:endParaRPr lang="en-US" sz="850" dirty="0"/>
          </a:p>
        </p:txBody>
      </p:sp>
      <p:sp>
        <p:nvSpPr>
          <p:cNvPr id="17" name="Shape 15"/>
          <p:cNvSpPr/>
          <p:nvPr/>
        </p:nvSpPr>
        <p:spPr>
          <a:xfrm>
            <a:off x="5980176" y="2286000"/>
            <a:ext cx="2606040" cy="1691640"/>
          </a:xfrm>
          <a:prstGeom prst="rect">
            <a:avLst/>
          </a:prstGeom>
          <a:solidFill>
            <a:srgbClr val="FFFFFF"/>
          </a:solidFill>
          <a:ln w="11430">
            <a:solidFill>
              <a:srgbClr val="7A7468"/>
            </a:solidFill>
            <a:prstDash val="solid"/>
          </a:ln>
        </p:spPr>
      </p:sp>
      <p:sp>
        <p:nvSpPr>
          <p:cNvPr id="18" name="Shape 16"/>
          <p:cNvSpPr/>
          <p:nvPr/>
        </p:nvSpPr>
        <p:spPr>
          <a:xfrm>
            <a:off x="5980176" y="2286000"/>
            <a:ext cx="54864" cy="1691640"/>
          </a:xfrm>
          <a:prstGeom prst="rect">
            <a:avLst/>
          </a:prstGeom>
          <a:solidFill>
            <a:srgbClr val="7A7468"/>
          </a:solidFill>
          <a:ln w="12700">
            <a:solidFill>
              <a:srgbClr val="7A7468"/>
            </a:solidFill>
            <a:prstDash val="solid"/>
          </a:ln>
        </p:spPr>
      </p:sp>
      <p:sp>
        <p:nvSpPr>
          <p:cNvPr id="19" name="Text 17"/>
          <p:cNvSpPr txBox="1"/>
          <p:nvPr/>
        </p:nvSpPr>
        <p:spPr>
          <a:xfrm>
            <a:off x="6181344" y="2423160"/>
            <a:ext cx="2286000" cy="274320"/>
          </a:xfrm>
          <a:prstGeom prst="rect">
            <a:avLst/>
          </a:prstGeom>
          <a:noFill/>
          <a:ln/>
        </p:spPr>
        <p:txBody>
          <a:bodyPr wrap="square" lIns="0" tIns="0" rIns="0" bIns="0" rtlCol="0" anchor="t"/>
          <a:lstStyle/>
          <a:p>
            <a:pPr indent="0" marL="0">
              <a:buNone/>
            </a:pPr>
            <a:r>
              <a:rPr lang="en-US" sz="1150" b="1" dirty="0">
                <a:solidFill>
                  <a:srgbClr val="1B2430"/>
                </a:solidFill>
                <a:latin typeface="Verdana" pitchFamily="34" charset="0"/>
                <a:ea typeface="Verdana" pitchFamily="34" charset="-122"/>
                <a:cs typeface="Verdana" pitchFamily="34" charset="-120"/>
              </a:rPr>
              <a:t>Manufacturing</a:t>
            </a:r>
            <a:endParaRPr lang="en-US" sz="1150" dirty="0"/>
          </a:p>
        </p:txBody>
      </p:sp>
      <p:sp>
        <p:nvSpPr>
          <p:cNvPr id="20" name="Text 18"/>
          <p:cNvSpPr txBox="1"/>
          <p:nvPr/>
        </p:nvSpPr>
        <p:spPr>
          <a:xfrm>
            <a:off x="6181344" y="2743200"/>
            <a:ext cx="2286000" cy="114300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China turnkey build. India does incoming test, minimal assembly and shipping: India first, then global</a:t>
            </a:r>
            <a:endParaRPr lang="en-US" sz="850" dirty="0"/>
          </a:p>
        </p:txBody>
      </p:sp>
      <p:sp>
        <p:nvSpPr>
          <p:cNvPr id="21" name="Text 19"/>
          <p:cNvSpPr txBox="1"/>
          <p:nvPr/>
        </p:nvSpPr>
        <p:spPr>
          <a:xfrm>
            <a:off x="457200" y="4206240"/>
            <a:ext cx="8229600" cy="228600"/>
          </a:xfrm>
          <a:prstGeom prst="rect">
            <a:avLst/>
          </a:prstGeom>
          <a:noFill/>
          <a:ln/>
        </p:spPr>
        <p:txBody>
          <a:bodyPr wrap="square" lIns="0" tIns="0" rIns="0" bIns="0" rtlCol="0" anchor="t"/>
          <a:lstStyle/>
          <a:p>
            <a:pPr indent="0" marL="0">
              <a:buNone/>
            </a:pPr>
            <a:r>
              <a:rPr lang="en-US" sz="900" b="1" dirty="0">
                <a:solidFill>
                  <a:srgbClr val="C8834A"/>
                </a:solidFill>
                <a:latin typeface="Verdana" pitchFamily="34" charset="0"/>
                <a:ea typeface="Verdana" pitchFamily="34" charset="-122"/>
                <a:cs typeface="Verdana" pitchFamily="34" charset="-120"/>
              </a:rPr>
              <a:t>For prototyping, not production. Once a design is frozen, Proto hands the checked files to a fab.</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7</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THE PRODUCT</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Proto: one input in, a planned and tested prototype out</a:t>
            </a:r>
            <a:endParaRPr lang="en-US" sz="1900" dirty="0"/>
          </a:p>
        </p:txBody>
      </p:sp>
      <p:sp>
        <p:nvSpPr>
          <p:cNvPr id="8" name="Shape 6"/>
          <p:cNvSpPr/>
          <p:nvPr/>
        </p:nvSpPr>
        <p:spPr>
          <a:xfrm>
            <a:off x="457200" y="1234440"/>
            <a:ext cx="1920240" cy="1234440"/>
          </a:xfrm>
          <a:prstGeom prst="rect">
            <a:avLst/>
          </a:prstGeom>
          <a:solidFill>
            <a:srgbClr val="FFFFFF"/>
          </a:solidFill>
          <a:ln w="11430">
            <a:solidFill>
              <a:srgbClr val="1B2430"/>
            </a:solidFill>
            <a:prstDash val="solid"/>
          </a:ln>
        </p:spPr>
      </p:sp>
      <p:sp>
        <p:nvSpPr>
          <p:cNvPr id="9" name="Shape 7"/>
          <p:cNvSpPr/>
          <p:nvPr/>
        </p:nvSpPr>
        <p:spPr>
          <a:xfrm>
            <a:off x="457200" y="1234440"/>
            <a:ext cx="54864" cy="1234440"/>
          </a:xfrm>
          <a:prstGeom prst="rect">
            <a:avLst/>
          </a:prstGeom>
          <a:solidFill>
            <a:srgbClr val="1B2430"/>
          </a:solidFill>
          <a:ln w="12700">
            <a:solidFill>
              <a:srgbClr val="1B2430"/>
            </a:solidFill>
            <a:prstDash val="solid"/>
          </a:ln>
        </p:spPr>
      </p:sp>
      <p:sp>
        <p:nvSpPr>
          <p:cNvPr id="10" name="Text 8"/>
          <p:cNvSpPr txBox="1"/>
          <p:nvPr/>
        </p:nvSpPr>
        <p:spPr>
          <a:xfrm>
            <a:off x="621792" y="1344168"/>
            <a:ext cx="1691640" cy="256032"/>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01  Input</a:t>
            </a:r>
            <a:endParaRPr lang="en-US" sz="1050" dirty="0"/>
          </a:p>
        </p:txBody>
      </p:sp>
      <p:sp>
        <p:nvSpPr>
          <p:cNvPr id="11" name="Text 9"/>
          <p:cNvSpPr txBox="1"/>
          <p:nvPr/>
        </p:nvSpPr>
        <p:spPr>
          <a:xfrm>
            <a:off x="621792" y="1673352"/>
            <a:ext cx="16916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Idea, sketch, photo, or KiCad / Flux / Fusion files</a:t>
            </a:r>
            <a:endParaRPr lang="en-US" sz="850" dirty="0"/>
          </a:p>
        </p:txBody>
      </p:sp>
      <p:sp>
        <p:nvSpPr>
          <p:cNvPr id="12" name="Shape 10"/>
          <p:cNvSpPr/>
          <p:nvPr/>
        </p:nvSpPr>
        <p:spPr>
          <a:xfrm>
            <a:off x="2377440" y="1847088"/>
            <a:ext cx="155448" cy="0"/>
          </a:xfrm>
          <a:prstGeom prst="line">
            <a:avLst/>
          </a:prstGeom>
          <a:noFill/>
          <a:ln w="9525">
            <a:solidFill>
              <a:srgbClr val="1B2430"/>
            </a:solidFill>
            <a:prstDash val="solid"/>
            <a:tailEnd type="triangle"/>
          </a:ln>
        </p:spPr>
      </p:sp>
      <p:sp>
        <p:nvSpPr>
          <p:cNvPr id="13" name="Shape 11"/>
          <p:cNvSpPr/>
          <p:nvPr/>
        </p:nvSpPr>
        <p:spPr>
          <a:xfrm>
            <a:off x="2532888" y="1234440"/>
            <a:ext cx="1920240" cy="1234440"/>
          </a:xfrm>
          <a:prstGeom prst="rect">
            <a:avLst/>
          </a:prstGeom>
          <a:solidFill>
            <a:srgbClr val="FFFFFF"/>
          </a:solidFill>
          <a:ln w="11430">
            <a:solidFill>
              <a:srgbClr val="1B2430"/>
            </a:solidFill>
            <a:prstDash val="solid"/>
          </a:ln>
        </p:spPr>
      </p:sp>
      <p:sp>
        <p:nvSpPr>
          <p:cNvPr id="14" name="Shape 12"/>
          <p:cNvSpPr/>
          <p:nvPr/>
        </p:nvSpPr>
        <p:spPr>
          <a:xfrm>
            <a:off x="2532888" y="1234440"/>
            <a:ext cx="54864" cy="1234440"/>
          </a:xfrm>
          <a:prstGeom prst="rect">
            <a:avLst/>
          </a:prstGeom>
          <a:solidFill>
            <a:srgbClr val="1B2430"/>
          </a:solidFill>
          <a:ln w="12700">
            <a:solidFill>
              <a:srgbClr val="1B2430"/>
            </a:solidFill>
            <a:prstDash val="solid"/>
          </a:ln>
        </p:spPr>
      </p:sp>
      <p:sp>
        <p:nvSpPr>
          <p:cNvPr id="15" name="Text 13"/>
          <p:cNvSpPr txBox="1"/>
          <p:nvPr/>
        </p:nvSpPr>
        <p:spPr>
          <a:xfrm>
            <a:off x="2697480" y="1344168"/>
            <a:ext cx="1691640" cy="256032"/>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02  Plan</a:t>
            </a:r>
            <a:endParaRPr lang="en-US" sz="1050" dirty="0"/>
          </a:p>
        </p:txBody>
      </p:sp>
      <p:sp>
        <p:nvSpPr>
          <p:cNvPr id="16" name="Text 14"/>
          <p:cNvSpPr txBox="1"/>
          <p:nvPr/>
        </p:nvSpPr>
        <p:spPr>
          <a:xfrm>
            <a:off x="2697480" y="1673352"/>
            <a:ext cx="16916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Spec, block diagram, parts in stock, test plan</a:t>
            </a:r>
            <a:endParaRPr lang="en-US" sz="850" dirty="0"/>
          </a:p>
        </p:txBody>
      </p:sp>
      <p:sp>
        <p:nvSpPr>
          <p:cNvPr id="17" name="Shape 15"/>
          <p:cNvSpPr/>
          <p:nvPr/>
        </p:nvSpPr>
        <p:spPr>
          <a:xfrm>
            <a:off x="4453128" y="1847088"/>
            <a:ext cx="155448" cy="0"/>
          </a:xfrm>
          <a:prstGeom prst="line">
            <a:avLst/>
          </a:prstGeom>
          <a:noFill/>
          <a:ln w="9525">
            <a:solidFill>
              <a:srgbClr val="1B2430"/>
            </a:solidFill>
            <a:prstDash val="solid"/>
            <a:tailEnd type="triangle"/>
          </a:ln>
        </p:spPr>
      </p:sp>
      <p:sp>
        <p:nvSpPr>
          <p:cNvPr id="18" name="Shape 16"/>
          <p:cNvSpPr/>
          <p:nvPr/>
        </p:nvSpPr>
        <p:spPr>
          <a:xfrm>
            <a:off x="4608576" y="1234440"/>
            <a:ext cx="1920240" cy="1234440"/>
          </a:xfrm>
          <a:prstGeom prst="rect">
            <a:avLst/>
          </a:prstGeom>
          <a:solidFill>
            <a:srgbClr val="FFFFFF"/>
          </a:solidFill>
          <a:ln w="11430">
            <a:solidFill>
              <a:srgbClr val="1B2430"/>
            </a:solidFill>
            <a:prstDash val="solid"/>
          </a:ln>
        </p:spPr>
      </p:sp>
      <p:sp>
        <p:nvSpPr>
          <p:cNvPr id="19" name="Shape 17"/>
          <p:cNvSpPr/>
          <p:nvPr/>
        </p:nvSpPr>
        <p:spPr>
          <a:xfrm>
            <a:off x="4608576" y="1234440"/>
            <a:ext cx="54864" cy="1234440"/>
          </a:xfrm>
          <a:prstGeom prst="rect">
            <a:avLst/>
          </a:prstGeom>
          <a:solidFill>
            <a:srgbClr val="1B2430"/>
          </a:solidFill>
          <a:ln w="12700">
            <a:solidFill>
              <a:srgbClr val="1B2430"/>
            </a:solidFill>
            <a:prstDash val="solid"/>
          </a:ln>
        </p:spPr>
      </p:sp>
      <p:sp>
        <p:nvSpPr>
          <p:cNvPr id="20" name="Text 18"/>
          <p:cNvSpPr txBox="1"/>
          <p:nvPr/>
        </p:nvSpPr>
        <p:spPr>
          <a:xfrm>
            <a:off x="4773168" y="1344168"/>
            <a:ext cx="1691640" cy="256032"/>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03  Design</a:t>
            </a:r>
            <a:endParaRPr lang="en-US" sz="1050" dirty="0"/>
          </a:p>
        </p:txBody>
      </p:sp>
      <p:sp>
        <p:nvSpPr>
          <p:cNvPr id="21" name="Text 19"/>
          <p:cNvSpPr txBox="1"/>
          <p:nvPr/>
        </p:nvSpPr>
        <p:spPr>
          <a:xfrm>
            <a:off x="4773168" y="1673352"/>
            <a:ext cx="16916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Schematic + layout via EDA connectors; Baker DRC</a:t>
            </a:r>
            <a:endParaRPr lang="en-US" sz="850" dirty="0"/>
          </a:p>
        </p:txBody>
      </p:sp>
      <p:sp>
        <p:nvSpPr>
          <p:cNvPr id="22" name="Shape 20"/>
          <p:cNvSpPr/>
          <p:nvPr/>
        </p:nvSpPr>
        <p:spPr>
          <a:xfrm>
            <a:off x="6528816" y="1847088"/>
            <a:ext cx="155448" cy="0"/>
          </a:xfrm>
          <a:prstGeom prst="line">
            <a:avLst/>
          </a:prstGeom>
          <a:noFill/>
          <a:ln w="9525">
            <a:solidFill>
              <a:srgbClr val="1B2430"/>
            </a:solidFill>
            <a:prstDash val="solid"/>
            <a:tailEnd type="triangle"/>
          </a:ln>
        </p:spPr>
      </p:sp>
      <p:sp>
        <p:nvSpPr>
          <p:cNvPr id="23" name="Shape 21"/>
          <p:cNvSpPr/>
          <p:nvPr/>
        </p:nvSpPr>
        <p:spPr>
          <a:xfrm>
            <a:off x="6684264" y="1234440"/>
            <a:ext cx="1920240" cy="1234440"/>
          </a:xfrm>
          <a:prstGeom prst="rect">
            <a:avLst/>
          </a:prstGeom>
          <a:solidFill>
            <a:srgbClr val="FFFFFF"/>
          </a:solidFill>
          <a:ln w="11430">
            <a:solidFill>
              <a:srgbClr val="C8834A"/>
            </a:solidFill>
            <a:prstDash val="solid"/>
          </a:ln>
        </p:spPr>
      </p:sp>
      <p:sp>
        <p:nvSpPr>
          <p:cNvPr id="24" name="Shape 22"/>
          <p:cNvSpPr/>
          <p:nvPr/>
        </p:nvSpPr>
        <p:spPr>
          <a:xfrm>
            <a:off x="6684264" y="1234440"/>
            <a:ext cx="54864" cy="1234440"/>
          </a:xfrm>
          <a:prstGeom prst="rect">
            <a:avLst/>
          </a:prstGeom>
          <a:solidFill>
            <a:srgbClr val="C8834A"/>
          </a:solidFill>
          <a:ln w="12700">
            <a:solidFill>
              <a:srgbClr val="C8834A"/>
            </a:solidFill>
            <a:prstDash val="solid"/>
          </a:ln>
        </p:spPr>
      </p:sp>
      <p:sp>
        <p:nvSpPr>
          <p:cNvPr id="25" name="Text 23"/>
          <p:cNvSpPr txBox="1"/>
          <p:nvPr/>
        </p:nvSpPr>
        <p:spPr>
          <a:xfrm>
            <a:off x="6848856" y="1344168"/>
            <a:ext cx="1691640" cy="256032"/>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04  Make</a:t>
            </a:r>
            <a:endParaRPr lang="en-US" sz="1050" dirty="0"/>
          </a:p>
        </p:txBody>
      </p:sp>
      <p:sp>
        <p:nvSpPr>
          <p:cNvPr id="26" name="Text 24"/>
          <p:cNvSpPr txBox="1"/>
          <p:nvPr/>
        </p:nvSpPr>
        <p:spPr>
          <a:xfrm>
            <a:off x="6848856" y="1673352"/>
            <a:ext cx="16916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Baker mills, masks, stencils and pastes the board</a:t>
            </a:r>
            <a:endParaRPr lang="en-US" sz="850" dirty="0"/>
          </a:p>
        </p:txBody>
      </p:sp>
      <p:sp>
        <p:nvSpPr>
          <p:cNvPr id="27" name="Shape 25"/>
          <p:cNvSpPr/>
          <p:nvPr/>
        </p:nvSpPr>
        <p:spPr>
          <a:xfrm>
            <a:off x="457200" y="2651760"/>
            <a:ext cx="1920240" cy="1234440"/>
          </a:xfrm>
          <a:prstGeom prst="rect">
            <a:avLst/>
          </a:prstGeom>
          <a:solidFill>
            <a:srgbClr val="FFFFFF"/>
          </a:solidFill>
          <a:ln w="11430">
            <a:solidFill>
              <a:srgbClr val="7A7468"/>
            </a:solidFill>
            <a:prstDash val="solid"/>
          </a:ln>
        </p:spPr>
      </p:sp>
      <p:sp>
        <p:nvSpPr>
          <p:cNvPr id="28" name="Shape 26"/>
          <p:cNvSpPr/>
          <p:nvPr/>
        </p:nvSpPr>
        <p:spPr>
          <a:xfrm>
            <a:off x="457200" y="2651760"/>
            <a:ext cx="54864" cy="1234440"/>
          </a:xfrm>
          <a:prstGeom prst="rect">
            <a:avLst/>
          </a:prstGeom>
          <a:solidFill>
            <a:srgbClr val="7A7468"/>
          </a:solidFill>
          <a:ln w="12700">
            <a:solidFill>
              <a:srgbClr val="7A7468"/>
            </a:solidFill>
            <a:prstDash val="solid"/>
          </a:ln>
        </p:spPr>
      </p:sp>
      <p:sp>
        <p:nvSpPr>
          <p:cNvPr id="29" name="Text 27"/>
          <p:cNvSpPr txBox="1"/>
          <p:nvPr/>
        </p:nvSpPr>
        <p:spPr>
          <a:xfrm>
            <a:off x="621792" y="2761488"/>
            <a:ext cx="1691640" cy="256032"/>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05  Assemble</a:t>
            </a:r>
            <a:endParaRPr lang="en-US" sz="1050" dirty="0"/>
          </a:p>
        </p:txBody>
      </p:sp>
      <p:sp>
        <p:nvSpPr>
          <p:cNvPr id="30" name="Text 28"/>
          <p:cNvSpPr txBox="1"/>
          <p:nvPr/>
        </p:nvSpPr>
        <p:spPr>
          <a:xfrm>
            <a:off x="621792" y="3090672"/>
            <a:ext cx="16916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Guided placement into a printed jig; reflow</a:t>
            </a:r>
            <a:endParaRPr lang="en-US" sz="850" dirty="0"/>
          </a:p>
        </p:txBody>
      </p:sp>
      <p:sp>
        <p:nvSpPr>
          <p:cNvPr id="31" name="Shape 29"/>
          <p:cNvSpPr/>
          <p:nvPr/>
        </p:nvSpPr>
        <p:spPr>
          <a:xfrm>
            <a:off x="2377440" y="3264408"/>
            <a:ext cx="155448" cy="0"/>
          </a:xfrm>
          <a:prstGeom prst="line">
            <a:avLst/>
          </a:prstGeom>
          <a:noFill/>
          <a:ln w="9525">
            <a:solidFill>
              <a:srgbClr val="1B2430"/>
            </a:solidFill>
            <a:prstDash val="solid"/>
            <a:tailEnd type="triangle"/>
          </a:ln>
        </p:spPr>
      </p:sp>
      <p:sp>
        <p:nvSpPr>
          <p:cNvPr id="32" name="Shape 30"/>
          <p:cNvSpPr/>
          <p:nvPr/>
        </p:nvSpPr>
        <p:spPr>
          <a:xfrm>
            <a:off x="2532888" y="2651760"/>
            <a:ext cx="1920240" cy="1234440"/>
          </a:xfrm>
          <a:prstGeom prst="rect">
            <a:avLst/>
          </a:prstGeom>
          <a:solidFill>
            <a:srgbClr val="FFFFFF"/>
          </a:solidFill>
          <a:ln w="11430">
            <a:solidFill>
              <a:srgbClr val="5E8C5A"/>
            </a:solidFill>
            <a:prstDash val="solid"/>
          </a:ln>
        </p:spPr>
      </p:sp>
      <p:sp>
        <p:nvSpPr>
          <p:cNvPr id="33" name="Shape 31"/>
          <p:cNvSpPr/>
          <p:nvPr/>
        </p:nvSpPr>
        <p:spPr>
          <a:xfrm>
            <a:off x="2532888" y="2651760"/>
            <a:ext cx="54864" cy="1234440"/>
          </a:xfrm>
          <a:prstGeom prst="rect">
            <a:avLst/>
          </a:prstGeom>
          <a:solidFill>
            <a:srgbClr val="5E8C5A"/>
          </a:solidFill>
          <a:ln w="12700">
            <a:solidFill>
              <a:srgbClr val="5E8C5A"/>
            </a:solidFill>
            <a:prstDash val="solid"/>
          </a:ln>
        </p:spPr>
      </p:sp>
      <p:sp>
        <p:nvSpPr>
          <p:cNvPr id="34" name="Text 32"/>
          <p:cNvSpPr txBox="1"/>
          <p:nvPr/>
        </p:nvSpPr>
        <p:spPr>
          <a:xfrm>
            <a:off x="2697480" y="2761488"/>
            <a:ext cx="1691640" cy="256032"/>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06  Test</a:t>
            </a:r>
            <a:endParaRPr lang="en-US" sz="1050" dirty="0"/>
          </a:p>
        </p:txBody>
      </p:sp>
      <p:sp>
        <p:nvSpPr>
          <p:cNvPr id="35" name="Text 33"/>
          <p:cNvSpPr txBox="1"/>
          <p:nvPr/>
        </p:nvSpPr>
        <p:spPr>
          <a:xfrm>
            <a:off x="2697480" y="3090672"/>
            <a:ext cx="16916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Mixer powers, drives and measures the board</a:t>
            </a:r>
            <a:endParaRPr lang="en-US" sz="850" dirty="0"/>
          </a:p>
        </p:txBody>
      </p:sp>
      <p:sp>
        <p:nvSpPr>
          <p:cNvPr id="36" name="Shape 34"/>
          <p:cNvSpPr/>
          <p:nvPr/>
        </p:nvSpPr>
        <p:spPr>
          <a:xfrm>
            <a:off x="4453128" y="3264408"/>
            <a:ext cx="155448" cy="0"/>
          </a:xfrm>
          <a:prstGeom prst="line">
            <a:avLst/>
          </a:prstGeom>
          <a:noFill/>
          <a:ln w="9525">
            <a:solidFill>
              <a:srgbClr val="1B2430"/>
            </a:solidFill>
            <a:prstDash val="solid"/>
            <a:tailEnd type="triangle"/>
          </a:ln>
        </p:spPr>
      </p:sp>
      <p:sp>
        <p:nvSpPr>
          <p:cNvPr id="37" name="Shape 35"/>
          <p:cNvSpPr/>
          <p:nvPr/>
        </p:nvSpPr>
        <p:spPr>
          <a:xfrm>
            <a:off x="4608576" y="2651760"/>
            <a:ext cx="1920240" cy="1234440"/>
          </a:xfrm>
          <a:prstGeom prst="rect">
            <a:avLst/>
          </a:prstGeom>
          <a:solidFill>
            <a:srgbClr val="FFFFFF"/>
          </a:solidFill>
          <a:ln w="11430">
            <a:solidFill>
              <a:srgbClr val="5E8C5A"/>
            </a:solidFill>
            <a:prstDash val="solid"/>
          </a:ln>
        </p:spPr>
      </p:sp>
      <p:sp>
        <p:nvSpPr>
          <p:cNvPr id="38" name="Shape 36"/>
          <p:cNvSpPr/>
          <p:nvPr/>
        </p:nvSpPr>
        <p:spPr>
          <a:xfrm>
            <a:off x="4608576" y="2651760"/>
            <a:ext cx="54864" cy="1234440"/>
          </a:xfrm>
          <a:prstGeom prst="rect">
            <a:avLst/>
          </a:prstGeom>
          <a:solidFill>
            <a:srgbClr val="5E8C5A"/>
          </a:solidFill>
          <a:ln w="12700">
            <a:solidFill>
              <a:srgbClr val="5E8C5A"/>
            </a:solidFill>
            <a:prstDash val="solid"/>
          </a:ln>
        </p:spPr>
      </p:sp>
      <p:sp>
        <p:nvSpPr>
          <p:cNvPr id="39" name="Text 37"/>
          <p:cNvSpPr txBox="1"/>
          <p:nvPr/>
        </p:nvSpPr>
        <p:spPr>
          <a:xfrm>
            <a:off x="4773168" y="2761488"/>
            <a:ext cx="1691640" cy="256032"/>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07  Diagnose</a:t>
            </a:r>
            <a:endParaRPr lang="en-US" sz="1050" dirty="0"/>
          </a:p>
        </p:txBody>
      </p:sp>
      <p:sp>
        <p:nvSpPr>
          <p:cNvPr id="40" name="Text 38"/>
          <p:cNvSpPr txBox="1"/>
          <p:nvPr/>
        </p:nvSpPr>
        <p:spPr>
          <a:xfrm>
            <a:off x="4773168" y="3090672"/>
            <a:ext cx="16916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Plain-language pass/fail and the next change</a:t>
            </a:r>
            <a:endParaRPr lang="en-US" sz="850" dirty="0"/>
          </a:p>
        </p:txBody>
      </p:sp>
      <p:sp>
        <p:nvSpPr>
          <p:cNvPr id="41" name="Shape 39"/>
          <p:cNvSpPr/>
          <p:nvPr/>
        </p:nvSpPr>
        <p:spPr>
          <a:xfrm>
            <a:off x="6528816" y="3264408"/>
            <a:ext cx="155448" cy="0"/>
          </a:xfrm>
          <a:prstGeom prst="line">
            <a:avLst/>
          </a:prstGeom>
          <a:noFill/>
          <a:ln w="9525">
            <a:solidFill>
              <a:srgbClr val="1B2430"/>
            </a:solidFill>
            <a:prstDash val="solid"/>
            <a:tailEnd type="triangle"/>
          </a:ln>
        </p:spPr>
      </p:sp>
      <p:sp>
        <p:nvSpPr>
          <p:cNvPr id="42" name="Shape 40"/>
          <p:cNvSpPr/>
          <p:nvPr/>
        </p:nvSpPr>
        <p:spPr>
          <a:xfrm>
            <a:off x="6684264" y="2651760"/>
            <a:ext cx="1920240" cy="1234440"/>
          </a:xfrm>
          <a:prstGeom prst="rect">
            <a:avLst/>
          </a:prstGeom>
          <a:solidFill>
            <a:srgbClr val="FFFFFF"/>
          </a:solidFill>
          <a:ln w="11430">
            <a:solidFill>
              <a:srgbClr val="1B2430"/>
            </a:solidFill>
            <a:prstDash val="solid"/>
          </a:ln>
        </p:spPr>
      </p:sp>
      <p:sp>
        <p:nvSpPr>
          <p:cNvPr id="43" name="Shape 41"/>
          <p:cNvSpPr/>
          <p:nvPr/>
        </p:nvSpPr>
        <p:spPr>
          <a:xfrm>
            <a:off x="6684264" y="2651760"/>
            <a:ext cx="54864" cy="1234440"/>
          </a:xfrm>
          <a:prstGeom prst="rect">
            <a:avLst/>
          </a:prstGeom>
          <a:solidFill>
            <a:srgbClr val="1B2430"/>
          </a:solidFill>
          <a:ln w="12700">
            <a:solidFill>
              <a:srgbClr val="1B2430"/>
            </a:solidFill>
            <a:prstDash val="solid"/>
          </a:ln>
        </p:spPr>
      </p:sp>
      <p:sp>
        <p:nvSpPr>
          <p:cNvPr id="44" name="Text 42"/>
          <p:cNvSpPr txBox="1"/>
          <p:nvPr/>
        </p:nvSpPr>
        <p:spPr>
          <a:xfrm>
            <a:off x="6848856" y="2761488"/>
            <a:ext cx="1691640" cy="256032"/>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08  Hand off</a:t>
            </a:r>
            <a:endParaRPr lang="en-US" sz="1050" dirty="0"/>
          </a:p>
        </p:txBody>
      </p:sp>
      <p:sp>
        <p:nvSpPr>
          <p:cNvPr id="45" name="Text 43"/>
          <p:cNvSpPr txBox="1"/>
          <p:nvPr/>
        </p:nvSpPr>
        <p:spPr>
          <a:xfrm>
            <a:off x="6848856" y="3090672"/>
            <a:ext cx="16916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Checked Gerber/BOM/CPL to a fab for 100+ units</a:t>
            </a:r>
            <a:endParaRPr lang="en-US" sz="850" dirty="0"/>
          </a:p>
        </p:txBody>
      </p:sp>
      <p:sp>
        <p:nvSpPr>
          <p:cNvPr id="46" name="Shape 44"/>
          <p:cNvSpPr/>
          <p:nvPr/>
        </p:nvSpPr>
        <p:spPr>
          <a:xfrm>
            <a:off x="457200" y="4142232"/>
            <a:ext cx="91440" cy="91440"/>
          </a:xfrm>
          <a:prstGeom prst="rect">
            <a:avLst/>
          </a:prstGeom>
          <a:solidFill>
            <a:srgbClr val="1B2430"/>
          </a:solidFill>
          <a:ln w="12700">
            <a:solidFill>
              <a:srgbClr val="1B2430"/>
            </a:solidFill>
            <a:prstDash val="solid"/>
          </a:ln>
        </p:spPr>
      </p:sp>
      <p:sp>
        <p:nvSpPr>
          <p:cNvPr id="47" name="Text 45"/>
          <p:cNvSpPr txBox="1"/>
          <p:nvPr/>
        </p:nvSpPr>
        <p:spPr>
          <a:xfrm>
            <a:off x="612648" y="4114800"/>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Proto (software)</a:t>
            </a:r>
            <a:endParaRPr lang="en-US" sz="700" dirty="0"/>
          </a:p>
        </p:txBody>
      </p:sp>
      <p:sp>
        <p:nvSpPr>
          <p:cNvPr id="48" name="Shape 46"/>
          <p:cNvSpPr/>
          <p:nvPr/>
        </p:nvSpPr>
        <p:spPr>
          <a:xfrm>
            <a:off x="457200" y="4315968"/>
            <a:ext cx="91440" cy="91440"/>
          </a:xfrm>
          <a:prstGeom prst="rect">
            <a:avLst/>
          </a:prstGeom>
          <a:solidFill>
            <a:srgbClr val="C8834A"/>
          </a:solidFill>
          <a:ln w="12700">
            <a:solidFill>
              <a:srgbClr val="C8834A"/>
            </a:solidFill>
            <a:prstDash val="solid"/>
          </a:ln>
        </p:spPr>
      </p:sp>
      <p:sp>
        <p:nvSpPr>
          <p:cNvPr id="49" name="Text 47"/>
          <p:cNvSpPr txBox="1"/>
          <p:nvPr/>
        </p:nvSpPr>
        <p:spPr>
          <a:xfrm>
            <a:off x="612648" y="4288536"/>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Baker</a:t>
            </a:r>
            <a:endParaRPr lang="en-US" sz="700" dirty="0"/>
          </a:p>
        </p:txBody>
      </p:sp>
      <p:sp>
        <p:nvSpPr>
          <p:cNvPr id="50" name="Shape 48"/>
          <p:cNvSpPr/>
          <p:nvPr/>
        </p:nvSpPr>
        <p:spPr>
          <a:xfrm>
            <a:off x="2377440" y="4142232"/>
            <a:ext cx="91440" cy="91440"/>
          </a:xfrm>
          <a:prstGeom prst="rect">
            <a:avLst/>
          </a:prstGeom>
          <a:solidFill>
            <a:srgbClr val="7A7468"/>
          </a:solidFill>
          <a:ln w="12700">
            <a:solidFill>
              <a:srgbClr val="7A7468"/>
            </a:solidFill>
            <a:prstDash val="solid"/>
          </a:ln>
        </p:spPr>
      </p:sp>
      <p:sp>
        <p:nvSpPr>
          <p:cNvPr id="51" name="Text 49"/>
          <p:cNvSpPr txBox="1"/>
          <p:nvPr/>
        </p:nvSpPr>
        <p:spPr>
          <a:xfrm>
            <a:off x="2532888" y="4114800"/>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Operator</a:t>
            </a:r>
            <a:endParaRPr lang="en-US" sz="700" dirty="0"/>
          </a:p>
        </p:txBody>
      </p:sp>
      <p:sp>
        <p:nvSpPr>
          <p:cNvPr id="52" name="Shape 50"/>
          <p:cNvSpPr/>
          <p:nvPr/>
        </p:nvSpPr>
        <p:spPr>
          <a:xfrm>
            <a:off x="2377440" y="4315968"/>
            <a:ext cx="91440" cy="91440"/>
          </a:xfrm>
          <a:prstGeom prst="rect">
            <a:avLst/>
          </a:prstGeom>
          <a:solidFill>
            <a:srgbClr val="5E8C5A"/>
          </a:solidFill>
          <a:ln w="12700">
            <a:solidFill>
              <a:srgbClr val="5E8C5A"/>
            </a:solidFill>
            <a:prstDash val="solid"/>
          </a:ln>
        </p:spPr>
      </p:sp>
      <p:sp>
        <p:nvSpPr>
          <p:cNvPr id="53" name="Text 51"/>
          <p:cNvSpPr txBox="1"/>
          <p:nvPr/>
        </p:nvSpPr>
        <p:spPr>
          <a:xfrm>
            <a:off x="2532888" y="4288536"/>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Mixer</a:t>
            </a:r>
            <a:endParaRPr lang="en-US" sz="700" dirty="0"/>
          </a:p>
        </p:txBody>
      </p:sp>
      <p:sp>
        <p:nvSpPr>
          <p:cNvPr id="54" name="Text 52"/>
          <p:cNvSpPr txBox="1"/>
          <p:nvPr/>
        </p:nvSpPr>
        <p:spPr>
          <a:xfrm>
            <a:off x="4206240" y="4114800"/>
            <a:ext cx="4480560" cy="365760"/>
          </a:xfrm>
          <a:prstGeom prst="rect">
            <a:avLst/>
          </a:prstGeom>
          <a:noFill/>
          <a:ln/>
        </p:spPr>
        <p:txBody>
          <a:bodyPr wrap="square" lIns="0" tIns="0" rIns="0" bIns="0" rtlCol="0" anchor="t"/>
          <a:lstStyle/>
          <a:p>
            <a:pPr indent="0" marL="0">
              <a:buNone/>
            </a:pPr>
            <a:r>
              <a:rPr lang="en-US" sz="800" dirty="0">
                <a:solidFill>
                  <a:srgbClr val="6B6459"/>
                </a:solidFill>
                <a:latin typeface="Verdana" pitchFamily="34" charset="0"/>
                <a:ea typeface="Verdana" pitchFamily="34" charset="-122"/>
                <a:cs typeface="Verdana" pitchFamily="34" charset="-120"/>
              </a:rPr>
              <a:t>A person confirms before anything is cut, lasered or powered. Proto plans and checks; the machines only act on approved steps.</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8</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TECH STACK · PROTO</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Proto tech stack: an agent with real-world tools</a:t>
            </a:r>
            <a:endParaRPr lang="en-US" sz="1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463040"/>
                <a:gridCol w="6766560"/>
              </a:tblGrid>
              <a:tr h="402336">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Layer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What it is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40233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Interface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Chat + sketch/photo upload · project timeline · Baker touch screen · browser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Reasoning</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Frontier LLM, swappable, through an API · planner that breaks a goal into spec → parts → schematic → layout → fab plan → test plan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Tools (MCP)</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KiCad scripting · Flux/KiCad import · Fusion &amp; Blender connectors (enclosures) · parts APIs (stock, price) · ngspice · PlatformIO / arduino-cli</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Machine drivers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Baker: Klipper + Moonraker API (motion, spindle, laser, UV, pumps, hotplate) · Mixer: FPGA over USB · resin/FDM printer driver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Verification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ERC/DRC · Baker-process DRC (V-bit trace/space, laser stencil aperture) · auto test plan from the netlist: expected rails, currents, signals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Data</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Per-run log: design → process settings → measured result. This dataset is what no files-only AI tool has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r>
              <a:tr h="40233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Safety</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Human approval gates · firmware interlocks (door, E-stop) · current limits on Mixer supplies · machine control works offline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9" name="Text 6"/>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Runs on Baker's host (CB1 compute module in production) plus the cloud for the model. This is the target architecture; Phase 1 builds it for three reference designs.</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HOW BAKER WORKS</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9</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MACHINE 1 · HOW BAKER WORKS</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Baker: a board-prototyping cell, not a desktop mill</a:t>
            </a:r>
            <a:endParaRPr lang="en-US" sz="1900" dirty="0"/>
          </a:p>
        </p:txBody>
      </p:sp>
      <p:sp>
        <p:nvSpPr>
          <p:cNvPr id="8" name="Shape 6"/>
          <p:cNvSpPr/>
          <p:nvPr/>
        </p:nvSpPr>
        <p:spPr>
          <a:xfrm>
            <a:off x="457200" y="1143000"/>
            <a:ext cx="2606040" cy="338328"/>
          </a:xfrm>
          <a:prstGeom prst="rect">
            <a:avLst/>
          </a:prstGeom>
          <a:solidFill>
            <a:srgbClr val="FFFFFF"/>
          </a:solidFill>
          <a:ln w="11430">
            <a:solidFill>
              <a:srgbClr val="C8834A"/>
            </a:solidFill>
            <a:prstDash val="solid"/>
          </a:ln>
        </p:spPr>
      </p:sp>
      <p:sp>
        <p:nvSpPr>
          <p:cNvPr id="9" name="Shape 7"/>
          <p:cNvSpPr/>
          <p:nvPr/>
        </p:nvSpPr>
        <p:spPr>
          <a:xfrm>
            <a:off x="457200" y="1143000"/>
            <a:ext cx="54864" cy="338328"/>
          </a:xfrm>
          <a:prstGeom prst="rect">
            <a:avLst/>
          </a:prstGeom>
          <a:solidFill>
            <a:srgbClr val="C8834A"/>
          </a:solidFill>
          <a:ln w="12700">
            <a:solidFill>
              <a:srgbClr val="C8834A"/>
            </a:solidFill>
            <a:prstDash val="solid"/>
          </a:ln>
        </p:spPr>
      </p:sp>
      <p:sp>
        <p:nvSpPr>
          <p:cNvPr id="10" name="Text 8"/>
          <p:cNvSpPr txBox="1"/>
          <p:nvPr/>
        </p:nvSpPr>
        <p:spPr>
          <a:xfrm>
            <a:off x="585216" y="1170432"/>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01  Load</a:t>
            </a:r>
            <a:endParaRPr lang="en-US" sz="800" dirty="0"/>
          </a:p>
        </p:txBody>
      </p:sp>
      <p:sp>
        <p:nvSpPr>
          <p:cNvPr id="11" name="Text 9"/>
          <p:cNvSpPr txBox="1"/>
          <p:nvPr/>
        </p:nvSpPr>
        <p:spPr>
          <a:xfrm>
            <a:off x="585216" y="1316736"/>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Blank FR4 drops from the magazine onto the shuttle</a:t>
            </a:r>
            <a:endParaRPr lang="en-US" sz="650" dirty="0"/>
          </a:p>
        </p:txBody>
      </p:sp>
      <p:sp>
        <p:nvSpPr>
          <p:cNvPr id="12" name="Shape 10"/>
          <p:cNvSpPr/>
          <p:nvPr/>
        </p:nvSpPr>
        <p:spPr>
          <a:xfrm>
            <a:off x="457200" y="1545336"/>
            <a:ext cx="2606040" cy="338328"/>
          </a:xfrm>
          <a:prstGeom prst="rect">
            <a:avLst/>
          </a:prstGeom>
          <a:solidFill>
            <a:srgbClr val="FFFFFF"/>
          </a:solidFill>
          <a:ln w="11430">
            <a:solidFill>
              <a:srgbClr val="C8834A"/>
            </a:solidFill>
            <a:prstDash val="solid"/>
          </a:ln>
        </p:spPr>
      </p:sp>
      <p:sp>
        <p:nvSpPr>
          <p:cNvPr id="13" name="Shape 11"/>
          <p:cNvSpPr/>
          <p:nvPr/>
        </p:nvSpPr>
        <p:spPr>
          <a:xfrm>
            <a:off x="457200" y="1545336"/>
            <a:ext cx="54864" cy="338328"/>
          </a:xfrm>
          <a:prstGeom prst="rect">
            <a:avLst/>
          </a:prstGeom>
          <a:solidFill>
            <a:srgbClr val="C8834A"/>
          </a:solidFill>
          <a:ln w="12700">
            <a:solidFill>
              <a:srgbClr val="C8834A"/>
            </a:solidFill>
            <a:prstDash val="solid"/>
          </a:ln>
        </p:spPr>
      </p:sp>
      <p:sp>
        <p:nvSpPr>
          <p:cNvPr id="14" name="Text 12"/>
          <p:cNvSpPr txBox="1"/>
          <p:nvPr/>
        </p:nvSpPr>
        <p:spPr>
          <a:xfrm>
            <a:off x="585216" y="1572768"/>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02  Probe</a:t>
            </a:r>
            <a:endParaRPr lang="en-US" sz="800" dirty="0"/>
          </a:p>
        </p:txBody>
      </p:sp>
      <p:sp>
        <p:nvSpPr>
          <p:cNvPr id="15" name="Text 13"/>
          <p:cNvSpPr txBox="1"/>
          <p:nvPr/>
        </p:nvSpPr>
        <p:spPr>
          <a:xfrm>
            <a:off x="585216" y="1719072"/>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Touch probe maps board height on a grid</a:t>
            </a:r>
            <a:endParaRPr lang="en-US" sz="650" dirty="0"/>
          </a:p>
        </p:txBody>
      </p:sp>
      <p:sp>
        <p:nvSpPr>
          <p:cNvPr id="16" name="Shape 14"/>
          <p:cNvSpPr/>
          <p:nvPr/>
        </p:nvSpPr>
        <p:spPr>
          <a:xfrm>
            <a:off x="457200" y="1947672"/>
            <a:ext cx="2606040" cy="338328"/>
          </a:xfrm>
          <a:prstGeom prst="rect">
            <a:avLst/>
          </a:prstGeom>
          <a:solidFill>
            <a:srgbClr val="FFFFFF"/>
          </a:solidFill>
          <a:ln w="11430">
            <a:solidFill>
              <a:srgbClr val="C8834A"/>
            </a:solidFill>
            <a:prstDash val="solid"/>
          </a:ln>
        </p:spPr>
      </p:sp>
      <p:sp>
        <p:nvSpPr>
          <p:cNvPr id="17" name="Shape 15"/>
          <p:cNvSpPr/>
          <p:nvPr/>
        </p:nvSpPr>
        <p:spPr>
          <a:xfrm>
            <a:off x="457200" y="1947672"/>
            <a:ext cx="54864" cy="338328"/>
          </a:xfrm>
          <a:prstGeom prst="rect">
            <a:avLst/>
          </a:prstGeom>
          <a:solidFill>
            <a:srgbClr val="C8834A"/>
          </a:solidFill>
          <a:ln w="12700">
            <a:solidFill>
              <a:srgbClr val="C8834A"/>
            </a:solidFill>
            <a:prstDash val="solid"/>
          </a:ln>
        </p:spPr>
      </p:sp>
      <p:sp>
        <p:nvSpPr>
          <p:cNvPr id="18" name="Text 16"/>
          <p:cNvSpPr txBox="1"/>
          <p:nvPr/>
        </p:nvSpPr>
        <p:spPr>
          <a:xfrm>
            <a:off x="585216" y="1975104"/>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03  Mill + drill</a:t>
            </a:r>
            <a:endParaRPr lang="en-US" sz="800" dirty="0"/>
          </a:p>
        </p:txBody>
      </p:sp>
      <p:sp>
        <p:nvSpPr>
          <p:cNvPr id="19" name="Text 17"/>
          <p:cNvSpPr txBox="1"/>
          <p:nvPr/>
        </p:nvSpPr>
        <p:spPr>
          <a:xfrm>
            <a:off x="585216" y="2121408"/>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Spindle isolates traces, drills holes</a:t>
            </a:r>
            <a:endParaRPr lang="en-US" sz="650" dirty="0"/>
          </a:p>
        </p:txBody>
      </p:sp>
      <p:sp>
        <p:nvSpPr>
          <p:cNvPr id="20" name="Shape 18"/>
          <p:cNvSpPr/>
          <p:nvPr/>
        </p:nvSpPr>
        <p:spPr>
          <a:xfrm>
            <a:off x="457200" y="2350008"/>
            <a:ext cx="2606040" cy="338328"/>
          </a:xfrm>
          <a:prstGeom prst="rect">
            <a:avLst/>
          </a:prstGeom>
          <a:solidFill>
            <a:srgbClr val="FFFFFF"/>
          </a:solidFill>
          <a:ln w="11430">
            <a:solidFill>
              <a:srgbClr val="C8834A"/>
            </a:solidFill>
            <a:prstDash val="solid"/>
          </a:ln>
        </p:spPr>
      </p:sp>
      <p:sp>
        <p:nvSpPr>
          <p:cNvPr id="21" name="Shape 19"/>
          <p:cNvSpPr/>
          <p:nvPr/>
        </p:nvSpPr>
        <p:spPr>
          <a:xfrm>
            <a:off x="457200" y="2350008"/>
            <a:ext cx="54864" cy="338328"/>
          </a:xfrm>
          <a:prstGeom prst="rect">
            <a:avLst/>
          </a:prstGeom>
          <a:solidFill>
            <a:srgbClr val="C8834A"/>
          </a:solidFill>
          <a:ln w="12700">
            <a:solidFill>
              <a:srgbClr val="C8834A"/>
            </a:solidFill>
            <a:prstDash val="solid"/>
          </a:ln>
        </p:spPr>
      </p:sp>
      <p:sp>
        <p:nvSpPr>
          <p:cNvPr id="22" name="Text 20"/>
          <p:cNvSpPr txBox="1"/>
          <p:nvPr/>
        </p:nvSpPr>
        <p:spPr>
          <a:xfrm>
            <a:off x="585216" y="2377440"/>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04  Clean</a:t>
            </a:r>
            <a:endParaRPr lang="en-US" sz="800" dirty="0"/>
          </a:p>
        </p:txBody>
      </p:sp>
      <p:sp>
        <p:nvSpPr>
          <p:cNvPr id="23" name="Text 21"/>
          <p:cNvSpPr txBox="1"/>
          <p:nvPr/>
        </p:nvSpPr>
        <p:spPr>
          <a:xfrm>
            <a:off x="585216" y="2523744"/>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Vacuum clears chips and dust</a:t>
            </a:r>
            <a:endParaRPr lang="en-US" sz="650" dirty="0"/>
          </a:p>
        </p:txBody>
      </p:sp>
      <p:sp>
        <p:nvSpPr>
          <p:cNvPr id="24" name="Shape 22"/>
          <p:cNvSpPr/>
          <p:nvPr/>
        </p:nvSpPr>
        <p:spPr>
          <a:xfrm>
            <a:off x="457200" y="2752344"/>
            <a:ext cx="2606040" cy="338328"/>
          </a:xfrm>
          <a:prstGeom prst="rect">
            <a:avLst/>
          </a:prstGeom>
          <a:solidFill>
            <a:srgbClr val="FFFFFF"/>
          </a:solidFill>
          <a:ln w="11430">
            <a:solidFill>
              <a:srgbClr val="7A7468"/>
            </a:solidFill>
            <a:prstDash val="solid"/>
          </a:ln>
        </p:spPr>
      </p:sp>
      <p:sp>
        <p:nvSpPr>
          <p:cNvPr id="25" name="Shape 23"/>
          <p:cNvSpPr/>
          <p:nvPr/>
        </p:nvSpPr>
        <p:spPr>
          <a:xfrm>
            <a:off x="457200" y="2752344"/>
            <a:ext cx="54864" cy="338328"/>
          </a:xfrm>
          <a:prstGeom prst="rect">
            <a:avLst/>
          </a:prstGeom>
          <a:solidFill>
            <a:srgbClr val="7A7468"/>
          </a:solidFill>
          <a:ln w="12700">
            <a:solidFill>
              <a:srgbClr val="7A7468"/>
            </a:solidFill>
            <a:prstDash val="solid"/>
          </a:ln>
        </p:spPr>
      </p:sp>
      <p:sp>
        <p:nvSpPr>
          <p:cNvPr id="26" name="Text 24"/>
          <p:cNvSpPr txBox="1"/>
          <p:nvPr/>
        </p:nvSpPr>
        <p:spPr>
          <a:xfrm>
            <a:off x="585216" y="2779776"/>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05  Shuttle to Zone B</a:t>
            </a:r>
            <a:endParaRPr lang="en-US" sz="800" dirty="0"/>
          </a:p>
        </p:txBody>
      </p:sp>
      <p:sp>
        <p:nvSpPr>
          <p:cNvPr id="27" name="Text 25"/>
          <p:cNvSpPr txBox="1"/>
          <p:nvPr/>
        </p:nvSpPr>
        <p:spPr>
          <a:xfrm>
            <a:off x="585216" y="2926080"/>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Same fixture, same registration pins</a:t>
            </a:r>
            <a:endParaRPr lang="en-US" sz="650" dirty="0"/>
          </a:p>
        </p:txBody>
      </p:sp>
      <p:sp>
        <p:nvSpPr>
          <p:cNvPr id="28" name="Shape 26"/>
          <p:cNvSpPr/>
          <p:nvPr/>
        </p:nvSpPr>
        <p:spPr>
          <a:xfrm>
            <a:off x="457200" y="3154680"/>
            <a:ext cx="2606040" cy="338328"/>
          </a:xfrm>
          <a:prstGeom prst="rect">
            <a:avLst/>
          </a:prstGeom>
          <a:solidFill>
            <a:srgbClr val="FFFFFF"/>
          </a:solidFill>
          <a:ln w="11430">
            <a:solidFill>
              <a:srgbClr val="3F7CB3"/>
            </a:solidFill>
            <a:prstDash val="solid"/>
          </a:ln>
        </p:spPr>
      </p:sp>
      <p:sp>
        <p:nvSpPr>
          <p:cNvPr id="29" name="Shape 27"/>
          <p:cNvSpPr/>
          <p:nvPr/>
        </p:nvSpPr>
        <p:spPr>
          <a:xfrm>
            <a:off x="457200" y="3154680"/>
            <a:ext cx="54864" cy="338328"/>
          </a:xfrm>
          <a:prstGeom prst="rect">
            <a:avLst/>
          </a:prstGeom>
          <a:solidFill>
            <a:srgbClr val="3F7CB3"/>
          </a:solidFill>
          <a:ln w="12700">
            <a:solidFill>
              <a:srgbClr val="3F7CB3"/>
            </a:solidFill>
            <a:prstDash val="solid"/>
          </a:ln>
        </p:spPr>
      </p:sp>
      <p:sp>
        <p:nvSpPr>
          <p:cNvPr id="30" name="Text 28"/>
          <p:cNvSpPr txBox="1"/>
          <p:nvPr/>
        </p:nvSpPr>
        <p:spPr>
          <a:xfrm>
            <a:off x="585216" y="3182112"/>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06  Coat mask</a:t>
            </a:r>
            <a:endParaRPr lang="en-US" sz="800" dirty="0"/>
          </a:p>
        </p:txBody>
      </p:sp>
      <p:sp>
        <p:nvSpPr>
          <p:cNvPr id="31" name="Text 29"/>
          <p:cNvSpPr txBox="1"/>
          <p:nvPr/>
        </p:nvSpPr>
        <p:spPr>
          <a:xfrm>
            <a:off x="585216" y="3328416"/>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Syringe lays liquid solder mask</a:t>
            </a:r>
            <a:endParaRPr lang="en-US" sz="650" dirty="0"/>
          </a:p>
        </p:txBody>
      </p:sp>
      <p:sp>
        <p:nvSpPr>
          <p:cNvPr id="32" name="Shape 30"/>
          <p:cNvSpPr/>
          <p:nvPr/>
        </p:nvSpPr>
        <p:spPr>
          <a:xfrm>
            <a:off x="457200" y="3557016"/>
            <a:ext cx="2606040" cy="338328"/>
          </a:xfrm>
          <a:prstGeom prst="rect">
            <a:avLst/>
          </a:prstGeom>
          <a:solidFill>
            <a:srgbClr val="FFFFFF"/>
          </a:solidFill>
          <a:ln w="11430">
            <a:solidFill>
              <a:srgbClr val="3F7CB3"/>
            </a:solidFill>
            <a:prstDash val="solid"/>
          </a:ln>
        </p:spPr>
      </p:sp>
      <p:sp>
        <p:nvSpPr>
          <p:cNvPr id="33" name="Shape 31"/>
          <p:cNvSpPr/>
          <p:nvPr/>
        </p:nvSpPr>
        <p:spPr>
          <a:xfrm>
            <a:off x="457200" y="3557016"/>
            <a:ext cx="54864" cy="338328"/>
          </a:xfrm>
          <a:prstGeom prst="rect">
            <a:avLst/>
          </a:prstGeom>
          <a:solidFill>
            <a:srgbClr val="3F7CB3"/>
          </a:solidFill>
          <a:ln w="12700">
            <a:solidFill>
              <a:srgbClr val="3F7CB3"/>
            </a:solidFill>
            <a:prstDash val="solid"/>
          </a:ln>
        </p:spPr>
      </p:sp>
      <p:sp>
        <p:nvSpPr>
          <p:cNvPr id="34" name="Text 32"/>
          <p:cNvSpPr txBox="1"/>
          <p:nvPr/>
        </p:nvSpPr>
        <p:spPr>
          <a:xfrm>
            <a:off x="585216" y="3584448"/>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07  Image</a:t>
            </a:r>
            <a:endParaRPr lang="en-US" sz="800" dirty="0"/>
          </a:p>
        </p:txBody>
      </p:sp>
      <p:sp>
        <p:nvSpPr>
          <p:cNvPr id="35" name="Text 33"/>
          <p:cNvSpPr txBox="1"/>
          <p:nvPr/>
        </p:nvSpPr>
        <p:spPr>
          <a:xfrm>
            <a:off x="585216" y="3730752"/>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10.1" LCD cures everything except the pads</a:t>
            </a:r>
            <a:endParaRPr lang="en-US" sz="650" dirty="0"/>
          </a:p>
        </p:txBody>
      </p:sp>
      <p:sp>
        <p:nvSpPr>
          <p:cNvPr id="36" name="Shape 34"/>
          <p:cNvSpPr/>
          <p:nvPr/>
        </p:nvSpPr>
        <p:spPr>
          <a:xfrm>
            <a:off x="457200" y="3959352"/>
            <a:ext cx="2606040" cy="338328"/>
          </a:xfrm>
          <a:prstGeom prst="rect">
            <a:avLst/>
          </a:prstGeom>
          <a:solidFill>
            <a:srgbClr val="FFFFFF"/>
          </a:solidFill>
          <a:ln w="11430">
            <a:solidFill>
              <a:srgbClr val="3F7CB3"/>
            </a:solidFill>
            <a:prstDash val="solid"/>
          </a:ln>
        </p:spPr>
      </p:sp>
      <p:sp>
        <p:nvSpPr>
          <p:cNvPr id="37" name="Shape 35"/>
          <p:cNvSpPr/>
          <p:nvPr/>
        </p:nvSpPr>
        <p:spPr>
          <a:xfrm>
            <a:off x="457200" y="3959352"/>
            <a:ext cx="54864" cy="338328"/>
          </a:xfrm>
          <a:prstGeom prst="rect">
            <a:avLst/>
          </a:prstGeom>
          <a:solidFill>
            <a:srgbClr val="3F7CB3"/>
          </a:solidFill>
          <a:ln w="12700">
            <a:solidFill>
              <a:srgbClr val="3F7CB3"/>
            </a:solidFill>
            <a:prstDash val="solid"/>
          </a:ln>
        </p:spPr>
      </p:sp>
      <p:sp>
        <p:nvSpPr>
          <p:cNvPr id="38" name="Text 36"/>
          <p:cNvSpPr txBox="1"/>
          <p:nvPr/>
        </p:nvSpPr>
        <p:spPr>
          <a:xfrm>
            <a:off x="585216" y="3986784"/>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08  Wipe + dry</a:t>
            </a:r>
            <a:endParaRPr lang="en-US" sz="800" dirty="0"/>
          </a:p>
        </p:txBody>
      </p:sp>
      <p:sp>
        <p:nvSpPr>
          <p:cNvPr id="39" name="Text 37"/>
          <p:cNvSpPr txBox="1"/>
          <p:nvPr/>
        </p:nvSpPr>
        <p:spPr>
          <a:xfrm>
            <a:off x="585216" y="4133088"/>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Developer and squeegee lift mask off pads</a:t>
            </a:r>
            <a:endParaRPr lang="en-US" sz="650" dirty="0"/>
          </a:p>
        </p:txBody>
      </p:sp>
      <p:sp>
        <p:nvSpPr>
          <p:cNvPr id="40" name="Shape 38"/>
          <p:cNvSpPr/>
          <p:nvPr/>
        </p:nvSpPr>
        <p:spPr>
          <a:xfrm>
            <a:off x="3200400" y="1143000"/>
            <a:ext cx="2606040" cy="338328"/>
          </a:xfrm>
          <a:prstGeom prst="rect">
            <a:avLst/>
          </a:prstGeom>
          <a:solidFill>
            <a:srgbClr val="FFFFFF"/>
          </a:solidFill>
          <a:ln w="11430">
            <a:solidFill>
              <a:srgbClr val="3F7CB3"/>
            </a:solidFill>
            <a:prstDash val="solid"/>
          </a:ln>
        </p:spPr>
      </p:sp>
      <p:sp>
        <p:nvSpPr>
          <p:cNvPr id="41" name="Shape 39"/>
          <p:cNvSpPr/>
          <p:nvPr/>
        </p:nvSpPr>
        <p:spPr>
          <a:xfrm>
            <a:off x="3200400" y="1143000"/>
            <a:ext cx="54864" cy="338328"/>
          </a:xfrm>
          <a:prstGeom prst="rect">
            <a:avLst/>
          </a:prstGeom>
          <a:solidFill>
            <a:srgbClr val="3F7CB3"/>
          </a:solidFill>
          <a:ln w="12700">
            <a:solidFill>
              <a:srgbClr val="3F7CB3"/>
            </a:solidFill>
            <a:prstDash val="solid"/>
          </a:ln>
        </p:spPr>
      </p:sp>
      <p:sp>
        <p:nvSpPr>
          <p:cNvPr id="42" name="Text 40"/>
          <p:cNvSpPr txBox="1"/>
          <p:nvPr/>
        </p:nvSpPr>
        <p:spPr>
          <a:xfrm>
            <a:off x="3328416" y="1170432"/>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09  Final cure</a:t>
            </a:r>
            <a:endParaRPr lang="en-US" sz="800" dirty="0"/>
          </a:p>
        </p:txBody>
      </p:sp>
      <p:sp>
        <p:nvSpPr>
          <p:cNvPr id="43" name="Text 41"/>
          <p:cNvSpPr txBox="1"/>
          <p:nvPr/>
        </p:nvSpPr>
        <p:spPr>
          <a:xfrm>
            <a:off x="3328416" y="1316736"/>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Flood exposure hardens mask edges</a:t>
            </a:r>
            <a:endParaRPr lang="en-US" sz="650" dirty="0"/>
          </a:p>
        </p:txBody>
      </p:sp>
      <p:sp>
        <p:nvSpPr>
          <p:cNvPr id="44" name="Shape 42"/>
          <p:cNvSpPr/>
          <p:nvPr/>
        </p:nvSpPr>
        <p:spPr>
          <a:xfrm>
            <a:off x="3200400" y="1545336"/>
            <a:ext cx="2606040" cy="338328"/>
          </a:xfrm>
          <a:prstGeom prst="rect">
            <a:avLst/>
          </a:prstGeom>
          <a:solidFill>
            <a:srgbClr val="FFFFFF"/>
          </a:solidFill>
          <a:ln w="11430">
            <a:solidFill>
              <a:srgbClr val="C8834A"/>
            </a:solidFill>
            <a:prstDash val="solid"/>
          </a:ln>
        </p:spPr>
      </p:sp>
      <p:sp>
        <p:nvSpPr>
          <p:cNvPr id="45" name="Shape 43"/>
          <p:cNvSpPr/>
          <p:nvPr/>
        </p:nvSpPr>
        <p:spPr>
          <a:xfrm>
            <a:off x="3200400" y="1545336"/>
            <a:ext cx="54864" cy="338328"/>
          </a:xfrm>
          <a:prstGeom prst="rect">
            <a:avLst/>
          </a:prstGeom>
          <a:solidFill>
            <a:srgbClr val="C8834A"/>
          </a:solidFill>
          <a:ln w="12700">
            <a:solidFill>
              <a:srgbClr val="C8834A"/>
            </a:solidFill>
            <a:prstDash val="solid"/>
          </a:ln>
        </p:spPr>
      </p:sp>
      <p:sp>
        <p:nvSpPr>
          <p:cNvPr id="46" name="Text 44"/>
          <p:cNvSpPr txBox="1"/>
          <p:nvPr/>
        </p:nvSpPr>
        <p:spPr>
          <a:xfrm>
            <a:off x="3328416" y="1572768"/>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10  Cut stencil</a:t>
            </a:r>
            <a:endParaRPr lang="en-US" sz="800" dirty="0"/>
          </a:p>
        </p:txBody>
      </p:sp>
      <p:sp>
        <p:nvSpPr>
          <p:cNvPr id="47" name="Text 45"/>
          <p:cNvSpPr txBox="1"/>
          <p:nvPr/>
        </p:nvSpPr>
        <p:spPr>
          <a:xfrm>
            <a:off x="3328416" y="1719072"/>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Laser cuts pad openings in the film</a:t>
            </a:r>
            <a:endParaRPr lang="en-US" sz="650" dirty="0"/>
          </a:p>
        </p:txBody>
      </p:sp>
      <p:sp>
        <p:nvSpPr>
          <p:cNvPr id="48" name="Shape 46"/>
          <p:cNvSpPr/>
          <p:nvPr/>
        </p:nvSpPr>
        <p:spPr>
          <a:xfrm>
            <a:off x="3200400" y="1947672"/>
            <a:ext cx="2606040" cy="338328"/>
          </a:xfrm>
          <a:prstGeom prst="rect">
            <a:avLst/>
          </a:prstGeom>
          <a:solidFill>
            <a:srgbClr val="FFFFFF"/>
          </a:solidFill>
          <a:ln w="11430">
            <a:solidFill>
              <a:srgbClr val="3F7CB3"/>
            </a:solidFill>
            <a:prstDash val="solid"/>
          </a:ln>
        </p:spPr>
      </p:sp>
      <p:sp>
        <p:nvSpPr>
          <p:cNvPr id="49" name="Shape 47"/>
          <p:cNvSpPr/>
          <p:nvPr/>
        </p:nvSpPr>
        <p:spPr>
          <a:xfrm>
            <a:off x="3200400" y="1947672"/>
            <a:ext cx="54864" cy="338328"/>
          </a:xfrm>
          <a:prstGeom prst="rect">
            <a:avLst/>
          </a:prstGeom>
          <a:solidFill>
            <a:srgbClr val="3F7CB3"/>
          </a:solidFill>
          <a:ln w="12700">
            <a:solidFill>
              <a:srgbClr val="3F7CB3"/>
            </a:solidFill>
            <a:prstDash val="solid"/>
          </a:ln>
        </p:spPr>
      </p:sp>
      <p:sp>
        <p:nvSpPr>
          <p:cNvPr id="50" name="Text 48"/>
          <p:cNvSpPr txBox="1"/>
          <p:nvPr/>
        </p:nvSpPr>
        <p:spPr>
          <a:xfrm>
            <a:off x="3328416" y="1975104"/>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11  Clamp + paste</a:t>
            </a:r>
            <a:endParaRPr lang="en-US" sz="800" dirty="0"/>
          </a:p>
        </p:txBody>
      </p:sp>
      <p:sp>
        <p:nvSpPr>
          <p:cNvPr id="51" name="Text 49"/>
          <p:cNvSpPr txBox="1"/>
          <p:nvPr/>
        </p:nvSpPr>
        <p:spPr>
          <a:xfrm>
            <a:off x="3328416" y="2121408"/>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Film aligns, magnets clamp, squeegee fills</a:t>
            </a:r>
            <a:endParaRPr lang="en-US" sz="650" dirty="0"/>
          </a:p>
        </p:txBody>
      </p:sp>
      <p:sp>
        <p:nvSpPr>
          <p:cNvPr id="52" name="Shape 50"/>
          <p:cNvSpPr/>
          <p:nvPr/>
        </p:nvSpPr>
        <p:spPr>
          <a:xfrm>
            <a:off x="3200400" y="2350008"/>
            <a:ext cx="2606040" cy="338328"/>
          </a:xfrm>
          <a:prstGeom prst="rect">
            <a:avLst/>
          </a:prstGeom>
          <a:solidFill>
            <a:srgbClr val="FFFFFF"/>
          </a:solidFill>
          <a:ln w="11430">
            <a:solidFill>
              <a:srgbClr val="3F7CB3"/>
            </a:solidFill>
            <a:prstDash val="solid"/>
          </a:ln>
        </p:spPr>
      </p:sp>
      <p:sp>
        <p:nvSpPr>
          <p:cNvPr id="53" name="Shape 51"/>
          <p:cNvSpPr/>
          <p:nvPr/>
        </p:nvSpPr>
        <p:spPr>
          <a:xfrm>
            <a:off x="3200400" y="2350008"/>
            <a:ext cx="54864" cy="338328"/>
          </a:xfrm>
          <a:prstGeom prst="rect">
            <a:avLst/>
          </a:prstGeom>
          <a:solidFill>
            <a:srgbClr val="3F7CB3"/>
          </a:solidFill>
          <a:ln w="12700">
            <a:solidFill>
              <a:srgbClr val="3F7CB3"/>
            </a:solidFill>
            <a:prstDash val="solid"/>
          </a:ln>
        </p:spPr>
      </p:sp>
      <p:sp>
        <p:nvSpPr>
          <p:cNvPr id="54" name="Text 52"/>
          <p:cNvSpPr txBox="1"/>
          <p:nvPr/>
        </p:nvSpPr>
        <p:spPr>
          <a:xfrm>
            <a:off x="3328416" y="2377440"/>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12  Release</a:t>
            </a:r>
            <a:endParaRPr lang="en-US" sz="800" dirty="0"/>
          </a:p>
        </p:txBody>
      </p:sp>
      <p:sp>
        <p:nvSpPr>
          <p:cNvPr id="55" name="Text 53"/>
          <p:cNvSpPr txBox="1"/>
          <p:nvPr/>
        </p:nvSpPr>
        <p:spPr>
          <a:xfrm>
            <a:off x="3328416" y="2523744"/>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Film lifts, is cut; shuttle returns</a:t>
            </a:r>
            <a:endParaRPr lang="en-US" sz="650" dirty="0"/>
          </a:p>
        </p:txBody>
      </p:sp>
      <p:sp>
        <p:nvSpPr>
          <p:cNvPr id="56" name="Shape 54"/>
          <p:cNvSpPr/>
          <p:nvPr/>
        </p:nvSpPr>
        <p:spPr>
          <a:xfrm>
            <a:off x="3200400" y="2752344"/>
            <a:ext cx="2606040" cy="338328"/>
          </a:xfrm>
          <a:prstGeom prst="rect">
            <a:avLst/>
          </a:prstGeom>
          <a:solidFill>
            <a:srgbClr val="FFFFFF"/>
          </a:solidFill>
          <a:ln w="11430">
            <a:solidFill>
              <a:srgbClr val="7A7468"/>
            </a:solidFill>
            <a:prstDash val="solid"/>
          </a:ln>
        </p:spPr>
      </p:sp>
      <p:sp>
        <p:nvSpPr>
          <p:cNvPr id="57" name="Shape 55"/>
          <p:cNvSpPr/>
          <p:nvPr/>
        </p:nvSpPr>
        <p:spPr>
          <a:xfrm>
            <a:off x="3200400" y="2752344"/>
            <a:ext cx="54864" cy="338328"/>
          </a:xfrm>
          <a:prstGeom prst="rect">
            <a:avLst/>
          </a:prstGeom>
          <a:solidFill>
            <a:srgbClr val="7A7468"/>
          </a:solidFill>
          <a:ln w="12700">
            <a:solidFill>
              <a:srgbClr val="7A7468"/>
            </a:solidFill>
            <a:prstDash val="solid"/>
          </a:ln>
        </p:spPr>
      </p:sp>
      <p:sp>
        <p:nvSpPr>
          <p:cNvPr id="58" name="Text 56"/>
          <p:cNvSpPr txBox="1"/>
          <p:nvPr/>
        </p:nvSpPr>
        <p:spPr>
          <a:xfrm>
            <a:off x="3328416" y="2779776"/>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13  Place</a:t>
            </a:r>
            <a:endParaRPr lang="en-US" sz="800" dirty="0"/>
          </a:p>
        </p:txBody>
      </p:sp>
      <p:sp>
        <p:nvSpPr>
          <p:cNvPr id="59" name="Text 57"/>
          <p:cNvSpPr txBox="1"/>
          <p:nvPr/>
        </p:nvSpPr>
        <p:spPr>
          <a:xfrm>
            <a:off x="3328416" y="2926080"/>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Vacuum pen into the printed jig</a:t>
            </a:r>
            <a:endParaRPr lang="en-US" sz="650" dirty="0"/>
          </a:p>
        </p:txBody>
      </p:sp>
      <p:sp>
        <p:nvSpPr>
          <p:cNvPr id="60" name="Shape 58"/>
          <p:cNvSpPr/>
          <p:nvPr/>
        </p:nvSpPr>
        <p:spPr>
          <a:xfrm>
            <a:off x="3200400" y="3154680"/>
            <a:ext cx="2606040" cy="338328"/>
          </a:xfrm>
          <a:prstGeom prst="rect">
            <a:avLst/>
          </a:prstGeom>
          <a:solidFill>
            <a:srgbClr val="FFFFFF"/>
          </a:solidFill>
          <a:ln w="11430">
            <a:solidFill>
              <a:srgbClr val="7A7468"/>
            </a:solidFill>
            <a:prstDash val="solid"/>
          </a:ln>
        </p:spPr>
      </p:sp>
      <p:sp>
        <p:nvSpPr>
          <p:cNvPr id="61" name="Shape 59"/>
          <p:cNvSpPr/>
          <p:nvPr/>
        </p:nvSpPr>
        <p:spPr>
          <a:xfrm>
            <a:off x="3200400" y="3154680"/>
            <a:ext cx="54864" cy="338328"/>
          </a:xfrm>
          <a:prstGeom prst="rect">
            <a:avLst/>
          </a:prstGeom>
          <a:solidFill>
            <a:srgbClr val="7A7468"/>
          </a:solidFill>
          <a:ln w="12700">
            <a:solidFill>
              <a:srgbClr val="7A7468"/>
            </a:solidFill>
            <a:prstDash val="solid"/>
          </a:ln>
        </p:spPr>
      </p:sp>
      <p:sp>
        <p:nvSpPr>
          <p:cNvPr id="62" name="Text 60"/>
          <p:cNvSpPr txBox="1"/>
          <p:nvPr/>
        </p:nvSpPr>
        <p:spPr>
          <a:xfrm>
            <a:off x="3328416" y="3182112"/>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14  Reflow</a:t>
            </a:r>
            <a:endParaRPr lang="en-US" sz="800" dirty="0"/>
          </a:p>
        </p:txBody>
      </p:sp>
      <p:sp>
        <p:nvSpPr>
          <p:cNvPr id="63" name="Text 61"/>
          <p:cNvSpPr txBox="1"/>
          <p:nvPr/>
        </p:nvSpPr>
        <p:spPr>
          <a:xfrm>
            <a:off x="3328416" y="3328416"/>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Hotplate, low-temperature profile</a:t>
            </a:r>
            <a:endParaRPr lang="en-US" sz="650" dirty="0"/>
          </a:p>
        </p:txBody>
      </p:sp>
      <p:sp>
        <p:nvSpPr>
          <p:cNvPr id="64" name="Shape 62"/>
          <p:cNvSpPr/>
          <p:nvPr/>
        </p:nvSpPr>
        <p:spPr>
          <a:xfrm>
            <a:off x="3200400" y="3557016"/>
            <a:ext cx="2606040" cy="338328"/>
          </a:xfrm>
          <a:prstGeom prst="rect">
            <a:avLst/>
          </a:prstGeom>
          <a:solidFill>
            <a:srgbClr val="FFFFFF"/>
          </a:solidFill>
          <a:ln w="11430">
            <a:solidFill>
              <a:srgbClr val="5E8C5A"/>
            </a:solidFill>
            <a:prstDash val="solid"/>
          </a:ln>
        </p:spPr>
      </p:sp>
      <p:sp>
        <p:nvSpPr>
          <p:cNvPr id="65" name="Shape 63"/>
          <p:cNvSpPr/>
          <p:nvPr/>
        </p:nvSpPr>
        <p:spPr>
          <a:xfrm>
            <a:off x="3200400" y="3557016"/>
            <a:ext cx="54864" cy="338328"/>
          </a:xfrm>
          <a:prstGeom prst="rect">
            <a:avLst/>
          </a:prstGeom>
          <a:solidFill>
            <a:srgbClr val="5E8C5A"/>
          </a:solidFill>
          <a:ln w="12700">
            <a:solidFill>
              <a:srgbClr val="5E8C5A"/>
            </a:solidFill>
            <a:prstDash val="solid"/>
          </a:ln>
        </p:spPr>
      </p:sp>
      <p:sp>
        <p:nvSpPr>
          <p:cNvPr id="66" name="Text 64"/>
          <p:cNvSpPr txBox="1"/>
          <p:nvPr/>
        </p:nvSpPr>
        <p:spPr>
          <a:xfrm>
            <a:off x="3328416" y="3584448"/>
            <a:ext cx="2423160" cy="146304"/>
          </a:xfrm>
          <a:prstGeom prst="rect">
            <a:avLst/>
          </a:prstGeom>
          <a:noFill/>
          <a:ln/>
        </p:spPr>
        <p:txBody>
          <a:bodyPr wrap="square" lIns="0" tIns="0" rIns="0" bIns="0" rtlCol="0" anchor="t"/>
          <a:lstStyle/>
          <a:p>
            <a:pPr indent="0" marL="0">
              <a:buNone/>
            </a:pPr>
            <a:r>
              <a:rPr lang="en-US" sz="800" b="1" dirty="0">
                <a:solidFill>
                  <a:srgbClr val="1B2430"/>
                </a:solidFill>
                <a:latin typeface="Verdana" pitchFamily="34" charset="0"/>
                <a:ea typeface="Verdana" pitchFamily="34" charset="-122"/>
                <a:cs typeface="Verdana" pitchFamily="34" charset="-120"/>
              </a:rPr>
              <a:t>15  Test on Mixer</a:t>
            </a:r>
            <a:endParaRPr lang="en-US" sz="800" dirty="0"/>
          </a:p>
        </p:txBody>
      </p:sp>
      <p:sp>
        <p:nvSpPr>
          <p:cNvPr id="67" name="Text 65"/>
          <p:cNvSpPr txBox="1"/>
          <p:nvPr/>
        </p:nvSpPr>
        <p:spPr>
          <a:xfrm>
            <a:off x="3328416" y="3730752"/>
            <a:ext cx="2450592" cy="13716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One cable, eight instruments</a:t>
            </a:r>
            <a:endParaRPr lang="en-US" sz="650" dirty="0"/>
          </a:p>
        </p:txBody>
      </p:sp>
      <p:sp>
        <p:nvSpPr>
          <p:cNvPr id="68" name="Shape 66"/>
          <p:cNvSpPr/>
          <p:nvPr/>
        </p:nvSpPr>
        <p:spPr>
          <a:xfrm>
            <a:off x="3200400" y="4050792"/>
            <a:ext cx="91440" cy="91440"/>
          </a:xfrm>
          <a:prstGeom prst="rect">
            <a:avLst/>
          </a:prstGeom>
          <a:solidFill>
            <a:srgbClr val="C8834A"/>
          </a:solidFill>
          <a:ln w="12700">
            <a:solidFill>
              <a:srgbClr val="C8834A"/>
            </a:solidFill>
            <a:prstDash val="solid"/>
          </a:ln>
        </p:spPr>
      </p:sp>
      <p:sp>
        <p:nvSpPr>
          <p:cNvPr id="69" name="Text 67"/>
          <p:cNvSpPr txBox="1"/>
          <p:nvPr/>
        </p:nvSpPr>
        <p:spPr>
          <a:xfrm>
            <a:off x="3355848" y="4023360"/>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Zone A: spindle + laser</a:t>
            </a:r>
            <a:endParaRPr lang="en-US" sz="700" dirty="0"/>
          </a:p>
        </p:txBody>
      </p:sp>
      <p:sp>
        <p:nvSpPr>
          <p:cNvPr id="70" name="Shape 68"/>
          <p:cNvSpPr/>
          <p:nvPr/>
        </p:nvSpPr>
        <p:spPr>
          <a:xfrm>
            <a:off x="3200400" y="4224528"/>
            <a:ext cx="91440" cy="91440"/>
          </a:xfrm>
          <a:prstGeom prst="rect">
            <a:avLst/>
          </a:prstGeom>
          <a:solidFill>
            <a:srgbClr val="3F7CB3"/>
          </a:solidFill>
          <a:ln w="12700">
            <a:solidFill>
              <a:srgbClr val="3F7CB3"/>
            </a:solidFill>
            <a:prstDash val="solid"/>
          </a:ln>
        </p:spPr>
      </p:sp>
      <p:sp>
        <p:nvSpPr>
          <p:cNvPr id="71" name="Text 69"/>
          <p:cNvSpPr txBox="1"/>
          <p:nvPr/>
        </p:nvSpPr>
        <p:spPr>
          <a:xfrm>
            <a:off x="3355848" y="4197096"/>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Zone B: dispense, UV, wipe</a:t>
            </a:r>
            <a:endParaRPr lang="en-US" sz="700" dirty="0"/>
          </a:p>
        </p:txBody>
      </p:sp>
      <p:sp>
        <p:nvSpPr>
          <p:cNvPr id="72" name="Shape 70"/>
          <p:cNvSpPr/>
          <p:nvPr/>
        </p:nvSpPr>
        <p:spPr>
          <a:xfrm>
            <a:off x="3200400" y="4398264"/>
            <a:ext cx="91440" cy="91440"/>
          </a:xfrm>
          <a:prstGeom prst="rect">
            <a:avLst/>
          </a:prstGeom>
          <a:solidFill>
            <a:srgbClr val="7A7468"/>
          </a:solidFill>
          <a:ln w="12700">
            <a:solidFill>
              <a:srgbClr val="7A7468"/>
            </a:solidFill>
            <a:prstDash val="solid"/>
          </a:ln>
        </p:spPr>
      </p:sp>
      <p:sp>
        <p:nvSpPr>
          <p:cNvPr id="73" name="Text 71"/>
          <p:cNvSpPr txBox="1"/>
          <p:nvPr/>
        </p:nvSpPr>
        <p:spPr>
          <a:xfrm>
            <a:off x="3355848" y="4370832"/>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Off-gantry / operator</a:t>
            </a:r>
            <a:endParaRPr lang="en-US" sz="700" dirty="0"/>
          </a:p>
        </p:txBody>
      </p:sp>
      <p:sp>
        <p:nvSpPr>
          <p:cNvPr id="74" name="Shape 72"/>
          <p:cNvSpPr/>
          <p:nvPr/>
        </p:nvSpPr>
        <p:spPr>
          <a:xfrm>
            <a:off x="3200400" y="4572000"/>
            <a:ext cx="91440" cy="91440"/>
          </a:xfrm>
          <a:prstGeom prst="rect">
            <a:avLst/>
          </a:prstGeom>
          <a:solidFill>
            <a:srgbClr val="5E8C5A"/>
          </a:solidFill>
          <a:ln w="12700">
            <a:solidFill>
              <a:srgbClr val="5E8C5A"/>
            </a:solidFill>
            <a:prstDash val="solid"/>
          </a:ln>
        </p:spPr>
      </p:sp>
      <p:sp>
        <p:nvSpPr>
          <p:cNvPr id="75" name="Text 73"/>
          <p:cNvSpPr txBox="1"/>
          <p:nvPr/>
        </p:nvSpPr>
        <p:spPr>
          <a:xfrm>
            <a:off x="3355848" y="4544568"/>
            <a:ext cx="2011680" cy="155448"/>
          </a:xfrm>
          <a:prstGeom prst="rect">
            <a:avLst/>
          </a:prstGeom>
          <a:noFill/>
          <a:ln/>
        </p:spPr>
        <p:txBody>
          <a:bodyPr wrap="square" lIns="0" tIns="0" rIns="0" bIns="0" rtlCol="0" anchor="t"/>
          <a:lstStyle/>
          <a:p>
            <a:pPr indent="0" marL="0">
              <a:buNone/>
            </a:pPr>
            <a:r>
              <a:rPr lang="en-US" sz="700" dirty="0">
                <a:solidFill>
                  <a:srgbClr val="6B6459"/>
                </a:solidFill>
                <a:latin typeface="Verdana" pitchFamily="34" charset="0"/>
                <a:ea typeface="Verdana" pitchFamily="34" charset="-122"/>
                <a:cs typeface="Verdana" pitchFamily="34" charset="-120"/>
              </a:rPr>
              <a:t>Mixer</a:t>
            </a:r>
            <a:endParaRPr lang="en-US" sz="700" dirty="0"/>
          </a:p>
        </p:txBody>
      </p:sp>
      <p:sp>
        <p:nvSpPr>
          <p:cNvPr id="76" name="Shape 74"/>
          <p:cNvSpPr/>
          <p:nvPr/>
        </p:nvSpPr>
        <p:spPr>
          <a:xfrm>
            <a:off x="6035040" y="1143000"/>
            <a:ext cx="2651760" cy="3291840"/>
          </a:xfrm>
          <a:prstGeom prst="rect">
            <a:avLst/>
          </a:prstGeom>
          <a:solidFill>
            <a:srgbClr val="F6F1E8"/>
          </a:solidFill>
          <a:ln w="9525">
            <a:solidFill>
              <a:srgbClr val="F6F1E8"/>
            </a:solidFill>
            <a:prstDash val="solid"/>
          </a:ln>
        </p:spPr>
      </p:sp>
      <p:sp>
        <p:nvSpPr>
          <p:cNvPr id="77" name="Text 75"/>
          <p:cNvSpPr txBox="1"/>
          <p:nvPr/>
        </p:nvSpPr>
        <p:spPr>
          <a:xfrm>
            <a:off x="6199632" y="1261872"/>
            <a:ext cx="2377440" cy="237744"/>
          </a:xfrm>
          <a:prstGeom prst="rect">
            <a:avLst/>
          </a:prstGeom>
          <a:noFill/>
          <a:ln/>
        </p:spPr>
        <p:txBody>
          <a:bodyPr wrap="square" lIns="0" tIns="0" rIns="0" bIns="0" rtlCol="0" anchor="t"/>
          <a:lstStyle/>
          <a:p>
            <a:pPr indent="0" marL="0">
              <a:buNone/>
            </a:pPr>
            <a:r>
              <a:rPr lang="en-US" sz="1050" b="1" dirty="0">
                <a:solidFill>
                  <a:srgbClr val="C8834A"/>
                </a:solidFill>
                <a:latin typeface="Verdana" pitchFamily="34" charset="0"/>
                <a:ea typeface="Verdana" pitchFamily="34" charset="-122"/>
                <a:cs typeface="Verdana" pitchFamily="34" charset="-120"/>
              </a:rPr>
              <a:t>Why it's different</a:t>
            </a:r>
            <a:endParaRPr lang="en-US" sz="1050" dirty="0"/>
          </a:p>
        </p:txBody>
      </p:sp>
      <p:sp>
        <p:nvSpPr>
          <p:cNvPr id="78" name="Text 76"/>
          <p:cNvSpPr txBox="1"/>
          <p:nvPr/>
        </p:nvSpPr>
        <p:spPr>
          <a:xfrm>
            <a:off x="6199632" y="1600200"/>
            <a:ext cx="2377440" cy="2743200"/>
          </a:xfrm>
          <a:prstGeom prst="rect">
            <a:avLst/>
          </a:prstGeom>
          <a:noFill/>
          <a:ln/>
        </p:spPr>
        <p:txBody>
          <a:bodyPr wrap="square" lIns="0" tIns="0" rIns="0" bIns="0" rtlCol="0" anchor="t"/>
          <a:lstStyle/>
          <a:p>
            <a:pPr marL="165100" indent="-165100">
              <a:spcAft>
                <a:spcPts val="300"/>
              </a:spcAft>
              <a:buSzPct val="100000"/>
              <a:buChar char="—"/>
            </a:pPr>
            <a:r>
              <a:rPr lang="en-US" sz="850" dirty="0">
                <a:solidFill>
                  <a:srgbClr val="1B2430"/>
                </a:solidFill>
                <a:latin typeface="Verdana" pitchFamily="34" charset="0"/>
                <a:ea typeface="Verdana" pitchFamily="34" charset="-122"/>
                <a:cs typeface="Verdana" pitchFamily="34" charset="-120"/>
              </a:rPr>
              <a:t>One shuttle, one fixture, one coordinate frame from bare FR4 to paste</a:t>
            </a:r>
            <a:endParaRPr lang="en-US" sz="850" dirty="0"/>
          </a:p>
          <a:p>
            <a:pPr marL="165100" indent="-165100">
              <a:spcAft>
                <a:spcPts val="300"/>
              </a:spcAft>
              <a:buSzPct val="100000"/>
              <a:buChar char="—"/>
            </a:pPr>
            <a:r>
              <a:rPr lang="en-US" sz="850" dirty="0">
                <a:solidFill>
                  <a:srgbClr val="1B2430"/>
                </a:solidFill>
                <a:latin typeface="Verdana" pitchFamily="34" charset="0"/>
                <a:ea typeface="Verdana" pitchFamily="34" charset="-122"/>
                <a:cs typeface="Verdana" pitchFamily="34" charset="-120"/>
              </a:rPr>
              <a:t>Stencil cut from the same Gerber in the same frame: no stencil alignment step</a:t>
            </a:r>
            <a:endParaRPr lang="en-US" sz="850" dirty="0"/>
          </a:p>
          <a:p>
            <a:pPr marL="165100" indent="-165100">
              <a:spcAft>
                <a:spcPts val="300"/>
              </a:spcAft>
              <a:buSzPct val="100000"/>
              <a:buChar char="—"/>
            </a:pPr>
            <a:r>
              <a:rPr lang="en-US" sz="850" dirty="0">
                <a:solidFill>
                  <a:srgbClr val="1B2430"/>
                </a:solidFill>
                <a:latin typeface="Verdana" pitchFamily="34" charset="0"/>
                <a:ea typeface="Verdana" pitchFamily="34" charset="-122"/>
                <a:cs typeface="Verdana" pitchFamily="34" charset="-120"/>
              </a:rPr>
              <a:t>Placement jig prints in parallel while steps 01–12 run</a:t>
            </a:r>
            <a:endParaRPr lang="en-US" sz="850" dirty="0"/>
          </a:p>
          <a:p>
            <a:pPr marL="165100" indent="-165100">
              <a:spcAft>
                <a:spcPts val="300"/>
              </a:spcAft>
              <a:buSzPct val="100000"/>
              <a:buChar char="—"/>
            </a:pPr>
            <a:r>
              <a:rPr lang="en-US" sz="850" dirty="0">
                <a:solidFill>
                  <a:srgbClr val="1B2430"/>
                </a:solidFill>
                <a:latin typeface="Verdana" pitchFamily="34" charset="0"/>
                <a:ea typeface="Verdana" pitchFamily="34" charset="-122"/>
                <a:cs typeface="Verdana" pitchFamily="34" charset="-120"/>
              </a:rPr>
              <a:t>Mask, stencil, paste and reflow in one box. A mill does none of these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10</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TECH STACK · BAKER</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Baker tech stack (1/2): motion, cutting, masking</a:t>
            </a:r>
            <a:endParaRPr lang="en-US" sz="1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2926080"/>
                <a:gridCol w="2240280"/>
                <a:gridCol w="1965960"/>
              </a:tblGrid>
              <a:tr h="274320">
                <a:tc>
                  <a:txBody>
                    <a:bodyPr/>
                    <a:lstStyle/>
                    <a:p>
                      <a:pPr indent="0" marL="0">
                        <a:buNone/>
                      </a:pPr>
                      <a:r>
                        <a:rPr lang="en-US" sz="730" b="1" dirty="0">
                          <a:solidFill>
                            <a:srgbClr val="6B6459"/>
                          </a:solidFill>
                          <a:latin typeface="Verdana" pitchFamily="34" charset="0"/>
                          <a:ea typeface="Verdana" pitchFamily="34" charset="-122"/>
                          <a:cs typeface="Verdana" pitchFamily="34" charset="-120"/>
                        </a:rPr>
                        <a:t>Subsystem</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30" b="1" dirty="0">
                          <a:solidFill>
                            <a:srgbClr val="6B6459"/>
                          </a:solidFill>
                          <a:latin typeface="Verdana" pitchFamily="34" charset="0"/>
                          <a:ea typeface="Verdana" pitchFamily="34" charset="-122"/>
                          <a:cs typeface="Verdana" pitchFamily="34" charset="-120"/>
                        </a:rPr>
                        <a:t>Prototype build</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30" b="1" dirty="0">
                          <a:solidFill>
                            <a:srgbClr val="6B6459"/>
                          </a:solidFill>
                          <a:latin typeface="Verdana" pitchFamily="34" charset="0"/>
                          <a:ea typeface="Verdana" pitchFamily="34" charset="-122"/>
                          <a:cs typeface="Verdana" pitchFamily="34" charset="-120"/>
                        </a:rPr>
                        <a:t>Production direction</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30" b="1" dirty="0">
                          <a:solidFill>
                            <a:srgbClr val="6B6459"/>
                          </a:solidFill>
                          <a:latin typeface="Verdana" pitchFamily="34" charset="0"/>
                          <a:ea typeface="Verdana" pitchFamily="34" charset="-122"/>
                          <a:cs typeface="Verdana" pitchFamily="34" charset="-120"/>
                        </a:rPr>
                        <a:t>Why</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Frame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20×40 T-slot, 6 mm 6061 plate, 3 mm acrylic, orange 450 nm window</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Sheet-metal frame + acrylic panels</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Rigidity; laser-safe viewing</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Motion X/Y</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3 ball-screw stages 200–300 mm, NEMA23 + DM556</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SFU1605 ball screws on HGR15 rails, NEMA23 1.26 Nm</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≈₹5,500 per axis instead of ₹16,500</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Motion Z (×2)</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100 mm SFU1605 stage + NEMA17</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T8 screw + linear guide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Spindle/laser Z and dispense Z</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Height map</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Pogo-pin touch probe, grid probing</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Same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FR4 isn't flat; cut depth follows the map</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Spindle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500 W ER11, 20° 0.1 mm V-bits, carbide drills 0.3–1.2 mm</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Qualified volume spindle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Isolation milling + drilling</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Laser</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10 W (9.5 W optical) 445 nm diode, air assist, fixed offset</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Volume-sourced diode module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Cuts the polyimide stencil</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Dust</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1000 W wet/dry vacuum</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Integrated extraction</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Keeps chips off the mask</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Solder mask</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Syringe-dispensed alkali-developing LPSM</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Same, metered</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Mask on clean, finished copper</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UV imaging</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10.1 in 12K mono LCD + 405 nm parallel UV + ChiTu L K1</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Same engine also prints jigs</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Cures everything except the pads</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74320">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Develop</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Dilute Na₂CO₃ wipe, peristaltic pump, squeegee, 5015 air knife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Same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No tank or bath; a few mL</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9" name="Text 6"/>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 Protopus cost report and BOM, 29 Sep 2026. Production direction is from the China-parts production BOM.</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11</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TECH STACK · BAKER</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Baker tech stack (2/2): stencil, placement, reflow, control</a:t>
            </a:r>
            <a:endParaRPr lang="en-US" sz="1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3063240"/>
                <a:gridCol w="2148840"/>
                <a:gridCol w="1920240"/>
              </a:tblGrid>
              <a:tr h="301752">
                <a:tc>
                  <a:txBody>
                    <a:bodyPr/>
                    <a:lstStyle/>
                    <a:p>
                      <a:pPr indent="0" marL="0">
                        <a:buNone/>
                      </a:pPr>
                      <a:r>
                        <a:rPr lang="en-US" sz="730" b="1" dirty="0">
                          <a:solidFill>
                            <a:srgbClr val="6B6459"/>
                          </a:solidFill>
                          <a:latin typeface="Verdana" pitchFamily="34" charset="0"/>
                          <a:ea typeface="Verdana" pitchFamily="34" charset="-122"/>
                          <a:cs typeface="Verdana" pitchFamily="34" charset="-120"/>
                        </a:rPr>
                        <a:t>Subsystem</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30" b="1" dirty="0">
                          <a:solidFill>
                            <a:srgbClr val="6B6459"/>
                          </a:solidFill>
                          <a:latin typeface="Verdana" pitchFamily="34" charset="0"/>
                          <a:ea typeface="Verdana" pitchFamily="34" charset="-122"/>
                          <a:cs typeface="Verdana" pitchFamily="34" charset="-120"/>
                        </a:rPr>
                        <a:t>Prototype build</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30" b="1" dirty="0">
                          <a:solidFill>
                            <a:srgbClr val="6B6459"/>
                          </a:solidFill>
                          <a:latin typeface="Verdana" pitchFamily="34" charset="0"/>
                          <a:ea typeface="Verdana" pitchFamily="34" charset="-122"/>
                          <a:cs typeface="Verdana" pitchFamily="34" charset="-120"/>
                        </a:rPr>
                        <a:t>Production direction</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30" b="1" dirty="0">
                          <a:solidFill>
                            <a:srgbClr val="6B6459"/>
                          </a:solidFill>
                          <a:latin typeface="Verdana" pitchFamily="34" charset="0"/>
                          <a:ea typeface="Verdana" pitchFamily="34" charset="-122"/>
                          <a:cs typeface="Verdana" pitchFamily="34" charset="-120"/>
                        </a:rPr>
                        <a:t>Why</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Stencil film</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Polyimide roll; 4 × 12 V 8 kg electromagnets clamp a 430 steel frame; 25 N solenoid cut-off</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Controlled film feed, align and cut</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A fresh stencil for every board, already aligned</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Paste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Sn42Bi58, melts at 138 °C; squeegee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Same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Cooler hotplate, less warp, jig-safe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Placement jig</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Phrozen TR300 resin (HDT 160 °C) on Elegoo Saturn 3 Ultra 12K</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Vat + lift on Baker's own UV engine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One pocket per part; removes the separate printer</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Placement</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Foot-pedal vacuum pen: 12 V pump + NC valve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Same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Cameras and feeders removed; ₹20,000 → ₹4,891</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Reflow</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300 W silicone pad, SSR-25DA, MAX31855 + K-type, 5015 cool-down</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Same, profiled</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Low-temperature profile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Compute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Raspberry Pi 5 host + BTT Octopus Pro (Klipper), 7 in touch display</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BTT CB1 + Manta M8P V2 (8 TMC2209), HDMI7</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≈₹10,800; fewer boards</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Power</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Mean Well LRS-350-24, -350-48, -150-12</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One LRS-350-24 rail</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Simpler harness</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Safety</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2 × door interlock, E-stop, OD6+ goggles, 450 nm window</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Class 1 enclosure goal</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A 10 W laser is Class 4 if exposed</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01752">
                <a:tc>
                  <a:txBody>
                    <a:bodyPr/>
                    <a:lstStyle/>
                    <a:p>
                      <a:pPr indent="0" marL="0">
                        <a:buNone/>
                      </a:pPr>
                      <a:r>
                        <a:rPr lang="en-US" sz="730" b="1" dirty="0">
                          <a:solidFill>
                            <a:srgbClr val="1B2430"/>
                          </a:solidFill>
                          <a:latin typeface="Verdana" pitchFamily="34" charset="0"/>
                          <a:ea typeface="Verdana" pitchFamily="34" charset="-122"/>
                          <a:cs typeface="Verdana" pitchFamily="34" charset="-120"/>
                        </a:rPr>
                        <a:t>Firmware</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Klipper + Moonraker; Proto job runner</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Signed release binaries</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30" dirty="0">
                          <a:solidFill>
                            <a:srgbClr val="1B2430"/>
                          </a:solidFill>
                          <a:latin typeface="Verdana" pitchFamily="34" charset="0"/>
                          <a:ea typeface="Verdana" pitchFamily="34" charset="-122"/>
                          <a:cs typeface="Verdana" pitchFamily="34" charset="-120"/>
                        </a:rPr>
                        <a:t>Agent-controllable machine API</a:t>
                      </a:r>
                      <a:endParaRPr lang="en-US" sz="73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9" name="Text 6"/>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 Protopus cost report and BOM, 29 Sep 2026. Placement is manual by choice: it keeps cost down and a person in the loop.</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12</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REPLACES 'DESIGN AT NIGHT, BOARD IN THE MORNING'</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Honest cycle time: ≈2 hours, 15–20 minutes hands-on</a:t>
            </a:r>
            <a:endParaRPr lang="en-US" sz="1900" dirty="0"/>
          </a:p>
        </p:txBody>
      </p:sp>
      <p:graphicFrame>
        <p:nvGraphicFramePr>
          <p:cNvPr id="8" name="Chart 0" descr=""/>
          <p:cNvGraphicFramePr/>
          <p:nvPr/>
        </p:nvGraphicFramePr>
        <p:xfrm>
          <a:off x="365760" y="1097280"/>
          <a:ext cx="5212080" cy="35204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806440" y="1188720"/>
            <a:ext cx="2880360" cy="0"/>
          </a:xfrm>
          <a:prstGeom prst="line">
            <a:avLst/>
          </a:prstGeom>
          <a:noFill/>
          <a:ln w="11430">
            <a:solidFill>
              <a:srgbClr val="1B2430"/>
            </a:solidFill>
            <a:prstDash val="solid"/>
          </a:ln>
        </p:spPr>
      </p:sp>
      <p:sp>
        <p:nvSpPr>
          <p:cNvPr id="10" name="Text 7"/>
          <p:cNvSpPr txBox="1"/>
          <p:nvPr/>
        </p:nvSpPr>
        <p:spPr>
          <a:xfrm>
            <a:off x="5806440" y="1280160"/>
            <a:ext cx="2880360" cy="457200"/>
          </a:xfrm>
          <a:prstGeom prst="rect">
            <a:avLst/>
          </a:prstGeom>
          <a:noFill/>
          <a:ln/>
        </p:spPr>
        <p:txBody>
          <a:bodyPr wrap="square" lIns="0" tIns="0" rIns="0" bIns="0" rtlCol="0" anchor="t"/>
          <a:lstStyle/>
          <a:p>
            <a:pPr indent="0" marL="0">
              <a:buNone/>
            </a:pPr>
            <a:r>
              <a:rPr lang="en-US" sz="2000" b="1" dirty="0">
                <a:solidFill>
                  <a:srgbClr val="C8834A"/>
                </a:solidFill>
                <a:latin typeface="Verdana" pitchFamily="34" charset="0"/>
                <a:ea typeface="Verdana" pitchFamily="34" charset="-122"/>
                <a:cs typeface="Verdana" pitchFamily="34" charset="-120"/>
              </a:rPr>
              <a:t>81–141 min</a:t>
            </a:r>
            <a:endParaRPr lang="en-US" sz="2000" dirty="0"/>
          </a:p>
        </p:txBody>
      </p:sp>
      <p:sp>
        <p:nvSpPr>
          <p:cNvPr id="11" name="Text 8"/>
          <p:cNvSpPr txBox="1"/>
          <p:nvPr/>
        </p:nvSpPr>
        <p:spPr>
          <a:xfrm>
            <a:off x="5806440" y="1755648"/>
            <a:ext cx="288036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per board, end to end</a:t>
            </a:r>
            <a:endParaRPr lang="en-US" sz="850" dirty="0"/>
          </a:p>
        </p:txBody>
      </p:sp>
      <p:sp>
        <p:nvSpPr>
          <p:cNvPr id="12" name="Shape 9"/>
          <p:cNvSpPr/>
          <p:nvPr/>
        </p:nvSpPr>
        <p:spPr>
          <a:xfrm>
            <a:off x="5806440" y="2148840"/>
            <a:ext cx="2880360" cy="0"/>
          </a:xfrm>
          <a:prstGeom prst="line">
            <a:avLst/>
          </a:prstGeom>
          <a:noFill/>
          <a:ln w="6350">
            <a:solidFill>
              <a:srgbClr val="D8D2C6"/>
            </a:solidFill>
            <a:prstDash val="solid"/>
          </a:ln>
        </p:spPr>
      </p:sp>
      <p:sp>
        <p:nvSpPr>
          <p:cNvPr id="13" name="Text 10"/>
          <p:cNvSpPr txBox="1"/>
          <p:nvPr/>
        </p:nvSpPr>
        <p:spPr>
          <a:xfrm>
            <a:off x="5806440" y="2240280"/>
            <a:ext cx="2880360" cy="457200"/>
          </a:xfrm>
          <a:prstGeom prst="rect">
            <a:avLst/>
          </a:prstGeom>
          <a:noFill/>
          <a:ln/>
        </p:spPr>
        <p:txBody>
          <a:bodyPr wrap="square" lIns="0" tIns="0" rIns="0" bIns="0" rtlCol="0" anchor="t"/>
          <a:lstStyle/>
          <a:p>
            <a:pPr indent="0" marL="0">
              <a:buNone/>
            </a:pPr>
            <a:r>
              <a:rPr lang="en-US" sz="2000" b="1" dirty="0">
                <a:solidFill>
                  <a:srgbClr val="1B2430"/>
                </a:solidFill>
                <a:latin typeface="Verdana" pitchFamily="34" charset="0"/>
                <a:ea typeface="Verdana" pitchFamily="34" charset="-122"/>
                <a:cs typeface="Verdana" pitchFamily="34" charset="-120"/>
              </a:rPr>
              <a:t>≈15–20 min</a:t>
            </a:r>
            <a:endParaRPr lang="en-US" sz="2000" dirty="0"/>
          </a:p>
        </p:txBody>
      </p:sp>
      <p:sp>
        <p:nvSpPr>
          <p:cNvPr id="14" name="Text 11"/>
          <p:cNvSpPr txBox="1"/>
          <p:nvPr/>
        </p:nvSpPr>
        <p:spPr>
          <a:xfrm>
            <a:off x="5806440" y="2715768"/>
            <a:ext cx="288036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hands-on: load, place, hook up the test</a:t>
            </a:r>
            <a:endParaRPr lang="en-US" sz="850" dirty="0"/>
          </a:p>
        </p:txBody>
      </p:sp>
      <p:sp>
        <p:nvSpPr>
          <p:cNvPr id="15" name="Shape 12"/>
          <p:cNvSpPr/>
          <p:nvPr/>
        </p:nvSpPr>
        <p:spPr>
          <a:xfrm>
            <a:off x="5806440" y="3108960"/>
            <a:ext cx="2880360" cy="0"/>
          </a:xfrm>
          <a:prstGeom prst="line">
            <a:avLst/>
          </a:prstGeom>
          <a:noFill/>
          <a:ln w="6350">
            <a:solidFill>
              <a:srgbClr val="D8D2C6"/>
            </a:solidFill>
            <a:prstDash val="solid"/>
          </a:ln>
        </p:spPr>
      </p:sp>
      <p:sp>
        <p:nvSpPr>
          <p:cNvPr id="16" name="Text 13"/>
          <p:cNvSpPr txBox="1"/>
          <p:nvPr/>
        </p:nvSpPr>
        <p:spPr>
          <a:xfrm>
            <a:off x="5806440" y="3200400"/>
            <a:ext cx="2880360" cy="457200"/>
          </a:xfrm>
          <a:prstGeom prst="rect">
            <a:avLst/>
          </a:prstGeom>
          <a:noFill/>
          <a:ln/>
        </p:spPr>
        <p:txBody>
          <a:bodyPr wrap="square" lIns="0" tIns="0" rIns="0" bIns="0" rtlCol="0" anchor="t"/>
          <a:lstStyle/>
          <a:p>
            <a:pPr indent="0" marL="0">
              <a:buNone/>
            </a:pPr>
            <a:r>
              <a:rPr lang="en-US" sz="2000" b="1" dirty="0">
                <a:solidFill>
                  <a:srgbClr val="1B2430"/>
                </a:solidFill>
                <a:latin typeface="Verdana" pitchFamily="34" charset="0"/>
                <a:ea typeface="Verdana" pitchFamily="34" charset="-122"/>
                <a:cs typeface="Verdana" pitchFamily="34" charset="-120"/>
              </a:rPr>
              <a:t>3–5 boards</a:t>
            </a:r>
            <a:endParaRPr lang="en-US" sz="2000" dirty="0"/>
          </a:p>
        </p:txBody>
      </p:sp>
      <p:sp>
        <p:nvSpPr>
          <p:cNvPr id="17" name="Text 14"/>
          <p:cNvSpPr txBox="1"/>
          <p:nvPr/>
        </p:nvSpPr>
        <p:spPr>
          <a:xfrm>
            <a:off x="5806440" y="3675888"/>
            <a:ext cx="288036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per 8-hour shift, one machine</a:t>
            </a:r>
            <a:endParaRPr lang="en-US" sz="850" dirty="0"/>
          </a:p>
        </p:txBody>
      </p:sp>
      <p:sp>
        <p:nvSpPr>
          <p:cNvPr id="18" name="Text 15"/>
          <p:cNvSpPr txBox="1"/>
          <p:nvPr/>
        </p:nvSpPr>
        <p:spPr>
          <a:xfrm>
            <a:off x="5806440" y="4114800"/>
            <a:ext cx="2880360" cy="411480"/>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These are engineering targets. Phase 1 measures them on real boards and reports the actual numbers.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13</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OPEN POINTS TO PROVE IN THE PROTOTYPE</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What we still have to prove, and how we'll test it</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108960"/>
                <a:gridCol w="2834640"/>
                <a:gridCol w="2286000"/>
              </a:tblGrid>
              <a:tr h="457200">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Open point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How Phase 1 tests it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Fallback if it fails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45720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Mask cleanliness on 0.5 mm-pitch pads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Wipe-develop test coupons under a microscope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Skim the pads with the spindle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5720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Film registration within ±50 µm after magnetic clamping</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Fiducial measurement on every coupon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Optical fiducial correction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5720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Jig pocket accuracy after the resin shrinks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Measure pocket-to-pin on printed jigs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Scale compensation in the slicer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5720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Laser offset drift with temperature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Check against a fiducial every job</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Automatic re-offset routine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57200">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Double-sided boards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Flip on the same pins; measure layer-to-layer error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Single-sided + jumpers for v1</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9" name="Text 6"/>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Rows 1–4 come from the Baker workflow story. Row 5 is added here so nobody finds it in diligence first. ₹1.2 lakh of Phase 1 is set aside for these.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14</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MACHINE 2 · MIXER</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Mixer: the test head that lets an AI see</a:t>
            </a:r>
            <a:endParaRPr lang="en-US" sz="1900" dirty="0"/>
          </a:p>
        </p:txBody>
      </p:sp>
      <p:sp>
        <p:nvSpPr>
          <p:cNvPr id="8" name="Shape 6"/>
          <p:cNvSpPr/>
          <p:nvPr/>
        </p:nvSpPr>
        <p:spPr>
          <a:xfrm>
            <a:off x="457200" y="1188720"/>
            <a:ext cx="1874520" cy="393192"/>
          </a:xfrm>
          <a:prstGeom prst="rect">
            <a:avLst/>
          </a:prstGeom>
          <a:solidFill>
            <a:srgbClr val="FFFFFF"/>
          </a:solidFill>
          <a:ln w="11430">
            <a:solidFill>
              <a:srgbClr val="5E8C5A"/>
            </a:solidFill>
            <a:prstDash val="solid"/>
          </a:ln>
        </p:spPr>
      </p:sp>
      <p:sp>
        <p:nvSpPr>
          <p:cNvPr id="9" name="Shape 7"/>
          <p:cNvSpPr/>
          <p:nvPr/>
        </p:nvSpPr>
        <p:spPr>
          <a:xfrm>
            <a:off x="457200" y="1188720"/>
            <a:ext cx="54864" cy="393192"/>
          </a:xfrm>
          <a:prstGeom prst="rect">
            <a:avLst/>
          </a:prstGeom>
          <a:solidFill>
            <a:srgbClr val="5E8C5A"/>
          </a:solidFill>
          <a:ln w="12700">
            <a:solidFill>
              <a:srgbClr val="5E8C5A"/>
            </a:solidFill>
            <a:prstDash val="solid"/>
          </a:ln>
        </p:spPr>
      </p:sp>
      <p:sp>
        <p:nvSpPr>
          <p:cNvPr id="10" name="Text 8"/>
          <p:cNvSpPr txBox="1"/>
          <p:nvPr/>
        </p:nvSpPr>
        <p:spPr>
          <a:xfrm>
            <a:off x="603504" y="1188720"/>
            <a:ext cx="1691640" cy="39319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2-ch oscilloscope</a:t>
            </a:r>
            <a:endParaRPr lang="en-US" sz="850" dirty="0"/>
          </a:p>
        </p:txBody>
      </p:sp>
      <p:sp>
        <p:nvSpPr>
          <p:cNvPr id="11" name="Shape 9"/>
          <p:cNvSpPr/>
          <p:nvPr/>
        </p:nvSpPr>
        <p:spPr>
          <a:xfrm>
            <a:off x="2468880" y="1188720"/>
            <a:ext cx="1874520" cy="393192"/>
          </a:xfrm>
          <a:prstGeom prst="rect">
            <a:avLst/>
          </a:prstGeom>
          <a:solidFill>
            <a:srgbClr val="FFFFFF"/>
          </a:solidFill>
          <a:ln w="11430">
            <a:solidFill>
              <a:srgbClr val="5E8C5A"/>
            </a:solidFill>
            <a:prstDash val="solid"/>
          </a:ln>
        </p:spPr>
      </p:sp>
      <p:sp>
        <p:nvSpPr>
          <p:cNvPr id="12" name="Shape 10"/>
          <p:cNvSpPr/>
          <p:nvPr/>
        </p:nvSpPr>
        <p:spPr>
          <a:xfrm>
            <a:off x="2468880" y="1188720"/>
            <a:ext cx="54864" cy="393192"/>
          </a:xfrm>
          <a:prstGeom prst="rect">
            <a:avLst/>
          </a:prstGeom>
          <a:solidFill>
            <a:srgbClr val="5E8C5A"/>
          </a:solidFill>
          <a:ln w="12700">
            <a:solidFill>
              <a:srgbClr val="5E8C5A"/>
            </a:solidFill>
            <a:prstDash val="solid"/>
          </a:ln>
        </p:spPr>
      </p:sp>
      <p:sp>
        <p:nvSpPr>
          <p:cNvPr id="13" name="Text 11"/>
          <p:cNvSpPr txBox="1"/>
          <p:nvPr/>
        </p:nvSpPr>
        <p:spPr>
          <a:xfrm>
            <a:off x="2615184" y="1188720"/>
            <a:ext cx="1691640" cy="39319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2-ch waveform generator</a:t>
            </a:r>
            <a:endParaRPr lang="en-US" sz="850" dirty="0"/>
          </a:p>
        </p:txBody>
      </p:sp>
      <p:sp>
        <p:nvSpPr>
          <p:cNvPr id="14" name="Shape 12"/>
          <p:cNvSpPr/>
          <p:nvPr/>
        </p:nvSpPr>
        <p:spPr>
          <a:xfrm>
            <a:off x="457200" y="1691640"/>
            <a:ext cx="1874520" cy="393192"/>
          </a:xfrm>
          <a:prstGeom prst="rect">
            <a:avLst/>
          </a:prstGeom>
          <a:solidFill>
            <a:srgbClr val="FFFFFF"/>
          </a:solidFill>
          <a:ln w="11430">
            <a:solidFill>
              <a:srgbClr val="5E8C5A"/>
            </a:solidFill>
            <a:prstDash val="solid"/>
          </a:ln>
        </p:spPr>
      </p:sp>
      <p:sp>
        <p:nvSpPr>
          <p:cNvPr id="15" name="Shape 13"/>
          <p:cNvSpPr/>
          <p:nvPr/>
        </p:nvSpPr>
        <p:spPr>
          <a:xfrm>
            <a:off x="457200" y="1691640"/>
            <a:ext cx="54864" cy="393192"/>
          </a:xfrm>
          <a:prstGeom prst="rect">
            <a:avLst/>
          </a:prstGeom>
          <a:solidFill>
            <a:srgbClr val="5E8C5A"/>
          </a:solidFill>
          <a:ln w="12700">
            <a:solidFill>
              <a:srgbClr val="5E8C5A"/>
            </a:solidFill>
            <a:prstDash val="solid"/>
          </a:ln>
        </p:spPr>
      </p:sp>
      <p:sp>
        <p:nvSpPr>
          <p:cNvPr id="16" name="Text 14"/>
          <p:cNvSpPr txBox="1"/>
          <p:nvPr/>
        </p:nvSpPr>
        <p:spPr>
          <a:xfrm>
            <a:off x="603504" y="1691640"/>
            <a:ext cx="1691640" cy="39319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16-ch logic analyser</a:t>
            </a:r>
            <a:endParaRPr lang="en-US" sz="850" dirty="0"/>
          </a:p>
        </p:txBody>
      </p:sp>
      <p:sp>
        <p:nvSpPr>
          <p:cNvPr id="17" name="Shape 15"/>
          <p:cNvSpPr/>
          <p:nvPr/>
        </p:nvSpPr>
        <p:spPr>
          <a:xfrm>
            <a:off x="2468880" y="1691640"/>
            <a:ext cx="1874520" cy="393192"/>
          </a:xfrm>
          <a:prstGeom prst="rect">
            <a:avLst/>
          </a:prstGeom>
          <a:solidFill>
            <a:srgbClr val="FFFFFF"/>
          </a:solidFill>
          <a:ln w="11430">
            <a:solidFill>
              <a:srgbClr val="5E8C5A"/>
            </a:solidFill>
            <a:prstDash val="solid"/>
          </a:ln>
        </p:spPr>
      </p:sp>
      <p:sp>
        <p:nvSpPr>
          <p:cNvPr id="18" name="Shape 16"/>
          <p:cNvSpPr/>
          <p:nvPr/>
        </p:nvSpPr>
        <p:spPr>
          <a:xfrm>
            <a:off x="2468880" y="1691640"/>
            <a:ext cx="54864" cy="393192"/>
          </a:xfrm>
          <a:prstGeom prst="rect">
            <a:avLst/>
          </a:prstGeom>
          <a:solidFill>
            <a:srgbClr val="5E8C5A"/>
          </a:solidFill>
          <a:ln w="12700">
            <a:solidFill>
              <a:srgbClr val="5E8C5A"/>
            </a:solidFill>
            <a:prstDash val="solid"/>
          </a:ln>
        </p:spPr>
      </p:sp>
      <p:sp>
        <p:nvSpPr>
          <p:cNvPr id="19" name="Text 17"/>
          <p:cNvSpPr txBox="1"/>
          <p:nvPr/>
        </p:nvSpPr>
        <p:spPr>
          <a:xfrm>
            <a:off x="2615184" y="1691640"/>
            <a:ext cx="1691640" cy="39319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Pattern generator</a:t>
            </a:r>
            <a:endParaRPr lang="en-US" sz="850" dirty="0"/>
          </a:p>
        </p:txBody>
      </p:sp>
      <p:sp>
        <p:nvSpPr>
          <p:cNvPr id="20" name="Shape 18"/>
          <p:cNvSpPr/>
          <p:nvPr/>
        </p:nvSpPr>
        <p:spPr>
          <a:xfrm>
            <a:off x="457200" y="2194560"/>
            <a:ext cx="1874520" cy="393192"/>
          </a:xfrm>
          <a:prstGeom prst="rect">
            <a:avLst/>
          </a:prstGeom>
          <a:solidFill>
            <a:srgbClr val="FFFFFF"/>
          </a:solidFill>
          <a:ln w="11430">
            <a:solidFill>
              <a:srgbClr val="5E8C5A"/>
            </a:solidFill>
            <a:prstDash val="solid"/>
          </a:ln>
        </p:spPr>
      </p:sp>
      <p:sp>
        <p:nvSpPr>
          <p:cNvPr id="21" name="Shape 19"/>
          <p:cNvSpPr/>
          <p:nvPr/>
        </p:nvSpPr>
        <p:spPr>
          <a:xfrm>
            <a:off x="457200" y="2194560"/>
            <a:ext cx="54864" cy="393192"/>
          </a:xfrm>
          <a:prstGeom prst="rect">
            <a:avLst/>
          </a:prstGeom>
          <a:solidFill>
            <a:srgbClr val="5E8C5A"/>
          </a:solidFill>
          <a:ln w="12700">
            <a:solidFill>
              <a:srgbClr val="5E8C5A"/>
            </a:solidFill>
            <a:prstDash val="solid"/>
          </a:ln>
        </p:spPr>
      </p:sp>
      <p:sp>
        <p:nvSpPr>
          <p:cNvPr id="22" name="Text 20"/>
          <p:cNvSpPr txBox="1"/>
          <p:nvPr/>
        </p:nvSpPr>
        <p:spPr>
          <a:xfrm>
            <a:off x="603504" y="2194560"/>
            <a:ext cx="1691640" cy="39319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Protocol decoder</a:t>
            </a:r>
            <a:endParaRPr lang="en-US" sz="850" dirty="0"/>
          </a:p>
        </p:txBody>
      </p:sp>
      <p:sp>
        <p:nvSpPr>
          <p:cNvPr id="23" name="Shape 21"/>
          <p:cNvSpPr/>
          <p:nvPr/>
        </p:nvSpPr>
        <p:spPr>
          <a:xfrm>
            <a:off x="2468880" y="2194560"/>
            <a:ext cx="1874520" cy="393192"/>
          </a:xfrm>
          <a:prstGeom prst="rect">
            <a:avLst/>
          </a:prstGeom>
          <a:solidFill>
            <a:srgbClr val="FFFFFF"/>
          </a:solidFill>
          <a:ln w="11430">
            <a:solidFill>
              <a:srgbClr val="5E8C5A"/>
            </a:solidFill>
            <a:prstDash val="solid"/>
          </a:ln>
        </p:spPr>
      </p:sp>
      <p:sp>
        <p:nvSpPr>
          <p:cNvPr id="24" name="Shape 22"/>
          <p:cNvSpPr/>
          <p:nvPr/>
        </p:nvSpPr>
        <p:spPr>
          <a:xfrm>
            <a:off x="2468880" y="2194560"/>
            <a:ext cx="54864" cy="393192"/>
          </a:xfrm>
          <a:prstGeom prst="rect">
            <a:avLst/>
          </a:prstGeom>
          <a:solidFill>
            <a:srgbClr val="5E8C5A"/>
          </a:solidFill>
          <a:ln w="12700">
            <a:solidFill>
              <a:srgbClr val="5E8C5A"/>
            </a:solidFill>
            <a:prstDash val="solid"/>
          </a:ln>
        </p:spPr>
      </p:sp>
      <p:sp>
        <p:nvSpPr>
          <p:cNvPr id="25" name="Text 23"/>
          <p:cNvSpPr txBox="1"/>
          <p:nvPr/>
        </p:nvSpPr>
        <p:spPr>
          <a:xfrm>
            <a:off x="2615184" y="2194560"/>
            <a:ext cx="1691640" cy="39319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Programmable supply 1</a:t>
            </a:r>
            <a:endParaRPr lang="en-US" sz="850" dirty="0"/>
          </a:p>
        </p:txBody>
      </p:sp>
      <p:sp>
        <p:nvSpPr>
          <p:cNvPr id="26" name="Shape 24"/>
          <p:cNvSpPr/>
          <p:nvPr/>
        </p:nvSpPr>
        <p:spPr>
          <a:xfrm>
            <a:off x="457200" y="2697480"/>
            <a:ext cx="1874520" cy="393192"/>
          </a:xfrm>
          <a:prstGeom prst="rect">
            <a:avLst/>
          </a:prstGeom>
          <a:solidFill>
            <a:srgbClr val="FFFFFF"/>
          </a:solidFill>
          <a:ln w="11430">
            <a:solidFill>
              <a:srgbClr val="5E8C5A"/>
            </a:solidFill>
            <a:prstDash val="solid"/>
          </a:ln>
        </p:spPr>
      </p:sp>
      <p:sp>
        <p:nvSpPr>
          <p:cNvPr id="27" name="Shape 25"/>
          <p:cNvSpPr/>
          <p:nvPr/>
        </p:nvSpPr>
        <p:spPr>
          <a:xfrm>
            <a:off x="457200" y="2697480"/>
            <a:ext cx="54864" cy="393192"/>
          </a:xfrm>
          <a:prstGeom prst="rect">
            <a:avLst/>
          </a:prstGeom>
          <a:solidFill>
            <a:srgbClr val="5E8C5A"/>
          </a:solidFill>
          <a:ln w="12700">
            <a:solidFill>
              <a:srgbClr val="5E8C5A"/>
            </a:solidFill>
            <a:prstDash val="solid"/>
          </a:ln>
        </p:spPr>
      </p:sp>
      <p:sp>
        <p:nvSpPr>
          <p:cNvPr id="28" name="Text 26"/>
          <p:cNvSpPr txBox="1"/>
          <p:nvPr/>
        </p:nvSpPr>
        <p:spPr>
          <a:xfrm>
            <a:off x="603504" y="2697480"/>
            <a:ext cx="1691640" cy="39319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Programmable supply 2</a:t>
            </a:r>
            <a:endParaRPr lang="en-US" sz="850" dirty="0"/>
          </a:p>
        </p:txBody>
      </p:sp>
      <p:sp>
        <p:nvSpPr>
          <p:cNvPr id="29" name="Shape 27"/>
          <p:cNvSpPr/>
          <p:nvPr/>
        </p:nvSpPr>
        <p:spPr>
          <a:xfrm>
            <a:off x="2468880" y="2697480"/>
            <a:ext cx="1874520" cy="393192"/>
          </a:xfrm>
          <a:prstGeom prst="rect">
            <a:avLst/>
          </a:prstGeom>
          <a:solidFill>
            <a:srgbClr val="FFFFFF"/>
          </a:solidFill>
          <a:ln w="11430">
            <a:solidFill>
              <a:srgbClr val="5E8C5A"/>
            </a:solidFill>
            <a:prstDash val="solid"/>
          </a:ln>
        </p:spPr>
      </p:sp>
      <p:sp>
        <p:nvSpPr>
          <p:cNvPr id="30" name="Shape 28"/>
          <p:cNvSpPr/>
          <p:nvPr/>
        </p:nvSpPr>
        <p:spPr>
          <a:xfrm>
            <a:off x="2468880" y="2697480"/>
            <a:ext cx="54864" cy="393192"/>
          </a:xfrm>
          <a:prstGeom prst="rect">
            <a:avLst/>
          </a:prstGeom>
          <a:solidFill>
            <a:srgbClr val="5E8C5A"/>
          </a:solidFill>
          <a:ln w="12700">
            <a:solidFill>
              <a:srgbClr val="5E8C5A"/>
            </a:solidFill>
            <a:prstDash val="solid"/>
          </a:ln>
        </p:spPr>
      </p:sp>
      <p:sp>
        <p:nvSpPr>
          <p:cNvPr id="31" name="Text 29"/>
          <p:cNvSpPr txBox="1"/>
          <p:nvPr/>
        </p:nvSpPr>
        <p:spPr>
          <a:xfrm>
            <a:off x="2615184" y="2697480"/>
            <a:ext cx="1691640" cy="393192"/>
          </a:xfrm>
          <a:prstGeom prst="rect">
            <a:avLst/>
          </a:prstGeom>
          <a:noFill/>
          <a:ln/>
        </p:spPr>
        <p:txBody>
          <a:bodyPr wrap="square" lIns="0" tIns="0" rIns="0" bIns="0" rtlCol="0" anchor="ctr"/>
          <a:lstStyle/>
          <a:p>
            <a:pPr indent="0" marL="0">
              <a:buNone/>
            </a:pPr>
            <a:r>
              <a:rPr lang="en-US" sz="850" b="1" dirty="0">
                <a:solidFill>
                  <a:srgbClr val="1B2430"/>
                </a:solidFill>
                <a:latin typeface="Verdana" pitchFamily="34" charset="0"/>
                <a:ea typeface="Verdana" pitchFamily="34" charset="-122"/>
                <a:cs typeface="Verdana" pitchFamily="34" charset="-120"/>
              </a:rPr>
              <a:t>24-bit multimeter</a:t>
            </a:r>
            <a:endParaRPr lang="en-US" sz="850" dirty="0"/>
          </a:p>
        </p:txBody>
      </p:sp>
      <p:sp>
        <p:nvSpPr>
          <p:cNvPr id="32" name="Text 30"/>
          <p:cNvSpPr txBox="1"/>
          <p:nvPr/>
        </p:nvSpPr>
        <p:spPr>
          <a:xfrm>
            <a:off x="457200" y="3310128"/>
            <a:ext cx="3931920" cy="274320"/>
          </a:xfrm>
          <a:prstGeom prst="rect">
            <a:avLst/>
          </a:prstGeom>
          <a:noFill/>
          <a:ln/>
        </p:spPr>
        <p:txBody>
          <a:bodyPr wrap="square" lIns="0" tIns="0" rIns="0" bIns="0" rtlCol="0" anchor="t"/>
          <a:lstStyle/>
          <a:p>
            <a:pPr indent="0" marL="0">
              <a:buNone/>
            </a:pPr>
            <a:r>
              <a:rPr lang="en-US" sz="1250" b="1" dirty="0">
                <a:solidFill>
                  <a:srgbClr val="C8834A"/>
                </a:solidFill>
                <a:latin typeface="Verdana" pitchFamily="34" charset="0"/>
                <a:ea typeface="Verdana" pitchFamily="34" charset="-122"/>
                <a:cs typeface="Verdana" pitchFamily="34" charset="-120"/>
              </a:rPr>
              <a:t>One cable. Eight instruments.</a:t>
            </a:r>
            <a:endParaRPr lang="en-US" sz="1250" dirty="0"/>
          </a:p>
        </p:txBody>
      </p:sp>
      <p:sp>
        <p:nvSpPr>
          <p:cNvPr id="33" name="Text 31"/>
          <p:cNvSpPr txBox="1"/>
          <p:nvPr/>
        </p:nvSpPr>
        <p:spPr>
          <a:xfrm>
            <a:off x="457200" y="3639312"/>
            <a:ext cx="3840480" cy="548640"/>
          </a:xfrm>
          <a:prstGeom prst="rect">
            <a:avLst/>
          </a:prstGeom>
          <a:noFill/>
          <a:ln/>
        </p:spPr>
        <p:txBody>
          <a:bodyPr wrap="square" lIns="0" tIns="0" rIns="0" bIns="0" rtlCol="0" anchor="t"/>
          <a:lstStyle/>
          <a:p>
            <a:pPr indent="0" marL="0">
              <a:buNone/>
            </a:pPr>
            <a:r>
              <a:rPr lang="en-US" sz="900" dirty="0">
                <a:solidFill>
                  <a:srgbClr val="6B6459"/>
                </a:solidFill>
                <a:latin typeface="Verdana" pitchFamily="34" charset="0"/>
                <a:ea typeface="Verdana" pitchFamily="34" charset="-122"/>
                <a:cs typeface="Verdana" pitchFamily="34" charset="-120"/>
              </a:rPr>
              <a:t>It isn't trying to be a better scope than a Digilent. It's an instrument an agent can drive.</a:t>
            </a:r>
            <a:endParaRPr lang="en-US" sz="900" dirty="0"/>
          </a:p>
        </p:txBody>
      </p:sp>
      <p:sp>
        <p:nvSpPr>
          <p:cNvPr id="34" name="Shape 32"/>
          <p:cNvSpPr/>
          <p:nvPr/>
        </p:nvSpPr>
        <p:spPr>
          <a:xfrm>
            <a:off x="4663440" y="1188720"/>
            <a:ext cx="4023360" cy="3246120"/>
          </a:xfrm>
          <a:prstGeom prst="rect">
            <a:avLst/>
          </a:prstGeom>
          <a:solidFill>
            <a:srgbClr val="F6F1E8"/>
          </a:solidFill>
          <a:ln w="9525">
            <a:solidFill>
              <a:srgbClr val="F6F1E8"/>
            </a:solidFill>
            <a:prstDash val="solid"/>
          </a:ln>
        </p:spPr>
      </p:sp>
      <p:sp>
        <p:nvSpPr>
          <p:cNvPr id="35" name="Text 33"/>
          <p:cNvSpPr txBox="1"/>
          <p:nvPr/>
        </p:nvSpPr>
        <p:spPr>
          <a:xfrm>
            <a:off x="4846320" y="1307592"/>
            <a:ext cx="3657600" cy="237744"/>
          </a:xfrm>
          <a:prstGeom prst="rect">
            <a:avLst/>
          </a:prstGeom>
          <a:noFill/>
          <a:ln/>
        </p:spPr>
        <p:txBody>
          <a:bodyPr wrap="square" lIns="0" tIns="0" rIns="0" bIns="0" rtlCol="0" anchor="t"/>
          <a:lstStyle/>
          <a:p>
            <a:pPr indent="0" marL="0">
              <a:buNone/>
            </a:pPr>
            <a:r>
              <a:rPr lang="en-US" sz="1050" b="1" dirty="0">
                <a:solidFill>
                  <a:srgbClr val="C8834A"/>
                </a:solidFill>
                <a:latin typeface="Verdana" pitchFamily="34" charset="0"/>
                <a:ea typeface="Verdana" pitchFamily="34" charset="-122"/>
                <a:cs typeface="Verdana" pitchFamily="34" charset="-120"/>
              </a:rPr>
              <a:t>How Proto uses it</a:t>
            </a:r>
            <a:endParaRPr lang="en-US" sz="1050" dirty="0"/>
          </a:p>
        </p:txBody>
      </p:sp>
      <p:sp>
        <p:nvSpPr>
          <p:cNvPr id="36" name="Text 34"/>
          <p:cNvSpPr txBox="1"/>
          <p:nvPr/>
        </p:nvSpPr>
        <p:spPr>
          <a:xfrm>
            <a:off x="4846320" y="1691640"/>
            <a:ext cx="320040" cy="274320"/>
          </a:xfrm>
          <a:prstGeom prst="rect">
            <a:avLst/>
          </a:prstGeom>
          <a:noFill/>
          <a:ln/>
        </p:spPr>
        <p:txBody>
          <a:bodyPr wrap="square" lIns="0" tIns="0" rIns="0" bIns="0" rtlCol="0" anchor="t"/>
          <a:lstStyle/>
          <a:p>
            <a:pPr indent="0" marL="0">
              <a:buNone/>
            </a:pPr>
            <a:r>
              <a:rPr lang="en-US" sz="900" b="1" dirty="0">
                <a:solidFill>
                  <a:srgbClr val="C8834A"/>
                </a:solidFill>
                <a:latin typeface="Consolas" pitchFamily="34" charset="0"/>
                <a:ea typeface="Consolas" pitchFamily="34" charset="-122"/>
                <a:cs typeface="Consolas" pitchFamily="34" charset="-120"/>
              </a:rPr>
              <a:t>01</a:t>
            </a:r>
            <a:endParaRPr lang="en-US" sz="900" dirty="0"/>
          </a:p>
        </p:txBody>
      </p:sp>
      <p:sp>
        <p:nvSpPr>
          <p:cNvPr id="37" name="Text 35"/>
          <p:cNvSpPr txBox="1"/>
          <p:nvPr/>
        </p:nvSpPr>
        <p:spPr>
          <a:xfrm>
            <a:off x="5212080" y="1691640"/>
            <a:ext cx="3337560" cy="411480"/>
          </a:xfrm>
          <a:prstGeom prst="rect">
            <a:avLst/>
          </a:prstGeom>
          <a:noFill/>
          <a:ln/>
        </p:spPr>
        <p:txBody>
          <a:bodyPr wrap="square" lIns="0" tIns="0" rIns="0" bIns="0" rtlCol="0" anchor="t"/>
          <a:lstStyle/>
          <a:p>
            <a:pPr indent="0" marL="0">
              <a:buNone/>
            </a:pPr>
            <a:r>
              <a:rPr lang="en-US" sz="850" dirty="0">
                <a:solidFill>
                  <a:srgbClr val="1B2430"/>
                </a:solidFill>
                <a:latin typeface="Verdana" pitchFamily="34" charset="0"/>
                <a:ea typeface="Verdana" pitchFamily="34" charset="-122"/>
                <a:cs typeface="Verdana" pitchFamily="34" charset="-120"/>
              </a:rPr>
              <a:t>Reads the netlist and design intent</a:t>
            </a:r>
            <a:endParaRPr lang="en-US" sz="850" dirty="0"/>
          </a:p>
        </p:txBody>
      </p:sp>
      <p:sp>
        <p:nvSpPr>
          <p:cNvPr id="38" name="Text 36"/>
          <p:cNvSpPr txBox="1"/>
          <p:nvPr/>
        </p:nvSpPr>
        <p:spPr>
          <a:xfrm>
            <a:off x="4846320" y="2121408"/>
            <a:ext cx="320040" cy="274320"/>
          </a:xfrm>
          <a:prstGeom prst="rect">
            <a:avLst/>
          </a:prstGeom>
          <a:noFill/>
          <a:ln/>
        </p:spPr>
        <p:txBody>
          <a:bodyPr wrap="square" lIns="0" tIns="0" rIns="0" bIns="0" rtlCol="0" anchor="t"/>
          <a:lstStyle/>
          <a:p>
            <a:pPr indent="0" marL="0">
              <a:buNone/>
            </a:pPr>
            <a:r>
              <a:rPr lang="en-US" sz="900" b="1" dirty="0">
                <a:solidFill>
                  <a:srgbClr val="C8834A"/>
                </a:solidFill>
                <a:latin typeface="Consolas" pitchFamily="34" charset="0"/>
                <a:ea typeface="Consolas" pitchFamily="34" charset="-122"/>
                <a:cs typeface="Consolas" pitchFamily="34" charset="-120"/>
              </a:rPr>
              <a:t>02</a:t>
            </a:r>
            <a:endParaRPr lang="en-US" sz="900" dirty="0"/>
          </a:p>
        </p:txBody>
      </p:sp>
      <p:sp>
        <p:nvSpPr>
          <p:cNvPr id="39" name="Text 37"/>
          <p:cNvSpPr txBox="1"/>
          <p:nvPr/>
        </p:nvSpPr>
        <p:spPr>
          <a:xfrm>
            <a:off x="5212080" y="2121408"/>
            <a:ext cx="3337560" cy="411480"/>
          </a:xfrm>
          <a:prstGeom prst="rect">
            <a:avLst/>
          </a:prstGeom>
          <a:noFill/>
          <a:ln/>
        </p:spPr>
        <p:txBody>
          <a:bodyPr wrap="square" lIns="0" tIns="0" rIns="0" bIns="0" rtlCol="0" anchor="t"/>
          <a:lstStyle/>
          <a:p>
            <a:pPr indent="0" marL="0">
              <a:buNone/>
            </a:pPr>
            <a:r>
              <a:rPr lang="en-US" sz="850" dirty="0">
                <a:solidFill>
                  <a:srgbClr val="1B2430"/>
                </a:solidFill>
                <a:latin typeface="Verdana" pitchFamily="34" charset="0"/>
                <a:ea typeface="Verdana" pitchFamily="34" charset="-122"/>
                <a:cs typeface="Verdana" pitchFamily="34" charset="-120"/>
              </a:rPr>
              <a:t>Sets the supplies with current limits; checks quiescent current</a:t>
            </a:r>
            <a:endParaRPr lang="en-US" sz="850" dirty="0"/>
          </a:p>
        </p:txBody>
      </p:sp>
      <p:sp>
        <p:nvSpPr>
          <p:cNvPr id="40" name="Text 38"/>
          <p:cNvSpPr txBox="1"/>
          <p:nvPr/>
        </p:nvSpPr>
        <p:spPr>
          <a:xfrm>
            <a:off x="4846320" y="2551176"/>
            <a:ext cx="320040" cy="274320"/>
          </a:xfrm>
          <a:prstGeom prst="rect">
            <a:avLst/>
          </a:prstGeom>
          <a:noFill/>
          <a:ln/>
        </p:spPr>
        <p:txBody>
          <a:bodyPr wrap="square" lIns="0" tIns="0" rIns="0" bIns="0" rtlCol="0" anchor="t"/>
          <a:lstStyle/>
          <a:p>
            <a:pPr indent="0" marL="0">
              <a:buNone/>
            </a:pPr>
            <a:r>
              <a:rPr lang="en-US" sz="900" b="1" dirty="0">
                <a:solidFill>
                  <a:srgbClr val="C8834A"/>
                </a:solidFill>
                <a:latin typeface="Consolas" pitchFamily="34" charset="0"/>
                <a:ea typeface="Consolas" pitchFamily="34" charset="-122"/>
                <a:cs typeface="Consolas" pitchFamily="34" charset="-120"/>
              </a:rPr>
              <a:t>03</a:t>
            </a:r>
            <a:endParaRPr lang="en-US" sz="900" dirty="0"/>
          </a:p>
        </p:txBody>
      </p:sp>
      <p:sp>
        <p:nvSpPr>
          <p:cNvPr id="41" name="Text 39"/>
          <p:cNvSpPr txBox="1"/>
          <p:nvPr/>
        </p:nvSpPr>
        <p:spPr>
          <a:xfrm>
            <a:off x="5212080" y="2551176"/>
            <a:ext cx="3337560" cy="411480"/>
          </a:xfrm>
          <a:prstGeom prst="rect">
            <a:avLst/>
          </a:prstGeom>
          <a:noFill/>
          <a:ln/>
        </p:spPr>
        <p:txBody>
          <a:bodyPr wrap="square" lIns="0" tIns="0" rIns="0" bIns="0" rtlCol="0" anchor="t"/>
          <a:lstStyle/>
          <a:p>
            <a:pPr indent="0" marL="0">
              <a:buNone/>
            </a:pPr>
            <a:r>
              <a:rPr lang="en-US" sz="850" dirty="0">
                <a:solidFill>
                  <a:srgbClr val="1B2430"/>
                </a:solidFill>
                <a:latin typeface="Verdana" pitchFamily="34" charset="0"/>
                <a:ea typeface="Verdana" pitchFamily="34" charset="-122"/>
                <a:cs typeface="Verdana" pitchFamily="34" charset="-120"/>
              </a:rPr>
              <a:t>Checks each rail with the 24-bit meter</a:t>
            </a:r>
            <a:endParaRPr lang="en-US" sz="850" dirty="0"/>
          </a:p>
        </p:txBody>
      </p:sp>
      <p:sp>
        <p:nvSpPr>
          <p:cNvPr id="42" name="Text 40"/>
          <p:cNvSpPr txBox="1"/>
          <p:nvPr/>
        </p:nvSpPr>
        <p:spPr>
          <a:xfrm>
            <a:off x="4846320" y="2980944"/>
            <a:ext cx="320040" cy="274320"/>
          </a:xfrm>
          <a:prstGeom prst="rect">
            <a:avLst/>
          </a:prstGeom>
          <a:noFill/>
          <a:ln/>
        </p:spPr>
        <p:txBody>
          <a:bodyPr wrap="square" lIns="0" tIns="0" rIns="0" bIns="0" rtlCol="0" anchor="t"/>
          <a:lstStyle/>
          <a:p>
            <a:pPr indent="0" marL="0">
              <a:buNone/>
            </a:pPr>
            <a:r>
              <a:rPr lang="en-US" sz="900" b="1" dirty="0">
                <a:solidFill>
                  <a:srgbClr val="C8834A"/>
                </a:solidFill>
                <a:latin typeface="Consolas" pitchFamily="34" charset="0"/>
                <a:ea typeface="Consolas" pitchFamily="34" charset="-122"/>
                <a:cs typeface="Consolas" pitchFamily="34" charset="-120"/>
              </a:rPr>
              <a:t>04</a:t>
            </a:r>
            <a:endParaRPr lang="en-US" sz="900" dirty="0"/>
          </a:p>
        </p:txBody>
      </p:sp>
      <p:sp>
        <p:nvSpPr>
          <p:cNvPr id="43" name="Text 41"/>
          <p:cNvSpPr txBox="1"/>
          <p:nvPr/>
        </p:nvSpPr>
        <p:spPr>
          <a:xfrm>
            <a:off x="5212080" y="2980944"/>
            <a:ext cx="3337560" cy="411480"/>
          </a:xfrm>
          <a:prstGeom prst="rect">
            <a:avLst/>
          </a:prstGeom>
          <a:noFill/>
          <a:ln/>
        </p:spPr>
        <p:txBody>
          <a:bodyPr wrap="square" lIns="0" tIns="0" rIns="0" bIns="0" rtlCol="0" anchor="t"/>
          <a:lstStyle/>
          <a:p>
            <a:pPr indent="0" marL="0">
              <a:buNone/>
            </a:pPr>
            <a:r>
              <a:rPr lang="en-US" sz="850" dirty="0">
                <a:solidFill>
                  <a:srgbClr val="1B2430"/>
                </a:solidFill>
                <a:latin typeface="Verdana" pitchFamily="34" charset="0"/>
                <a:ea typeface="Verdana" pitchFamily="34" charset="-122"/>
                <a:cs typeface="Verdana" pitchFamily="34" charset="-120"/>
              </a:rPr>
              <a:t>Drives inputs with the waveform/pattern generator</a:t>
            </a:r>
            <a:endParaRPr lang="en-US" sz="850" dirty="0"/>
          </a:p>
        </p:txBody>
      </p:sp>
      <p:sp>
        <p:nvSpPr>
          <p:cNvPr id="44" name="Text 42"/>
          <p:cNvSpPr txBox="1"/>
          <p:nvPr/>
        </p:nvSpPr>
        <p:spPr>
          <a:xfrm>
            <a:off x="4846320" y="3410712"/>
            <a:ext cx="320040" cy="274320"/>
          </a:xfrm>
          <a:prstGeom prst="rect">
            <a:avLst/>
          </a:prstGeom>
          <a:noFill/>
          <a:ln/>
        </p:spPr>
        <p:txBody>
          <a:bodyPr wrap="square" lIns="0" tIns="0" rIns="0" bIns="0" rtlCol="0" anchor="t"/>
          <a:lstStyle/>
          <a:p>
            <a:pPr indent="0" marL="0">
              <a:buNone/>
            </a:pPr>
            <a:r>
              <a:rPr lang="en-US" sz="900" b="1" dirty="0">
                <a:solidFill>
                  <a:srgbClr val="C8834A"/>
                </a:solidFill>
                <a:latin typeface="Consolas" pitchFamily="34" charset="0"/>
                <a:ea typeface="Consolas" pitchFamily="34" charset="-122"/>
                <a:cs typeface="Consolas" pitchFamily="34" charset="-120"/>
              </a:rPr>
              <a:t>05</a:t>
            </a:r>
            <a:endParaRPr lang="en-US" sz="900" dirty="0"/>
          </a:p>
        </p:txBody>
      </p:sp>
      <p:sp>
        <p:nvSpPr>
          <p:cNvPr id="45" name="Text 43"/>
          <p:cNvSpPr txBox="1"/>
          <p:nvPr/>
        </p:nvSpPr>
        <p:spPr>
          <a:xfrm>
            <a:off x="5212080" y="3410712"/>
            <a:ext cx="3337560" cy="411480"/>
          </a:xfrm>
          <a:prstGeom prst="rect">
            <a:avLst/>
          </a:prstGeom>
          <a:noFill/>
          <a:ln/>
        </p:spPr>
        <p:txBody>
          <a:bodyPr wrap="square" lIns="0" tIns="0" rIns="0" bIns="0" rtlCol="0" anchor="t"/>
          <a:lstStyle/>
          <a:p>
            <a:pPr indent="0" marL="0">
              <a:buNone/>
            </a:pPr>
            <a:r>
              <a:rPr lang="en-US" sz="850" dirty="0">
                <a:solidFill>
                  <a:srgbClr val="1B2430"/>
                </a:solidFill>
                <a:latin typeface="Verdana" pitchFamily="34" charset="0"/>
                <a:ea typeface="Verdana" pitchFamily="34" charset="-122"/>
                <a:cs typeface="Verdana" pitchFamily="34" charset="-120"/>
              </a:rPr>
              <a:t>Captures scope and logic; decodes I²C/SPI/UART</a:t>
            </a:r>
            <a:endParaRPr lang="en-US" sz="850" dirty="0"/>
          </a:p>
        </p:txBody>
      </p:sp>
      <p:sp>
        <p:nvSpPr>
          <p:cNvPr id="46" name="Text 44"/>
          <p:cNvSpPr txBox="1"/>
          <p:nvPr/>
        </p:nvSpPr>
        <p:spPr>
          <a:xfrm>
            <a:off x="4846320" y="3840480"/>
            <a:ext cx="320040" cy="274320"/>
          </a:xfrm>
          <a:prstGeom prst="rect">
            <a:avLst/>
          </a:prstGeom>
          <a:noFill/>
          <a:ln/>
        </p:spPr>
        <p:txBody>
          <a:bodyPr wrap="square" lIns="0" tIns="0" rIns="0" bIns="0" rtlCol="0" anchor="t"/>
          <a:lstStyle/>
          <a:p>
            <a:pPr indent="0" marL="0">
              <a:buNone/>
            </a:pPr>
            <a:r>
              <a:rPr lang="en-US" sz="900" b="1" dirty="0">
                <a:solidFill>
                  <a:srgbClr val="C8834A"/>
                </a:solidFill>
                <a:latin typeface="Consolas" pitchFamily="34" charset="0"/>
                <a:ea typeface="Consolas" pitchFamily="34" charset="-122"/>
                <a:cs typeface="Consolas" pitchFamily="34" charset="-120"/>
              </a:rPr>
              <a:t>06</a:t>
            </a:r>
            <a:endParaRPr lang="en-US" sz="900" dirty="0"/>
          </a:p>
        </p:txBody>
      </p:sp>
      <p:sp>
        <p:nvSpPr>
          <p:cNvPr id="47" name="Text 45"/>
          <p:cNvSpPr txBox="1"/>
          <p:nvPr/>
        </p:nvSpPr>
        <p:spPr>
          <a:xfrm>
            <a:off x="5212080" y="3840480"/>
            <a:ext cx="3337560" cy="411480"/>
          </a:xfrm>
          <a:prstGeom prst="rect">
            <a:avLst/>
          </a:prstGeom>
          <a:noFill/>
          <a:ln/>
        </p:spPr>
        <p:txBody>
          <a:bodyPr wrap="square" lIns="0" tIns="0" rIns="0" bIns="0" rtlCol="0" anchor="t"/>
          <a:lstStyle/>
          <a:p>
            <a:pPr indent="0" marL="0">
              <a:buNone/>
            </a:pPr>
            <a:r>
              <a:rPr lang="en-US" sz="850" dirty="0">
                <a:solidFill>
                  <a:srgbClr val="1B2430"/>
                </a:solidFill>
                <a:latin typeface="Verdana" pitchFamily="34" charset="0"/>
                <a:ea typeface="Verdana" pitchFamily="34" charset="-122"/>
                <a:cs typeface="Verdana" pitchFamily="34" charset="-120"/>
              </a:rPr>
              <a:t>Compares against what it expected; reports in plain words what failed and why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15</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TECH STACK · MIXER</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Mixer tech stack: signal chain, prototype vs production</a:t>
            </a:r>
            <a:endParaRPr lang="en-US" sz="1900" dirty="0"/>
          </a:p>
        </p:txBody>
      </p:sp>
      <p:sp>
        <p:nvSpPr>
          <p:cNvPr id="8" name="Shape 6"/>
          <p:cNvSpPr/>
          <p:nvPr/>
        </p:nvSpPr>
        <p:spPr>
          <a:xfrm>
            <a:off x="457200" y="1170432"/>
            <a:ext cx="1243584" cy="438912"/>
          </a:xfrm>
          <a:prstGeom prst="rect">
            <a:avLst/>
          </a:prstGeom>
          <a:solidFill>
            <a:srgbClr val="FFFFFF"/>
          </a:solidFill>
          <a:ln w="11430">
            <a:solidFill>
              <a:srgbClr val="5E8C5A"/>
            </a:solidFill>
            <a:prstDash val="solid"/>
          </a:ln>
        </p:spPr>
      </p:sp>
      <p:sp>
        <p:nvSpPr>
          <p:cNvPr id="9" name="Shape 7"/>
          <p:cNvSpPr/>
          <p:nvPr/>
        </p:nvSpPr>
        <p:spPr>
          <a:xfrm>
            <a:off x="457200" y="1170432"/>
            <a:ext cx="54864" cy="438912"/>
          </a:xfrm>
          <a:prstGeom prst="rect">
            <a:avLst/>
          </a:prstGeom>
          <a:solidFill>
            <a:srgbClr val="5E8C5A"/>
          </a:solidFill>
          <a:ln w="12700">
            <a:solidFill>
              <a:srgbClr val="5E8C5A"/>
            </a:solidFill>
            <a:prstDash val="solid"/>
          </a:ln>
        </p:spPr>
      </p:sp>
      <p:sp>
        <p:nvSpPr>
          <p:cNvPr id="10" name="Text 8"/>
          <p:cNvSpPr txBox="1"/>
          <p:nvPr/>
        </p:nvSpPr>
        <p:spPr>
          <a:xfrm>
            <a:off x="548640" y="1170432"/>
            <a:ext cx="1115568" cy="438912"/>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Probes / BNC</a:t>
            </a:r>
            <a:endParaRPr lang="en-US" sz="750" dirty="0"/>
          </a:p>
        </p:txBody>
      </p:sp>
      <p:sp>
        <p:nvSpPr>
          <p:cNvPr id="11" name="Shape 9"/>
          <p:cNvSpPr/>
          <p:nvPr/>
        </p:nvSpPr>
        <p:spPr>
          <a:xfrm>
            <a:off x="1700784" y="1389888"/>
            <a:ext cx="146304" cy="0"/>
          </a:xfrm>
          <a:prstGeom prst="line">
            <a:avLst/>
          </a:prstGeom>
          <a:noFill/>
          <a:ln w="9525">
            <a:solidFill>
              <a:srgbClr val="1B2430"/>
            </a:solidFill>
            <a:prstDash val="solid"/>
            <a:tailEnd type="triangle"/>
          </a:ln>
        </p:spPr>
      </p:sp>
      <p:sp>
        <p:nvSpPr>
          <p:cNvPr id="12" name="Shape 10"/>
          <p:cNvSpPr/>
          <p:nvPr/>
        </p:nvSpPr>
        <p:spPr>
          <a:xfrm>
            <a:off x="1847088" y="1170432"/>
            <a:ext cx="1243584" cy="438912"/>
          </a:xfrm>
          <a:prstGeom prst="rect">
            <a:avLst/>
          </a:prstGeom>
          <a:solidFill>
            <a:srgbClr val="FFFFFF"/>
          </a:solidFill>
          <a:ln w="11430">
            <a:solidFill>
              <a:srgbClr val="5E8C5A"/>
            </a:solidFill>
            <a:prstDash val="solid"/>
          </a:ln>
        </p:spPr>
      </p:sp>
      <p:sp>
        <p:nvSpPr>
          <p:cNvPr id="13" name="Shape 11"/>
          <p:cNvSpPr/>
          <p:nvPr/>
        </p:nvSpPr>
        <p:spPr>
          <a:xfrm>
            <a:off x="1847088" y="1170432"/>
            <a:ext cx="54864" cy="438912"/>
          </a:xfrm>
          <a:prstGeom prst="rect">
            <a:avLst/>
          </a:prstGeom>
          <a:solidFill>
            <a:srgbClr val="5E8C5A"/>
          </a:solidFill>
          <a:ln w="12700">
            <a:solidFill>
              <a:srgbClr val="5E8C5A"/>
            </a:solidFill>
            <a:prstDash val="solid"/>
          </a:ln>
        </p:spPr>
      </p:sp>
      <p:sp>
        <p:nvSpPr>
          <p:cNvPr id="14" name="Text 12"/>
          <p:cNvSpPr txBox="1"/>
          <p:nvPr/>
        </p:nvSpPr>
        <p:spPr>
          <a:xfrm>
            <a:off x="1938528" y="1170432"/>
            <a:ext cx="1115568" cy="438912"/>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AD8066 buffers + relay ranges</a:t>
            </a:r>
            <a:endParaRPr lang="en-US" sz="750" dirty="0"/>
          </a:p>
        </p:txBody>
      </p:sp>
      <p:sp>
        <p:nvSpPr>
          <p:cNvPr id="15" name="Shape 13"/>
          <p:cNvSpPr/>
          <p:nvPr/>
        </p:nvSpPr>
        <p:spPr>
          <a:xfrm>
            <a:off x="3090672" y="1389888"/>
            <a:ext cx="146304" cy="0"/>
          </a:xfrm>
          <a:prstGeom prst="line">
            <a:avLst/>
          </a:prstGeom>
          <a:noFill/>
          <a:ln w="9525">
            <a:solidFill>
              <a:srgbClr val="1B2430"/>
            </a:solidFill>
            <a:prstDash val="solid"/>
            <a:tailEnd type="triangle"/>
          </a:ln>
        </p:spPr>
      </p:sp>
      <p:sp>
        <p:nvSpPr>
          <p:cNvPr id="16" name="Shape 14"/>
          <p:cNvSpPr/>
          <p:nvPr/>
        </p:nvSpPr>
        <p:spPr>
          <a:xfrm>
            <a:off x="3236976" y="1170432"/>
            <a:ext cx="1243584" cy="438912"/>
          </a:xfrm>
          <a:prstGeom prst="rect">
            <a:avLst/>
          </a:prstGeom>
          <a:solidFill>
            <a:srgbClr val="FFFFFF"/>
          </a:solidFill>
          <a:ln w="11430">
            <a:solidFill>
              <a:srgbClr val="5E8C5A"/>
            </a:solidFill>
            <a:prstDash val="solid"/>
          </a:ln>
        </p:spPr>
      </p:sp>
      <p:sp>
        <p:nvSpPr>
          <p:cNvPr id="17" name="Shape 15"/>
          <p:cNvSpPr/>
          <p:nvPr/>
        </p:nvSpPr>
        <p:spPr>
          <a:xfrm>
            <a:off x="3236976" y="1170432"/>
            <a:ext cx="54864" cy="438912"/>
          </a:xfrm>
          <a:prstGeom prst="rect">
            <a:avLst/>
          </a:prstGeom>
          <a:solidFill>
            <a:srgbClr val="5E8C5A"/>
          </a:solidFill>
          <a:ln w="12700">
            <a:solidFill>
              <a:srgbClr val="5E8C5A"/>
            </a:solidFill>
            <a:prstDash val="solid"/>
          </a:ln>
        </p:spPr>
      </p:sp>
      <p:sp>
        <p:nvSpPr>
          <p:cNvPr id="18" name="Text 16"/>
          <p:cNvSpPr txBox="1"/>
          <p:nvPr/>
        </p:nvSpPr>
        <p:spPr>
          <a:xfrm>
            <a:off x="3328416" y="1170432"/>
            <a:ext cx="1115568" cy="438912"/>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ADC</a:t>
            </a:r>
            <a:endParaRPr lang="en-US" sz="750" dirty="0"/>
          </a:p>
        </p:txBody>
      </p:sp>
      <p:sp>
        <p:nvSpPr>
          <p:cNvPr id="19" name="Shape 17"/>
          <p:cNvSpPr/>
          <p:nvPr/>
        </p:nvSpPr>
        <p:spPr>
          <a:xfrm>
            <a:off x="4480560" y="1389888"/>
            <a:ext cx="146304" cy="0"/>
          </a:xfrm>
          <a:prstGeom prst="line">
            <a:avLst/>
          </a:prstGeom>
          <a:noFill/>
          <a:ln w="9525">
            <a:solidFill>
              <a:srgbClr val="1B2430"/>
            </a:solidFill>
            <a:prstDash val="solid"/>
            <a:tailEnd type="triangle"/>
          </a:ln>
        </p:spPr>
      </p:sp>
      <p:sp>
        <p:nvSpPr>
          <p:cNvPr id="20" name="Shape 18"/>
          <p:cNvSpPr/>
          <p:nvPr/>
        </p:nvSpPr>
        <p:spPr>
          <a:xfrm>
            <a:off x="4626864" y="1170432"/>
            <a:ext cx="1243584" cy="438912"/>
          </a:xfrm>
          <a:prstGeom prst="rect">
            <a:avLst/>
          </a:prstGeom>
          <a:solidFill>
            <a:srgbClr val="FFFFFF"/>
          </a:solidFill>
          <a:ln w="11430">
            <a:solidFill>
              <a:srgbClr val="5E8C5A"/>
            </a:solidFill>
            <a:prstDash val="solid"/>
          </a:ln>
        </p:spPr>
      </p:sp>
      <p:sp>
        <p:nvSpPr>
          <p:cNvPr id="21" name="Shape 19"/>
          <p:cNvSpPr/>
          <p:nvPr/>
        </p:nvSpPr>
        <p:spPr>
          <a:xfrm>
            <a:off x="4626864" y="1170432"/>
            <a:ext cx="54864" cy="438912"/>
          </a:xfrm>
          <a:prstGeom prst="rect">
            <a:avLst/>
          </a:prstGeom>
          <a:solidFill>
            <a:srgbClr val="5E8C5A"/>
          </a:solidFill>
          <a:ln w="12700">
            <a:solidFill>
              <a:srgbClr val="5E8C5A"/>
            </a:solidFill>
            <a:prstDash val="solid"/>
          </a:ln>
        </p:spPr>
      </p:sp>
      <p:sp>
        <p:nvSpPr>
          <p:cNvPr id="22" name="Text 20"/>
          <p:cNvSpPr txBox="1"/>
          <p:nvPr/>
        </p:nvSpPr>
        <p:spPr>
          <a:xfrm>
            <a:off x="4718304" y="1170432"/>
            <a:ext cx="1115568" cy="438912"/>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FPGA + PSRAM</a:t>
            </a:r>
            <a:endParaRPr lang="en-US" sz="750" dirty="0"/>
          </a:p>
        </p:txBody>
      </p:sp>
      <p:sp>
        <p:nvSpPr>
          <p:cNvPr id="23" name="Shape 21"/>
          <p:cNvSpPr/>
          <p:nvPr/>
        </p:nvSpPr>
        <p:spPr>
          <a:xfrm>
            <a:off x="5870448" y="1389888"/>
            <a:ext cx="146304" cy="0"/>
          </a:xfrm>
          <a:prstGeom prst="line">
            <a:avLst/>
          </a:prstGeom>
          <a:noFill/>
          <a:ln w="9525">
            <a:solidFill>
              <a:srgbClr val="1B2430"/>
            </a:solidFill>
            <a:prstDash val="solid"/>
            <a:tailEnd type="triangle"/>
          </a:ln>
        </p:spPr>
      </p:sp>
      <p:sp>
        <p:nvSpPr>
          <p:cNvPr id="24" name="Shape 22"/>
          <p:cNvSpPr/>
          <p:nvPr/>
        </p:nvSpPr>
        <p:spPr>
          <a:xfrm>
            <a:off x="6016752" y="1170432"/>
            <a:ext cx="1243584" cy="438912"/>
          </a:xfrm>
          <a:prstGeom prst="rect">
            <a:avLst/>
          </a:prstGeom>
          <a:solidFill>
            <a:srgbClr val="FFFFFF"/>
          </a:solidFill>
          <a:ln w="11430">
            <a:solidFill>
              <a:srgbClr val="7A7468"/>
            </a:solidFill>
            <a:prstDash val="solid"/>
          </a:ln>
        </p:spPr>
      </p:sp>
      <p:sp>
        <p:nvSpPr>
          <p:cNvPr id="25" name="Shape 23"/>
          <p:cNvSpPr/>
          <p:nvPr/>
        </p:nvSpPr>
        <p:spPr>
          <a:xfrm>
            <a:off x="6016752" y="1170432"/>
            <a:ext cx="54864" cy="438912"/>
          </a:xfrm>
          <a:prstGeom prst="rect">
            <a:avLst/>
          </a:prstGeom>
          <a:solidFill>
            <a:srgbClr val="7A7468"/>
          </a:solidFill>
          <a:ln w="12700">
            <a:solidFill>
              <a:srgbClr val="7A7468"/>
            </a:solidFill>
            <a:prstDash val="solid"/>
          </a:ln>
        </p:spPr>
      </p:sp>
      <p:sp>
        <p:nvSpPr>
          <p:cNvPr id="26" name="Text 24"/>
          <p:cNvSpPr txBox="1"/>
          <p:nvPr/>
        </p:nvSpPr>
        <p:spPr>
          <a:xfrm>
            <a:off x="6108192" y="1170432"/>
            <a:ext cx="1115568" cy="438912"/>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USB 2.0 HS</a:t>
            </a:r>
            <a:endParaRPr lang="en-US" sz="750" dirty="0"/>
          </a:p>
        </p:txBody>
      </p:sp>
      <p:sp>
        <p:nvSpPr>
          <p:cNvPr id="27" name="Shape 25"/>
          <p:cNvSpPr/>
          <p:nvPr/>
        </p:nvSpPr>
        <p:spPr>
          <a:xfrm>
            <a:off x="7260336" y="1389888"/>
            <a:ext cx="146304" cy="0"/>
          </a:xfrm>
          <a:prstGeom prst="line">
            <a:avLst/>
          </a:prstGeom>
          <a:noFill/>
          <a:ln w="9525">
            <a:solidFill>
              <a:srgbClr val="1B2430"/>
            </a:solidFill>
            <a:prstDash val="solid"/>
            <a:tailEnd type="triangle"/>
          </a:ln>
        </p:spPr>
      </p:sp>
      <p:sp>
        <p:nvSpPr>
          <p:cNvPr id="28" name="Shape 26"/>
          <p:cNvSpPr/>
          <p:nvPr/>
        </p:nvSpPr>
        <p:spPr>
          <a:xfrm>
            <a:off x="7406640" y="1170432"/>
            <a:ext cx="1243584" cy="438912"/>
          </a:xfrm>
          <a:prstGeom prst="rect">
            <a:avLst/>
          </a:prstGeom>
          <a:solidFill>
            <a:srgbClr val="FFFFFF"/>
          </a:solidFill>
          <a:ln w="11430">
            <a:solidFill>
              <a:srgbClr val="1B2430"/>
            </a:solidFill>
            <a:prstDash val="solid"/>
          </a:ln>
        </p:spPr>
      </p:sp>
      <p:sp>
        <p:nvSpPr>
          <p:cNvPr id="29" name="Shape 27"/>
          <p:cNvSpPr/>
          <p:nvPr/>
        </p:nvSpPr>
        <p:spPr>
          <a:xfrm>
            <a:off x="7406640" y="1170432"/>
            <a:ext cx="54864" cy="438912"/>
          </a:xfrm>
          <a:prstGeom prst="rect">
            <a:avLst/>
          </a:prstGeom>
          <a:solidFill>
            <a:srgbClr val="1B2430"/>
          </a:solidFill>
          <a:ln w="12700">
            <a:solidFill>
              <a:srgbClr val="1B2430"/>
            </a:solidFill>
            <a:prstDash val="solid"/>
          </a:ln>
        </p:spPr>
      </p:sp>
      <p:sp>
        <p:nvSpPr>
          <p:cNvPr id="30" name="Text 28"/>
          <p:cNvSpPr txBox="1"/>
          <p:nvPr/>
        </p:nvSpPr>
        <p:spPr>
          <a:xfrm>
            <a:off x="7498080" y="1170432"/>
            <a:ext cx="1115568" cy="438912"/>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Proto</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8229600" cy="914400"/>
        </p:xfrm>
        <a:graphic>
          <a:graphicData uri="http://schemas.openxmlformats.org/drawingml/2006/table">
            <a:tbl>
              <a:tblPr/>
              <a:tblGrid>
                <a:gridCol w="1371600"/>
                <a:gridCol w="3429000"/>
                <a:gridCol w="3429000"/>
              </a:tblGrid>
              <a:tr h="265176">
                <a:tc>
                  <a:txBody>
                    <a:bodyPr/>
                    <a:lstStyle/>
                    <a:p>
                      <a:pPr indent="0" marL="0">
                        <a:buNone/>
                      </a:pPr>
                      <a:r>
                        <a:rPr lang="en-US" sz="750" b="1" dirty="0">
                          <a:solidFill>
                            <a:srgbClr val="6B6459"/>
                          </a:solidFill>
                          <a:latin typeface="Verdana" pitchFamily="34" charset="0"/>
                          <a:ea typeface="Verdana" pitchFamily="34" charset="-122"/>
                          <a:cs typeface="Verdana" pitchFamily="34" charset="-120"/>
                        </a:rPr>
                        <a:t>Block</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50" b="1" dirty="0">
                          <a:solidFill>
                            <a:srgbClr val="6B6459"/>
                          </a:solidFill>
                          <a:latin typeface="Verdana" pitchFamily="34" charset="0"/>
                          <a:ea typeface="Verdana" pitchFamily="34" charset="-122"/>
                          <a:cs typeface="Verdana" pitchFamily="34" charset="-120"/>
                        </a:rPr>
                        <a:t>Prototype (tune the analog first)</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50" b="1" dirty="0">
                          <a:solidFill>
                            <a:srgbClr val="6B6459"/>
                          </a:solidFill>
                          <a:latin typeface="Verdana" pitchFamily="34" charset="0"/>
                          <a:ea typeface="Verdana" pitchFamily="34" charset="-122"/>
                          <a:cs typeface="Verdana" pitchFamily="34" charset="-120"/>
                        </a:rPr>
                        <a:t>Production (≈₹13,740 landed)</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FPGA</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Sipeed Tang Primer 20K dock</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Tang Nano 9K: GW1NR-9 + 64 Mb PSRAM</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Scope ADC</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2 × AD9226, 12-bit 65 MS/s</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AD9288 dual 8-bit 80 MS/s</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Generator DAC</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AN9767 dual 14-bit 125 MS/s</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2 × DAC908 8-bit 165 MS/s</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Front end</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4 × AD8066 FET op-amps, REF5025, 8 range relays</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Same op-amps and reference</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Multimeter</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ADS1256 24-bit</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ADS1256 24-bit</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Supplies</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MCP4728 DAC setpoints, 2 × XL6009, 2 × INA226 monitors</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Supply DACs, INA226, protection</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Logic</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16 ch via 2 × 74LVC245</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16 ch logic header</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Host link</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Raspberry Pi 5 + 7 in display</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FT232HL USB 2.0 HS; no screen of its own</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50" b="1" dirty="0">
                          <a:solidFill>
                            <a:srgbClr val="1B2430"/>
                          </a:solidFill>
                          <a:latin typeface="Verdana" pitchFamily="34" charset="0"/>
                          <a:ea typeface="Verdana" pitchFamily="34" charset="-122"/>
                          <a:cs typeface="Verdana" pitchFamily="34" charset="-120"/>
                        </a:rPr>
                        <a:t>Board / case</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4-layer carrier PCB; vacuum-formed shell</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50" dirty="0">
                          <a:solidFill>
                            <a:srgbClr val="1B2430"/>
                          </a:solidFill>
                          <a:latin typeface="Verdana" pitchFamily="34" charset="0"/>
                          <a:ea typeface="Verdana" pitchFamily="34" charset="-122"/>
                          <a:cs typeface="Verdana" pitchFamily="34" charset="-120"/>
                        </a:rPr>
                        <a:t>4-layer PCB assembled at JLCPCB; extruded aluminium</a:t>
                      </a:r>
                      <a:endParaRPr lang="en-US" sz="7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32" name="Text 29"/>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The production trade: 8-bit converters and no screen get it under ₹15,000. Digilent AD3 has 14-bit converters; we compete on price and on being driven by the agent, not on resolution.</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16</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PRATEEK: 1,000? 10,000? 1 LAKH?</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Prototyping, not production: where a fab wins</a:t>
            </a:r>
            <a:endParaRPr lang="en-US" sz="1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1188720"/>
                <a:gridCol w="2560320"/>
                <a:gridCol w="3200400"/>
              </a:tblGrid>
              <a:tr h="402336">
                <a:tc>
                  <a:txBody>
                    <a:bodyPr/>
                    <a:lstStyle/>
                    <a:p>
                      <a:pPr indent="0" marL="0">
                        <a:buNone/>
                      </a:pPr>
                      <a:r>
                        <a:rPr lang="en-US" sz="900" b="1" dirty="0">
                          <a:solidFill>
                            <a:srgbClr val="6B6459"/>
                          </a:solidFill>
                          <a:latin typeface="Verdana" pitchFamily="34" charset="0"/>
                          <a:ea typeface="Verdana" pitchFamily="34" charset="-122"/>
                          <a:cs typeface="Verdana" pitchFamily="34" charset="-120"/>
                        </a:rPr>
                        <a:t>Boards per year</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900" b="1" dirty="0">
                          <a:solidFill>
                            <a:srgbClr val="6B6459"/>
                          </a:solidFill>
                          <a:latin typeface="Verdana" pitchFamily="34" charset="0"/>
                          <a:ea typeface="Verdana" pitchFamily="34" charset="-122"/>
                          <a:cs typeface="Verdana" pitchFamily="34" charset="-120"/>
                        </a:rPr>
                        <a:t>Bakers needed*</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900" b="1" dirty="0">
                          <a:solidFill>
                            <a:srgbClr val="6B6459"/>
                          </a:solidFill>
                          <a:latin typeface="Verdana" pitchFamily="34" charset="0"/>
                          <a:ea typeface="Verdana" pitchFamily="34" charset="-122"/>
                          <a:cs typeface="Verdana" pitchFamily="34" charset="-120"/>
                        </a:rPr>
                        <a:t>Right tool</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900" b="1" dirty="0">
                          <a:solidFill>
                            <a:srgbClr val="6B6459"/>
                          </a:solidFill>
                          <a:latin typeface="Verdana" pitchFamily="34" charset="0"/>
                          <a:ea typeface="Verdana" pitchFamily="34" charset="-122"/>
                          <a:cs typeface="Verdana" pitchFamily="34" charset="-120"/>
                        </a:rPr>
                        <a:t>Why</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402336">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b="1" dirty="0">
                          <a:solidFill>
                            <a:srgbClr val="C8834A"/>
                          </a:solidFill>
                          <a:latin typeface="Verdana" pitchFamily="34" charset="0"/>
                          <a:ea typeface="Verdana" pitchFamily="34" charset="-122"/>
                          <a:cs typeface="Verdana" pitchFamily="34" charset="-120"/>
                        </a:rPr>
                        <a:t>Baker</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Same-day iteration; fab minimums and shipping dominate</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100</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b="1" dirty="0">
                          <a:solidFill>
                            <a:srgbClr val="C8834A"/>
                          </a:solidFill>
                          <a:latin typeface="Verdana" pitchFamily="34" charset="0"/>
                          <a:ea typeface="Verdana" pitchFamily="34" charset="-122"/>
                          <a:cs typeface="Verdana" pitchFamily="34" charset="-120"/>
                        </a:rPr>
                        <a:t>Baker</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One machine covers a busy lab or startup</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1,000</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b="1" dirty="0">
                          <a:solidFill>
                            <a:srgbClr val="1B2430"/>
                          </a:solidFill>
                          <a:latin typeface="Verdana" pitchFamily="34" charset="0"/>
                          <a:ea typeface="Verdana" pitchFamily="34" charset="-122"/>
                          <a:cs typeface="Verdana" pitchFamily="34" charset="-120"/>
                        </a:rPr>
                        <a:t>Baker for iterations, fab for batches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Any run of &gt;10 identical boards goes to a fab</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10,000</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b="1" dirty="0">
                          <a:solidFill>
                            <a:srgbClr val="3F7CB3"/>
                          </a:solidFill>
                          <a:latin typeface="Verdana" pitchFamily="34" charset="0"/>
                          <a:ea typeface="Verdana" pitchFamily="34" charset="-122"/>
                          <a:cs typeface="Verdana" pitchFamily="34" charset="-120"/>
                        </a:rPr>
                        <a:t>Fab / EMS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That's production. Proto exports the checked Gerber/BOM/CPL</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02336">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1,00,000</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134</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b="1" dirty="0">
                          <a:solidFill>
                            <a:srgbClr val="3F7CB3"/>
                          </a:solidFill>
                          <a:latin typeface="Verdana" pitchFamily="34" charset="0"/>
                          <a:ea typeface="Verdana" pitchFamily="34" charset="-122"/>
                          <a:cs typeface="Verdana" pitchFamily="34" charset="-120"/>
                        </a:rPr>
                        <a:t>Fab / EMS</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900" dirty="0">
                          <a:solidFill>
                            <a:srgbClr val="1B2430"/>
                          </a:solidFill>
                          <a:latin typeface="Verdana" pitchFamily="34" charset="0"/>
                          <a:ea typeface="Verdana" pitchFamily="34" charset="-122"/>
                          <a:cs typeface="Verdana" pitchFamily="34" charset="-120"/>
                        </a:rPr>
                        <a:t>Not what Baker is for, and we don't claim it</a:t>
                      </a:r>
                      <a:endParaRPr lang="en-US" sz="9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9" name="Shape 6"/>
          <p:cNvSpPr/>
          <p:nvPr/>
        </p:nvSpPr>
        <p:spPr>
          <a:xfrm>
            <a:off x="457200" y="3749040"/>
            <a:ext cx="8229600" cy="658368"/>
          </a:xfrm>
          <a:prstGeom prst="rect">
            <a:avLst/>
          </a:prstGeom>
          <a:solidFill>
            <a:srgbClr val="F6F1E8"/>
          </a:solidFill>
          <a:ln w="9525">
            <a:solidFill>
              <a:srgbClr val="F6F1E8"/>
            </a:solidFill>
            <a:prstDash val="solid"/>
          </a:ln>
        </p:spPr>
      </p:sp>
      <p:sp>
        <p:nvSpPr>
          <p:cNvPr id="10" name="Text 7"/>
          <p:cNvSpPr txBox="1"/>
          <p:nvPr/>
        </p:nvSpPr>
        <p:spPr>
          <a:xfrm>
            <a:off x="640080" y="3794760"/>
            <a:ext cx="7863840" cy="566928"/>
          </a:xfrm>
          <a:prstGeom prst="rect">
            <a:avLst/>
          </a:prstGeom>
          <a:noFill/>
          <a:ln/>
        </p:spPr>
        <p:txBody>
          <a:bodyPr wrap="square" lIns="0" tIns="0" rIns="0" bIns="0" rtlCol="0" anchor="ctr"/>
          <a:lstStyle/>
          <a:p>
            <a:pPr indent="0" marL="0">
              <a:buNone/>
            </a:pPr>
            <a:r>
              <a:rPr lang="en-US" sz="950" dirty="0">
                <a:solidFill>
                  <a:srgbClr val="1B2430"/>
                </a:solidFill>
                <a:latin typeface="Verdana" pitchFamily="34" charset="0"/>
                <a:ea typeface="Verdana" pitchFamily="34" charset="-122"/>
                <a:cs typeface="Verdana" pitchFamily="34" charset="-120"/>
              </a:rPr>
              <a:t>Baker covers design iterations 1 to 10. For a frozen design, JLCPCB's $2-for-5 boards win on cost, and Proto sends them files that have already worked on a real board.</a:t>
            </a:r>
            <a:endParaRPr lang="en-US" sz="950" dirty="0"/>
          </a:p>
        </p:txBody>
      </p:sp>
      <p:sp>
        <p:nvSpPr>
          <p:cNvPr id="11" name="Text 8"/>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 One shift, slow-cycle target (750 boards per year per machine). ProtoPulse economics model, Throughput &amp; Scale sheet.</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17</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MARKET MAP</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Competition and their prices</a:t>
            </a:r>
            <a:endParaRPr lang="en-US" sz="1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00200"/>
                <a:gridCol w="1234440"/>
                <a:gridCol w="2011680"/>
                <a:gridCol w="1325880"/>
                <a:gridCol w="2057400"/>
              </a:tblGrid>
              <a:tr h="265176">
                <a:tc>
                  <a:txBody>
                    <a:bodyPr/>
                    <a:lstStyle/>
                    <a:p>
                      <a:pPr indent="0" marL="0">
                        <a:buNone/>
                      </a:pPr>
                      <a:r>
                        <a:rPr lang="en-US" sz="700" b="1" dirty="0">
                          <a:solidFill>
                            <a:srgbClr val="6B6459"/>
                          </a:solidFill>
                          <a:latin typeface="Verdana" pitchFamily="34" charset="0"/>
                          <a:ea typeface="Verdana" pitchFamily="34" charset="-122"/>
                          <a:cs typeface="Verdana" pitchFamily="34" charset="-120"/>
                        </a:rPr>
                        <a:t>Product</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00" b="1" dirty="0">
                          <a:solidFill>
                            <a:srgbClr val="6B6459"/>
                          </a:solidFill>
                          <a:latin typeface="Verdana" pitchFamily="34" charset="0"/>
                          <a:ea typeface="Verdana" pitchFamily="34" charset="-122"/>
                          <a:cs typeface="Verdana" pitchFamily="34" charset="-120"/>
                        </a:rPr>
                        <a:t>What it is</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00" b="1" dirty="0">
                          <a:solidFill>
                            <a:srgbClr val="6B6459"/>
                          </a:solidFill>
                          <a:latin typeface="Verdana" pitchFamily="34" charset="0"/>
                          <a:ea typeface="Verdana" pitchFamily="34" charset="-122"/>
                          <a:cs typeface="Verdana" pitchFamily="34" charset="-120"/>
                        </a:rPr>
                        <a:t>List price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00" b="1" dirty="0">
                          <a:solidFill>
                            <a:srgbClr val="6B6459"/>
                          </a:solidFill>
                          <a:latin typeface="Verdana" pitchFamily="34" charset="0"/>
                          <a:ea typeface="Verdana" pitchFamily="34" charset="-122"/>
                          <a:cs typeface="Verdana" pitchFamily="34" charset="-120"/>
                        </a:rPr>
                        <a:t>≈₹ at ₹88/$</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700" b="1" dirty="0">
                          <a:solidFill>
                            <a:srgbClr val="6B6459"/>
                          </a:solidFill>
                          <a:latin typeface="Verdana" pitchFamily="34" charset="0"/>
                          <a:ea typeface="Verdana" pitchFamily="34" charset="-122"/>
                          <a:cs typeface="Verdana" pitchFamily="34" charset="-120"/>
                        </a:rPr>
                        <a:t>Gap vs ProtoPulse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LPKF ProtoMat S104 line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Pro in-house PCB</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Quote-only; full line ≈$96k new (2019)</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≈₹84 lakh</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Several machines, trained operator, no AI or test</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Voltera NOVA</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Printed electronics</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$45,974</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≈₹40 lakh</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Ink on flexible substrates; research tool</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Makera Carvera / Air</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Desktop CNC</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$5,799 / $2,699</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₹5.1 / 2.4 lakh</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Mills only: no mask, stencil, assembly, test</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BotFactory Squink</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Ink PCB + pick-and-place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$3,199–4,499</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₹2.8–4.0 lakh</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Conductive ink, not copper FR4</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Neoden YY1</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Pick-and-place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&lt;$3,000</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&lt;₹2.6 lakh</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Places parts only</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JLCPCB → India</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Fab service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$2 / 5 boards + $8 PCBA setup</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≈₹6,700 per iteration</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7–20 days + customs; no testing</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Indian 24 h fab</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Fab service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₹3,000–8,000 / 5 boards</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same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Bare boards; assembly and test separate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Analog Discovery 3</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USB instrument</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$375–379</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≈₹33,000</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Person reads the screen</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ADALM2000 / Moku:Go</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USB instrument</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$237–262 / $599–799</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₹21k / ₹53–70k</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Same</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Flux</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AI PCB design</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$15–49 per editor/month</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₹1.3–4.3k/mo</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700" dirty="0">
                          <a:solidFill>
                            <a:srgbClr val="1B2430"/>
                          </a:solidFill>
                          <a:latin typeface="Verdana" pitchFamily="34" charset="0"/>
                          <a:ea typeface="Verdana" pitchFamily="34" charset="-122"/>
                          <a:cs typeface="Verdana" pitchFamily="34" charset="-120"/>
                        </a:rPr>
                        <a:t>Output stops at files</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265176">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ProtoPulse Baker + Mixer</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AI prototyping cell</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₹3,49,000 + ₹24,999 (proposed, ex-GST)</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₹3.74 lakh</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700" b="1" dirty="0">
                          <a:solidFill>
                            <a:srgbClr val="1B2430"/>
                          </a:solidFill>
                          <a:latin typeface="Verdana" pitchFamily="34" charset="0"/>
                          <a:ea typeface="Verdana" pitchFamily="34" charset="-122"/>
                          <a:cs typeface="Verdana" pitchFamily="34" charset="-120"/>
                        </a:rPr>
                        <a:t>Board to tested board, driven by Proto</a:t>
                      </a:r>
                      <a:endParaRPr lang="en-US" sz="70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r>
            </a:tbl>
          </a:graphicData>
        </a:graphic>
      </p:graphicFrame>
      <p:sp>
        <p:nvSpPr>
          <p:cNvPr id="9" name="Text 6"/>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Sources on slide 30. USD at ₹88 to match the cost report. Prices exclude Indian import duty and GST, so real landed prices are higher.</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18</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PRATEEK: 'A ROUGH HISTORY'</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Why desktop PCB machines struggled, and our answer</a:t>
            </a:r>
            <a:endParaRPr lang="en-US" sz="1900" dirty="0"/>
          </a:p>
        </p:txBody>
      </p:sp>
      <p:sp>
        <p:nvSpPr>
          <p:cNvPr id="8" name="Shape 6"/>
          <p:cNvSpPr/>
          <p:nvPr/>
        </p:nvSpPr>
        <p:spPr>
          <a:xfrm>
            <a:off x="457200" y="1188720"/>
            <a:ext cx="4160520" cy="694944"/>
          </a:xfrm>
          <a:prstGeom prst="rect">
            <a:avLst/>
          </a:prstGeom>
          <a:solidFill>
            <a:srgbClr val="FFFFFF"/>
          </a:solidFill>
          <a:ln w="11430">
            <a:solidFill>
              <a:srgbClr val="7A7468"/>
            </a:solidFill>
            <a:prstDash val="solid"/>
          </a:ln>
        </p:spPr>
      </p:sp>
      <p:sp>
        <p:nvSpPr>
          <p:cNvPr id="9" name="Shape 7"/>
          <p:cNvSpPr/>
          <p:nvPr/>
        </p:nvSpPr>
        <p:spPr>
          <a:xfrm>
            <a:off x="457200" y="1188720"/>
            <a:ext cx="54864" cy="694944"/>
          </a:xfrm>
          <a:prstGeom prst="rect">
            <a:avLst/>
          </a:prstGeom>
          <a:solidFill>
            <a:srgbClr val="7A7468"/>
          </a:solidFill>
          <a:ln w="12700">
            <a:solidFill>
              <a:srgbClr val="7A7468"/>
            </a:solidFill>
            <a:prstDash val="solid"/>
          </a:ln>
        </p:spPr>
      </p:sp>
      <p:sp>
        <p:nvSpPr>
          <p:cNvPr id="10" name="Text 8"/>
          <p:cNvSpPr txBox="1"/>
          <p:nvPr/>
        </p:nvSpPr>
        <p:spPr>
          <a:xfrm>
            <a:off x="621792" y="1252728"/>
            <a:ext cx="3886200" cy="219456"/>
          </a:xfrm>
          <a:prstGeom prst="rect">
            <a:avLst/>
          </a:prstGeom>
          <a:noFill/>
          <a:ln/>
        </p:spPr>
        <p:txBody>
          <a:bodyPr wrap="square" lIns="0" tIns="0" rIns="0" bIns="0" rtlCol="0" anchor="t"/>
          <a:lstStyle/>
          <a:p>
            <a:pPr indent="0" marL="0">
              <a:buNone/>
            </a:pPr>
            <a:r>
              <a:rPr lang="en-US" sz="950" b="1" dirty="0">
                <a:solidFill>
                  <a:srgbClr val="1B2430"/>
                </a:solidFill>
                <a:latin typeface="Verdana" pitchFamily="34" charset="0"/>
                <a:ea typeface="Verdana" pitchFamily="34" charset="-122"/>
                <a:cs typeface="Verdana" pitchFamily="34" charset="-120"/>
              </a:rPr>
              <a:t>Othermill → Bantam Tools</a:t>
            </a:r>
            <a:endParaRPr lang="en-US" sz="950" dirty="0"/>
          </a:p>
        </p:txBody>
      </p:sp>
      <p:sp>
        <p:nvSpPr>
          <p:cNvPr id="11" name="Text 9"/>
          <p:cNvSpPr txBox="1"/>
          <p:nvPr/>
        </p:nvSpPr>
        <p:spPr>
          <a:xfrm>
            <a:off x="621792" y="1490472"/>
            <a:ext cx="3931920" cy="384048"/>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Kickstarter 2013 ($300k+). Bought by Bre Pettis in 2017. PCB and CNC machines since dropped; the company now sells art machines</a:t>
            </a:r>
            <a:endParaRPr lang="en-US" sz="750" dirty="0"/>
          </a:p>
        </p:txBody>
      </p:sp>
      <p:sp>
        <p:nvSpPr>
          <p:cNvPr id="12" name="Shape 10"/>
          <p:cNvSpPr/>
          <p:nvPr/>
        </p:nvSpPr>
        <p:spPr>
          <a:xfrm>
            <a:off x="457200" y="1993392"/>
            <a:ext cx="4160520" cy="694944"/>
          </a:xfrm>
          <a:prstGeom prst="rect">
            <a:avLst/>
          </a:prstGeom>
          <a:solidFill>
            <a:srgbClr val="FFFFFF"/>
          </a:solidFill>
          <a:ln w="11430">
            <a:solidFill>
              <a:srgbClr val="7A7468"/>
            </a:solidFill>
            <a:prstDash val="solid"/>
          </a:ln>
        </p:spPr>
      </p:sp>
      <p:sp>
        <p:nvSpPr>
          <p:cNvPr id="13" name="Shape 11"/>
          <p:cNvSpPr/>
          <p:nvPr/>
        </p:nvSpPr>
        <p:spPr>
          <a:xfrm>
            <a:off x="457200" y="1993392"/>
            <a:ext cx="54864" cy="694944"/>
          </a:xfrm>
          <a:prstGeom prst="rect">
            <a:avLst/>
          </a:prstGeom>
          <a:solidFill>
            <a:srgbClr val="7A7468"/>
          </a:solidFill>
          <a:ln w="12700">
            <a:solidFill>
              <a:srgbClr val="7A7468"/>
            </a:solidFill>
            <a:prstDash val="solid"/>
          </a:ln>
        </p:spPr>
      </p:sp>
      <p:sp>
        <p:nvSpPr>
          <p:cNvPr id="14" name="Text 12"/>
          <p:cNvSpPr txBox="1"/>
          <p:nvPr/>
        </p:nvSpPr>
        <p:spPr>
          <a:xfrm>
            <a:off x="621792" y="2057400"/>
            <a:ext cx="3886200" cy="219456"/>
          </a:xfrm>
          <a:prstGeom prst="rect">
            <a:avLst/>
          </a:prstGeom>
          <a:noFill/>
          <a:ln/>
        </p:spPr>
        <p:txBody>
          <a:bodyPr wrap="square" lIns="0" tIns="0" rIns="0" bIns="0" rtlCol="0" anchor="t"/>
          <a:lstStyle/>
          <a:p>
            <a:pPr indent="0" marL="0">
              <a:buNone/>
            </a:pPr>
            <a:r>
              <a:rPr lang="en-US" sz="950" b="1" dirty="0">
                <a:solidFill>
                  <a:srgbClr val="1B2430"/>
                </a:solidFill>
                <a:latin typeface="Verdana" pitchFamily="34" charset="0"/>
                <a:ea typeface="Verdana" pitchFamily="34" charset="-122"/>
                <a:cs typeface="Verdana" pitchFamily="34" charset="-120"/>
              </a:rPr>
              <a:t>Voltera V-One</a:t>
            </a:r>
            <a:endParaRPr lang="en-US" sz="950" dirty="0"/>
          </a:p>
        </p:txBody>
      </p:sp>
      <p:sp>
        <p:nvSpPr>
          <p:cNvPr id="15" name="Text 13"/>
          <p:cNvSpPr txBox="1"/>
          <p:nvPr/>
        </p:nvSpPr>
        <p:spPr>
          <a:xfrm>
            <a:off x="621792" y="2295144"/>
            <a:ext cx="3931920" cy="384048"/>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Ink PCB printer; out of stock at resellers. Voltera moved up to NOVA ($45,974) for flexible electronics</a:t>
            </a:r>
            <a:endParaRPr lang="en-US" sz="750" dirty="0"/>
          </a:p>
        </p:txBody>
      </p:sp>
      <p:sp>
        <p:nvSpPr>
          <p:cNvPr id="16" name="Shape 14"/>
          <p:cNvSpPr/>
          <p:nvPr/>
        </p:nvSpPr>
        <p:spPr>
          <a:xfrm>
            <a:off x="457200" y="2798064"/>
            <a:ext cx="4160520" cy="694944"/>
          </a:xfrm>
          <a:prstGeom prst="rect">
            <a:avLst/>
          </a:prstGeom>
          <a:solidFill>
            <a:srgbClr val="FFFFFF"/>
          </a:solidFill>
          <a:ln w="11430">
            <a:solidFill>
              <a:srgbClr val="7A7468"/>
            </a:solidFill>
            <a:prstDash val="solid"/>
          </a:ln>
        </p:spPr>
      </p:sp>
      <p:sp>
        <p:nvSpPr>
          <p:cNvPr id="17" name="Shape 15"/>
          <p:cNvSpPr/>
          <p:nvPr/>
        </p:nvSpPr>
        <p:spPr>
          <a:xfrm>
            <a:off x="457200" y="2798064"/>
            <a:ext cx="54864" cy="694944"/>
          </a:xfrm>
          <a:prstGeom prst="rect">
            <a:avLst/>
          </a:prstGeom>
          <a:solidFill>
            <a:srgbClr val="7A7468"/>
          </a:solidFill>
          <a:ln w="12700">
            <a:solidFill>
              <a:srgbClr val="7A7468"/>
            </a:solidFill>
            <a:prstDash val="solid"/>
          </a:ln>
        </p:spPr>
      </p:sp>
      <p:sp>
        <p:nvSpPr>
          <p:cNvPr id="18" name="Text 16"/>
          <p:cNvSpPr txBox="1"/>
          <p:nvPr/>
        </p:nvSpPr>
        <p:spPr>
          <a:xfrm>
            <a:off x="621792" y="2862072"/>
            <a:ext cx="3886200" cy="219456"/>
          </a:xfrm>
          <a:prstGeom prst="rect">
            <a:avLst/>
          </a:prstGeom>
          <a:noFill/>
          <a:ln/>
        </p:spPr>
        <p:txBody>
          <a:bodyPr wrap="square" lIns="0" tIns="0" rIns="0" bIns="0" rtlCol="0" anchor="t"/>
          <a:lstStyle/>
          <a:p>
            <a:pPr indent="0" marL="0">
              <a:buNone/>
            </a:pPr>
            <a:r>
              <a:rPr lang="en-US" sz="950" b="1" dirty="0">
                <a:solidFill>
                  <a:srgbClr val="1B2430"/>
                </a:solidFill>
                <a:latin typeface="Verdana" pitchFamily="34" charset="0"/>
                <a:ea typeface="Verdana" pitchFamily="34" charset="-122"/>
                <a:cs typeface="Verdana" pitchFamily="34" charset="-120"/>
              </a:rPr>
              <a:t>BotFactory</a:t>
            </a:r>
            <a:endParaRPr lang="en-US" sz="950" dirty="0"/>
          </a:p>
        </p:txBody>
      </p:sp>
      <p:sp>
        <p:nvSpPr>
          <p:cNvPr id="19" name="Text 17"/>
          <p:cNvSpPr txBox="1"/>
          <p:nvPr/>
        </p:nvSpPr>
        <p:spPr>
          <a:xfrm>
            <a:off x="621792" y="3099816"/>
            <a:ext cx="3931920" cy="384048"/>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Squink at $3,199–4,499; SV2 is now price-on-request, a niche research tool</a:t>
            </a:r>
            <a:endParaRPr lang="en-US" sz="750" dirty="0"/>
          </a:p>
        </p:txBody>
      </p:sp>
      <p:sp>
        <p:nvSpPr>
          <p:cNvPr id="20" name="Shape 18"/>
          <p:cNvSpPr/>
          <p:nvPr/>
        </p:nvSpPr>
        <p:spPr>
          <a:xfrm>
            <a:off x="457200" y="3602736"/>
            <a:ext cx="4160520" cy="694944"/>
          </a:xfrm>
          <a:prstGeom prst="rect">
            <a:avLst/>
          </a:prstGeom>
          <a:solidFill>
            <a:srgbClr val="FFFFFF"/>
          </a:solidFill>
          <a:ln w="11430">
            <a:solidFill>
              <a:srgbClr val="7A7468"/>
            </a:solidFill>
            <a:prstDash val="solid"/>
          </a:ln>
        </p:spPr>
      </p:sp>
      <p:sp>
        <p:nvSpPr>
          <p:cNvPr id="21" name="Shape 19"/>
          <p:cNvSpPr/>
          <p:nvPr/>
        </p:nvSpPr>
        <p:spPr>
          <a:xfrm>
            <a:off x="457200" y="3602736"/>
            <a:ext cx="54864" cy="694944"/>
          </a:xfrm>
          <a:prstGeom prst="rect">
            <a:avLst/>
          </a:prstGeom>
          <a:solidFill>
            <a:srgbClr val="7A7468"/>
          </a:solidFill>
          <a:ln w="12700">
            <a:solidFill>
              <a:srgbClr val="7A7468"/>
            </a:solidFill>
            <a:prstDash val="solid"/>
          </a:ln>
        </p:spPr>
      </p:sp>
      <p:sp>
        <p:nvSpPr>
          <p:cNvPr id="22" name="Text 20"/>
          <p:cNvSpPr txBox="1"/>
          <p:nvPr/>
        </p:nvSpPr>
        <p:spPr>
          <a:xfrm>
            <a:off x="621792" y="3666744"/>
            <a:ext cx="3886200" cy="219456"/>
          </a:xfrm>
          <a:prstGeom prst="rect">
            <a:avLst/>
          </a:prstGeom>
          <a:noFill/>
          <a:ln/>
        </p:spPr>
        <p:txBody>
          <a:bodyPr wrap="square" lIns="0" tIns="0" rIns="0" bIns="0" rtlCol="0" anchor="t"/>
          <a:lstStyle/>
          <a:p>
            <a:pPr indent="0" marL="0">
              <a:buNone/>
            </a:pPr>
            <a:r>
              <a:rPr lang="en-US" sz="950" b="1" dirty="0">
                <a:solidFill>
                  <a:srgbClr val="1B2430"/>
                </a:solidFill>
                <a:latin typeface="Verdana" pitchFamily="34" charset="0"/>
                <a:ea typeface="Verdana" pitchFamily="34" charset="-122"/>
                <a:cs typeface="Verdana" pitchFamily="34" charset="-120"/>
              </a:rPr>
              <a:t>Nano Dimension DragonFly</a:t>
            </a:r>
            <a:endParaRPr lang="en-US" sz="950" dirty="0"/>
          </a:p>
        </p:txBody>
      </p:sp>
      <p:sp>
        <p:nvSpPr>
          <p:cNvPr id="23" name="Text 21"/>
          <p:cNvSpPr txBox="1"/>
          <p:nvPr/>
        </p:nvSpPr>
        <p:spPr>
          <a:xfrm>
            <a:off x="621792" y="3904488"/>
            <a:ext cx="3931920" cy="384048"/>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Additive-electronics unit sold to Inspira in Apr 2026: $2M cash, up to $12.5M total</a:t>
            </a:r>
            <a:endParaRPr lang="en-US" sz="750" dirty="0"/>
          </a:p>
        </p:txBody>
      </p:sp>
      <p:sp>
        <p:nvSpPr>
          <p:cNvPr id="24" name="Text 22"/>
          <p:cNvSpPr txBox="1"/>
          <p:nvPr/>
        </p:nvSpPr>
        <p:spPr>
          <a:xfrm>
            <a:off x="4892040" y="1170432"/>
            <a:ext cx="3657600" cy="237744"/>
          </a:xfrm>
          <a:prstGeom prst="rect">
            <a:avLst/>
          </a:prstGeom>
          <a:noFill/>
          <a:ln/>
        </p:spPr>
        <p:txBody>
          <a:bodyPr wrap="square" lIns="0" tIns="0" rIns="0" bIns="0" rtlCol="0" anchor="t"/>
          <a:lstStyle/>
          <a:p>
            <a:pPr indent="0" marL="0">
              <a:buNone/>
            </a:pPr>
            <a:r>
              <a:rPr lang="en-US" sz="1050" b="1" dirty="0">
                <a:solidFill>
                  <a:srgbClr val="C8834A"/>
                </a:solidFill>
                <a:latin typeface="Verdana" pitchFamily="34" charset="0"/>
                <a:ea typeface="Verdana" pitchFamily="34" charset="-122"/>
                <a:cs typeface="Verdana" pitchFamily="34" charset="-120"/>
              </a:rPr>
              <a:t>Lesson → our answer</a:t>
            </a:r>
            <a:endParaRPr lang="en-US" sz="1050" dirty="0"/>
          </a:p>
        </p:txBody>
      </p:sp>
      <p:sp>
        <p:nvSpPr>
          <p:cNvPr id="25" name="Text 23"/>
          <p:cNvSpPr txBox="1"/>
          <p:nvPr/>
        </p:nvSpPr>
        <p:spPr>
          <a:xfrm>
            <a:off x="4892040" y="1481328"/>
            <a:ext cx="3794760" cy="201168"/>
          </a:xfrm>
          <a:prstGeom prst="rect">
            <a:avLst/>
          </a:prstGeom>
          <a:noFill/>
          <a:ln/>
        </p:spPr>
        <p:txBody>
          <a:bodyPr wrap="square" lIns="0" tIns="0" rIns="0" bIns="0" rtlCol="0" anchor="t"/>
          <a:lstStyle/>
          <a:p>
            <a:pPr indent="0" marL="0">
              <a:buNone/>
            </a:pPr>
            <a:r>
              <a:rPr lang="en-US" sz="900" b="1" dirty="0">
                <a:solidFill>
                  <a:srgbClr val="1B2430"/>
                </a:solidFill>
                <a:latin typeface="Verdana" pitchFamily="34" charset="0"/>
                <a:ea typeface="Verdana" pitchFamily="34" charset="-122"/>
                <a:cs typeface="Verdana" pitchFamily="34" charset="-120"/>
              </a:rPr>
              <a:t>They automated one step</a:t>
            </a:r>
            <a:endParaRPr lang="en-US" sz="900" dirty="0"/>
          </a:p>
        </p:txBody>
      </p:sp>
      <p:sp>
        <p:nvSpPr>
          <p:cNvPr id="26" name="Text 24"/>
          <p:cNvSpPr txBox="1"/>
          <p:nvPr/>
        </p:nvSpPr>
        <p:spPr>
          <a:xfrm>
            <a:off x="4892040" y="1691640"/>
            <a:ext cx="3794760" cy="182880"/>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Users still needed a fab, and debugged by hand</a:t>
            </a:r>
            <a:endParaRPr lang="en-US" sz="750" dirty="0"/>
          </a:p>
        </p:txBody>
      </p:sp>
      <p:sp>
        <p:nvSpPr>
          <p:cNvPr id="27" name="Text 25"/>
          <p:cNvSpPr txBox="1"/>
          <p:nvPr/>
        </p:nvSpPr>
        <p:spPr>
          <a:xfrm>
            <a:off x="4892040" y="1892808"/>
            <a:ext cx="3794760" cy="256032"/>
          </a:xfrm>
          <a:prstGeom prst="rect">
            <a:avLst/>
          </a:prstGeom>
          <a:noFill/>
          <a:ln/>
        </p:spPr>
        <p:txBody>
          <a:bodyPr wrap="square" lIns="0" tIns="0" rIns="0" bIns="0" rtlCol="0" anchor="t"/>
          <a:lstStyle/>
          <a:p>
            <a:pPr indent="0" marL="0">
              <a:buNone/>
            </a:pPr>
            <a:r>
              <a:rPr lang="en-US" sz="800" b="1" dirty="0">
                <a:solidFill>
                  <a:srgbClr val="C8834A"/>
                </a:solidFill>
                <a:latin typeface="Verdana" pitchFamily="34" charset="0"/>
                <a:ea typeface="Verdana" pitchFamily="34" charset="-122"/>
                <a:cs typeface="Verdana" pitchFamily="34" charset="-120"/>
              </a:rPr>
              <a:t>— We cover mill → mask → stencil → paste → reflow → test</a:t>
            </a:r>
            <a:endParaRPr lang="en-US" sz="800" dirty="0"/>
          </a:p>
        </p:txBody>
      </p:sp>
      <p:sp>
        <p:nvSpPr>
          <p:cNvPr id="28" name="Text 26"/>
          <p:cNvSpPr txBox="1"/>
          <p:nvPr/>
        </p:nvSpPr>
        <p:spPr>
          <a:xfrm>
            <a:off x="4892040" y="2249424"/>
            <a:ext cx="3794760" cy="201168"/>
          </a:xfrm>
          <a:prstGeom prst="rect">
            <a:avLst/>
          </a:prstGeom>
          <a:noFill/>
          <a:ln/>
        </p:spPr>
        <p:txBody>
          <a:bodyPr wrap="square" lIns="0" tIns="0" rIns="0" bIns="0" rtlCol="0" anchor="t"/>
          <a:lstStyle/>
          <a:p>
            <a:pPr indent="0" marL="0">
              <a:buNone/>
            </a:pPr>
            <a:r>
              <a:rPr lang="en-US" sz="900" b="1" dirty="0">
                <a:solidFill>
                  <a:srgbClr val="1B2430"/>
                </a:solidFill>
                <a:latin typeface="Verdana" pitchFamily="34" charset="0"/>
                <a:ea typeface="Verdana" pitchFamily="34" charset="-122"/>
                <a:cs typeface="Verdana" pitchFamily="34" charset="-120"/>
              </a:rPr>
              <a:t>They fought $2 fab boards on cost per board</a:t>
            </a:r>
            <a:endParaRPr lang="en-US" sz="900" dirty="0"/>
          </a:p>
        </p:txBody>
      </p:sp>
      <p:sp>
        <p:nvSpPr>
          <p:cNvPr id="29" name="Text 27"/>
          <p:cNvSpPr txBox="1"/>
          <p:nvPr/>
        </p:nvSpPr>
        <p:spPr>
          <a:xfrm>
            <a:off x="4892040" y="2459736"/>
            <a:ext cx="3794760" cy="182880"/>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A price war they couldn't win</a:t>
            </a:r>
            <a:endParaRPr lang="en-US" sz="750" dirty="0"/>
          </a:p>
        </p:txBody>
      </p:sp>
      <p:sp>
        <p:nvSpPr>
          <p:cNvPr id="30" name="Text 28"/>
          <p:cNvSpPr txBox="1"/>
          <p:nvPr/>
        </p:nvSpPr>
        <p:spPr>
          <a:xfrm>
            <a:off x="4892040" y="2660904"/>
            <a:ext cx="3794760" cy="256032"/>
          </a:xfrm>
          <a:prstGeom prst="rect">
            <a:avLst/>
          </a:prstGeom>
          <a:noFill/>
          <a:ln/>
        </p:spPr>
        <p:txBody>
          <a:bodyPr wrap="square" lIns="0" tIns="0" rIns="0" bIns="0" rtlCol="0" anchor="t"/>
          <a:lstStyle/>
          <a:p>
            <a:pPr indent="0" marL="0">
              <a:buNone/>
            </a:pPr>
            <a:r>
              <a:rPr lang="en-US" sz="800" b="1" dirty="0">
                <a:solidFill>
                  <a:srgbClr val="C8834A"/>
                </a:solidFill>
                <a:latin typeface="Verdana" pitchFamily="34" charset="0"/>
                <a:ea typeface="Verdana" pitchFamily="34" charset="-122"/>
                <a:cs typeface="Verdana" pitchFamily="34" charset="-120"/>
              </a:rPr>
              <a:t>— We compete on hours per loop, not rupees per board</a:t>
            </a:r>
            <a:endParaRPr lang="en-US" sz="800" dirty="0"/>
          </a:p>
        </p:txBody>
      </p:sp>
      <p:sp>
        <p:nvSpPr>
          <p:cNvPr id="31" name="Text 29"/>
          <p:cNvSpPr txBox="1"/>
          <p:nvPr/>
        </p:nvSpPr>
        <p:spPr>
          <a:xfrm>
            <a:off x="4892040" y="3017520"/>
            <a:ext cx="3794760" cy="201168"/>
          </a:xfrm>
          <a:prstGeom prst="rect">
            <a:avLst/>
          </a:prstGeom>
          <a:noFill/>
          <a:ln/>
        </p:spPr>
        <p:txBody>
          <a:bodyPr wrap="square" lIns="0" tIns="0" rIns="0" bIns="0" rtlCol="0" anchor="t"/>
          <a:lstStyle/>
          <a:p>
            <a:pPr indent="0" marL="0">
              <a:buNone/>
            </a:pPr>
            <a:r>
              <a:rPr lang="en-US" sz="900" b="1" dirty="0">
                <a:solidFill>
                  <a:srgbClr val="1B2430"/>
                </a:solidFill>
                <a:latin typeface="Verdana" pitchFamily="34" charset="0"/>
                <a:ea typeface="Verdana" pitchFamily="34" charset="-122"/>
                <a:cs typeface="Verdana" pitchFamily="34" charset="-120"/>
              </a:rPr>
              <a:t>They sold a tool to experts</a:t>
            </a:r>
            <a:endParaRPr lang="en-US" sz="900" dirty="0"/>
          </a:p>
        </p:txBody>
      </p:sp>
      <p:sp>
        <p:nvSpPr>
          <p:cNvPr id="32" name="Text 30"/>
          <p:cNvSpPr txBox="1"/>
          <p:nvPr/>
        </p:nvSpPr>
        <p:spPr>
          <a:xfrm>
            <a:off x="4892040" y="3227832"/>
            <a:ext cx="3794760" cy="182880"/>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Small market, steep learning curve</a:t>
            </a:r>
            <a:endParaRPr lang="en-US" sz="750" dirty="0"/>
          </a:p>
        </p:txBody>
      </p:sp>
      <p:sp>
        <p:nvSpPr>
          <p:cNvPr id="33" name="Text 31"/>
          <p:cNvSpPr txBox="1"/>
          <p:nvPr/>
        </p:nvSpPr>
        <p:spPr>
          <a:xfrm>
            <a:off x="4892040" y="3429000"/>
            <a:ext cx="3794760" cy="256032"/>
          </a:xfrm>
          <a:prstGeom prst="rect">
            <a:avLst/>
          </a:prstGeom>
          <a:noFill/>
          <a:ln/>
        </p:spPr>
        <p:txBody>
          <a:bodyPr wrap="square" lIns="0" tIns="0" rIns="0" bIns="0" rtlCol="0" anchor="t"/>
          <a:lstStyle/>
          <a:p>
            <a:pPr indent="0" marL="0">
              <a:buNone/>
            </a:pPr>
            <a:r>
              <a:rPr lang="en-US" sz="800" b="1" dirty="0">
                <a:solidFill>
                  <a:srgbClr val="C8834A"/>
                </a:solidFill>
                <a:latin typeface="Verdana" pitchFamily="34" charset="0"/>
                <a:ea typeface="Verdana" pitchFamily="34" charset="-122"/>
                <a:cs typeface="Verdana" pitchFamily="34" charset="-120"/>
              </a:rPr>
              <a:t>— We sell an outcome to people who aren't experts yet</a:t>
            </a:r>
            <a:endParaRPr lang="en-US" sz="800" dirty="0"/>
          </a:p>
        </p:txBody>
      </p:sp>
      <p:sp>
        <p:nvSpPr>
          <p:cNvPr id="34" name="Text 32"/>
          <p:cNvSpPr txBox="1"/>
          <p:nvPr/>
        </p:nvSpPr>
        <p:spPr>
          <a:xfrm>
            <a:off x="4892040" y="3785616"/>
            <a:ext cx="3794760" cy="201168"/>
          </a:xfrm>
          <a:prstGeom prst="rect">
            <a:avLst/>
          </a:prstGeom>
          <a:noFill/>
          <a:ln/>
        </p:spPr>
        <p:txBody>
          <a:bodyPr wrap="square" lIns="0" tIns="0" rIns="0" bIns="0" rtlCol="0" anchor="t"/>
          <a:lstStyle/>
          <a:p>
            <a:pPr indent="0" marL="0">
              <a:buNone/>
            </a:pPr>
            <a:r>
              <a:rPr lang="en-US" sz="900" b="1" dirty="0">
                <a:solidFill>
                  <a:srgbClr val="1B2430"/>
                </a:solidFill>
                <a:latin typeface="Verdana" pitchFamily="34" charset="0"/>
                <a:ea typeface="Verdana" pitchFamily="34" charset="-122"/>
                <a:cs typeface="Verdana" pitchFamily="34" charset="-120"/>
              </a:rPr>
              <a:t>No software moat</a:t>
            </a:r>
            <a:endParaRPr lang="en-US" sz="900" dirty="0"/>
          </a:p>
        </p:txBody>
      </p:sp>
      <p:sp>
        <p:nvSpPr>
          <p:cNvPr id="35" name="Text 33"/>
          <p:cNvSpPr txBox="1"/>
          <p:nvPr/>
        </p:nvSpPr>
        <p:spPr>
          <a:xfrm>
            <a:off x="4892040" y="3995928"/>
            <a:ext cx="3794760" cy="182880"/>
          </a:xfrm>
          <a:prstGeom prst="rect">
            <a:avLst/>
          </a:prstGeom>
          <a:noFill/>
          <a:ln/>
        </p:spPr>
        <p:txBody>
          <a:bodyPr wrap="square" lIns="0" tIns="0" rIns="0" bIns="0" rtlCol="0" anchor="t"/>
          <a:lstStyle/>
          <a:p>
            <a:pPr indent="0" marL="0">
              <a:buNone/>
            </a:pPr>
            <a:r>
              <a:rPr lang="en-US" sz="750" dirty="0">
                <a:solidFill>
                  <a:srgbClr val="6B6459"/>
                </a:solidFill>
                <a:latin typeface="Verdana" pitchFamily="34" charset="0"/>
                <a:ea typeface="Verdana" pitchFamily="34" charset="-122"/>
                <a:cs typeface="Verdana" pitchFamily="34" charset="-120"/>
              </a:rPr>
              <a:t>Hardware copied, margins squeezed</a:t>
            </a:r>
            <a:endParaRPr lang="en-US" sz="750" dirty="0"/>
          </a:p>
        </p:txBody>
      </p:sp>
      <p:sp>
        <p:nvSpPr>
          <p:cNvPr id="36" name="Text 34"/>
          <p:cNvSpPr txBox="1"/>
          <p:nvPr/>
        </p:nvSpPr>
        <p:spPr>
          <a:xfrm>
            <a:off x="4892040" y="4197096"/>
            <a:ext cx="3794760" cy="256032"/>
          </a:xfrm>
          <a:prstGeom prst="rect">
            <a:avLst/>
          </a:prstGeom>
          <a:noFill/>
          <a:ln/>
        </p:spPr>
        <p:txBody>
          <a:bodyPr wrap="square" lIns="0" tIns="0" rIns="0" bIns="0" rtlCol="0" anchor="t"/>
          <a:lstStyle/>
          <a:p>
            <a:pPr indent="0" marL="0">
              <a:buNone/>
            </a:pPr>
            <a:r>
              <a:rPr lang="en-US" sz="800" b="1" dirty="0">
                <a:solidFill>
                  <a:srgbClr val="C8834A"/>
                </a:solidFill>
                <a:latin typeface="Verdana" pitchFamily="34" charset="0"/>
                <a:ea typeface="Verdana" pitchFamily="34" charset="-122"/>
                <a:cs typeface="Verdana" pitchFamily="34" charset="-120"/>
              </a:rPr>
              <a:t>— Proto + run data is the moat; the machine is how it acts</a:t>
            </a:r>
            <a:endParaRPr lang="en-US" sz="800" dirty="0"/>
          </a:p>
        </p:txBody>
      </p:sp>
      <p:sp>
        <p:nvSpPr>
          <p:cNvPr id="37" name="Text 35"/>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Sources: Hackaday / Make (Othermill, Bantam); ToolGuyd (Bantam exit); Elektor, Aniwaa (V-One); TechCrunch (Squink); Evertiq 8 Apr 2026 (Nano Dimension).</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19</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POSITIONING, BOTH WAYS</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Where alternatives lose to us, and where they win</a:t>
            </a:r>
            <a:endParaRPr lang="en-US" sz="1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377440"/>
                <a:gridCol w="3108960"/>
                <a:gridCol w="2743200"/>
              </a:tblGrid>
              <a:tr h="475488">
                <a:tc>
                  <a:txBody>
                    <a:bodyPr/>
                    <a:lstStyle/>
                    <a:p>
                      <a:pPr indent="0" marL="0">
                        <a:buNone/>
                      </a:pPr>
                      <a:r>
                        <a:rPr lang="en-US" sz="800" b="1" dirty="0">
                          <a:solidFill>
                            <a:srgbClr val="6B6459"/>
                          </a:solidFill>
                          <a:latin typeface="Verdana" pitchFamily="34" charset="0"/>
                          <a:ea typeface="Verdana" pitchFamily="34" charset="-122"/>
                          <a:cs typeface="Verdana" pitchFamily="34" charset="-120"/>
                        </a:rPr>
                        <a:t>Alternative</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00" b="1" dirty="0">
                          <a:solidFill>
                            <a:srgbClr val="6B6459"/>
                          </a:solidFill>
                          <a:latin typeface="Verdana" pitchFamily="34" charset="0"/>
                          <a:ea typeface="Verdana" pitchFamily="34" charset="-122"/>
                          <a:cs typeface="Verdana" pitchFamily="34" charset="-120"/>
                        </a:rPr>
                        <a:t>We win on</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00" b="1" dirty="0">
                          <a:solidFill>
                            <a:srgbClr val="6B6459"/>
                          </a:solidFill>
                          <a:latin typeface="Verdana" pitchFamily="34" charset="0"/>
                          <a:ea typeface="Verdana" pitchFamily="34" charset="-122"/>
                          <a:cs typeface="Verdana" pitchFamily="34" charset="-120"/>
                        </a:rPr>
                        <a:t>They win on (we say so)</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475488">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Fab services (JLCPCB, PCBWay, Indian fabs)</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Hours not weeks; no customs; stencil and test included; tighter learning loop</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Cost at quantity, multilayer, finish quality. We hand volume to them</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Pro in-house lines (LPKF)</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About 1/20th the price of a full line; one box; an agent runs it; no specialist operator</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RF and multilayer capability, plating, decades of process</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Desktop CNC (Carvera)</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Mask, stencil, paste, reflow, test; board-specific AI</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Metal and wood machining; a general-purpose tool</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Ink printers (Voltera, BotFactory)</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Real copper FR4 that solders like a fab board</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Flexible and stretchable substrates</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USB instruments (AD3, M2K, Moku)</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Agent-driven test plan from the netlist; integrated supplies + 24-bit meter</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Resolution and bandwidth (AD3: 14-bit)</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AI design tools (Flux, Quilter, Diode)</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Closed loop to a real, measured board; physical run data</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Layout depth. We integrate with them rather than compete</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20</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PRATEEK: 'HOW MUCH IS THIS MACHINE GOING TO COST?'</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What the machine costs to build, and what we sell it for</a:t>
            </a:r>
            <a:endParaRPr lang="en-US" sz="1900" dirty="0"/>
          </a:p>
        </p:txBody>
      </p:sp>
      <p:graphicFrame>
        <p:nvGraphicFramePr>
          <p:cNvPr id="8" name="Chart 0" descr=""/>
          <p:cNvGraphicFramePr/>
          <p:nvPr/>
        </p:nvGraphicFramePr>
        <p:xfrm>
          <a:off x="365760" y="1097280"/>
          <a:ext cx="4937760" cy="3474720"/>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0" y="1188720"/>
          <a:ext cx="3200400" cy="914400"/>
        </p:xfrm>
        <a:graphic>
          <a:graphicData uri="http://schemas.openxmlformats.org/drawingml/2006/table">
            <a:tbl>
              <a:tblPr/>
              <a:tblGrid>
                <a:gridCol w="1280160"/>
                <a:gridCol w="960120"/>
                <a:gridCol w="960120"/>
              </a:tblGrid>
              <a:tr h="310896">
                <a:tc>
                  <a:txBody>
                    <a:bodyPr/>
                    <a:lstStyle/>
                    <a:p>
                      <a:pPr indent="0" marL="0">
                        <a:buNone/>
                      </a:pP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Baker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Mixer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31089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Prototype build</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₹3,73,418</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₹74,847</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1089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Production unit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₹1,44,842</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₹13,740</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1089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Proposed price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₹3,49,000</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₹24,999</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1089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Gross margin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58.5%</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45.0%</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r>
            </a:tbl>
          </a:graphicData>
        </a:graphic>
      </p:graphicFrame>
      <p:sp>
        <p:nvSpPr>
          <p:cNvPr id="10" name="Text 6"/>
          <p:cNvSpPr txBox="1"/>
          <p:nvPr/>
        </p:nvSpPr>
        <p:spPr>
          <a:xfrm>
            <a:off x="5486400" y="2926080"/>
            <a:ext cx="3200400" cy="1463040"/>
          </a:xfrm>
          <a:prstGeom prst="rect">
            <a:avLst/>
          </a:prstGeom>
          <a:noFill/>
          <a:ln/>
        </p:spPr>
        <p:txBody>
          <a:bodyPr wrap="square" lIns="0" tIns="0" rIns="0" bIns="0" rtlCol="0" anchor="t"/>
          <a:lstStyle/>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Prototype includes 35% duty/courier on imports + 15% contingency</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Production: 100-unit batch, China parts, Delhi assembly + QC (₹12,000)</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China turnkey quotes are pending (RFQ at 5–5,000 units)</a:t>
            </a:r>
            <a:endParaRPr lang="en-US" sz="800" dirty="0"/>
          </a:p>
        </p:txBody>
      </p:sp>
      <p:sp>
        <p:nvSpPr>
          <p:cNvPr id="11" name="Text 7"/>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 Protopus cost report 29 Sep 2026 (81 of 96 lines from live listings). Prices are proposals to test in pilots.</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21</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PRATEEK: 'SAY X LAKH... DOES IT CANCEL MY COST?'</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Does it pay for itself? After about 59 boards</a:t>
            </a:r>
            <a:endParaRPr lang="en-US" sz="1900" dirty="0"/>
          </a:p>
        </p:txBody>
      </p:sp>
      <p:sp>
        <p:nvSpPr>
          <p:cNvPr id="8" name="Shape 6"/>
          <p:cNvSpPr/>
          <p:nvPr/>
        </p:nvSpPr>
        <p:spPr>
          <a:xfrm>
            <a:off x="457200" y="1188720"/>
            <a:ext cx="2606040" cy="0"/>
          </a:xfrm>
          <a:prstGeom prst="line">
            <a:avLst/>
          </a:prstGeom>
          <a:noFill/>
          <a:ln w="11430">
            <a:solidFill>
              <a:srgbClr val="1B2430"/>
            </a:solidFill>
            <a:prstDash val="solid"/>
          </a:ln>
        </p:spPr>
      </p:sp>
      <p:sp>
        <p:nvSpPr>
          <p:cNvPr id="9" name="Text 7"/>
          <p:cNvSpPr txBox="1"/>
          <p:nvPr/>
        </p:nvSpPr>
        <p:spPr>
          <a:xfrm>
            <a:off x="457200" y="1280160"/>
            <a:ext cx="2606040" cy="457200"/>
          </a:xfrm>
          <a:prstGeom prst="rect">
            <a:avLst/>
          </a:prstGeom>
          <a:noFill/>
          <a:ln/>
        </p:spPr>
        <p:txBody>
          <a:bodyPr wrap="square" lIns="0" tIns="0" rIns="0" bIns="0" rtlCol="0" anchor="t"/>
          <a:lstStyle/>
          <a:p>
            <a:pPr indent="0" marL="0">
              <a:buNone/>
            </a:pPr>
            <a:r>
              <a:rPr lang="en-US" sz="2800" b="1" dirty="0">
                <a:solidFill>
                  <a:srgbClr val="1B2430"/>
                </a:solidFill>
                <a:latin typeface="Verdana" pitchFamily="34" charset="0"/>
                <a:ea typeface="Verdana" pitchFamily="34" charset="-122"/>
                <a:cs typeface="Verdana" pitchFamily="34" charset="-120"/>
              </a:rPr>
              <a:t>₹334</a:t>
            </a:r>
            <a:endParaRPr lang="en-US" sz="2800" dirty="0"/>
          </a:p>
        </p:txBody>
      </p:sp>
      <p:sp>
        <p:nvSpPr>
          <p:cNvPr id="10" name="Text 8"/>
          <p:cNvSpPr txBox="1"/>
          <p:nvPr/>
        </p:nvSpPr>
        <p:spPr>
          <a:xfrm>
            <a:off x="457200" y="1755648"/>
            <a:ext cx="260604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Baker consumables per board</a:t>
            </a:r>
            <a:endParaRPr lang="en-US" sz="850" dirty="0"/>
          </a:p>
        </p:txBody>
      </p:sp>
      <p:sp>
        <p:nvSpPr>
          <p:cNvPr id="11" name="Shape 9"/>
          <p:cNvSpPr/>
          <p:nvPr/>
        </p:nvSpPr>
        <p:spPr>
          <a:xfrm>
            <a:off x="3246120" y="1188720"/>
            <a:ext cx="2606040" cy="0"/>
          </a:xfrm>
          <a:prstGeom prst="line">
            <a:avLst/>
          </a:prstGeom>
          <a:noFill/>
          <a:ln w="11430">
            <a:solidFill>
              <a:srgbClr val="1B2430"/>
            </a:solidFill>
            <a:prstDash val="solid"/>
          </a:ln>
        </p:spPr>
      </p:sp>
      <p:sp>
        <p:nvSpPr>
          <p:cNvPr id="12" name="Text 10"/>
          <p:cNvSpPr txBox="1"/>
          <p:nvPr/>
        </p:nvSpPr>
        <p:spPr>
          <a:xfrm>
            <a:off x="3246120" y="1280160"/>
            <a:ext cx="2606040" cy="457200"/>
          </a:xfrm>
          <a:prstGeom prst="rect">
            <a:avLst/>
          </a:prstGeom>
          <a:noFill/>
          <a:ln/>
        </p:spPr>
        <p:txBody>
          <a:bodyPr wrap="square" lIns="0" tIns="0" rIns="0" bIns="0" rtlCol="0" anchor="t"/>
          <a:lstStyle/>
          <a:p>
            <a:pPr indent="0" marL="0">
              <a:buNone/>
            </a:pPr>
            <a:r>
              <a:rPr lang="en-US" sz="2800" b="1" dirty="0">
                <a:solidFill>
                  <a:srgbClr val="1B2430"/>
                </a:solidFill>
                <a:latin typeface="Verdana" pitchFamily="34" charset="0"/>
                <a:ea typeface="Verdana" pitchFamily="34" charset="-122"/>
                <a:cs typeface="Verdana" pitchFamily="34" charset="-120"/>
              </a:rPr>
              <a:t>₹6,721</a:t>
            </a:r>
            <a:endParaRPr lang="en-US" sz="2800" dirty="0"/>
          </a:p>
        </p:txBody>
      </p:sp>
      <p:sp>
        <p:nvSpPr>
          <p:cNvPr id="13" name="Text 11"/>
          <p:cNvSpPr txBox="1"/>
          <p:nvPr/>
        </p:nvSpPr>
        <p:spPr>
          <a:xfrm>
            <a:off x="3246120" y="1755648"/>
            <a:ext cx="260604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Same board from JLCPCB, landed in India</a:t>
            </a:r>
            <a:endParaRPr lang="en-US" sz="850" dirty="0"/>
          </a:p>
        </p:txBody>
      </p:sp>
      <p:sp>
        <p:nvSpPr>
          <p:cNvPr id="14" name="Shape 12"/>
          <p:cNvSpPr/>
          <p:nvPr/>
        </p:nvSpPr>
        <p:spPr>
          <a:xfrm>
            <a:off x="6035040" y="1188720"/>
            <a:ext cx="2606040" cy="0"/>
          </a:xfrm>
          <a:prstGeom prst="line">
            <a:avLst/>
          </a:prstGeom>
          <a:noFill/>
          <a:ln w="11430">
            <a:solidFill>
              <a:srgbClr val="1B2430"/>
            </a:solidFill>
            <a:prstDash val="solid"/>
          </a:ln>
        </p:spPr>
      </p:sp>
      <p:sp>
        <p:nvSpPr>
          <p:cNvPr id="15" name="Text 13"/>
          <p:cNvSpPr txBox="1"/>
          <p:nvPr/>
        </p:nvSpPr>
        <p:spPr>
          <a:xfrm>
            <a:off x="6035040" y="1280160"/>
            <a:ext cx="2606040" cy="457200"/>
          </a:xfrm>
          <a:prstGeom prst="rect">
            <a:avLst/>
          </a:prstGeom>
          <a:noFill/>
          <a:ln/>
        </p:spPr>
        <p:txBody>
          <a:bodyPr wrap="square" lIns="0" tIns="0" rIns="0" bIns="0" rtlCol="0" anchor="t"/>
          <a:lstStyle/>
          <a:p>
            <a:pPr indent="0" marL="0">
              <a:buNone/>
            </a:pPr>
            <a:r>
              <a:rPr lang="en-US" sz="2800" b="1" dirty="0">
                <a:solidFill>
                  <a:srgbClr val="C8834A"/>
                </a:solidFill>
                <a:latin typeface="Verdana" pitchFamily="34" charset="0"/>
                <a:ea typeface="Verdana" pitchFamily="34" charset="-122"/>
                <a:cs typeface="Verdana" pitchFamily="34" charset="-120"/>
              </a:rPr>
              <a:t>59</a:t>
            </a:r>
            <a:endParaRPr lang="en-US" sz="2800" dirty="0"/>
          </a:p>
        </p:txBody>
      </p:sp>
      <p:sp>
        <p:nvSpPr>
          <p:cNvPr id="16" name="Text 14"/>
          <p:cNvSpPr txBox="1"/>
          <p:nvPr/>
        </p:nvSpPr>
        <p:spPr>
          <a:xfrm>
            <a:off x="6035040" y="1755648"/>
            <a:ext cx="260604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boards to recover ₹3.74 lakh</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8229600" cy="914400"/>
        </p:xfrm>
        <a:graphic>
          <a:graphicData uri="http://schemas.openxmlformats.org/drawingml/2006/table">
            <a:tbl>
              <a:tblPr/>
              <a:tblGrid>
                <a:gridCol w="1828800"/>
                <a:gridCol w="1280160"/>
                <a:gridCol w="2011680"/>
                <a:gridCol w="1554480"/>
                <a:gridCol w="1554480"/>
              </a:tblGrid>
              <a:tr h="310896">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Baker price (ex-GST)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Gross margin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Boards to break even vs JLCPCB</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Startup, 2 boards/wk</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Lab, 1 board/wk</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310896">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₹2,99,000</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51.6%</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51</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6.4 months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12.8 months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1089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₹3,49,000 (proposed)</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58.5%</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59</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7.4 months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14.8 months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r>
              <a:tr h="310896">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₹3,99,000</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63.7%</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67</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8.4 months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16.8 months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18" name="Text 15"/>
          <p:cNvSpPr txBox="1"/>
          <p:nvPr/>
        </p:nvSpPr>
        <p:spPr>
          <a:xfrm>
            <a:off x="457200" y="3749040"/>
            <a:ext cx="8229600" cy="777240"/>
          </a:xfrm>
          <a:prstGeom prst="rect">
            <a:avLst/>
          </a:prstGeom>
          <a:noFill/>
          <a:ln/>
        </p:spPr>
        <p:txBody>
          <a:bodyPr wrap="square" lIns="0" tIns="0" rIns="0" bIns="0" rtlCol="0" anchor="t"/>
          <a:lstStyle/>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Direct cash only. Waiting time (7–20 days per loop) and engineer hours aren't counted, and they're the bigger saving</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Against an Indian 24-hour fab (bare boards only): 73 boards</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Components are excluded on both sides: you buy the parts either way</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22</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BOTTOM-UP SIZING</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Market: start in India's labs, then go global</a:t>
            </a:r>
            <a:endParaRPr lang="en-US" sz="1900" dirty="0"/>
          </a:p>
        </p:txBody>
      </p:sp>
      <p:sp>
        <p:nvSpPr>
          <p:cNvPr id="8" name="Shape 6"/>
          <p:cNvSpPr/>
          <p:nvPr/>
        </p:nvSpPr>
        <p:spPr>
          <a:xfrm>
            <a:off x="457200" y="1188720"/>
            <a:ext cx="1737360" cy="0"/>
          </a:xfrm>
          <a:prstGeom prst="line">
            <a:avLst/>
          </a:prstGeom>
          <a:noFill/>
          <a:ln w="11430">
            <a:solidFill>
              <a:srgbClr val="1B2430"/>
            </a:solidFill>
            <a:prstDash val="solid"/>
          </a:ln>
        </p:spPr>
      </p:sp>
      <p:sp>
        <p:nvSpPr>
          <p:cNvPr id="9" name="Text 7"/>
          <p:cNvSpPr txBox="1"/>
          <p:nvPr/>
        </p:nvSpPr>
        <p:spPr>
          <a:xfrm>
            <a:off x="457200" y="1280160"/>
            <a:ext cx="1737360" cy="457200"/>
          </a:xfrm>
          <a:prstGeom prst="rect">
            <a:avLst/>
          </a:prstGeom>
          <a:noFill/>
          <a:ln/>
        </p:spPr>
        <p:txBody>
          <a:bodyPr wrap="square" lIns="0" tIns="0" rIns="0" bIns="0" rtlCol="0" anchor="t"/>
          <a:lstStyle/>
          <a:p>
            <a:pPr indent="0" marL="0">
              <a:buNone/>
            </a:pPr>
            <a:r>
              <a:rPr lang="en-US" sz="1800" b="1" dirty="0">
                <a:solidFill>
                  <a:srgbClr val="1B2430"/>
                </a:solidFill>
                <a:latin typeface="Verdana" pitchFamily="34" charset="0"/>
                <a:ea typeface="Verdana" pitchFamily="34" charset="-122"/>
                <a:cs typeface="Verdana" pitchFamily="34" charset="-120"/>
              </a:rPr>
              <a:t>5,868</a:t>
            </a:r>
            <a:endParaRPr lang="en-US" sz="1800" dirty="0"/>
          </a:p>
        </p:txBody>
      </p:sp>
      <p:sp>
        <p:nvSpPr>
          <p:cNvPr id="10" name="Text 8"/>
          <p:cNvSpPr txBox="1"/>
          <p:nvPr/>
        </p:nvSpPr>
        <p:spPr>
          <a:xfrm>
            <a:off x="457200" y="1755648"/>
            <a:ext cx="173736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AICTE-approved engineering colleges</a:t>
            </a:r>
            <a:endParaRPr lang="en-US" sz="850" dirty="0"/>
          </a:p>
        </p:txBody>
      </p:sp>
      <p:sp>
        <p:nvSpPr>
          <p:cNvPr id="11" name="Shape 9"/>
          <p:cNvSpPr/>
          <p:nvPr/>
        </p:nvSpPr>
        <p:spPr>
          <a:xfrm>
            <a:off x="2377440" y="1188720"/>
            <a:ext cx="1737360" cy="0"/>
          </a:xfrm>
          <a:prstGeom prst="line">
            <a:avLst/>
          </a:prstGeom>
          <a:noFill/>
          <a:ln w="11430">
            <a:solidFill>
              <a:srgbClr val="1B2430"/>
            </a:solidFill>
            <a:prstDash val="solid"/>
          </a:ln>
        </p:spPr>
      </p:sp>
      <p:sp>
        <p:nvSpPr>
          <p:cNvPr id="12" name="Text 10"/>
          <p:cNvSpPr txBox="1"/>
          <p:nvPr/>
        </p:nvSpPr>
        <p:spPr>
          <a:xfrm>
            <a:off x="2377440" y="1280160"/>
            <a:ext cx="1737360" cy="457200"/>
          </a:xfrm>
          <a:prstGeom prst="rect">
            <a:avLst/>
          </a:prstGeom>
          <a:noFill/>
          <a:ln/>
        </p:spPr>
        <p:txBody>
          <a:bodyPr wrap="square" lIns="0" tIns="0" rIns="0" bIns="0" rtlCol="0" anchor="t"/>
          <a:lstStyle/>
          <a:p>
            <a:pPr indent="0" marL="0">
              <a:buNone/>
            </a:pPr>
            <a:r>
              <a:rPr lang="en-US" sz="1800" b="1" dirty="0">
                <a:solidFill>
                  <a:srgbClr val="1B2430"/>
                </a:solidFill>
                <a:latin typeface="Verdana" pitchFamily="34" charset="0"/>
                <a:ea typeface="Verdana" pitchFamily="34" charset="-122"/>
                <a:cs typeface="Verdana" pitchFamily="34" charset="-120"/>
              </a:rPr>
              <a:t>23.2 lakh</a:t>
            </a:r>
            <a:endParaRPr lang="en-US" sz="1800" dirty="0"/>
          </a:p>
        </p:txBody>
      </p:sp>
      <p:sp>
        <p:nvSpPr>
          <p:cNvPr id="13" name="Text 11"/>
          <p:cNvSpPr txBox="1"/>
          <p:nvPr/>
        </p:nvSpPr>
        <p:spPr>
          <a:xfrm>
            <a:off x="2377440" y="1755648"/>
            <a:ext cx="173736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B.Tech students enrolled</a:t>
            </a:r>
            <a:endParaRPr lang="en-US" sz="850" dirty="0"/>
          </a:p>
        </p:txBody>
      </p:sp>
      <p:sp>
        <p:nvSpPr>
          <p:cNvPr id="14" name="Shape 12"/>
          <p:cNvSpPr/>
          <p:nvPr/>
        </p:nvSpPr>
        <p:spPr>
          <a:xfrm>
            <a:off x="457200" y="2286000"/>
            <a:ext cx="1737360" cy="0"/>
          </a:xfrm>
          <a:prstGeom prst="line">
            <a:avLst/>
          </a:prstGeom>
          <a:noFill/>
          <a:ln w="11430">
            <a:solidFill>
              <a:srgbClr val="1B2430"/>
            </a:solidFill>
            <a:prstDash val="solid"/>
          </a:ln>
        </p:spPr>
      </p:sp>
      <p:sp>
        <p:nvSpPr>
          <p:cNvPr id="15" name="Text 13"/>
          <p:cNvSpPr txBox="1"/>
          <p:nvPr/>
        </p:nvSpPr>
        <p:spPr>
          <a:xfrm>
            <a:off x="457200" y="2377440"/>
            <a:ext cx="1737360" cy="457200"/>
          </a:xfrm>
          <a:prstGeom prst="rect">
            <a:avLst/>
          </a:prstGeom>
          <a:noFill/>
          <a:ln/>
        </p:spPr>
        <p:txBody>
          <a:bodyPr wrap="square" lIns="0" tIns="0" rIns="0" bIns="0" rtlCol="0" anchor="t"/>
          <a:lstStyle/>
          <a:p>
            <a:pPr indent="0" marL="0">
              <a:buNone/>
            </a:pPr>
            <a:r>
              <a:rPr lang="en-US" sz="1800" b="1" dirty="0">
                <a:solidFill>
                  <a:srgbClr val="1B2430"/>
                </a:solidFill>
                <a:latin typeface="Verdana" pitchFamily="34" charset="0"/>
                <a:ea typeface="Verdana" pitchFamily="34" charset="-122"/>
                <a:cs typeface="Verdana" pitchFamily="34" charset="-120"/>
              </a:rPr>
              <a:t>10,000</a:t>
            </a:r>
            <a:endParaRPr lang="en-US" sz="1800" dirty="0"/>
          </a:p>
        </p:txBody>
      </p:sp>
      <p:sp>
        <p:nvSpPr>
          <p:cNvPr id="16" name="Text 14"/>
          <p:cNvSpPr txBox="1"/>
          <p:nvPr/>
        </p:nvSpPr>
        <p:spPr>
          <a:xfrm>
            <a:off x="457200" y="2852928"/>
            <a:ext cx="173736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Atal Tinkering Labs, +50,000 over 5 years</a:t>
            </a:r>
            <a:endParaRPr lang="en-US" sz="850" dirty="0"/>
          </a:p>
        </p:txBody>
      </p:sp>
      <p:sp>
        <p:nvSpPr>
          <p:cNvPr id="17" name="Shape 15"/>
          <p:cNvSpPr/>
          <p:nvPr/>
        </p:nvSpPr>
        <p:spPr>
          <a:xfrm>
            <a:off x="2377440" y="2286000"/>
            <a:ext cx="1737360" cy="0"/>
          </a:xfrm>
          <a:prstGeom prst="line">
            <a:avLst/>
          </a:prstGeom>
          <a:noFill/>
          <a:ln w="11430">
            <a:solidFill>
              <a:srgbClr val="1B2430"/>
            </a:solidFill>
            <a:prstDash val="solid"/>
          </a:ln>
        </p:spPr>
      </p:sp>
      <p:sp>
        <p:nvSpPr>
          <p:cNvPr id="18" name="Text 16"/>
          <p:cNvSpPr txBox="1"/>
          <p:nvPr/>
        </p:nvSpPr>
        <p:spPr>
          <a:xfrm>
            <a:off x="2377440" y="2377440"/>
            <a:ext cx="1737360" cy="457200"/>
          </a:xfrm>
          <a:prstGeom prst="rect">
            <a:avLst/>
          </a:prstGeom>
          <a:noFill/>
          <a:ln/>
        </p:spPr>
        <p:txBody>
          <a:bodyPr wrap="square" lIns="0" tIns="0" rIns="0" bIns="0" rtlCol="0" anchor="t"/>
          <a:lstStyle/>
          <a:p>
            <a:pPr indent="0" marL="0">
              <a:buNone/>
            </a:pPr>
            <a:r>
              <a:rPr lang="en-US" sz="1800" b="1" dirty="0">
                <a:solidFill>
                  <a:srgbClr val="1B2430"/>
                </a:solidFill>
                <a:latin typeface="Verdana" pitchFamily="34" charset="0"/>
                <a:ea typeface="Verdana" pitchFamily="34" charset="-122"/>
                <a:cs typeface="Verdana" pitchFamily="34" charset="-120"/>
              </a:rPr>
              <a:t>2.25 lakh</a:t>
            </a:r>
            <a:endParaRPr lang="en-US" sz="1800" dirty="0"/>
          </a:p>
        </p:txBody>
      </p:sp>
      <p:sp>
        <p:nvSpPr>
          <p:cNvPr id="19" name="Text 17"/>
          <p:cNvSpPr txBox="1"/>
          <p:nvPr/>
        </p:nvSpPr>
        <p:spPr>
          <a:xfrm>
            <a:off x="2377440" y="2852928"/>
            <a:ext cx="173736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DPIIT-recognised startups</a:t>
            </a:r>
            <a:endParaRPr lang="en-US" sz="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480560" y="1188720"/>
          <a:ext cx="4206240" cy="914400"/>
        </p:xfrm>
        <a:graphic>
          <a:graphicData uri="http://schemas.openxmlformats.org/drawingml/2006/table">
            <a:tbl>
              <a:tblPr/>
              <a:tblGrid>
                <a:gridCol w="3017520"/>
                <a:gridCol w="1188720"/>
              </a:tblGrid>
              <a:tr h="310896">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India hardware pool (upper bound)</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310896">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Colleges: 5,868 × ₹3.74 lakh</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₹219.5 Cr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10896">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Startups: 1% of 2.25 lakh × ₹3.74 lakh</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₹84.1 Cr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10896">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One-time hardware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₹303.6 Cr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11430" cap="flat" cmpd="sng" algn="ctr">
                      <a:solidFill>
                        <a:srgbClr val="1B2430"/>
                      </a:solidFill>
                      <a:prstDash val="solid"/>
                      <a:round/>
                      <a:headEnd type="none" w="med" len="med"/>
                      <a:tailEnd type="none" w="med" len="med"/>
                    </a:lnT>
                    <a:lnB w="11430" cap="flat" cmpd="sng" algn="ctr">
                      <a:solidFill>
                        <a:srgbClr val="1B2430"/>
                      </a:solidFill>
                      <a:prstDash val="solid"/>
                      <a:round/>
                      <a:headEnd type="none" w="med" len="med"/>
                      <a:tailEnd type="none" w="med" len="med"/>
                    </a:lnB>
                    <a:solidFill>
                      <a:srgbClr val="F6F1E8"/>
                    </a:solidFill>
                  </a:tcPr>
                </a:tc>
              </a:tr>
              <a:tr h="310896">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Proto subscriptions per year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₹48.7 Cr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21" name="Text 18"/>
          <p:cNvSpPr txBox="1"/>
          <p:nvPr/>
        </p:nvSpPr>
        <p:spPr>
          <a:xfrm>
            <a:off x="457200" y="3474720"/>
            <a:ext cx="3657600" cy="237744"/>
          </a:xfrm>
          <a:prstGeom prst="rect">
            <a:avLst/>
          </a:prstGeom>
          <a:noFill/>
          <a:ln/>
        </p:spPr>
        <p:txBody>
          <a:bodyPr wrap="square" lIns="0" tIns="0" rIns="0" bIns="0" rtlCol="0" anchor="t"/>
          <a:lstStyle/>
          <a:p>
            <a:pPr indent="0" marL="0">
              <a:buNone/>
            </a:pPr>
            <a:r>
              <a:rPr lang="en-US" sz="1000" b="1" dirty="0">
                <a:solidFill>
                  <a:srgbClr val="1B2430"/>
                </a:solidFill>
                <a:latin typeface="Verdana" pitchFamily="34" charset="0"/>
                <a:ea typeface="Verdana" pitchFamily="34" charset="-122"/>
                <a:cs typeface="Verdana" pitchFamily="34" charset="-120"/>
              </a:rPr>
              <a:t>Global, after India</a:t>
            </a:r>
            <a:endParaRPr lang="en-US" sz="1000" dirty="0"/>
          </a:p>
        </p:txBody>
      </p:sp>
      <p:sp>
        <p:nvSpPr>
          <p:cNvPr id="22" name="Text 19"/>
          <p:cNvSpPr txBox="1"/>
          <p:nvPr/>
        </p:nvSpPr>
        <p:spPr>
          <a:xfrm>
            <a:off x="457200" y="3749040"/>
            <a:ext cx="3840480" cy="777240"/>
          </a:xfrm>
          <a:prstGeom prst="rect">
            <a:avLst/>
          </a:prstGeom>
          <a:noFill/>
          <a:ln/>
        </p:spPr>
        <p:txBody>
          <a:bodyPr wrap="square" lIns="0" tIns="0" rIns="0" bIns="0" rtlCol="0" anchor="t"/>
          <a:lstStyle/>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2,300+ Fab Labs in 120+ countries</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Oscilloscopes: ≈$2.6–2.9B market in 2025</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Smart desktop CNC mills: $1.0B (2024) → $1.4B (2031)</a:t>
            </a:r>
            <a:endParaRPr lang="en-US" sz="800" dirty="0"/>
          </a:p>
        </p:txBody>
      </p:sp>
      <p:sp>
        <p:nvSpPr>
          <p:cNvPr id="23" name="Text 20"/>
          <p:cNvSpPr txBox="1"/>
          <p:nvPr/>
        </p:nvSpPr>
        <p:spPr>
          <a:xfrm>
            <a:off x="4480560" y="3520440"/>
            <a:ext cx="4206240" cy="73152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Budgets exist: each ATL gets ₹20 lakh (₹10 lakh setup); AICTE IDEA Labs ≈₹1.1 Cr each. 3-year target: 100 installed Bakers, ≈1.2% of the pool.</a:t>
            </a:r>
            <a:endParaRPr lang="en-US" sz="850" dirty="0"/>
          </a:p>
        </p:txBody>
      </p:sp>
      <p:sp>
        <p:nvSpPr>
          <p:cNvPr id="24" name="Text 21"/>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Sources: AICTE, AISHE, AIM/PIB, Budget 2025-26, DPIIT, Fab Foundation, Fortune BI, QYResearch (slide 30). 1% startup share is our assumption.</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23</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HOW WE MAKE MONEY</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Business model: machine once, Proto every year</a:t>
            </a:r>
            <a:endParaRPr lang="en-US" sz="1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1463040"/>
                <a:gridCol w="2377440"/>
                <a:gridCol w="1463040"/>
              </a:tblGrid>
              <a:tr h="475488">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Stream</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Price (proposed)</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Margin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Hardware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Baker ₹3,49,000 · Mixer ₹24,999 (ex-GST)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58.5% / 45.0%</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Proto subscription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₹4,999/month per lab after year 1 (year 1 free)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Software; cloud cost to measure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Consumable kits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₹699 per board: FR4, mask, paste, film, jig resin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Cost ₹334 → 52%</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Fab hand-off (later)</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Checked files sent to partner fabs for 100+ units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Referral; no inventory</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9" name="Shape 6"/>
          <p:cNvSpPr/>
          <p:nvPr/>
        </p:nvSpPr>
        <p:spPr>
          <a:xfrm>
            <a:off x="6035040" y="1188720"/>
            <a:ext cx="2651760" cy="2743200"/>
          </a:xfrm>
          <a:prstGeom prst="rect">
            <a:avLst/>
          </a:prstGeom>
          <a:solidFill>
            <a:srgbClr val="F6F1E8"/>
          </a:solidFill>
          <a:ln w="9525">
            <a:solidFill>
              <a:srgbClr val="F6F1E8"/>
            </a:solidFill>
            <a:prstDash val="solid"/>
          </a:ln>
        </p:spPr>
      </p:sp>
      <p:sp>
        <p:nvSpPr>
          <p:cNvPr id="10" name="Text 7"/>
          <p:cNvSpPr txBox="1"/>
          <p:nvPr/>
        </p:nvSpPr>
        <p:spPr>
          <a:xfrm>
            <a:off x="6217920" y="1325880"/>
            <a:ext cx="2377440" cy="320040"/>
          </a:xfrm>
          <a:prstGeom prst="rect">
            <a:avLst/>
          </a:prstGeom>
          <a:noFill/>
          <a:ln/>
        </p:spPr>
        <p:txBody>
          <a:bodyPr wrap="square" lIns="0" tIns="0" rIns="0" bIns="0" rtlCol="0" anchor="t"/>
          <a:lstStyle/>
          <a:p>
            <a:pPr indent="0" marL="0">
              <a:buNone/>
            </a:pPr>
            <a:r>
              <a:rPr lang="en-US" sz="750" dirty="0">
                <a:solidFill>
                  <a:srgbClr val="C8834A"/>
                </a:solidFill>
                <a:latin typeface="Consolas" pitchFamily="34" charset="0"/>
                <a:ea typeface="Consolas" pitchFamily="34" charset="-122"/>
                <a:cs typeface="Consolas" pitchFamily="34" charset="-120"/>
              </a:rPr>
              <a:t>PER BAKER, PER YEAR (FROM YEAR 2)</a:t>
            </a:r>
            <a:endParaRPr lang="en-US" sz="750" dirty="0"/>
          </a:p>
        </p:txBody>
      </p:sp>
      <p:sp>
        <p:nvSpPr>
          <p:cNvPr id="11" name="Text 8"/>
          <p:cNvSpPr txBox="1"/>
          <p:nvPr/>
        </p:nvSpPr>
        <p:spPr>
          <a:xfrm>
            <a:off x="6217920" y="1737360"/>
            <a:ext cx="2377440" cy="457200"/>
          </a:xfrm>
          <a:prstGeom prst="rect">
            <a:avLst/>
          </a:prstGeom>
          <a:noFill/>
          <a:ln/>
        </p:spPr>
        <p:txBody>
          <a:bodyPr wrap="square" lIns="0" tIns="0" rIns="0" bIns="0" rtlCol="0" anchor="t"/>
          <a:lstStyle/>
          <a:p>
            <a:pPr indent="0" marL="0">
              <a:buNone/>
            </a:pPr>
            <a:r>
              <a:rPr lang="en-US" sz="2200" b="1" dirty="0">
                <a:solidFill>
                  <a:srgbClr val="1B2430"/>
                </a:solidFill>
                <a:latin typeface="Verdana" pitchFamily="34" charset="0"/>
                <a:ea typeface="Verdana" pitchFamily="34" charset="-122"/>
                <a:cs typeface="Verdana" pitchFamily="34" charset="-120"/>
              </a:rPr>
              <a:t>₹1,64,838</a:t>
            </a:r>
            <a:endParaRPr lang="en-US" sz="2200" dirty="0"/>
          </a:p>
        </p:txBody>
      </p:sp>
      <p:sp>
        <p:nvSpPr>
          <p:cNvPr id="12" name="Text 9"/>
          <p:cNvSpPr txBox="1"/>
          <p:nvPr/>
        </p:nvSpPr>
        <p:spPr>
          <a:xfrm>
            <a:off x="6217920" y="2212848"/>
            <a:ext cx="237744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recurring revenue</a:t>
            </a:r>
            <a:endParaRPr lang="en-US" sz="850" dirty="0"/>
          </a:p>
        </p:txBody>
      </p:sp>
      <p:sp>
        <p:nvSpPr>
          <p:cNvPr id="13" name="Text 10"/>
          <p:cNvSpPr txBox="1"/>
          <p:nvPr/>
        </p:nvSpPr>
        <p:spPr>
          <a:xfrm>
            <a:off x="6217920" y="2697480"/>
            <a:ext cx="2377440" cy="457200"/>
          </a:xfrm>
          <a:prstGeom prst="rect">
            <a:avLst/>
          </a:prstGeom>
          <a:noFill/>
          <a:ln/>
        </p:spPr>
        <p:txBody>
          <a:bodyPr wrap="square" lIns="0" tIns="0" rIns="0" bIns="0" rtlCol="0" anchor="t"/>
          <a:lstStyle/>
          <a:p>
            <a:pPr indent="0" marL="0">
              <a:buNone/>
            </a:pPr>
            <a:r>
              <a:rPr lang="en-US" sz="1800" b="1" dirty="0">
                <a:solidFill>
                  <a:srgbClr val="C8834A"/>
                </a:solidFill>
                <a:latin typeface="Verdana" pitchFamily="34" charset="0"/>
                <a:ea typeface="Verdana" pitchFamily="34" charset="-122"/>
                <a:cs typeface="Verdana" pitchFamily="34" charset="-120"/>
              </a:rPr>
              <a:t>₹1,14,810</a:t>
            </a:r>
            <a:endParaRPr lang="en-US" sz="1800" dirty="0"/>
          </a:p>
        </p:txBody>
      </p:sp>
      <p:sp>
        <p:nvSpPr>
          <p:cNvPr id="14" name="Text 11"/>
          <p:cNvSpPr txBox="1"/>
          <p:nvPr/>
        </p:nvSpPr>
        <p:spPr>
          <a:xfrm>
            <a:off x="6217920" y="3172968"/>
            <a:ext cx="237744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gross profit, at 150 boards a year</a:t>
            </a:r>
            <a:endParaRPr lang="en-US" sz="850" dirty="0"/>
          </a:p>
        </p:txBody>
      </p:sp>
      <p:sp>
        <p:nvSpPr>
          <p:cNvPr id="15" name="Text 12"/>
          <p:cNvSpPr txBox="1"/>
          <p:nvPr/>
        </p:nvSpPr>
        <p:spPr>
          <a:xfrm>
            <a:off x="457200" y="4069080"/>
            <a:ext cx="8229600" cy="365760"/>
          </a:xfrm>
          <a:prstGeom prst="rect">
            <a:avLst/>
          </a:prstGeom>
          <a:noFill/>
          <a:ln/>
        </p:spPr>
        <p:txBody>
          <a:bodyPr wrap="square" lIns="0" tIns="0" rIns="0" bIns="0" rtlCol="0" anchor="t"/>
          <a:lstStyle/>
          <a:p>
            <a:pPr indent="0" marL="0">
              <a:buNone/>
            </a:pPr>
            <a:r>
              <a:rPr lang="en-US" sz="800" dirty="0">
                <a:solidFill>
                  <a:srgbClr val="6B6459"/>
                </a:solidFill>
                <a:latin typeface="Verdana" pitchFamily="34" charset="0"/>
                <a:ea typeface="Verdana" pitchFamily="34" charset="-122"/>
                <a:cs typeface="Verdana" pitchFamily="34" charset="-120"/>
              </a:rPr>
              <a:t>All prices are proposals that the Phase 1 pilots will test. Usage of 150 boards per year (about 3 a week) is an assumption.</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24</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OPERATIONS</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Manufacturing: China turnkey, India test and ship</a:t>
            </a:r>
            <a:endParaRPr lang="en-US" sz="1900" dirty="0"/>
          </a:p>
        </p:txBody>
      </p:sp>
      <p:sp>
        <p:nvSpPr>
          <p:cNvPr id="8" name="Shape 6"/>
          <p:cNvSpPr/>
          <p:nvPr/>
        </p:nvSpPr>
        <p:spPr>
          <a:xfrm>
            <a:off x="457200" y="1170432"/>
            <a:ext cx="1517904" cy="640080"/>
          </a:xfrm>
          <a:prstGeom prst="rect">
            <a:avLst/>
          </a:prstGeom>
          <a:solidFill>
            <a:srgbClr val="FFFFFF"/>
          </a:solidFill>
          <a:ln w="11430">
            <a:solidFill>
              <a:srgbClr val="C8834A"/>
            </a:solidFill>
            <a:prstDash val="solid"/>
          </a:ln>
        </p:spPr>
      </p:sp>
      <p:sp>
        <p:nvSpPr>
          <p:cNvPr id="9" name="Shape 7"/>
          <p:cNvSpPr/>
          <p:nvPr/>
        </p:nvSpPr>
        <p:spPr>
          <a:xfrm>
            <a:off x="457200" y="1170432"/>
            <a:ext cx="54864" cy="640080"/>
          </a:xfrm>
          <a:prstGeom prst="rect">
            <a:avLst/>
          </a:prstGeom>
          <a:solidFill>
            <a:srgbClr val="C8834A"/>
          </a:solidFill>
          <a:ln w="12700">
            <a:solidFill>
              <a:srgbClr val="C8834A"/>
            </a:solidFill>
            <a:prstDash val="solid"/>
          </a:ln>
        </p:spPr>
      </p:sp>
      <p:sp>
        <p:nvSpPr>
          <p:cNvPr id="10" name="Text 8"/>
          <p:cNvSpPr txBox="1"/>
          <p:nvPr/>
        </p:nvSpPr>
        <p:spPr>
          <a:xfrm>
            <a:off x="566928" y="1170432"/>
            <a:ext cx="1353312" cy="640080"/>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China: parts, PCBA, frame, assembly</a:t>
            </a:r>
            <a:endParaRPr lang="en-US" sz="750" dirty="0"/>
          </a:p>
        </p:txBody>
      </p:sp>
      <p:sp>
        <p:nvSpPr>
          <p:cNvPr id="11" name="Shape 9"/>
          <p:cNvSpPr/>
          <p:nvPr/>
        </p:nvSpPr>
        <p:spPr>
          <a:xfrm>
            <a:off x="1975104" y="1490472"/>
            <a:ext cx="146304" cy="0"/>
          </a:xfrm>
          <a:prstGeom prst="line">
            <a:avLst/>
          </a:prstGeom>
          <a:noFill/>
          <a:ln w="9525">
            <a:solidFill>
              <a:srgbClr val="1B2430"/>
            </a:solidFill>
            <a:prstDash val="solid"/>
            <a:tailEnd type="triangle"/>
          </a:ln>
        </p:spPr>
      </p:sp>
      <p:sp>
        <p:nvSpPr>
          <p:cNvPr id="12" name="Shape 10"/>
          <p:cNvSpPr/>
          <p:nvPr/>
        </p:nvSpPr>
        <p:spPr>
          <a:xfrm>
            <a:off x="2121408" y="1170432"/>
            <a:ext cx="1517904" cy="640080"/>
          </a:xfrm>
          <a:prstGeom prst="rect">
            <a:avLst/>
          </a:prstGeom>
          <a:solidFill>
            <a:srgbClr val="FFFFFF"/>
          </a:solidFill>
          <a:ln w="11430">
            <a:solidFill>
              <a:srgbClr val="C8834A"/>
            </a:solidFill>
            <a:prstDash val="solid"/>
          </a:ln>
        </p:spPr>
      </p:sp>
      <p:sp>
        <p:nvSpPr>
          <p:cNvPr id="13" name="Shape 11"/>
          <p:cNvSpPr/>
          <p:nvPr/>
        </p:nvSpPr>
        <p:spPr>
          <a:xfrm>
            <a:off x="2121408" y="1170432"/>
            <a:ext cx="54864" cy="640080"/>
          </a:xfrm>
          <a:prstGeom prst="rect">
            <a:avLst/>
          </a:prstGeom>
          <a:solidFill>
            <a:srgbClr val="C8834A"/>
          </a:solidFill>
          <a:ln w="12700">
            <a:solidFill>
              <a:srgbClr val="C8834A"/>
            </a:solidFill>
            <a:prstDash val="solid"/>
          </a:ln>
        </p:spPr>
      </p:sp>
      <p:sp>
        <p:nvSpPr>
          <p:cNvPr id="14" name="Text 12"/>
          <p:cNvSpPr txBox="1"/>
          <p:nvPr/>
        </p:nvSpPr>
        <p:spPr>
          <a:xfrm>
            <a:off x="2231136" y="1170432"/>
            <a:ext cx="1353312" cy="640080"/>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China: firmware, Mixer-based test, pack</a:t>
            </a:r>
            <a:endParaRPr lang="en-US" sz="750" dirty="0"/>
          </a:p>
        </p:txBody>
      </p:sp>
      <p:sp>
        <p:nvSpPr>
          <p:cNvPr id="15" name="Shape 13"/>
          <p:cNvSpPr/>
          <p:nvPr/>
        </p:nvSpPr>
        <p:spPr>
          <a:xfrm>
            <a:off x="3639312" y="1490472"/>
            <a:ext cx="146304" cy="0"/>
          </a:xfrm>
          <a:prstGeom prst="line">
            <a:avLst/>
          </a:prstGeom>
          <a:noFill/>
          <a:ln w="9525">
            <a:solidFill>
              <a:srgbClr val="1B2430"/>
            </a:solidFill>
            <a:prstDash val="solid"/>
            <a:tailEnd type="triangle"/>
          </a:ln>
        </p:spPr>
      </p:sp>
      <p:sp>
        <p:nvSpPr>
          <p:cNvPr id="16" name="Shape 14"/>
          <p:cNvSpPr/>
          <p:nvPr/>
        </p:nvSpPr>
        <p:spPr>
          <a:xfrm>
            <a:off x="3785616" y="1170432"/>
            <a:ext cx="1517904" cy="640080"/>
          </a:xfrm>
          <a:prstGeom prst="rect">
            <a:avLst/>
          </a:prstGeom>
          <a:solidFill>
            <a:srgbClr val="FFFFFF"/>
          </a:solidFill>
          <a:ln w="11430">
            <a:solidFill>
              <a:srgbClr val="5E8C5A"/>
            </a:solidFill>
            <a:prstDash val="solid"/>
          </a:ln>
        </p:spPr>
      </p:sp>
      <p:sp>
        <p:nvSpPr>
          <p:cNvPr id="17" name="Shape 15"/>
          <p:cNvSpPr/>
          <p:nvPr/>
        </p:nvSpPr>
        <p:spPr>
          <a:xfrm>
            <a:off x="3785616" y="1170432"/>
            <a:ext cx="54864" cy="640080"/>
          </a:xfrm>
          <a:prstGeom prst="rect">
            <a:avLst/>
          </a:prstGeom>
          <a:solidFill>
            <a:srgbClr val="5E8C5A"/>
          </a:solidFill>
          <a:ln w="12700">
            <a:solidFill>
              <a:srgbClr val="5E8C5A"/>
            </a:solidFill>
            <a:prstDash val="solid"/>
          </a:ln>
        </p:spPr>
      </p:sp>
      <p:sp>
        <p:nvSpPr>
          <p:cNvPr id="18" name="Text 16"/>
          <p:cNvSpPr txBox="1"/>
          <p:nvPr/>
        </p:nvSpPr>
        <p:spPr>
          <a:xfrm>
            <a:off x="3895344" y="1170432"/>
            <a:ext cx="1353312" cy="640080"/>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India: incoming QC + minimal assembly</a:t>
            </a:r>
            <a:endParaRPr lang="en-US" sz="750" dirty="0"/>
          </a:p>
        </p:txBody>
      </p:sp>
      <p:sp>
        <p:nvSpPr>
          <p:cNvPr id="19" name="Shape 17"/>
          <p:cNvSpPr/>
          <p:nvPr/>
        </p:nvSpPr>
        <p:spPr>
          <a:xfrm>
            <a:off x="5303520" y="1490472"/>
            <a:ext cx="146304" cy="0"/>
          </a:xfrm>
          <a:prstGeom prst="line">
            <a:avLst/>
          </a:prstGeom>
          <a:noFill/>
          <a:ln w="9525">
            <a:solidFill>
              <a:srgbClr val="1B2430"/>
            </a:solidFill>
            <a:prstDash val="solid"/>
            <a:tailEnd type="triangle"/>
          </a:ln>
        </p:spPr>
      </p:sp>
      <p:sp>
        <p:nvSpPr>
          <p:cNvPr id="20" name="Shape 18"/>
          <p:cNvSpPr/>
          <p:nvPr/>
        </p:nvSpPr>
        <p:spPr>
          <a:xfrm>
            <a:off x="5449824" y="1170432"/>
            <a:ext cx="1517904" cy="640080"/>
          </a:xfrm>
          <a:prstGeom prst="rect">
            <a:avLst/>
          </a:prstGeom>
          <a:solidFill>
            <a:srgbClr val="FFFFFF"/>
          </a:solidFill>
          <a:ln w="11430">
            <a:solidFill>
              <a:srgbClr val="5E8C5A"/>
            </a:solidFill>
            <a:prstDash val="solid"/>
          </a:ln>
        </p:spPr>
      </p:sp>
      <p:sp>
        <p:nvSpPr>
          <p:cNvPr id="21" name="Shape 19"/>
          <p:cNvSpPr/>
          <p:nvPr/>
        </p:nvSpPr>
        <p:spPr>
          <a:xfrm>
            <a:off x="5449824" y="1170432"/>
            <a:ext cx="54864" cy="640080"/>
          </a:xfrm>
          <a:prstGeom prst="rect">
            <a:avLst/>
          </a:prstGeom>
          <a:solidFill>
            <a:srgbClr val="5E8C5A"/>
          </a:solidFill>
          <a:ln w="12700">
            <a:solidFill>
              <a:srgbClr val="5E8C5A"/>
            </a:solidFill>
            <a:prstDash val="solid"/>
          </a:ln>
        </p:spPr>
      </p:sp>
      <p:sp>
        <p:nvSpPr>
          <p:cNvPr id="22" name="Text 20"/>
          <p:cNvSpPr txBox="1"/>
          <p:nvPr/>
        </p:nvSpPr>
        <p:spPr>
          <a:xfrm>
            <a:off x="5559552" y="1170432"/>
            <a:ext cx="1353312" cy="640080"/>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India: final test + serial number</a:t>
            </a:r>
            <a:endParaRPr lang="en-US" sz="750" dirty="0"/>
          </a:p>
        </p:txBody>
      </p:sp>
      <p:sp>
        <p:nvSpPr>
          <p:cNvPr id="23" name="Shape 21"/>
          <p:cNvSpPr/>
          <p:nvPr/>
        </p:nvSpPr>
        <p:spPr>
          <a:xfrm>
            <a:off x="6967728" y="1490472"/>
            <a:ext cx="146304" cy="0"/>
          </a:xfrm>
          <a:prstGeom prst="line">
            <a:avLst/>
          </a:prstGeom>
          <a:noFill/>
          <a:ln w="9525">
            <a:solidFill>
              <a:srgbClr val="1B2430"/>
            </a:solidFill>
            <a:prstDash val="solid"/>
            <a:tailEnd type="triangle"/>
          </a:ln>
        </p:spPr>
      </p:sp>
      <p:sp>
        <p:nvSpPr>
          <p:cNvPr id="24" name="Shape 22"/>
          <p:cNvSpPr/>
          <p:nvPr/>
        </p:nvSpPr>
        <p:spPr>
          <a:xfrm>
            <a:off x="7114032" y="1170432"/>
            <a:ext cx="1517904" cy="640080"/>
          </a:xfrm>
          <a:prstGeom prst="rect">
            <a:avLst/>
          </a:prstGeom>
          <a:solidFill>
            <a:srgbClr val="FFFFFF"/>
          </a:solidFill>
          <a:ln w="11430">
            <a:solidFill>
              <a:srgbClr val="1B2430"/>
            </a:solidFill>
            <a:prstDash val="solid"/>
          </a:ln>
        </p:spPr>
      </p:sp>
      <p:sp>
        <p:nvSpPr>
          <p:cNvPr id="25" name="Shape 23"/>
          <p:cNvSpPr/>
          <p:nvPr/>
        </p:nvSpPr>
        <p:spPr>
          <a:xfrm>
            <a:off x="7114032" y="1170432"/>
            <a:ext cx="54864" cy="640080"/>
          </a:xfrm>
          <a:prstGeom prst="rect">
            <a:avLst/>
          </a:prstGeom>
          <a:solidFill>
            <a:srgbClr val="1B2430"/>
          </a:solidFill>
          <a:ln w="12700">
            <a:solidFill>
              <a:srgbClr val="1B2430"/>
            </a:solidFill>
            <a:prstDash val="solid"/>
          </a:ln>
        </p:spPr>
      </p:sp>
      <p:sp>
        <p:nvSpPr>
          <p:cNvPr id="26" name="Text 24"/>
          <p:cNvSpPr txBox="1"/>
          <p:nvPr/>
        </p:nvSpPr>
        <p:spPr>
          <a:xfrm>
            <a:off x="7223760" y="1170432"/>
            <a:ext cx="1353312" cy="640080"/>
          </a:xfrm>
          <a:prstGeom prst="rect">
            <a:avLst/>
          </a:prstGeom>
          <a:noFill/>
          <a:ln/>
        </p:spPr>
        <p:txBody>
          <a:bodyPr wrap="square" lIns="0" tIns="0" rIns="0" bIns="0" rtlCol="0" anchor="ctr"/>
          <a:lstStyle/>
          <a:p>
            <a:pPr algn="ctr" indent="0" marL="0">
              <a:buNone/>
            </a:pPr>
            <a:r>
              <a:rPr lang="en-US" sz="750" b="1" dirty="0">
                <a:solidFill>
                  <a:srgbClr val="1B2430"/>
                </a:solidFill>
                <a:latin typeface="Verdana" pitchFamily="34" charset="0"/>
                <a:ea typeface="Verdana" pitchFamily="34" charset="-122"/>
                <a:cs typeface="Verdana" pitchFamily="34" charset="-120"/>
              </a:rPr>
              <a:t>Ship: India first, then global</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4206240" cy="914400"/>
        </p:xfrm>
        <a:graphic>
          <a:graphicData uri="http://schemas.openxmlformats.org/drawingml/2006/table">
            <a:tbl>
              <a:tblPr/>
              <a:tblGrid>
                <a:gridCol w="1234440"/>
                <a:gridCol w="1051560"/>
                <a:gridCol w="1920240"/>
              </a:tblGrid>
              <a:tr h="329184">
                <a:tc>
                  <a:txBody>
                    <a:bodyPr/>
                    <a:lstStyle/>
                    <a:p>
                      <a:pPr indent="0" marL="0">
                        <a:buNone/>
                      </a:pPr>
                      <a:r>
                        <a:rPr lang="en-US" sz="800" b="1" dirty="0">
                          <a:solidFill>
                            <a:srgbClr val="6B6459"/>
                          </a:solidFill>
                          <a:latin typeface="Verdana" pitchFamily="34" charset="0"/>
                          <a:ea typeface="Verdana" pitchFamily="34" charset="-122"/>
                          <a:cs typeface="Verdana" pitchFamily="34" charset="-120"/>
                        </a:rPr>
                        <a:t>Gate</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00" b="1" dirty="0">
                          <a:solidFill>
                            <a:srgbClr val="6B6459"/>
                          </a:solidFill>
                          <a:latin typeface="Verdana" pitchFamily="34" charset="0"/>
                          <a:ea typeface="Verdana" pitchFamily="34" charset="-122"/>
                          <a:cs typeface="Verdana" pitchFamily="34" charset="-120"/>
                        </a:rPr>
                        <a:t>Units</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00" b="1" dirty="0">
                          <a:solidFill>
                            <a:srgbClr val="6B6459"/>
                          </a:solidFill>
                          <a:latin typeface="Verdana" pitchFamily="34" charset="0"/>
                          <a:ea typeface="Verdana" pitchFamily="34" charset="-122"/>
                          <a:cs typeface="Verdana" pitchFamily="34" charset="-120"/>
                        </a:rPr>
                        <a:t>Exit criterion</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329184">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DFM / RFQ</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Technical + commercial shortlist</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29184">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EVT-1 / EVT-2</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5–20 / 10–30</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Repeatable build; critical issues closed</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29184">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DVT</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20–100</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Design frozen</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29184">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PVT</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100–500</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Signed production authorisation</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329184">
                <a:tc>
                  <a:txBody>
                    <a:bodyPr/>
                    <a:lstStyle/>
                    <a:p>
                      <a:pPr indent="0" marL="0">
                        <a:buNone/>
                      </a:pPr>
                      <a:r>
                        <a:rPr lang="en-US" sz="800" b="1" dirty="0">
                          <a:solidFill>
                            <a:srgbClr val="1B2430"/>
                          </a:solidFill>
                          <a:latin typeface="Verdana" pitchFamily="34" charset="0"/>
                          <a:ea typeface="Verdana" pitchFamily="34" charset="-122"/>
                          <a:cs typeface="Verdana" pitchFamily="34" charset="-120"/>
                        </a:rPr>
                        <a:t>Mass production</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Volume</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00" dirty="0">
                          <a:solidFill>
                            <a:srgbClr val="1B2430"/>
                          </a:solidFill>
                          <a:latin typeface="Verdana" pitchFamily="34" charset="0"/>
                          <a:ea typeface="Verdana" pitchFamily="34" charset="-122"/>
                          <a:cs typeface="Verdana" pitchFamily="34" charset="-120"/>
                        </a:rPr>
                        <a:t>100% functional test</a:t>
                      </a:r>
                      <a:endParaRPr lang="en-US" sz="80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
        <p:nvSpPr>
          <p:cNvPr id="28" name="Shape 25"/>
          <p:cNvSpPr/>
          <p:nvPr/>
        </p:nvSpPr>
        <p:spPr>
          <a:xfrm>
            <a:off x="4892040" y="2057400"/>
            <a:ext cx="3794760" cy="2377440"/>
          </a:xfrm>
          <a:prstGeom prst="rect">
            <a:avLst/>
          </a:prstGeom>
          <a:solidFill>
            <a:srgbClr val="F6F1E8"/>
          </a:solidFill>
          <a:ln w="9525">
            <a:solidFill>
              <a:srgbClr val="F6F1E8"/>
            </a:solidFill>
            <a:prstDash val="solid"/>
          </a:ln>
        </p:spPr>
      </p:sp>
      <p:sp>
        <p:nvSpPr>
          <p:cNvPr id="29" name="Text 26"/>
          <p:cNvSpPr txBox="1"/>
          <p:nvPr/>
        </p:nvSpPr>
        <p:spPr>
          <a:xfrm>
            <a:off x="5047488" y="2176272"/>
            <a:ext cx="3566160" cy="237744"/>
          </a:xfrm>
          <a:prstGeom prst="rect">
            <a:avLst/>
          </a:prstGeom>
          <a:noFill/>
          <a:ln/>
        </p:spPr>
        <p:txBody>
          <a:bodyPr wrap="square" lIns="0" tIns="0" rIns="0" bIns="0" rtlCol="0" anchor="t"/>
          <a:lstStyle/>
          <a:p>
            <a:pPr indent="0" marL="0">
              <a:buNone/>
            </a:pPr>
            <a:r>
              <a:rPr lang="en-US" sz="950" b="1" dirty="0">
                <a:solidFill>
                  <a:srgbClr val="1B2430"/>
                </a:solidFill>
                <a:latin typeface="Verdana" pitchFamily="34" charset="0"/>
                <a:ea typeface="Verdana" pitchFamily="34" charset="-122"/>
                <a:cs typeface="Verdana" pitchFamily="34" charset="-120"/>
              </a:rPr>
              <a:t>RFQ shortlist (to qualify, not endorsements)</a:t>
            </a:r>
            <a:endParaRPr lang="en-US" sz="950" dirty="0"/>
          </a:p>
        </p:txBody>
      </p:sp>
      <p:sp>
        <p:nvSpPr>
          <p:cNvPr id="30" name="Text 27"/>
          <p:cNvSpPr txBox="1"/>
          <p:nvPr/>
        </p:nvSpPr>
        <p:spPr>
          <a:xfrm>
            <a:off x="5047488" y="2487168"/>
            <a:ext cx="3520440" cy="1874520"/>
          </a:xfrm>
          <a:prstGeom prst="rect">
            <a:avLst/>
          </a:prstGeom>
          <a:noFill/>
          <a:ln/>
        </p:spPr>
        <p:txBody>
          <a:bodyPr wrap="square" lIns="0" tIns="0" rIns="0" bIns="0" rtlCol="0" anchor="t"/>
          <a:lstStyle/>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Primary: PCBWay, Seeed Fusion, Peakingtech, Shenzhen MHC</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Scale option: Kaifa. Secondary: Grandtop, PCBONLINE, Shenze</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We keep: test system, firmware releases, ECN/AVL approval, final acceptance</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Contracts: NNN, tooling ownership, no overrun, no silent substitutions</a:t>
            </a:r>
            <a:endParaRPr lang="en-US" sz="800" dirty="0"/>
          </a:p>
        </p:txBody>
      </p:sp>
      <p:sp>
        <p:nvSpPr>
          <p:cNvPr id="31" name="Text 28"/>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Source: ProtoPulse Baker China manufacturing package (29 Sep 2026). RFQ quantities 5 / 10 / 25 / 50 / 100 / 250 / 500 / 1,000 / 5,000.</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25</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PRATEEK: 'START WITH BAKER FIRST?' WE AGREE.</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Step by step: Proto + Baker first</a:t>
            </a:r>
            <a:endParaRPr lang="en-US" sz="1900" dirty="0"/>
          </a:p>
        </p:txBody>
      </p:sp>
      <p:sp>
        <p:nvSpPr>
          <p:cNvPr id="8" name="Shape 6"/>
          <p:cNvSpPr/>
          <p:nvPr/>
        </p:nvSpPr>
        <p:spPr>
          <a:xfrm>
            <a:off x="457200" y="1188720"/>
            <a:ext cx="2633472" cy="3291840"/>
          </a:xfrm>
          <a:prstGeom prst="rect">
            <a:avLst/>
          </a:prstGeom>
          <a:solidFill>
            <a:srgbClr val="FFFFFF"/>
          </a:solidFill>
          <a:ln w="11430">
            <a:solidFill>
              <a:srgbClr val="C8834A"/>
            </a:solidFill>
            <a:prstDash val="solid"/>
          </a:ln>
        </p:spPr>
      </p:sp>
      <p:sp>
        <p:nvSpPr>
          <p:cNvPr id="9" name="Shape 7"/>
          <p:cNvSpPr/>
          <p:nvPr/>
        </p:nvSpPr>
        <p:spPr>
          <a:xfrm>
            <a:off x="457200" y="1188720"/>
            <a:ext cx="54864" cy="3291840"/>
          </a:xfrm>
          <a:prstGeom prst="rect">
            <a:avLst/>
          </a:prstGeom>
          <a:solidFill>
            <a:srgbClr val="C8834A"/>
          </a:solidFill>
          <a:ln w="12700">
            <a:solidFill>
              <a:srgbClr val="C8834A"/>
            </a:solidFill>
            <a:prstDash val="solid"/>
          </a:ln>
        </p:spPr>
      </p:sp>
      <p:sp>
        <p:nvSpPr>
          <p:cNvPr id="10" name="Text 8"/>
          <p:cNvSpPr txBox="1"/>
          <p:nvPr/>
        </p:nvSpPr>
        <p:spPr>
          <a:xfrm>
            <a:off x="640080" y="1298448"/>
            <a:ext cx="2377440" cy="228600"/>
          </a:xfrm>
          <a:prstGeom prst="rect">
            <a:avLst/>
          </a:prstGeom>
          <a:noFill/>
          <a:ln/>
        </p:spPr>
        <p:txBody>
          <a:bodyPr wrap="square" lIns="0" tIns="0" rIns="0" bIns="0" rtlCol="0" anchor="t"/>
          <a:lstStyle/>
          <a:p>
            <a:pPr indent="0" marL="0">
              <a:buNone/>
            </a:pPr>
            <a:r>
              <a:rPr lang="en-US" sz="1050" b="1" dirty="0">
                <a:solidFill>
                  <a:srgbClr val="C8834A"/>
                </a:solidFill>
                <a:latin typeface="Verdana" pitchFamily="34" charset="0"/>
                <a:ea typeface="Verdana" pitchFamily="34" charset="-122"/>
                <a:cs typeface="Verdana" pitchFamily="34" charset="-120"/>
              </a:rPr>
              <a:t>Phase 1 · now · ₹10 lakh</a:t>
            </a:r>
            <a:endParaRPr lang="en-US" sz="1050" dirty="0"/>
          </a:p>
        </p:txBody>
      </p:sp>
      <p:sp>
        <p:nvSpPr>
          <p:cNvPr id="11" name="Text 9"/>
          <p:cNvSpPr txBox="1"/>
          <p:nvPr/>
        </p:nvSpPr>
        <p:spPr>
          <a:xfrm>
            <a:off x="640080" y="1554480"/>
            <a:ext cx="2377440" cy="182880"/>
          </a:xfrm>
          <a:prstGeom prst="rect">
            <a:avLst/>
          </a:prstGeom>
          <a:noFill/>
          <a:ln/>
        </p:spPr>
        <p:txBody>
          <a:bodyPr wrap="square" lIns="0" tIns="0" rIns="0" bIns="0" rtlCol="0" anchor="t"/>
          <a:lstStyle/>
          <a:p>
            <a:pPr indent="0" marL="0">
              <a:buNone/>
            </a:pPr>
            <a:r>
              <a:rPr lang="en-US" sz="750" dirty="0">
                <a:solidFill>
                  <a:srgbClr val="6B6459"/>
                </a:solidFill>
                <a:latin typeface="Consolas" pitchFamily="34" charset="0"/>
                <a:ea typeface="Consolas" pitchFamily="34" charset="-122"/>
                <a:cs typeface="Consolas" pitchFamily="34" charset="-120"/>
              </a:rPr>
              <a:t>0–9 months</a:t>
            </a:r>
            <a:endParaRPr lang="en-US" sz="750" dirty="0"/>
          </a:p>
        </p:txBody>
      </p:sp>
      <p:sp>
        <p:nvSpPr>
          <p:cNvPr id="12" name="Text 10"/>
          <p:cNvSpPr txBox="1"/>
          <p:nvPr/>
        </p:nvSpPr>
        <p:spPr>
          <a:xfrm>
            <a:off x="640080" y="1847088"/>
            <a:ext cx="2359152" cy="1783080"/>
          </a:xfrm>
          <a:prstGeom prst="rect">
            <a:avLst/>
          </a:prstGeom>
          <a:noFill/>
          <a:ln/>
        </p:spPr>
        <p:txBody>
          <a:bodyPr wrap="square" lIns="0" tIns="0" rIns="0" bIns="0" rtlCol="0" anchor="t"/>
          <a:lstStyle/>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Proto alpha: 3 reference designs from prompt to tested board</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Baker prototype: full 15-step flow</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Mixer built as Baker's test head, not launched on its own</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Close the 4 open points with data</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3 pilot sites, 50 boards, measured cycle time</a:t>
            </a:r>
            <a:endParaRPr lang="en-US" sz="800" dirty="0"/>
          </a:p>
        </p:txBody>
      </p:sp>
      <p:sp>
        <p:nvSpPr>
          <p:cNvPr id="13" name="Shape 11"/>
          <p:cNvSpPr/>
          <p:nvPr/>
        </p:nvSpPr>
        <p:spPr>
          <a:xfrm>
            <a:off x="640080" y="3675888"/>
            <a:ext cx="2286000" cy="0"/>
          </a:xfrm>
          <a:prstGeom prst="line">
            <a:avLst/>
          </a:prstGeom>
          <a:noFill/>
          <a:ln w="6350">
            <a:solidFill>
              <a:srgbClr val="D8D2C6"/>
            </a:solidFill>
            <a:prstDash val="solid"/>
          </a:ln>
        </p:spPr>
      </p:sp>
      <p:sp>
        <p:nvSpPr>
          <p:cNvPr id="14" name="Text 12"/>
          <p:cNvSpPr txBox="1"/>
          <p:nvPr/>
        </p:nvSpPr>
        <p:spPr>
          <a:xfrm>
            <a:off x="640080" y="3730752"/>
            <a:ext cx="2286000" cy="146304"/>
          </a:xfrm>
          <a:prstGeom prst="rect">
            <a:avLst/>
          </a:prstGeom>
          <a:noFill/>
          <a:ln/>
        </p:spPr>
        <p:txBody>
          <a:bodyPr wrap="square" lIns="0" tIns="0" rIns="0" bIns="0" rtlCol="0" anchor="t"/>
          <a:lstStyle/>
          <a:p>
            <a:pPr indent="0" marL="0">
              <a:buNone/>
            </a:pPr>
            <a:r>
              <a:rPr lang="en-US" sz="700" dirty="0">
                <a:solidFill>
                  <a:srgbClr val="C8834A"/>
                </a:solidFill>
                <a:latin typeface="Consolas" pitchFamily="34" charset="0"/>
                <a:ea typeface="Consolas" pitchFamily="34" charset="-122"/>
                <a:cs typeface="Consolas" pitchFamily="34" charset="-120"/>
              </a:rPr>
              <a:t>EXIT TEST</a:t>
            </a:r>
            <a:endParaRPr lang="en-US" sz="700" dirty="0"/>
          </a:p>
        </p:txBody>
      </p:sp>
      <p:sp>
        <p:nvSpPr>
          <p:cNvPr id="15" name="Text 13"/>
          <p:cNvSpPr txBox="1"/>
          <p:nvPr/>
        </p:nvSpPr>
        <p:spPr>
          <a:xfrm>
            <a:off x="640080" y="3904488"/>
            <a:ext cx="2331720" cy="502920"/>
          </a:xfrm>
          <a:prstGeom prst="rect">
            <a:avLst/>
          </a:prstGeom>
          <a:noFill/>
          <a:ln/>
        </p:spPr>
        <p:txBody>
          <a:bodyPr wrap="square" lIns="0" tIns="0" rIns="0" bIns="0" rtlCol="0" anchor="t"/>
          <a:lstStyle/>
          <a:p>
            <a:pPr indent="0" marL="0">
              <a:buNone/>
            </a:pPr>
            <a:r>
              <a:rPr lang="en-US" sz="800" dirty="0">
                <a:solidFill>
                  <a:srgbClr val="1B2430"/>
                </a:solidFill>
                <a:latin typeface="Verdana" pitchFamily="34" charset="0"/>
                <a:ea typeface="Verdana" pitchFamily="34" charset="-122"/>
                <a:cs typeface="Verdana" pitchFamily="34" charset="-120"/>
              </a:rPr>
              <a:t>Prompt → tested board on 3 designs; 4 open points closed</a:t>
            </a:r>
            <a:endParaRPr lang="en-US" sz="800" dirty="0"/>
          </a:p>
        </p:txBody>
      </p:sp>
      <p:sp>
        <p:nvSpPr>
          <p:cNvPr id="16" name="Shape 14"/>
          <p:cNvSpPr/>
          <p:nvPr/>
        </p:nvSpPr>
        <p:spPr>
          <a:xfrm>
            <a:off x="3246120" y="1188720"/>
            <a:ext cx="2633472" cy="3291840"/>
          </a:xfrm>
          <a:prstGeom prst="rect">
            <a:avLst/>
          </a:prstGeom>
          <a:solidFill>
            <a:srgbClr val="FFFFFF"/>
          </a:solidFill>
          <a:ln w="11430">
            <a:solidFill>
              <a:srgbClr val="7A7468"/>
            </a:solidFill>
            <a:prstDash val="solid"/>
          </a:ln>
        </p:spPr>
      </p:sp>
      <p:sp>
        <p:nvSpPr>
          <p:cNvPr id="17" name="Shape 15"/>
          <p:cNvSpPr/>
          <p:nvPr/>
        </p:nvSpPr>
        <p:spPr>
          <a:xfrm>
            <a:off x="3246120" y="1188720"/>
            <a:ext cx="54864" cy="3291840"/>
          </a:xfrm>
          <a:prstGeom prst="rect">
            <a:avLst/>
          </a:prstGeom>
          <a:solidFill>
            <a:srgbClr val="7A7468"/>
          </a:solidFill>
          <a:ln w="12700">
            <a:solidFill>
              <a:srgbClr val="7A7468"/>
            </a:solidFill>
            <a:prstDash val="solid"/>
          </a:ln>
        </p:spPr>
      </p:sp>
      <p:sp>
        <p:nvSpPr>
          <p:cNvPr id="18" name="Text 16"/>
          <p:cNvSpPr txBox="1"/>
          <p:nvPr/>
        </p:nvSpPr>
        <p:spPr>
          <a:xfrm>
            <a:off x="3429000" y="1298448"/>
            <a:ext cx="2377440" cy="228600"/>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Phase 2 · seed</a:t>
            </a:r>
            <a:endParaRPr lang="en-US" sz="1050" dirty="0"/>
          </a:p>
        </p:txBody>
      </p:sp>
      <p:sp>
        <p:nvSpPr>
          <p:cNvPr id="19" name="Text 17"/>
          <p:cNvSpPr txBox="1"/>
          <p:nvPr/>
        </p:nvSpPr>
        <p:spPr>
          <a:xfrm>
            <a:off x="3429000" y="1554480"/>
            <a:ext cx="2377440" cy="182880"/>
          </a:xfrm>
          <a:prstGeom prst="rect">
            <a:avLst/>
          </a:prstGeom>
          <a:noFill/>
          <a:ln/>
        </p:spPr>
        <p:txBody>
          <a:bodyPr wrap="square" lIns="0" tIns="0" rIns="0" bIns="0" rtlCol="0" anchor="t"/>
          <a:lstStyle/>
          <a:p>
            <a:pPr indent="0" marL="0">
              <a:buNone/>
            </a:pPr>
            <a:r>
              <a:rPr lang="en-US" sz="750" dirty="0">
                <a:solidFill>
                  <a:srgbClr val="6B6459"/>
                </a:solidFill>
                <a:latin typeface="Consolas" pitchFamily="34" charset="0"/>
                <a:ea typeface="Consolas" pitchFamily="34" charset="-122"/>
                <a:cs typeface="Consolas" pitchFamily="34" charset="-120"/>
              </a:rPr>
              <a:t>9–18 months</a:t>
            </a:r>
            <a:endParaRPr lang="en-US" sz="750" dirty="0"/>
          </a:p>
        </p:txBody>
      </p:sp>
      <p:sp>
        <p:nvSpPr>
          <p:cNvPr id="20" name="Text 18"/>
          <p:cNvSpPr txBox="1"/>
          <p:nvPr/>
        </p:nvSpPr>
        <p:spPr>
          <a:xfrm>
            <a:off x="3429000" y="1847088"/>
            <a:ext cx="2359152" cy="1783080"/>
          </a:xfrm>
          <a:prstGeom prst="rect">
            <a:avLst/>
          </a:prstGeom>
          <a:noFill/>
          <a:ln/>
        </p:spPr>
        <p:txBody>
          <a:bodyPr wrap="square" lIns="0" tIns="0" rIns="0" bIns="0" rtlCol="0" anchor="t"/>
          <a:lstStyle/>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EVT/DVT units through a China partner (5–30)</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First paid customers: colleges + startups</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Mixer launched commercially</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Proto subscriptions start</a:t>
            </a:r>
            <a:endParaRPr lang="en-US" sz="800" dirty="0"/>
          </a:p>
        </p:txBody>
      </p:sp>
      <p:sp>
        <p:nvSpPr>
          <p:cNvPr id="21" name="Shape 19"/>
          <p:cNvSpPr/>
          <p:nvPr/>
        </p:nvSpPr>
        <p:spPr>
          <a:xfrm>
            <a:off x="3429000" y="3675888"/>
            <a:ext cx="2286000" cy="0"/>
          </a:xfrm>
          <a:prstGeom prst="line">
            <a:avLst/>
          </a:prstGeom>
          <a:noFill/>
          <a:ln w="6350">
            <a:solidFill>
              <a:srgbClr val="D8D2C6"/>
            </a:solidFill>
            <a:prstDash val="solid"/>
          </a:ln>
        </p:spPr>
      </p:sp>
      <p:sp>
        <p:nvSpPr>
          <p:cNvPr id="22" name="Text 20"/>
          <p:cNvSpPr txBox="1"/>
          <p:nvPr/>
        </p:nvSpPr>
        <p:spPr>
          <a:xfrm>
            <a:off x="3429000" y="3730752"/>
            <a:ext cx="2286000" cy="146304"/>
          </a:xfrm>
          <a:prstGeom prst="rect">
            <a:avLst/>
          </a:prstGeom>
          <a:noFill/>
          <a:ln/>
        </p:spPr>
        <p:txBody>
          <a:bodyPr wrap="square" lIns="0" tIns="0" rIns="0" bIns="0" rtlCol="0" anchor="t"/>
          <a:lstStyle/>
          <a:p>
            <a:pPr indent="0" marL="0">
              <a:buNone/>
            </a:pPr>
            <a:r>
              <a:rPr lang="en-US" sz="700" dirty="0">
                <a:solidFill>
                  <a:srgbClr val="C8834A"/>
                </a:solidFill>
                <a:latin typeface="Consolas" pitchFamily="34" charset="0"/>
                <a:ea typeface="Consolas" pitchFamily="34" charset="-122"/>
                <a:cs typeface="Consolas" pitchFamily="34" charset="-120"/>
              </a:rPr>
              <a:t>EXIT TEST</a:t>
            </a:r>
            <a:endParaRPr lang="en-US" sz="700" dirty="0"/>
          </a:p>
        </p:txBody>
      </p:sp>
      <p:sp>
        <p:nvSpPr>
          <p:cNvPr id="23" name="Text 21"/>
          <p:cNvSpPr txBox="1"/>
          <p:nvPr/>
        </p:nvSpPr>
        <p:spPr>
          <a:xfrm>
            <a:off x="3429000" y="3904488"/>
            <a:ext cx="2331720" cy="502920"/>
          </a:xfrm>
          <a:prstGeom prst="rect">
            <a:avLst/>
          </a:prstGeom>
          <a:noFill/>
          <a:ln/>
        </p:spPr>
        <p:txBody>
          <a:bodyPr wrap="square" lIns="0" tIns="0" rIns="0" bIns="0" rtlCol="0" anchor="t"/>
          <a:lstStyle/>
          <a:p>
            <a:pPr indent="0" marL="0">
              <a:buNone/>
            </a:pPr>
            <a:r>
              <a:rPr lang="en-US" sz="800" dirty="0">
                <a:solidFill>
                  <a:srgbClr val="1B2430"/>
                </a:solidFill>
                <a:latin typeface="Verdana" pitchFamily="34" charset="0"/>
                <a:ea typeface="Verdana" pitchFamily="34" charset="-122"/>
                <a:cs typeface="Verdana" pitchFamily="34" charset="-120"/>
              </a:rPr>
              <a:t>10+ paid units; EVT/DVT passed at a China partner</a:t>
            </a:r>
            <a:endParaRPr lang="en-US" sz="800" dirty="0"/>
          </a:p>
        </p:txBody>
      </p:sp>
      <p:sp>
        <p:nvSpPr>
          <p:cNvPr id="24" name="Shape 22"/>
          <p:cNvSpPr/>
          <p:nvPr/>
        </p:nvSpPr>
        <p:spPr>
          <a:xfrm>
            <a:off x="6035040" y="1188720"/>
            <a:ext cx="2633472" cy="3291840"/>
          </a:xfrm>
          <a:prstGeom prst="rect">
            <a:avLst/>
          </a:prstGeom>
          <a:solidFill>
            <a:srgbClr val="FFFFFF"/>
          </a:solidFill>
          <a:ln w="11430">
            <a:solidFill>
              <a:srgbClr val="7A7468"/>
            </a:solidFill>
            <a:prstDash val="solid"/>
          </a:ln>
        </p:spPr>
      </p:sp>
      <p:sp>
        <p:nvSpPr>
          <p:cNvPr id="25" name="Shape 23"/>
          <p:cNvSpPr/>
          <p:nvPr/>
        </p:nvSpPr>
        <p:spPr>
          <a:xfrm>
            <a:off x="6035040" y="1188720"/>
            <a:ext cx="54864" cy="3291840"/>
          </a:xfrm>
          <a:prstGeom prst="rect">
            <a:avLst/>
          </a:prstGeom>
          <a:solidFill>
            <a:srgbClr val="7A7468"/>
          </a:solidFill>
          <a:ln w="12700">
            <a:solidFill>
              <a:srgbClr val="7A7468"/>
            </a:solidFill>
            <a:prstDash val="solid"/>
          </a:ln>
        </p:spPr>
      </p:sp>
      <p:sp>
        <p:nvSpPr>
          <p:cNvPr id="26" name="Text 24"/>
          <p:cNvSpPr txBox="1"/>
          <p:nvPr/>
        </p:nvSpPr>
        <p:spPr>
          <a:xfrm>
            <a:off x="6217920" y="1298448"/>
            <a:ext cx="2377440" cy="228600"/>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Phase 3 · scale</a:t>
            </a:r>
            <a:endParaRPr lang="en-US" sz="1050" dirty="0"/>
          </a:p>
        </p:txBody>
      </p:sp>
      <p:sp>
        <p:nvSpPr>
          <p:cNvPr id="27" name="Text 25"/>
          <p:cNvSpPr txBox="1"/>
          <p:nvPr/>
        </p:nvSpPr>
        <p:spPr>
          <a:xfrm>
            <a:off x="6217920" y="1554480"/>
            <a:ext cx="2377440" cy="182880"/>
          </a:xfrm>
          <a:prstGeom prst="rect">
            <a:avLst/>
          </a:prstGeom>
          <a:noFill/>
          <a:ln/>
        </p:spPr>
        <p:txBody>
          <a:bodyPr wrap="square" lIns="0" tIns="0" rIns="0" bIns="0" rtlCol="0" anchor="t"/>
          <a:lstStyle/>
          <a:p>
            <a:pPr indent="0" marL="0">
              <a:buNone/>
            </a:pPr>
            <a:r>
              <a:rPr lang="en-US" sz="750" dirty="0">
                <a:solidFill>
                  <a:srgbClr val="6B6459"/>
                </a:solidFill>
                <a:latin typeface="Consolas" pitchFamily="34" charset="0"/>
                <a:ea typeface="Consolas" pitchFamily="34" charset="-122"/>
                <a:cs typeface="Consolas" pitchFamily="34" charset="-120"/>
              </a:rPr>
              <a:t>18–36 months</a:t>
            </a:r>
            <a:endParaRPr lang="en-US" sz="750" dirty="0"/>
          </a:p>
        </p:txBody>
      </p:sp>
      <p:sp>
        <p:nvSpPr>
          <p:cNvPr id="28" name="Text 26"/>
          <p:cNvSpPr txBox="1"/>
          <p:nvPr/>
        </p:nvSpPr>
        <p:spPr>
          <a:xfrm>
            <a:off x="6217920" y="1847088"/>
            <a:ext cx="2359152" cy="1783080"/>
          </a:xfrm>
          <a:prstGeom prst="rect">
            <a:avLst/>
          </a:prstGeom>
          <a:noFill/>
          <a:ln/>
        </p:spPr>
        <p:txBody>
          <a:bodyPr wrap="square" lIns="0" tIns="0" rIns="0" bIns="0" rtlCol="0" anchor="t"/>
          <a:lstStyle/>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PVT and 100-unit batch</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3D printer and more accessories under Proto</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Fab hand-off partnerships</a:t>
            </a:r>
            <a:endParaRPr lang="en-US" sz="800" dirty="0"/>
          </a:p>
          <a:p>
            <a:pPr marL="165100" indent="-165100">
              <a:spcAft>
                <a:spcPts val="300"/>
              </a:spcAft>
              <a:buSzPct val="100000"/>
              <a:buChar char="—"/>
            </a:pPr>
            <a:r>
              <a:rPr lang="en-US" sz="800" dirty="0">
                <a:solidFill>
                  <a:srgbClr val="1B2430"/>
                </a:solidFill>
                <a:latin typeface="Verdana" pitchFamily="34" charset="0"/>
                <a:ea typeface="Verdana" pitchFamily="34" charset="-122"/>
                <a:cs typeface="Verdana" pitchFamily="34" charset="-120"/>
              </a:rPr>
              <a:t>First markets outside India</a:t>
            </a:r>
            <a:endParaRPr lang="en-US" sz="800" dirty="0"/>
          </a:p>
        </p:txBody>
      </p:sp>
      <p:sp>
        <p:nvSpPr>
          <p:cNvPr id="29" name="Shape 27"/>
          <p:cNvSpPr/>
          <p:nvPr/>
        </p:nvSpPr>
        <p:spPr>
          <a:xfrm>
            <a:off x="6217920" y="3675888"/>
            <a:ext cx="2286000" cy="0"/>
          </a:xfrm>
          <a:prstGeom prst="line">
            <a:avLst/>
          </a:prstGeom>
          <a:noFill/>
          <a:ln w="6350">
            <a:solidFill>
              <a:srgbClr val="D8D2C6"/>
            </a:solidFill>
            <a:prstDash val="solid"/>
          </a:ln>
        </p:spPr>
      </p:sp>
      <p:sp>
        <p:nvSpPr>
          <p:cNvPr id="30" name="Text 28"/>
          <p:cNvSpPr txBox="1"/>
          <p:nvPr/>
        </p:nvSpPr>
        <p:spPr>
          <a:xfrm>
            <a:off x="6217920" y="3730752"/>
            <a:ext cx="2286000" cy="146304"/>
          </a:xfrm>
          <a:prstGeom prst="rect">
            <a:avLst/>
          </a:prstGeom>
          <a:noFill/>
          <a:ln/>
        </p:spPr>
        <p:txBody>
          <a:bodyPr wrap="square" lIns="0" tIns="0" rIns="0" bIns="0" rtlCol="0" anchor="t"/>
          <a:lstStyle/>
          <a:p>
            <a:pPr indent="0" marL="0">
              <a:buNone/>
            </a:pPr>
            <a:r>
              <a:rPr lang="en-US" sz="700" dirty="0">
                <a:solidFill>
                  <a:srgbClr val="C8834A"/>
                </a:solidFill>
                <a:latin typeface="Consolas" pitchFamily="34" charset="0"/>
                <a:ea typeface="Consolas" pitchFamily="34" charset="-122"/>
                <a:cs typeface="Consolas" pitchFamily="34" charset="-120"/>
              </a:rPr>
              <a:t>EXIT TEST</a:t>
            </a:r>
            <a:endParaRPr lang="en-US" sz="700" dirty="0"/>
          </a:p>
        </p:txBody>
      </p:sp>
      <p:sp>
        <p:nvSpPr>
          <p:cNvPr id="31" name="Text 29"/>
          <p:cNvSpPr txBox="1"/>
          <p:nvPr/>
        </p:nvSpPr>
        <p:spPr>
          <a:xfrm>
            <a:off x="6217920" y="3904488"/>
            <a:ext cx="2331720" cy="502920"/>
          </a:xfrm>
          <a:prstGeom prst="rect">
            <a:avLst/>
          </a:prstGeom>
          <a:noFill/>
          <a:ln/>
        </p:spPr>
        <p:txBody>
          <a:bodyPr wrap="square" lIns="0" tIns="0" rIns="0" bIns="0" rtlCol="0" anchor="t"/>
          <a:lstStyle/>
          <a:p>
            <a:pPr indent="0" marL="0">
              <a:buNone/>
            </a:pPr>
            <a:r>
              <a:rPr lang="en-US" sz="800" dirty="0">
                <a:solidFill>
                  <a:srgbClr val="1B2430"/>
                </a:solidFill>
                <a:latin typeface="Verdana" pitchFamily="34" charset="0"/>
                <a:ea typeface="Verdana" pitchFamily="34" charset="-122"/>
                <a:cs typeface="Verdana" pitchFamily="34" charset="-120"/>
              </a:rPr>
              <a:t>PVT yield signed off; 100 units shipped</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26</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PHASE 1 BUDGET</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Use of the ₹10 lakh</a:t>
            </a:r>
            <a:endParaRPr lang="en-US" sz="1900" dirty="0"/>
          </a:p>
        </p:txBody>
      </p:sp>
      <p:graphicFrame>
        <p:nvGraphicFramePr>
          <p:cNvPr id="8" name="Chart 0" descr=""/>
          <p:cNvGraphicFramePr/>
          <p:nvPr/>
        </p:nvGraphicFramePr>
        <p:xfrm>
          <a:off x="365760" y="1097280"/>
          <a:ext cx="5029200" cy="34747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623560" y="1188720"/>
            <a:ext cx="3063240" cy="3291840"/>
          </a:xfrm>
          <a:prstGeom prst="rect">
            <a:avLst/>
          </a:prstGeom>
          <a:solidFill>
            <a:srgbClr val="F6F1E8"/>
          </a:solidFill>
          <a:ln w="9525">
            <a:solidFill>
              <a:srgbClr val="F6F1E8"/>
            </a:solidFill>
            <a:prstDash val="solid"/>
          </a:ln>
        </p:spPr>
      </p:sp>
      <p:sp>
        <p:nvSpPr>
          <p:cNvPr id="10" name="Text 7"/>
          <p:cNvSpPr txBox="1"/>
          <p:nvPr/>
        </p:nvSpPr>
        <p:spPr>
          <a:xfrm>
            <a:off x="5779008" y="1298448"/>
            <a:ext cx="2834640" cy="237744"/>
          </a:xfrm>
          <a:prstGeom prst="rect">
            <a:avLst/>
          </a:prstGeom>
          <a:noFill/>
          <a:ln/>
        </p:spPr>
        <p:txBody>
          <a:bodyPr wrap="square" lIns="0" tIns="0" rIns="0" bIns="0" rtlCol="0" anchor="t"/>
          <a:lstStyle/>
          <a:p>
            <a:pPr indent="0" marL="0">
              <a:buNone/>
            </a:pPr>
            <a:r>
              <a:rPr lang="en-US" sz="1000" b="1" dirty="0">
                <a:solidFill>
                  <a:srgbClr val="1B2430"/>
                </a:solidFill>
                <a:latin typeface="Verdana" pitchFamily="34" charset="0"/>
                <a:ea typeface="Verdana" pitchFamily="34" charset="-122"/>
                <a:cs typeface="Verdana" pitchFamily="34" charset="-120"/>
              </a:rPr>
              <a:t>Milestones the money buys</a:t>
            </a:r>
            <a:endParaRPr lang="en-US" sz="1000" dirty="0"/>
          </a:p>
        </p:txBody>
      </p:sp>
      <p:sp>
        <p:nvSpPr>
          <p:cNvPr id="11" name="Text 8"/>
          <p:cNvSpPr txBox="1"/>
          <p:nvPr/>
        </p:nvSpPr>
        <p:spPr>
          <a:xfrm>
            <a:off x="5779008" y="1645920"/>
            <a:ext cx="365760" cy="274320"/>
          </a:xfrm>
          <a:prstGeom prst="rect">
            <a:avLst/>
          </a:prstGeom>
          <a:noFill/>
          <a:ln/>
        </p:spPr>
        <p:txBody>
          <a:bodyPr wrap="square" lIns="0" tIns="0" rIns="0" bIns="0" rtlCol="0" anchor="t"/>
          <a:lstStyle/>
          <a:p>
            <a:pPr indent="0" marL="0">
              <a:buNone/>
            </a:pPr>
            <a:r>
              <a:rPr lang="en-US" sz="800" b="1" dirty="0">
                <a:solidFill>
                  <a:srgbClr val="C8834A"/>
                </a:solidFill>
                <a:latin typeface="Consolas" pitchFamily="34" charset="0"/>
                <a:ea typeface="Consolas" pitchFamily="34" charset="-122"/>
                <a:cs typeface="Consolas" pitchFamily="34" charset="-120"/>
              </a:rPr>
              <a:t>M3</a:t>
            </a:r>
            <a:endParaRPr lang="en-US" sz="800" dirty="0"/>
          </a:p>
        </p:txBody>
      </p:sp>
      <p:sp>
        <p:nvSpPr>
          <p:cNvPr id="12" name="Text 9"/>
          <p:cNvSpPr txBox="1"/>
          <p:nvPr/>
        </p:nvSpPr>
        <p:spPr>
          <a:xfrm>
            <a:off x="6172200" y="1645920"/>
            <a:ext cx="2423160" cy="329184"/>
          </a:xfrm>
          <a:prstGeom prst="rect">
            <a:avLst/>
          </a:prstGeom>
          <a:noFill/>
          <a:ln/>
        </p:spPr>
        <p:txBody>
          <a:bodyPr wrap="square" lIns="0" tIns="0" rIns="0" bIns="0" rtlCol="0" anchor="t"/>
          <a:lstStyle/>
          <a:p>
            <a:pPr indent="0" marL="0">
              <a:buNone/>
            </a:pPr>
            <a:r>
              <a:rPr lang="en-US" sz="780" dirty="0">
                <a:solidFill>
                  <a:srgbClr val="1B2430"/>
                </a:solidFill>
                <a:latin typeface="Verdana" pitchFamily="34" charset="0"/>
                <a:ea typeface="Verdana" pitchFamily="34" charset="-122"/>
                <a:cs typeface="Verdana" pitchFamily="34" charset="-120"/>
              </a:rPr>
              <a:t>Baker assembled; Zone A mills and drills</a:t>
            </a:r>
            <a:endParaRPr lang="en-US" sz="780" dirty="0"/>
          </a:p>
        </p:txBody>
      </p:sp>
      <p:sp>
        <p:nvSpPr>
          <p:cNvPr id="13" name="Text 10"/>
          <p:cNvSpPr txBox="1"/>
          <p:nvPr/>
        </p:nvSpPr>
        <p:spPr>
          <a:xfrm>
            <a:off x="5779008" y="1993392"/>
            <a:ext cx="365760" cy="274320"/>
          </a:xfrm>
          <a:prstGeom prst="rect">
            <a:avLst/>
          </a:prstGeom>
          <a:noFill/>
          <a:ln/>
        </p:spPr>
        <p:txBody>
          <a:bodyPr wrap="square" lIns="0" tIns="0" rIns="0" bIns="0" rtlCol="0" anchor="t"/>
          <a:lstStyle/>
          <a:p>
            <a:pPr indent="0" marL="0">
              <a:buNone/>
            </a:pPr>
            <a:r>
              <a:rPr lang="en-US" sz="800" b="1" dirty="0">
                <a:solidFill>
                  <a:srgbClr val="C8834A"/>
                </a:solidFill>
                <a:latin typeface="Consolas" pitchFamily="34" charset="0"/>
                <a:ea typeface="Consolas" pitchFamily="34" charset="-122"/>
                <a:cs typeface="Consolas" pitchFamily="34" charset="-120"/>
              </a:rPr>
              <a:t>M5</a:t>
            </a:r>
            <a:endParaRPr lang="en-US" sz="800" dirty="0"/>
          </a:p>
        </p:txBody>
      </p:sp>
      <p:sp>
        <p:nvSpPr>
          <p:cNvPr id="14" name="Text 11"/>
          <p:cNvSpPr txBox="1"/>
          <p:nvPr/>
        </p:nvSpPr>
        <p:spPr>
          <a:xfrm>
            <a:off x="6172200" y="1993392"/>
            <a:ext cx="2423160" cy="329184"/>
          </a:xfrm>
          <a:prstGeom prst="rect">
            <a:avLst/>
          </a:prstGeom>
          <a:noFill/>
          <a:ln/>
        </p:spPr>
        <p:txBody>
          <a:bodyPr wrap="square" lIns="0" tIns="0" rIns="0" bIns="0" rtlCol="0" anchor="t"/>
          <a:lstStyle/>
          <a:p>
            <a:pPr indent="0" marL="0">
              <a:buNone/>
            </a:pPr>
            <a:r>
              <a:rPr lang="en-US" sz="780" dirty="0">
                <a:solidFill>
                  <a:srgbClr val="1B2430"/>
                </a:solidFill>
                <a:latin typeface="Verdana" pitchFamily="34" charset="0"/>
                <a:ea typeface="Verdana" pitchFamily="34" charset="-122"/>
                <a:cs typeface="Verdana" pitchFamily="34" charset="-120"/>
              </a:rPr>
              <a:t>First board through all 15 steps</a:t>
            </a:r>
            <a:endParaRPr lang="en-US" sz="780" dirty="0"/>
          </a:p>
        </p:txBody>
      </p:sp>
      <p:sp>
        <p:nvSpPr>
          <p:cNvPr id="15" name="Text 12"/>
          <p:cNvSpPr txBox="1"/>
          <p:nvPr/>
        </p:nvSpPr>
        <p:spPr>
          <a:xfrm>
            <a:off x="5779008" y="2340864"/>
            <a:ext cx="365760" cy="274320"/>
          </a:xfrm>
          <a:prstGeom prst="rect">
            <a:avLst/>
          </a:prstGeom>
          <a:noFill/>
          <a:ln/>
        </p:spPr>
        <p:txBody>
          <a:bodyPr wrap="square" lIns="0" tIns="0" rIns="0" bIns="0" rtlCol="0" anchor="t"/>
          <a:lstStyle/>
          <a:p>
            <a:pPr indent="0" marL="0">
              <a:buNone/>
            </a:pPr>
            <a:r>
              <a:rPr lang="en-US" sz="800" b="1" dirty="0">
                <a:solidFill>
                  <a:srgbClr val="C8834A"/>
                </a:solidFill>
                <a:latin typeface="Consolas" pitchFamily="34" charset="0"/>
                <a:ea typeface="Consolas" pitchFamily="34" charset="-122"/>
                <a:cs typeface="Consolas" pitchFamily="34" charset="-120"/>
              </a:rPr>
              <a:t>M6</a:t>
            </a:r>
            <a:endParaRPr lang="en-US" sz="800" dirty="0"/>
          </a:p>
        </p:txBody>
      </p:sp>
      <p:sp>
        <p:nvSpPr>
          <p:cNvPr id="16" name="Text 13"/>
          <p:cNvSpPr txBox="1"/>
          <p:nvPr/>
        </p:nvSpPr>
        <p:spPr>
          <a:xfrm>
            <a:off x="6172200" y="2340864"/>
            <a:ext cx="2423160" cy="329184"/>
          </a:xfrm>
          <a:prstGeom prst="rect">
            <a:avLst/>
          </a:prstGeom>
          <a:noFill/>
          <a:ln/>
        </p:spPr>
        <p:txBody>
          <a:bodyPr wrap="square" lIns="0" tIns="0" rIns="0" bIns="0" rtlCol="0" anchor="t"/>
          <a:lstStyle/>
          <a:p>
            <a:pPr indent="0" marL="0">
              <a:buNone/>
            </a:pPr>
            <a:r>
              <a:rPr lang="en-US" sz="780" dirty="0">
                <a:solidFill>
                  <a:srgbClr val="1B2430"/>
                </a:solidFill>
                <a:latin typeface="Verdana" pitchFamily="34" charset="0"/>
                <a:ea typeface="Verdana" pitchFamily="34" charset="-122"/>
                <a:cs typeface="Verdana" pitchFamily="34" charset="-120"/>
              </a:rPr>
              <a:t>4 open points closed with data</a:t>
            </a:r>
            <a:endParaRPr lang="en-US" sz="780" dirty="0"/>
          </a:p>
        </p:txBody>
      </p:sp>
      <p:sp>
        <p:nvSpPr>
          <p:cNvPr id="17" name="Text 14"/>
          <p:cNvSpPr txBox="1"/>
          <p:nvPr/>
        </p:nvSpPr>
        <p:spPr>
          <a:xfrm>
            <a:off x="5779008" y="2688336"/>
            <a:ext cx="365760" cy="274320"/>
          </a:xfrm>
          <a:prstGeom prst="rect">
            <a:avLst/>
          </a:prstGeom>
          <a:noFill/>
          <a:ln/>
        </p:spPr>
        <p:txBody>
          <a:bodyPr wrap="square" lIns="0" tIns="0" rIns="0" bIns="0" rtlCol="0" anchor="t"/>
          <a:lstStyle/>
          <a:p>
            <a:pPr indent="0" marL="0">
              <a:buNone/>
            </a:pPr>
            <a:r>
              <a:rPr lang="en-US" sz="800" b="1" dirty="0">
                <a:solidFill>
                  <a:srgbClr val="C8834A"/>
                </a:solidFill>
                <a:latin typeface="Consolas" pitchFamily="34" charset="0"/>
                <a:ea typeface="Consolas" pitchFamily="34" charset="-122"/>
                <a:cs typeface="Consolas" pitchFamily="34" charset="-120"/>
              </a:rPr>
              <a:t>M7</a:t>
            </a:r>
            <a:endParaRPr lang="en-US" sz="800" dirty="0"/>
          </a:p>
        </p:txBody>
      </p:sp>
      <p:sp>
        <p:nvSpPr>
          <p:cNvPr id="18" name="Text 15"/>
          <p:cNvSpPr txBox="1"/>
          <p:nvPr/>
        </p:nvSpPr>
        <p:spPr>
          <a:xfrm>
            <a:off x="6172200" y="2688336"/>
            <a:ext cx="2423160" cy="329184"/>
          </a:xfrm>
          <a:prstGeom prst="rect">
            <a:avLst/>
          </a:prstGeom>
          <a:noFill/>
          <a:ln/>
        </p:spPr>
        <p:txBody>
          <a:bodyPr wrap="square" lIns="0" tIns="0" rIns="0" bIns="0" rtlCol="0" anchor="t"/>
          <a:lstStyle/>
          <a:p>
            <a:pPr indent="0" marL="0">
              <a:buNone/>
            </a:pPr>
            <a:r>
              <a:rPr lang="en-US" sz="780" dirty="0">
                <a:solidFill>
                  <a:srgbClr val="1B2430"/>
                </a:solidFill>
                <a:latin typeface="Verdana" pitchFamily="34" charset="0"/>
                <a:ea typeface="Verdana" pitchFamily="34" charset="-122"/>
                <a:cs typeface="Verdana" pitchFamily="34" charset="-120"/>
              </a:rPr>
              <a:t>Proto: prompt → tested board, 3 reference designs</a:t>
            </a:r>
            <a:endParaRPr lang="en-US" sz="780" dirty="0"/>
          </a:p>
        </p:txBody>
      </p:sp>
      <p:sp>
        <p:nvSpPr>
          <p:cNvPr id="19" name="Text 16"/>
          <p:cNvSpPr txBox="1"/>
          <p:nvPr/>
        </p:nvSpPr>
        <p:spPr>
          <a:xfrm>
            <a:off x="5779008" y="3035808"/>
            <a:ext cx="365760" cy="274320"/>
          </a:xfrm>
          <a:prstGeom prst="rect">
            <a:avLst/>
          </a:prstGeom>
          <a:noFill/>
          <a:ln/>
        </p:spPr>
        <p:txBody>
          <a:bodyPr wrap="square" lIns="0" tIns="0" rIns="0" bIns="0" rtlCol="0" anchor="t"/>
          <a:lstStyle/>
          <a:p>
            <a:pPr indent="0" marL="0">
              <a:buNone/>
            </a:pPr>
            <a:r>
              <a:rPr lang="en-US" sz="800" b="1" dirty="0">
                <a:solidFill>
                  <a:srgbClr val="C8834A"/>
                </a:solidFill>
                <a:latin typeface="Consolas" pitchFamily="34" charset="0"/>
                <a:ea typeface="Consolas" pitchFamily="34" charset="-122"/>
                <a:cs typeface="Consolas" pitchFamily="34" charset="-120"/>
              </a:rPr>
              <a:t>M9</a:t>
            </a:r>
            <a:endParaRPr lang="en-US" sz="800" dirty="0"/>
          </a:p>
        </p:txBody>
      </p:sp>
      <p:sp>
        <p:nvSpPr>
          <p:cNvPr id="20" name="Text 17"/>
          <p:cNvSpPr txBox="1"/>
          <p:nvPr/>
        </p:nvSpPr>
        <p:spPr>
          <a:xfrm>
            <a:off x="6172200" y="3035808"/>
            <a:ext cx="2423160" cy="329184"/>
          </a:xfrm>
          <a:prstGeom prst="rect">
            <a:avLst/>
          </a:prstGeom>
          <a:noFill/>
          <a:ln/>
        </p:spPr>
        <p:txBody>
          <a:bodyPr wrap="square" lIns="0" tIns="0" rIns="0" bIns="0" rtlCol="0" anchor="t"/>
          <a:lstStyle/>
          <a:p>
            <a:pPr indent="0" marL="0">
              <a:buNone/>
            </a:pPr>
            <a:r>
              <a:rPr lang="en-US" sz="780" dirty="0">
                <a:solidFill>
                  <a:srgbClr val="1B2430"/>
                </a:solidFill>
                <a:latin typeface="Verdana" pitchFamily="34" charset="0"/>
                <a:ea typeface="Verdana" pitchFamily="34" charset="-122"/>
                <a:cs typeface="Verdana" pitchFamily="34" charset="-120"/>
              </a:rPr>
              <a:t>3 pilot sites, 50 boards, measured cycle time, LOIs</a:t>
            </a:r>
            <a:endParaRPr lang="en-US" sz="780" dirty="0"/>
          </a:p>
        </p:txBody>
      </p:sp>
      <p:sp>
        <p:nvSpPr>
          <p:cNvPr id="21" name="Text 18"/>
          <p:cNvSpPr txBox="1"/>
          <p:nvPr/>
        </p:nvSpPr>
        <p:spPr>
          <a:xfrm>
            <a:off x="5779008" y="3474720"/>
            <a:ext cx="2743200" cy="411480"/>
          </a:xfrm>
          <a:prstGeom prst="rect">
            <a:avLst/>
          </a:prstGeom>
          <a:noFill/>
          <a:ln/>
        </p:spPr>
        <p:txBody>
          <a:bodyPr wrap="square" lIns="0" tIns="0" rIns="0" bIns="0" rtlCol="0" anchor="t"/>
          <a:lstStyle/>
          <a:p>
            <a:pPr indent="0" marL="0">
              <a:buNone/>
            </a:pPr>
            <a:r>
              <a:rPr lang="en-US" sz="2200" b="1" dirty="0">
                <a:solidFill>
                  <a:srgbClr val="C8834A"/>
                </a:solidFill>
                <a:latin typeface="Verdana" pitchFamily="34" charset="0"/>
                <a:ea typeface="Verdana" pitchFamily="34" charset="-122"/>
                <a:cs typeface="Verdana" pitchFamily="34" charset="-120"/>
              </a:rPr>
              <a:t>45%</a:t>
            </a:r>
            <a:endParaRPr lang="en-US" sz="2200" dirty="0"/>
          </a:p>
        </p:txBody>
      </p:sp>
      <p:sp>
        <p:nvSpPr>
          <p:cNvPr id="22" name="Text 19"/>
          <p:cNvSpPr txBox="1"/>
          <p:nvPr/>
        </p:nvSpPr>
        <p:spPr>
          <a:xfrm>
            <a:off x="5779008" y="3886200"/>
            <a:ext cx="2788920" cy="457200"/>
          </a:xfrm>
          <a:prstGeom prst="rect">
            <a:avLst/>
          </a:prstGeom>
          <a:noFill/>
          <a:ln/>
        </p:spPr>
        <p:txBody>
          <a:bodyPr wrap="square" lIns="0" tIns="0" rIns="0" bIns="0" rtlCol="0" anchor="t"/>
          <a:lstStyle/>
          <a:p>
            <a:pPr indent="0" marL="0">
              <a:buNone/>
            </a:pPr>
            <a:r>
              <a:rPr lang="en-US" sz="800" dirty="0">
                <a:solidFill>
                  <a:srgbClr val="6B6459"/>
                </a:solidFill>
                <a:latin typeface="Verdana" pitchFamily="34" charset="0"/>
                <a:ea typeface="Verdana" pitchFamily="34" charset="-122"/>
                <a:cs typeface="Verdana" pitchFamily="34" charset="-120"/>
              </a:rPr>
              <a:t>of the raise buys the two prototypes, costed line by line (₹4,48,265)</a:t>
            </a:r>
            <a:endParaRPr lang="en-US" sz="800" dirty="0"/>
          </a:p>
        </p:txBody>
      </p:sp>
      <p:sp>
        <p:nvSpPr>
          <p:cNvPr id="23" name="Text 20"/>
          <p:cNvSpPr txBox="1"/>
          <p:nvPr/>
        </p:nvSpPr>
        <p:spPr>
          <a:xfrm>
            <a:off x="457200" y="4626864"/>
            <a:ext cx="8229600" cy="182880"/>
          </a:xfrm>
          <a:prstGeom prst="rect">
            <a:avLst/>
          </a:prstGeom>
          <a:noFill/>
          <a:ln/>
        </p:spPr>
        <p:txBody>
          <a:bodyPr wrap="square" lIns="0" tIns="0" rIns="0" bIns="0" rtlCol="0" anchor="t"/>
          <a:lstStyle/>
          <a:p>
            <a:pPr indent="0" marL="0">
              <a:buNone/>
            </a:pPr>
            <a:r>
              <a:rPr lang="en-US" sz="650" dirty="0">
                <a:solidFill>
                  <a:srgbClr val="6B6459"/>
                </a:solidFill>
                <a:latin typeface="Verdana" pitchFamily="34" charset="0"/>
                <a:ea typeface="Verdana" pitchFamily="34" charset="-122"/>
                <a:cs typeface="Verdana" pitchFamily="34" charset="-120"/>
              </a:rPr>
              <a:t>Total ₹10,00,000. Hardware lines from the 29 Sep cost report; other lines are plan allocations. Founder salaries not included.</a:t>
            </a:r>
            <a:endParaRPr lang="en-US" sz="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27</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DEFENSIBILITY</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The moat is the loop, not the machine</a:t>
            </a:r>
            <a:endParaRPr lang="en-US" sz="1900" dirty="0"/>
          </a:p>
        </p:txBody>
      </p:sp>
      <p:sp>
        <p:nvSpPr>
          <p:cNvPr id="8" name="Shape 6"/>
          <p:cNvSpPr/>
          <p:nvPr/>
        </p:nvSpPr>
        <p:spPr>
          <a:xfrm>
            <a:off x="457200" y="1188720"/>
            <a:ext cx="4023360" cy="932688"/>
          </a:xfrm>
          <a:prstGeom prst="rect">
            <a:avLst/>
          </a:prstGeom>
          <a:solidFill>
            <a:srgbClr val="FFFFFF"/>
          </a:solidFill>
          <a:ln w="11430">
            <a:solidFill>
              <a:srgbClr val="1B2430"/>
            </a:solidFill>
            <a:prstDash val="solid"/>
          </a:ln>
        </p:spPr>
      </p:sp>
      <p:sp>
        <p:nvSpPr>
          <p:cNvPr id="9" name="Shape 7"/>
          <p:cNvSpPr/>
          <p:nvPr/>
        </p:nvSpPr>
        <p:spPr>
          <a:xfrm>
            <a:off x="457200" y="1188720"/>
            <a:ext cx="54864" cy="932688"/>
          </a:xfrm>
          <a:prstGeom prst="rect">
            <a:avLst/>
          </a:prstGeom>
          <a:solidFill>
            <a:srgbClr val="1B2430"/>
          </a:solidFill>
          <a:ln w="12700">
            <a:solidFill>
              <a:srgbClr val="1B2430"/>
            </a:solidFill>
            <a:prstDash val="solid"/>
          </a:ln>
        </p:spPr>
      </p:sp>
      <p:sp>
        <p:nvSpPr>
          <p:cNvPr id="10" name="Text 8"/>
          <p:cNvSpPr txBox="1"/>
          <p:nvPr/>
        </p:nvSpPr>
        <p:spPr>
          <a:xfrm>
            <a:off x="658368" y="1307592"/>
            <a:ext cx="3657600" cy="237744"/>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01  Closed-loop run data</a:t>
            </a:r>
            <a:endParaRPr lang="en-US" sz="1050" dirty="0"/>
          </a:p>
        </p:txBody>
      </p:sp>
      <p:sp>
        <p:nvSpPr>
          <p:cNvPr id="11" name="Text 9"/>
          <p:cNvSpPr txBox="1"/>
          <p:nvPr/>
        </p:nvSpPr>
        <p:spPr>
          <a:xfrm>
            <a:off x="658368" y="1600200"/>
            <a:ext cx="3657600" cy="475488"/>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Every run links design → process settings → measured result. File-only AI tools can't collect it</a:t>
            </a:r>
            <a:endParaRPr lang="en-US" sz="850" dirty="0"/>
          </a:p>
        </p:txBody>
      </p:sp>
      <p:sp>
        <p:nvSpPr>
          <p:cNvPr id="12" name="Shape 10"/>
          <p:cNvSpPr/>
          <p:nvPr/>
        </p:nvSpPr>
        <p:spPr>
          <a:xfrm>
            <a:off x="4663440" y="1188720"/>
            <a:ext cx="4023360" cy="932688"/>
          </a:xfrm>
          <a:prstGeom prst="rect">
            <a:avLst/>
          </a:prstGeom>
          <a:solidFill>
            <a:srgbClr val="FFFFFF"/>
          </a:solidFill>
          <a:ln w="11430">
            <a:solidFill>
              <a:srgbClr val="1B2430"/>
            </a:solidFill>
            <a:prstDash val="solid"/>
          </a:ln>
        </p:spPr>
      </p:sp>
      <p:sp>
        <p:nvSpPr>
          <p:cNvPr id="13" name="Shape 11"/>
          <p:cNvSpPr/>
          <p:nvPr/>
        </p:nvSpPr>
        <p:spPr>
          <a:xfrm>
            <a:off x="4663440" y="1188720"/>
            <a:ext cx="54864" cy="932688"/>
          </a:xfrm>
          <a:prstGeom prst="rect">
            <a:avLst/>
          </a:prstGeom>
          <a:solidFill>
            <a:srgbClr val="1B2430"/>
          </a:solidFill>
          <a:ln w="12700">
            <a:solidFill>
              <a:srgbClr val="1B2430"/>
            </a:solidFill>
            <a:prstDash val="solid"/>
          </a:ln>
        </p:spPr>
      </p:sp>
      <p:sp>
        <p:nvSpPr>
          <p:cNvPr id="14" name="Text 12"/>
          <p:cNvSpPr txBox="1"/>
          <p:nvPr/>
        </p:nvSpPr>
        <p:spPr>
          <a:xfrm>
            <a:off x="4864608" y="1307592"/>
            <a:ext cx="3657600" cy="237744"/>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02  Agent-native machines</a:t>
            </a:r>
            <a:endParaRPr lang="en-US" sz="1050" dirty="0"/>
          </a:p>
        </p:txBody>
      </p:sp>
      <p:sp>
        <p:nvSpPr>
          <p:cNvPr id="15" name="Text 13"/>
          <p:cNvSpPr txBox="1"/>
          <p:nvPr/>
        </p:nvSpPr>
        <p:spPr>
          <a:xfrm>
            <a:off x="4864608" y="1600200"/>
            <a:ext cx="3657600" cy="475488"/>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Baker and Mixer expose state, calibration and actions to Proto. Other machines were built for a person at a keyboard</a:t>
            </a:r>
            <a:endParaRPr lang="en-US" sz="850" dirty="0"/>
          </a:p>
        </p:txBody>
      </p:sp>
      <p:sp>
        <p:nvSpPr>
          <p:cNvPr id="16" name="Shape 14"/>
          <p:cNvSpPr/>
          <p:nvPr/>
        </p:nvSpPr>
        <p:spPr>
          <a:xfrm>
            <a:off x="457200" y="2286000"/>
            <a:ext cx="4023360" cy="932688"/>
          </a:xfrm>
          <a:prstGeom prst="rect">
            <a:avLst/>
          </a:prstGeom>
          <a:solidFill>
            <a:srgbClr val="FFFFFF"/>
          </a:solidFill>
          <a:ln w="11430">
            <a:solidFill>
              <a:srgbClr val="C8834A"/>
            </a:solidFill>
            <a:prstDash val="solid"/>
          </a:ln>
        </p:spPr>
      </p:sp>
      <p:sp>
        <p:nvSpPr>
          <p:cNvPr id="17" name="Shape 15"/>
          <p:cNvSpPr/>
          <p:nvPr/>
        </p:nvSpPr>
        <p:spPr>
          <a:xfrm>
            <a:off x="457200" y="2286000"/>
            <a:ext cx="54864" cy="932688"/>
          </a:xfrm>
          <a:prstGeom prst="rect">
            <a:avLst/>
          </a:prstGeom>
          <a:solidFill>
            <a:srgbClr val="C8834A"/>
          </a:solidFill>
          <a:ln w="12700">
            <a:solidFill>
              <a:srgbClr val="C8834A"/>
            </a:solidFill>
            <a:prstDash val="solid"/>
          </a:ln>
        </p:spPr>
      </p:sp>
      <p:sp>
        <p:nvSpPr>
          <p:cNvPr id="18" name="Text 16"/>
          <p:cNvSpPr txBox="1"/>
          <p:nvPr/>
        </p:nvSpPr>
        <p:spPr>
          <a:xfrm>
            <a:off x="658368" y="2404872"/>
            <a:ext cx="3657600" cy="237744"/>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03  Process IP</a:t>
            </a:r>
            <a:endParaRPr lang="en-US" sz="1050" dirty="0"/>
          </a:p>
        </p:txBody>
      </p:sp>
      <p:sp>
        <p:nvSpPr>
          <p:cNvPr id="19" name="Text 17"/>
          <p:cNvSpPr txBox="1"/>
          <p:nvPr/>
        </p:nvSpPr>
        <p:spPr>
          <a:xfrm>
            <a:off x="658368" y="2697480"/>
            <a:ext cx="3657600" cy="475488"/>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One frame for mill, mask and stencil from the same Gerber: registration a stand-alone mill doesn't have</a:t>
            </a:r>
            <a:endParaRPr lang="en-US" sz="850" dirty="0"/>
          </a:p>
        </p:txBody>
      </p:sp>
      <p:sp>
        <p:nvSpPr>
          <p:cNvPr id="20" name="Shape 18"/>
          <p:cNvSpPr/>
          <p:nvPr/>
        </p:nvSpPr>
        <p:spPr>
          <a:xfrm>
            <a:off x="4663440" y="2286000"/>
            <a:ext cx="4023360" cy="932688"/>
          </a:xfrm>
          <a:prstGeom prst="rect">
            <a:avLst/>
          </a:prstGeom>
          <a:solidFill>
            <a:srgbClr val="FFFFFF"/>
          </a:solidFill>
          <a:ln w="11430">
            <a:solidFill>
              <a:srgbClr val="7A7468"/>
            </a:solidFill>
            <a:prstDash val="solid"/>
          </a:ln>
        </p:spPr>
      </p:sp>
      <p:sp>
        <p:nvSpPr>
          <p:cNvPr id="21" name="Shape 19"/>
          <p:cNvSpPr/>
          <p:nvPr/>
        </p:nvSpPr>
        <p:spPr>
          <a:xfrm>
            <a:off x="4663440" y="2286000"/>
            <a:ext cx="54864" cy="932688"/>
          </a:xfrm>
          <a:prstGeom prst="rect">
            <a:avLst/>
          </a:prstGeom>
          <a:solidFill>
            <a:srgbClr val="7A7468"/>
          </a:solidFill>
          <a:ln w="12700">
            <a:solidFill>
              <a:srgbClr val="7A7468"/>
            </a:solidFill>
            <a:prstDash val="solid"/>
          </a:ln>
        </p:spPr>
      </p:sp>
      <p:sp>
        <p:nvSpPr>
          <p:cNvPr id="22" name="Text 20"/>
          <p:cNvSpPr txBox="1"/>
          <p:nvPr/>
        </p:nvSpPr>
        <p:spPr>
          <a:xfrm>
            <a:off x="4864608" y="2404872"/>
            <a:ext cx="3657600" cy="237744"/>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04  Cost base</a:t>
            </a:r>
            <a:endParaRPr lang="en-US" sz="1050" dirty="0"/>
          </a:p>
        </p:txBody>
      </p:sp>
      <p:sp>
        <p:nvSpPr>
          <p:cNvPr id="23" name="Text 21"/>
          <p:cNvSpPr txBox="1"/>
          <p:nvPr/>
        </p:nvSpPr>
        <p:spPr>
          <a:xfrm>
            <a:off x="4864608" y="2697480"/>
            <a:ext cx="3657600" cy="475488"/>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₹1.45 lakh production Baker; China turnkey build with India test</a:t>
            </a:r>
            <a:endParaRPr lang="en-US" sz="850" dirty="0"/>
          </a:p>
        </p:txBody>
      </p:sp>
      <p:sp>
        <p:nvSpPr>
          <p:cNvPr id="24" name="Shape 22"/>
          <p:cNvSpPr/>
          <p:nvPr/>
        </p:nvSpPr>
        <p:spPr>
          <a:xfrm>
            <a:off x="457200" y="3383280"/>
            <a:ext cx="8229600" cy="932688"/>
          </a:xfrm>
          <a:prstGeom prst="rect">
            <a:avLst/>
          </a:prstGeom>
          <a:solidFill>
            <a:srgbClr val="FFFFFF"/>
          </a:solidFill>
          <a:ln w="11430">
            <a:solidFill>
              <a:srgbClr val="5E8C5A"/>
            </a:solidFill>
            <a:prstDash val="solid"/>
          </a:ln>
        </p:spPr>
      </p:sp>
      <p:sp>
        <p:nvSpPr>
          <p:cNvPr id="25" name="Shape 23"/>
          <p:cNvSpPr/>
          <p:nvPr/>
        </p:nvSpPr>
        <p:spPr>
          <a:xfrm>
            <a:off x="457200" y="3383280"/>
            <a:ext cx="54864" cy="932688"/>
          </a:xfrm>
          <a:prstGeom prst="rect">
            <a:avLst/>
          </a:prstGeom>
          <a:solidFill>
            <a:srgbClr val="5E8C5A"/>
          </a:solidFill>
          <a:ln w="12700">
            <a:solidFill>
              <a:srgbClr val="5E8C5A"/>
            </a:solidFill>
            <a:prstDash val="solid"/>
          </a:ln>
        </p:spPr>
      </p:sp>
      <p:sp>
        <p:nvSpPr>
          <p:cNvPr id="26" name="Text 24"/>
          <p:cNvSpPr txBox="1"/>
          <p:nvPr/>
        </p:nvSpPr>
        <p:spPr>
          <a:xfrm>
            <a:off x="658368" y="3502152"/>
            <a:ext cx="7863840" cy="237744"/>
          </a:xfrm>
          <a:prstGeom prst="rect">
            <a:avLst/>
          </a:prstGeom>
          <a:noFill/>
          <a:ln/>
        </p:spPr>
        <p:txBody>
          <a:bodyPr wrap="square" lIns="0" tIns="0" rIns="0" bIns="0" rtlCol="0" anchor="t"/>
          <a:lstStyle/>
          <a:p>
            <a:pPr indent="0" marL="0">
              <a:buNone/>
            </a:pPr>
            <a:r>
              <a:rPr lang="en-US" sz="1050" b="1" dirty="0">
                <a:solidFill>
                  <a:srgbClr val="1B2430"/>
                </a:solidFill>
                <a:latin typeface="Verdana" pitchFamily="34" charset="0"/>
                <a:ea typeface="Verdana" pitchFamily="34" charset="-122"/>
                <a:cs typeface="Verdana" pitchFamily="34" charset="-120"/>
              </a:rPr>
              <a:t>05  Recurring revenue</a:t>
            </a:r>
            <a:endParaRPr lang="en-US" sz="1050" dirty="0"/>
          </a:p>
        </p:txBody>
      </p:sp>
      <p:sp>
        <p:nvSpPr>
          <p:cNvPr id="27" name="Text 25"/>
          <p:cNvSpPr txBox="1"/>
          <p:nvPr/>
        </p:nvSpPr>
        <p:spPr>
          <a:xfrm>
            <a:off x="658368" y="3794760"/>
            <a:ext cx="7863840" cy="475488"/>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Proto subscription + consumables ≈ ₹1.65 lakh per machine per year</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28</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RISKS</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Business risks and how we reduce them</a:t>
            </a:r>
            <a:endParaRPr lang="en-US" sz="1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926080"/>
                <a:gridCol w="5303520"/>
              </a:tblGrid>
              <a:tr h="475488">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Risk</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c>
                  <a:txBody>
                    <a:bodyPr/>
                    <a:lstStyle/>
                    <a:p>
                      <a:pPr indent="0" marL="0">
                        <a:buNone/>
                      </a:pPr>
                      <a:r>
                        <a:rPr lang="en-US" sz="850" b="1" dirty="0">
                          <a:solidFill>
                            <a:srgbClr val="6B6459"/>
                          </a:solidFill>
                          <a:latin typeface="Verdana" pitchFamily="34" charset="0"/>
                          <a:ea typeface="Verdana" pitchFamily="34" charset="-122"/>
                          <a:cs typeface="Verdana" pitchFamily="34" charset="-120"/>
                        </a:rPr>
                        <a:t>How we reduce it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11430" cap="flat" cmpd="sng" algn="ctr">
                      <a:solidFill>
                        <a:srgbClr val="1B2430"/>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Process doesn't reach 0.5 mm pitch or ±50 µm</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Phase 1 gates on coupons; fallbacks on slide 13; launch spec set by measured results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Laser and chemical safety in labs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Interlocked Class 1 enclosure goal, E-stop, a few mL of dilute Na₂CO₃ only, safety review in the budget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Colleges buy slowly</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Price fits under grant budgets (ATL ₹10 lakh setup, IDEA Lab ≈₹1.1 Cr); startups as the faster second segment</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Model and API costs</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Model-agnostic; measure cloud cost per lab in pilots before fixing subscription price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Copycat hardware</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Value is in Proto and the run data; the hardware is cheap to us by design</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r h="475488">
                <a:tc>
                  <a:txBody>
                    <a:bodyPr/>
                    <a:lstStyle/>
                    <a:p>
                      <a:pPr indent="0" marL="0">
                        <a:buNone/>
                      </a:pPr>
                      <a:r>
                        <a:rPr lang="en-US" sz="850" b="1" dirty="0">
                          <a:solidFill>
                            <a:srgbClr val="1B2430"/>
                          </a:solidFill>
                          <a:latin typeface="Verdana" pitchFamily="34" charset="0"/>
                          <a:ea typeface="Verdana" pitchFamily="34" charset="-122"/>
                          <a:cs typeface="Verdana" pitchFamily="34" charset="-120"/>
                        </a:rPr>
                        <a:t>China supplier risk / IP</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c>
                  <a:txBody>
                    <a:bodyPr/>
                    <a:lstStyle/>
                    <a:p>
                      <a:pPr indent="0" marL="0">
                        <a:buNone/>
                      </a:pPr>
                      <a:r>
                        <a:rPr lang="en-US" sz="850" dirty="0">
                          <a:solidFill>
                            <a:srgbClr val="1B2430"/>
                          </a:solidFill>
                          <a:latin typeface="Verdana" pitchFamily="34" charset="0"/>
                          <a:ea typeface="Verdana" pitchFamily="34" charset="-122"/>
                          <a:cs typeface="Verdana" pitchFamily="34" charset="-120"/>
                        </a:rPr>
                        <a:t>Two-supplier strategy, NNN, tooling ownership, we own the test system</a:t>
                      </a:r>
                      <a:endParaRPr lang="en-US" sz="850" dirty="0">
                        <a:latin typeface="Verdana" charset="0"/>
                        <a:ea typeface="Verdana" charset="0"/>
                        <a:cs typeface="Verdana"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8D2C6"/>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29</a:t>
            </a:r>
            <a:endParaRPr lang="en-US" sz="700" dirty="0"/>
          </a:p>
        </p:txBody>
      </p:sp>
      <p:sp>
        <p:nvSpPr>
          <p:cNvPr id="6" name="Text 4"/>
          <p:cNvSpPr txBox="1"/>
          <p:nvPr/>
        </p:nvSpPr>
        <p:spPr>
          <a:xfrm>
            <a:off x="457200" y="868680"/>
            <a:ext cx="4572000" cy="182880"/>
          </a:xfrm>
          <a:prstGeom prst="rect">
            <a:avLst/>
          </a:prstGeom>
          <a:noFill/>
          <a:ln/>
        </p:spPr>
        <p:txBody>
          <a:bodyPr wrap="square" lIns="0" tIns="0" rIns="0" bIns="0" rtlCol="0" anchor="t"/>
          <a:lstStyle/>
          <a:p>
            <a:pPr indent="0" marL="0">
              <a:buNone/>
            </a:pPr>
            <a:r>
              <a:rPr lang="en-US" sz="850" dirty="0">
                <a:solidFill>
                  <a:srgbClr val="C8834A"/>
                </a:solidFill>
                <a:latin typeface="Consolas" pitchFamily="34" charset="0"/>
                <a:ea typeface="Consolas" pitchFamily="34" charset="-122"/>
                <a:cs typeface="Consolas" pitchFamily="34" charset="-120"/>
              </a:rPr>
              <a:t>THE ASK</a:t>
            </a:r>
            <a:endParaRPr lang="en-US" sz="850" dirty="0"/>
          </a:p>
        </p:txBody>
      </p:sp>
      <p:sp>
        <p:nvSpPr>
          <p:cNvPr id="7" name="Text 5"/>
          <p:cNvSpPr txBox="1"/>
          <p:nvPr/>
        </p:nvSpPr>
        <p:spPr>
          <a:xfrm>
            <a:off x="457200" y="1143000"/>
            <a:ext cx="7863840" cy="1005840"/>
          </a:xfrm>
          <a:prstGeom prst="rect">
            <a:avLst/>
          </a:prstGeom>
          <a:noFill/>
          <a:ln/>
        </p:spPr>
        <p:txBody>
          <a:bodyPr wrap="square" lIns="0" tIns="0" rIns="0" bIns="0" rtlCol="0" anchor="t"/>
          <a:lstStyle/>
          <a:p>
            <a:pPr indent="0" marL="0">
              <a:buNone/>
            </a:pPr>
            <a:r>
              <a:rPr lang="en-US" sz="2500" b="1" dirty="0">
                <a:solidFill>
                  <a:srgbClr val="1B2430"/>
                </a:solidFill>
                <a:latin typeface="Verdana" pitchFamily="34" charset="0"/>
                <a:ea typeface="Verdana" pitchFamily="34" charset="-122"/>
                <a:cs typeface="Verdana" pitchFamily="34" charset="-120"/>
              </a:rPr>
              <a:t>₹10 lakh to prove that an AI can take a prompt to a tested board on Baker</a:t>
            </a:r>
            <a:endParaRPr lang="en-US" sz="2500" dirty="0"/>
          </a:p>
        </p:txBody>
      </p:sp>
      <p:sp>
        <p:nvSpPr>
          <p:cNvPr id="8" name="Shape 6"/>
          <p:cNvSpPr/>
          <p:nvPr/>
        </p:nvSpPr>
        <p:spPr>
          <a:xfrm>
            <a:off x="457200" y="2514600"/>
            <a:ext cx="1874520" cy="0"/>
          </a:xfrm>
          <a:prstGeom prst="line">
            <a:avLst/>
          </a:prstGeom>
          <a:noFill/>
          <a:ln w="11430">
            <a:solidFill>
              <a:srgbClr val="1B2430"/>
            </a:solidFill>
            <a:prstDash val="solid"/>
          </a:ln>
        </p:spPr>
      </p:sp>
      <p:sp>
        <p:nvSpPr>
          <p:cNvPr id="9" name="Text 7"/>
          <p:cNvSpPr txBox="1"/>
          <p:nvPr/>
        </p:nvSpPr>
        <p:spPr>
          <a:xfrm>
            <a:off x="457200" y="2606040"/>
            <a:ext cx="1874520" cy="457200"/>
          </a:xfrm>
          <a:prstGeom prst="rect">
            <a:avLst/>
          </a:prstGeom>
          <a:noFill/>
          <a:ln/>
        </p:spPr>
        <p:txBody>
          <a:bodyPr wrap="square" lIns="0" tIns="0" rIns="0" bIns="0" rtlCol="0" anchor="t"/>
          <a:lstStyle/>
          <a:p>
            <a:pPr indent="0" marL="0">
              <a:buNone/>
            </a:pPr>
            <a:r>
              <a:rPr lang="en-US" sz="2200" b="1" dirty="0">
                <a:solidFill>
                  <a:srgbClr val="C8834A"/>
                </a:solidFill>
                <a:latin typeface="Verdana" pitchFamily="34" charset="0"/>
                <a:ea typeface="Verdana" pitchFamily="34" charset="-122"/>
                <a:cs typeface="Verdana" pitchFamily="34" charset="-120"/>
              </a:rPr>
              <a:t>9 months</a:t>
            </a:r>
            <a:endParaRPr lang="en-US" sz="2200" dirty="0"/>
          </a:p>
        </p:txBody>
      </p:sp>
      <p:sp>
        <p:nvSpPr>
          <p:cNvPr id="10" name="Text 8"/>
          <p:cNvSpPr txBox="1"/>
          <p:nvPr/>
        </p:nvSpPr>
        <p:spPr>
          <a:xfrm>
            <a:off x="457200" y="3081528"/>
            <a:ext cx="187452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to Phase 1 exit</a:t>
            </a:r>
            <a:endParaRPr lang="en-US" sz="850" dirty="0"/>
          </a:p>
        </p:txBody>
      </p:sp>
      <p:sp>
        <p:nvSpPr>
          <p:cNvPr id="11" name="Shape 9"/>
          <p:cNvSpPr/>
          <p:nvPr/>
        </p:nvSpPr>
        <p:spPr>
          <a:xfrm>
            <a:off x="2532888" y="2514600"/>
            <a:ext cx="1874520" cy="0"/>
          </a:xfrm>
          <a:prstGeom prst="line">
            <a:avLst/>
          </a:prstGeom>
          <a:noFill/>
          <a:ln w="11430">
            <a:solidFill>
              <a:srgbClr val="1B2430"/>
            </a:solidFill>
            <a:prstDash val="solid"/>
          </a:ln>
        </p:spPr>
      </p:sp>
      <p:sp>
        <p:nvSpPr>
          <p:cNvPr id="12" name="Text 10"/>
          <p:cNvSpPr txBox="1"/>
          <p:nvPr/>
        </p:nvSpPr>
        <p:spPr>
          <a:xfrm>
            <a:off x="2532888" y="2606040"/>
            <a:ext cx="1874520" cy="457200"/>
          </a:xfrm>
          <a:prstGeom prst="rect">
            <a:avLst/>
          </a:prstGeom>
          <a:noFill/>
          <a:ln/>
        </p:spPr>
        <p:txBody>
          <a:bodyPr wrap="square" lIns="0" tIns="0" rIns="0" bIns="0" rtlCol="0" anchor="t"/>
          <a:lstStyle/>
          <a:p>
            <a:pPr indent="0" marL="0">
              <a:buNone/>
            </a:pPr>
            <a:r>
              <a:rPr lang="en-US" sz="2200" b="1" dirty="0">
                <a:solidFill>
                  <a:srgbClr val="1B2430"/>
                </a:solidFill>
                <a:latin typeface="Verdana" pitchFamily="34" charset="0"/>
                <a:ea typeface="Verdana" pitchFamily="34" charset="-122"/>
                <a:cs typeface="Verdana" pitchFamily="34" charset="-120"/>
              </a:rPr>
              <a:t>3 + 50</a:t>
            </a:r>
            <a:endParaRPr lang="en-US" sz="2200" dirty="0"/>
          </a:p>
        </p:txBody>
      </p:sp>
      <p:sp>
        <p:nvSpPr>
          <p:cNvPr id="13" name="Text 11"/>
          <p:cNvSpPr txBox="1"/>
          <p:nvPr/>
        </p:nvSpPr>
        <p:spPr>
          <a:xfrm>
            <a:off x="2532888" y="3081528"/>
            <a:ext cx="187452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pilot sites + boards</a:t>
            </a:r>
            <a:endParaRPr lang="en-US" sz="850" dirty="0"/>
          </a:p>
        </p:txBody>
      </p:sp>
      <p:sp>
        <p:nvSpPr>
          <p:cNvPr id="14" name="Shape 12"/>
          <p:cNvSpPr/>
          <p:nvPr/>
        </p:nvSpPr>
        <p:spPr>
          <a:xfrm>
            <a:off x="4608576" y="2514600"/>
            <a:ext cx="1874520" cy="0"/>
          </a:xfrm>
          <a:prstGeom prst="line">
            <a:avLst/>
          </a:prstGeom>
          <a:noFill/>
          <a:ln w="11430">
            <a:solidFill>
              <a:srgbClr val="1B2430"/>
            </a:solidFill>
            <a:prstDash val="solid"/>
          </a:ln>
        </p:spPr>
      </p:sp>
      <p:sp>
        <p:nvSpPr>
          <p:cNvPr id="15" name="Text 13"/>
          <p:cNvSpPr txBox="1"/>
          <p:nvPr/>
        </p:nvSpPr>
        <p:spPr>
          <a:xfrm>
            <a:off x="4608576" y="2606040"/>
            <a:ext cx="1874520" cy="457200"/>
          </a:xfrm>
          <a:prstGeom prst="rect">
            <a:avLst/>
          </a:prstGeom>
          <a:noFill/>
          <a:ln/>
        </p:spPr>
        <p:txBody>
          <a:bodyPr wrap="square" lIns="0" tIns="0" rIns="0" bIns="0" rtlCol="0" anchor="t"/>
          <a:lstStyle/>
          <a:p>
            <a:pPr indent="0" marL="0">
              <a:buNone/>
            </a:pPr>
            <a:r>
              <a:rPr lang="en-US" sz="2200" b="1" dirty="0">
                <a:solidFill>
                  <a:srgbClr val="1B2430"/>
                </a:solidFill>
                <a:latin typeface="Verdana" pitchFamily="34" charset="0"/>
                <a:ea typeface="Verdana" pitchFamily="34" charset="-122"/>
                <a:cs typeface="Verdana" pitchFamily="34" charset="-120"/>
              </a:rPr>
              <a:t>59</a:t>
            </a:r>
            <a:endParaRPr lang="en-US" sz="2200" dirty="0"/>
          </a:p>
        </p:txBody>
      </p:sp>
      <p:sp>
        <p:nvSpPr>
          <p:cNvPr id="16" name="Text 14"/>
          <p:cNvSpPr txBox="1"/>
          <p:nvPr/>
        </p:nvSpPr>
        <p:spPr>
          <a:xfrm>
            <a:off x="4608576" y="3081528"/>
            <a:ext cx="187452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boards to customer payback</a:t>
            </a:r>
            <a:endParaRPr lang="en-US" sz="850" dirty="0"/>
          </a:p>
        </p:txBody>
      </p:sp>
      <p:sp>
        <p:nvSpPr>
          <p:cNvPr id="17" name="Shape 15"/>
          <p:cNvSpPr/>
          <p:nvPr/>
        </p:nvSpPr>
        <p:spPr>
          <a:xfrm>
            <a:off x="6684264" y="2514600"/>
            <a:ext cx="1874520" cy="0"/>
          </a:xfrm>
          <a:prstGeom prst="line">
            <a:avLst/>
          </a:prstGeom>
          <a:noFill/>
          <a:ln w="11430">
            <a:solidFill>
              <a:srgbClr val="1B2430"/>
            </a:solidFill>
            <a:prstDash val="solid"/>
          </a:ln>
        </p:spPr>
      </p:sp>
      <p:sp>
        <p:nvSpPr>
          <p:cNvPr id="18" name="Text 16"/>
          <p:cNvSpPr txBox="1"/>
          <p:nvPr/>
        </p:nvSpPr>
        <p:spPr>
          <a:xfrm>
            <a:off x="6684264" y="2606040"/>
            <a:ext cx="1874520" cy="457200"/>
          </a:xfrm>
          <a:prstGeom prst="rect">
            <a:avLst/>
          </a:prstGeom>
          <a:noFill/>
          <a:ln/>
        </p:spPr>
        <p:txBody>
          <a:bodyPr wrap="square" lIns="0" tIns="0" rIns="0" bIns="0" rtlCol="0" anchor="t"/>
          <a:lstStyle/>
          <a:p>
            <a:pPr indent="0" marL="0">
              <a:buNone/>
            </a:pPr>
            <a:r>
              <a:rPr lang="en-US" sz="2200" b="1" dirty="0">
                <a:solidFill>
                  <a:srgbClr val="1B2430"/>
                </a:solidFill>
                <a:latin typeface="Verdana" pitchFamily="34" charset="0"/>
                <a:ea typeface="Verdana" pitchFamily="34" charset="-122"/>
                <a:cs typeface="Verdana" pitchFamily="34" charset="-120"/>
              </a:rPr>
              <a:t>58.5%</a:t>
            </a:r>
            <a:endParaRPr lang="en-US" sz="2200" dirty="0"/>
          </a:p>
        </p:txBody>
      </p:sp>
      <p:sp>
        <p:nvSpPr>
          <p:cNvPr id="19" name="Text 17"/>
          <p:cNvSpPr txBox="1"/>
          <p:nvPr/>
        </p:nvSpPr>
        <p:spPr>
          <a:xfrm>
            <a:off x="6684264" y="3081528"/>
            <a:ext cx="1874520" cy="365760"/>
          </a:xfrm>
          <a:prstGeom prst="rect">
            <a:avLst/>
          </a:prstGeom>
          <a:noFill/>
          <a:ln/>
        </p:spPr>
        <p:txBody>
          <a:bodyPr wrap="square" lIns="0" tIns="0" rIns="0" bIns="0" rtlCol="0" anchor="t"/>
          <a:lstStyle/>
          <a:p>
            <a:pPr indent="0" marL="0">
              <a:buNone/>
            </a:pPr>
            <a:r>
              <a:rPr lang="en-US" sz="850" dirty="0">
                <a:solidFill>
                  <a:srgbClr val="6B6459"/>
                </a:solidFill>
                <a:latin typeface="Verdana" pitchFamily="34" charset="0"/>
                <a:ea typeface="Verdana" pitchFamily="34" charset="-122"/>
                <a:cs typeface="Verdana" pitchFamily="34" charset="-120"/>
              </a:rPr>
              <a:t>Baker gross margin</a:t>
            </a:r>
            <a:endParaRPr lang="en-US" sz="850" dirty="0"/>
          </a:p>
        </p:txBody>
      </p:sp>
      <p:sp>
        <p:nvSpPr>
          <p:cNvPr id="20" name="Shape 18"/>
          <p:cNvSpPr/>
          <p:nvPr/>
        </p:nvSpPr>
        <p:spPr>
          <a:xfrm>
            <a:off x="457200" y="3749040"/>
            <a:ext cx="8229600" cy="640080"/>
          </a:xfrm>
          <a:prstGeom prst="rect">
            <a:avLst/>
          </a:prstGeom>
          <a:solidFill>
            <a:srgbClr val="F6F1E8"/>
          </a:solidFill>
          <a:ln w="9525">
            <a:solidFill>
              <a:srgbClr val="F6F1E8"/>
            </a:solidFill>
            <a:prstDash val="solid"/>
          </a:ln>
        </p:spPr>
      </p:sp>
      <p:sp>
        <p:nvSpPr>
          <p:cNvPr id="21" name="Text 19"/>
          <p:cNvSpPr txBox="1"/>
          <p:nvPr/>
        </p:nvSpPr>
        <p:spPr>
          <a:xfrm>
            <a:off x="640080" y="3749040"/>
            <a:ext cx="7863840" cy="640080"/>
          </a:xfrm>
          <a:prstGeom prst="rect">
            <a:avLst/>
          </a:prstGeom>
          <a:noFill/>
          <a:ln/>
        </p:spPr>
        <p:txBody>
          <a:bodyPr wrap="square" lIns="0" tIns="0" rIns="0" bIns="0" rtlCol="0" anchor="ctr"/>
          <a:lstStyle/>
          <a:p>
            <a:pPr indent="0" marL="0">
              <a:buNone/>
            </a:pPr>
            <a:r>
              <a:rPr lang="en-US" sz="1300" b="1" dirty="0">
                <a:solidFill>
                  <a:srgbClr val="1B2430"/>
                </a:solidFill>
                <a:latin typeface="Verdana" pitchFamily="34" charset="0"/>
                <a:ea typeface="Verdana" pitchFamily="34" charset="-122"/>
                <a:cs typeface="Verdana" pitchFamily="34" charset="-120"/>
              </a:rPr>
              <a:t>Proto is the company. Baker is its first machine. Mixer is how it sees.</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685800" cy="0"/>
          </a:xfrm>
          <a:prstGeom prst="line">
            <a:avLst/>
          </a:prstGeom>
          <a:noFill/>
          <a:ln w="19050">
            <a:solidFill>
              <a:srgbClr val="C8834A"/>
            </a:solidFill>
            <a:prstDash val="solid"/>
          </a:ln>
        </p:spPr>
      </p:sp>
      <p:sp>
        <p:nvSpPr>
          <p:cNvPr id="3" name="Text 1"/>
          <p:cNvSpPr txBox="1"/>
          <p:nvPr/>
        </p:nvSpPr>
        <p:spPr>
          <a:xfrm>
            <a:off x="1280160" y="219456"/>
            <a:ext cx="5486400" cy="128016"/>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PROTOPUS  ·  PITCH V2</a:t>
            </a:r>
            <a:endParaRPr lang="en-US" sz="700" dirty="0"/>
          </a:p>
        </p:txBody>
      </p:sp>
      <p:sp>
        <p:nvSpPr>
          <p:cNvPr id="4" name="Text 2"/>
          <p:cNvSpPr txBox="1"/>
          <p:nvPr/>
        </p:nvSpPr>
        <p:spPr>
          <a:xfrm>
            <a:off x="457200" y="4846320"/>
            <a:ext cx="3657600" cy="146304"/>
          </a:xfrm>
          <a:prstGeom prst="rect">
            <a:avLst/>
          </a:prstGeom>
          <a:noFill/>
          <a:ln/>
        </p:spPr>
        <p:txBody>
          <a:bodyPr wrap="square" lIns="0" tIns="0" rIns="0" bIns="0" rtlCol="0" anchor="t"/>
          <a:lstStyle/>
          <a:p>
            <a:pPr indent="0" marL="0">
              <a:buNone/>
            </a:pPr>
            <a:r>
              <a:rPr lang="en-US" sz="700" dirty="0">
                <a:solidFill>
                  <a:srgbClr val="6B6459"/>
                </a:solidFill>
                <a:latin typeface="Consolas" pitchFamily="34" charset="0"/>
                <a:ea typeface="Consolas" pitchFamily="34" charset="-122"/>
                <a:cs typeface="Consolas" pitchFamily="34" charset="-120"/>
              </a:rPr>
              <a:t>ProtoPulse, Delhi  ·  30 Sep 2026</a:t>
            </a:r>
            <a:endParaRPr lang="en-US" sz="700" dirty="0"/>
          </a:p>
        </p:txBody>
      </p:sp>
      <p:sp>
        <p:nvSpPr>
          <p:cNvPr id="5" name="Text 3"/>
          <p:cNvSpPr txBox="1"/>
          <p:nvPr/>
        </p:nvSpPr>
        <p:spPr>
          <a:xfrm>
            <a:off x="8321040" y="4846320"/>
            <a:ext cx="365760" cy="146304"/>
          </a:xfrm>
          <a:prstGeom prst="rect">
            <a:avLst/>
          </a:prstGeom>
          <a:noFill/>
          <a:ln/>
        </p:spPr>
        <p:txBody>
          <a:bodyPr wrap="square" lIns="0" tIns="0" rIns="0" bIns="0" rtlCol="0" anchor="t"/>
          <a:lstStyle/>
          <a:p>
            <a:pPr algn="r" indent="0" marL="0">
              <a:buNone/>
            </a:pPr>
            <a:r>
              <a:rPr lang="en-US" sz="700" dirty="0">
                <a:solidFill>
                  <a:srgbClr val="6B6459"/>
                </a:solidFill>
                <a:latin typeface="Consolas" pitchFamily="34" charset="0"/>
                <a:ea typeface="Consolas" pitchFamily="34" charset="-122"/>
                <a:cs typeface="Consolas" pitchFamily="34" charset="-120"/>
              </a:rPr>
              <a:t>30</a:t>
            </a:r>
            <a:endParaRPr lang="en-US" sz="700" dirty="0"/>
          </a:p>
        </p:txBody>
      </p:sp>
      <p:sp>
        <p:nvSpPr>
          <p:cNvPr id="6" name="Text 4"/>
          <p:cNvSpPr txBox="1"/>
          <p:nvPr/>
        </p:nvSpPr>
        <p:spPr>
          <a:xfrm>
            <a:off x="457200" y="457200"/>
            <a:ext cx="8229600" cy="164592"/>
          </a:xfrm>
          <a:prstGeom prst="rect">
            <a:avLst/>
          </a:prstGeom>
          <a:noFill/>
          <a:ln/>
        </p:spPr>
        <p:txBody>
          <a:bodyPr wrap="square" lIns="0" tIns="0" rIns="0" bIns="0" rtlCol="0" anchor="t"/>
          <a:lstStyle/>
          <a:p>
            <a:pPr indent="0" marL="0">
              <a:buNone/>
            </a:pPr>
            <a:r>
              <a:rPr lang="en-US" sz="800" dirty="0">
                <a:solidFill>
                  <a:srgbClr val="C8834A"/>
                </a:solidFill>
                <a:latin typeface="Consolas" pitchFamily="34" charset="0"/>
                <a:ea typeface="Consolas" pitchFamily="34" charset="-122"/>
                <a:cs typeface="Consolas" pitchFamily="34" charset="-120"/>
              </a:rPr>
              <a:t>APPENDIX</a:t>
            </a:r>
            <a:endParaRPr lang="en-US" sz="800" dirty="0"/>
          </a:p>
        </p:txBody>
      </p:sp>
      <p:sp>
        <p:nvSpPr>
          <p:cNvPr id="7" name="Text 5"/>
          <p:cNvSpPr txBox="1"/>
          <p:nvPr/>
        </p:nvSpPr>
        <p:spPr>
          <a:xfrm>
            <a:off x="457200" y="640080"/>
            <a:ext cx="8229600" cy="411480"/>
          </a:xfrm>
          <a:prstGeom prst="rect">
            <a:avLst/>
          </a:prstGeom>
          <a:noFill/>
          <a:ln/>
        </p:spPr>
        <p:txBody>
          <a:bodyPr wrap="square" lIns="0" tIns="0" rIns="0" bIns="0" rtlCol="0" anchor="ctr">
            <a:normAutofit/>
          </a:bodyPr>
          <a:lstStyle/>
          <a:p>
            <a:pPr indent="0" marL="0">
              <a:buNone/>
            </a:pPr>
            <a:r>
              <a:rPr lang="en-US" sz="1900" b="1" dirty="0">
                <a:solidFill>
                  <a:srgbClr val="1B2430"/>
                </a:solidFill>
                <a:latin typeface="Verdana" pitchFamily="34" charset="0"/>
                <a:ea typeface="Verdana" pitchFamily="34" charset="-122"/>
                <a:cs typeface="Verdana" pitchFamily="34" charset="-120"/>
              </a:rPr>
              <a:t>Sources</a:t>
            </a:r>
            <a:endParaRPr lang="en-US" sz="1900" dirty="0"/>
          </a:p>
        </p:txBody>
      </p:sp>
      <p:sp>
        <p:nvSpPr>
          <p:cNvPr id="8" name="Text 6"/>
          <p:cNvSpPr txBox="1"/>
          <p:nvPr/>
        </p:nvSpPr>
        <p:spPr>
          <a:xfrm>
            <a:off x="457200" y="1143000"/>
            <a:ext cx="8229600" cy="3566160"/>
          </a:xfrm>
          <a:prstGeom prst="rect">
            <a:avLst/>
          </a:prstGeom>
          <a:noFill/>
          <a:ln/>
        </p:spPr>
        <p:txBody>
          <a:bodyPr wrap="square" lIns="0" tIns="0" rIns="0" bIns="0" rtlCol="0" anchor="t"/>
          <a:lstStyle/>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Protopus cost report, BOM and Baker workflow story (29 Sep 2026); Baker China manufacturing package (29 Sep 2026)</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JLCPCB pricing: jlcpcb.com PCB and PCBA pages; India shipping, duty and timing: zbotic.in guides</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Indian fabs: zbotic.in rush-prototyping guide (PCB Power, Lion Circuits)</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Voltera NOVA: store.voltera.io; V-One: eleshop.eu, elektor.com, aniwaa.com</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Makera Carvera: PR Newswire via Utusan Malaysia (Jun 2026)</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Bantam Tools: makezine.com, hackaday.com, toolguyd.com ('no longer sells CNC milling or PCB machines')</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BotFactory: techcrunch.com, technical.ly; Nano Dimension AME sale: evertiq.com (8 Apr 2026), tctmagazine.com</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LPKF: lpkf.com (quote-only); exapro.com used S104 line listing (~$96,000 new in 2019)</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Neoden YY1: eevblog.com forum; Analog Discovery 3: jameco.com, digikey.com; ADALM2000: richardsonrfpd.com, Mouser</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Moku:Go: tequipment.net; Red Pitaya: redpitaya.com; Saleae: saleae.com; Rigol DHO804: electro-meters.com</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Flux: flux.ai pricing, siliconangle.com (27 Feb 2026); Quilter: businesswire.com (7 Oct 2025); Diode: fenwick.com</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Claude connectors: claude.com/connectors/autodesk-fusion; digitalproduction.com (30 Apr 2026, Blender)</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Lovable: techcrunch.com (23 Jul 2025), founded.com (Feb 2026)</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India: AIM/PIB (10,000 ATLs), Union Budget 2025-26 (50,000 ATLs), AIM grant guideline (₹20 lakh), AICTE via educationforallinindia (5,868), AISHE (23.2 lakh B.Tech), TiE/DPIIT (2.25 lakh startups), MeitY/PIB (C2S), AICTE IDEA Lab EOI</a:t>
            </a:r>
            <a:endParaRPr lang="en-US" sz="730" dirty="0"/>
          </a:p>
          <a:p>
            <a:pPr marL="165100" indent="-165100">
              <a:spcAft>
                <a:spcPts val="300"/>
              </a:spcAft>
              <a:buSzPct val="100000"/>
              <a:buChar char="—"/>
            </a:pPr>
            <a:r>
              <a:rPr lang="en-US" sz="730" dirty="0">
                <a:solidFill>
                  <a:srgbClr val="1B2430"/>
                </a:solidFill>
                <a:latin typeface="Verdana" pitchFamily="34" charset="0"/>
                <a:ea typeface="Verdana" pitchFamily="34" charset="-122"/>
                <a:cs typeface="Verdana" pitchFamily="34" charset="-120"/>
              </a:rPr>
              <a:t>Global: Fab Foundation (2,300+ labs), Fortune Business Insights (oscilloscopes), QYResearch via electronicsforu (desktop CNC)</a:t>
            </a:r>
            <a:endParaRPr lang="en-US" sz="7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ProtoPulse pitch v2</dc:title>
  <dc:subject>PptxGenJS Presentation</dc:subject>
  <dc:creator>ProtoPulse</dc:creator>
  <cp:lastModifiedBy>ProtoPulse</cp:lastModifiedBy>
  <cp:revision>1</cp:revision>
  <dcterms:created xsi:type="dcterms:W3CDTF">2026-09-30T13:16:55Z</dcterms:created>
  <dcterms:modified xsi:type="dcterms:W3CDTF">2026-09-30T13:16:55Z</dcterms:modified>
</cp:coreProperties>
</file>