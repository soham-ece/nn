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charts/chart2.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charts/chart3.xml" ContentType="application/vnd.openxmlformats-officedocument.drawingml.chart+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00" b="0" i="0" u="none" strike="noStrike">
                <a:solidFill>
                  <a:srgbClr val="0F2A22"/>
                </a:solidFill>
                <a:latin typeface="Arial"/>
              </a:defRPr>
            </a:pPr>
            <a:r>
              <a:rPr sz="1000" b="0" i="0" u="none" strike="noStrike">
                <a:solidFill>
                  <a:srgbClr val="0F2A22"/>
                </a:solidFill>
                <a:latin typeface="Arial"/>
              </a:rPr>
              <a:t>Target minutes per step (100 × 160 mm, ~40 parts)</a:t>
            </a:r>
          </a:p>
        </c:rich>
      </c:tx>
      <c:layout/>
      <c:overlay val="0"/>
    </c:title>
    <c:autoTitleDeleted val="0"/>
    <c:plotArea>
      <c:layout/>
      <c:barChart>
        <c:barDir val="bar"/>
        <c:grouping val="clustered"/>
        <c:varyColors val="0"/>
        <c:ser>
          <c:idx val="0"/>
          <c:order val="0"/>
          <c:tx>
            <c:strRef>
              <c:f>Sheet1!$B$1</c:f>
              <c:strCache>
                <c:ptCount val="1"/>
                <c:pt idx="0">
                  <c:v>Low (min)</c:v>
                </c:pt>
              </c:strCache>
            </c:strRef>
          </c:tx>
          <c:spPr>
            <a:solidFill>
              <a:srgbClr val="1B4D3E"/>
            </a:solidFill>
            <a:effectLst/>
          </c:spPr>
          <c:invertIfNegative val="0"/>
          <c:dLbls>
            <c:numFmt formatCode="#,##0" sourceLinked="0"/>
            <c:txPr>
              <a:bodyPr/>
              <a:lstStyle/>
              <a:p>
                <a:pPr>
                  <a:defRPr b="0" i="0" strike="noStrike" sz="700" u="none">
                    <a:solidFill>
                      <a:srgbClr val="1D2522"/>
                    </a:solidFill>
                    <a:latin typeface="Arial"/>
                  </a:defRPr>
                </a:pPr>
              </a:p>
            </c:txPr>
            <c:showLegendKey val="0"/>
            <c:showVal val="1"/>
            <c:showCatName val="0"/>
            <c:showSerName val="0"/>
            <c:showPercent val="0"/>
            <c:showBubbleSize val="0"/>
            <c:showLeaderLines val="0"/>
          </c:dLbls>
          <c:cat>
            <c:multiLvlStrRef>
              <c:f>Sheet1!$A$2:$A$14</c:f>
              <c:multiLvlStrCache>
                <c:ptCount val="13"/>
                <c:lvl>
                  <c:pt idx="0">
                    <c:v>Load + probe</c:v>
                  </c:pt>
                  <c:pt idx="1">
                    <c:v>Mill</c:v>
                  </c:pt>
                  <c:pt idx="2">
                    <c:v>Drill</c:v>
                  </c:pt>
                  <c:pt idx="3">
                    <c:v>Clean</c:v>
                  </c:pt>
                  <c:pt idx="4">
                    <c:v>Mask coat</c:v>
                  </c:pt>
                  <c:pt idx="5">
                    <c:v>UV image</c:v>
                  </c:pt>
                  <c:pt idx="6">
                    <c:v>Develop + dry</c:v>
                  </c:pt>
                  <c:pt idx="7">
                    <c:v>Flood cure</c:v>
                  </c:pt>
                  <c:pt idx="8">
                    <c:v>Laser stencil</c:v>
                  </c:pt>
                  <c:pt idx="9">
                    <c:v>Paste + release</c:v>
                  </c:pt>
                  <c:pt idx="10">
                    <c:v>Place (manual)</c:v>
                  </c:pt>
                  <c:pt idx="11">
                    <c:v>Reflow + cool</c:v>
                  </c:pt>
                  <c:pt idx="12">
                    <c:v>Test on Mixer</c:v>
                  </c:pt>
                </c:lvl>
              </c:multiLvlStrCache>
            </c:multiLvlStrRef>
          </c:cat>
          <c:val>
            <c:numRef>
              <c:f>Sheet1!$B$2:$B$14</c:f>
              <c:numCache>
                <c:formatCode>General</c:formatCode>
                <c:ptCount val="13"/>
                <c:pt idx="0">
                  <c:v>5</c:v>
                </c:pt>
                <c:pt idx="1">
                  <c:v>25</c:v>
                </c:pt>
                <c:pt idx="2">
                  <c:v>5</c:v>
                </c:pt>
                <c:pt idx="3">
                  <c:v>2</c:v>
                </c:pt>
                <c:pt idx="4">
                  <c:v>3</c:v>
                </c:pt>
                <c:pt idx="5">
                  <c:v>2</c:v>
                </c:pt>
                <c:pt idx="6">
                  <c:v>4</c:v>
                </c:pt>
                <c:pt idx="7">
                  <c:v>5</c:v>
                </c:pt>
                <c:pt idx="8">
                  <c:v>5</c:v>
                </c:pt>
                <c:pt idx="9">
                  <c:v>3</c:v>
                </c:pt>
                <c:pt idx="10">
                  <c:v>7</c:v>
                </c:pt>
                <c:pt idx="11">
                  <c:v>10</c:v>
                </c:pt>
                <c:pt idx="12">
                  <c:v>5</c:v>
                </c:pt>
              </c:numCache>
            </c:numRef>
          </c:val>
        </c:ser>
        <c:ser>
          <c:idx val="1"/>
          <c:order val="1"/>
          <c:tx>
            <c:strRef>
              <c:f>Sheet1!$C$1</c:f>
              <c:strCache>
                <c:ptCount val="1"/>
                <c:pt idx="0">
                  <c:v>High (min)</c:v>
                </c:pt>
              </c:strCache>
            </c:strRef>
          </c:tx>
          <c:spPr>
            <a:solidFill>
              <a:srgbClr val="C8793A"/>
            </a:solidFill>
            <a:effectLst/>
          </c:spPr>
          <c:invertIfNegative val="0"/>
          <c:dLbls>
            <c:numFmt formatCode="#,##0" sourceLinked="0"/>
            <c:txPr>
              <a:bodyPr/>
              <a:lstStyle/>
              <a:p>
                <a:pPr>
                  <a:defRPr b="0" i="0" strike="noStrike" sz="700" u="none">
                    <a:solidFill>
                      <a:srgbClr val="1D2522"/>
                    </a:solidFill>
                    <a:latin typeface="Arial"/>
                  </a:defRPr>
                </a:pPr>
              </a:p>
            </c:txPr>
            <c:showLegendKey val="0"/>
            <c:showVal val="1"/>
            <c:showCatName val="0"/>
            <c:showSerName val="0"/>
            <c:showPercent val="0"/>
            <c:showBubbleSize val="0"/>
            <c:showLeaderLines val="0"/>
          </c:dLbls>
          <c:cat>
            <c:multiLvlStrRef>
              <c:f>Sheet1!$A$2:$A$14</c:f>
              <c:multiLvlStrCache>
                <c:ptCount val="13"/>
                <c:lvl>
                  <c:pt idx="0">
                    <c:v>Load + probe</c:v>
                  </c:pt>
                  <c:pt idx="1">
                    <c:v>Mill</c:v>
                  </c:pt>
                  <c:pt idx="2">
                    <c:v>Drill</c:v>
                  </c:pt>
                  <c:pt idx="3">
                    <c:v>Clean</c:v>
                  </c:pt>
                  <c:pt idx="4">
                    <c:v>Mask coat</c:v>
                  </c:pt>
                  <c:pt idx="5">
                    <c:v>UV image</c:v>
                  </c:pt>
                  <c:pt idx="6">
                    <c:v>Develop + dry</c:v>
                  </c:pt>
                  <c:pt idx="7">
                    <c:v>Flood cure</c:v>
                  </c:pt>
                  <c:pt idx="8">
                    <c:v>Laser stencil</c:v>
                  </c:pt>
                  <c:pt idx="9">
                    <c:v>Paste + release</c:v>
                  </c:pt>
                  <c:pt idx="10">
                    <c:v>Place (manual)</c:v>
                  </c:pt>
                  <c:pt idx="11">
                    <c:v>Reflow + cool</c:v>
                  </c:pt>
                  <c:pt idx="12">
                    <c:v>Test on Mixer</c:v>
                  </c:pt>
                </c:lvl>
              </c:multiLvlStrCache>
            </c:multiLvlStrRef>
          </c:cat>
          <c:val>
            <c:numRef>
              <c:f>Sheet1!$C$2:$C$14</c:f>
              <c:numCache>
                <c:formatCode>General</c:formatCode>
                <c:ptCount val="13"/>
                <c:pt idx="0">
                  <c:v>5</c:v>
                </c:pt>
                <c:pt idx="1">
                  <c:v>45</c:v>
                </c:pt>
                <c:pt idx="2">
                  <c:v>10</c:v>
                </c:pt>
                <c:pt idx="3">
                  <c:v>2</c:v>
                </c:pt>
                <c:pt idx="4">
                  <c:v>5</c:v>
                </c:pt>
                <c:pt idx="5">
                  <c:v>4</c:v>
                </c:pt>
                <c:pt idx="6">
                  <c:v>6</c:v>
                </c:pt>
                <c:pt idx="7">
                  <c:v>10</c:v>
                </c:pt>
                <c:pt idx="8">
                  <c:v>10</c:v>
                </c:pt>
                <c:pt idx="9">
                  <c:v>3</c:v>
                </c:pt>
                <c:pt idx="10">
                  <c:v>14</c:v>
                </c:pt>
                <c:pt idx="11">
                  <c:v>12</c:v>
                </c:pt>
                <c:pt idx="12">
                  <c:v>15</c:v>
                </c:pt>
              </c:numCache>
            </c:numRef>
          </c:val>
        </c:ser>
        <c:dLbls>
          <c:numFmt formatCode="#,##0" sourceLinked="0"/>
          <c:txPr>
            <a:bodyPr/>
            <a:lstStyle/>
            <a:p>
              <a:pPr>
                <a:defRPr b="0" i="0" strike="noStrike" sz="700" u="none">
                  <a:solidFill>
                    <a:srgbClr val="1D2522"/>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800" b="0" i="0" u="none" strike="noStrike">
                <a:solidFill>
                  <a:srgbClr val="1D2522"/>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3E8E5"/>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800" b="0" i="0" u="none" strike="noStrike">
                <a:solidFill>
                  <a:srgbClr val="5E6B66"/>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800">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0F2A22"/>
                </a:solidFill>
                <a:latin typeface="Arial"/>
              </a:defRPr>
            </a:pPr>
            <a:r>
              <a:rPr sz="1100" b="0" i="0" u="none" strike="noStrike">
                <a:solidFill>
                  <a:srgbClr val="0F2A22"/>
                </a:solidFill>
                <a:latin typeface="Arial"/>
              </a:rPr>
              <a:t>Baker (₹)</a:t>
            </a:r>
          </a:p>
        </c:rich>
      </c:tx>
      <c:layout/>
      <c:overlay val="0"/>
    </c:title>
    <c:autoTitleDeleted val="0"/>
    <c:plotArea>
      <c:layout/>
      <c:barChart>
        <c:barDir val="col"/>
        <c:grouping val="clustered"/>
        <c:varyColors val="0"/>
        <c:ser>
          <c:idx val="0"/>
          <c:order val="0"/>
          <c:tx>
            <c:strRef>
              <c:f>Sheet1!$B$1</c:f>
              <c:strCache>
                <c:ptCount val="1"/>
                <c:pt idx="0">
                  <c:v>Baker</c:v>
                </c:pt>
              </c:strCache>
            </c:strRef>
          </c:tx>
          <c:spPr>
            <a:solidFill>
              <a:srgbClr val="1B4D3E"/>
            </a:solidFill>
            <a:effectLst/>
          </c:spPr>
          <c:invertIfNegative val="0"/>
          <c:dLbls>
            <c:numFmt formatCode="[&gt;=100000]&quot;₹&quot;##\,##\,##0;&quot;₹&quot;#,##0"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dPt>
            <c:idx val="0"/>
            <c:invertIfNegative val="0"/>
            <c:bubble3D val="0"/>
            <c:spPr>
              <a:solidFill>
                <a:srgbClr val="1B4D3E"/>
              </a:solidFill>
              <a:effectLst/>
            </c:spPr>
          </c:dPt>
          <c:dPt>
            <c:idx val="1"/>
            <c:invertIfNegative val="0"/>
            <c:bubble3D val="0"/>
            <c:spPr>
              <a:solidFill>
                <a:srgbClr val="C8793A"/>
              </a:solidFill>
              <a:effectLst/>
            </c:spPr>
          </c:dPt>
          <c:dPt>
            <c:idx val="2"/>
            <c:invertIfNegative val="0"/>
            <c:bubble3D val="0"/>
            <c:spPr>
              <a:solidFill>
                <a:srgbClr val="0F2A22"/>
              </a:solidFill>
              <a:effectLst/>
            </c:spPr>
          </c:dPt>
          <c:cat>
            <c:multiLvlStrRef>
              <c:f>Sheet1!$A$2:$A$4</c:f>
              <c:multiLvlStrCache>
                <c:ptCount val="3"/>
                <c:lvl>
                  <c:pt idx="0">
                    <c:v>Prototype build (India)</c:v>
                  </c:pt>
                  <c:pt idx="1">
                    <c:v>Production unit (China parts, Delhi build)</c:v>
                  </c:pt>
                  <c:pt idx="2">
                    <c:v>Proposed price (ex-GST)</c:v>
                  </c:pt>
                </c:lvl>
              </c:multiLvlStrCache>
            </c:multiLvlStrRef>
          </c:cat>
          <c:val>
            <c:numRef>
              <c:f>Sheet1!$B$2:$B$4</c:f>
              <c:numCache>
                <c:formatCode>General</c:formatCode>
                <c:ptCount val="3"/>
                <c:pt idx="0">
                  <c:v>373418</c:v>
                </c:pt>
                <c:pt idx="1">
                  <c:v>144842</c:v>
                </c:pt>
                <c:pt idx="2">
                  <c:v>349000</c:v>
                </c:pt>
              </c:numCache>
            </c:numRef>
          </c:val>
        </c:ser>
        <c:dLbls>
          <c:numFmt formatCode="[&gt;=100000]&quot;₹&quot;##\,##\,##0;&quot;₹&quot;#,##0"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50" b="0" i="0" u="none" strike="noStrike">
                <a:solidFill>
                  <a:srgbClr val="1D2522"/>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v>
                </c:pt>
              </c:strCache>
            </c:strRef>
          </c:tx>
          <c:spPr>
            <a:solidFill>
              <a:srgbClr val="1B4D3E"/>
            </a:solidFill>
            <a:effectLst/>
          </c:spPr>
          <c:invertIfNegative val="0"/>
          <c:dLbls>
            <c:numFmt formatCode="[&gt;=100000]&quot;₹&quot;##\,##\,##0;&quot;₹&quot;#,##0" sourceLinked="0"/>
            <c:txPr>
              <a:bodyPr/>
              <a:lstStyle/>
              <a:p>
                <a:pPr>
                  <a:defRPr b="0" i="0" strike="noStrike" sz="850" u="none">
                    <a:solidFill>
                      <a:srgbClr val="000000"/>
                    </a:solidFill>
                    <a:latin typeface="Arial"/>
                  </a:defRPr>
                </a:pPr>
              </a:p>
            </c:txPr>
            <c:showLegendKey val="0"/>
            <c:showVal val="1"/>
            <c:showCatName val="0"/>
            <c:showSerName val="0"/>
            <c:showPercent val="0"/>
            <c:showBubbleSize val="0"/>
            <c:showLeaderLines val="0"/>
          </c:dLbls>
          <c:cat>
            <c:multiLvlStrRef>
              <c:f>Sheet1!$A$2:$A$9</c:f>
              <c:multiLvlStrCache>
                <c:ptCount val="8"/>
                <c:lvl>
                  <c:pt idx="0">
                    <c:v>Baker prototype</c:v>
                  </c:pt>
                  <c:pt idx="1">
                    <c:v>Process validation</c:v>
                  </c:pt>
                  <c:pt idx="2">
                    <c:v>Proto software</c:v>
                  </c:pt>
                  <c:pt idx="3">
                    <c:v>Safety + IP</c:v>
                  </c:pt>
                  <c:pt idx="4">
                    <c:v>Reserve</c:v>
                  </c:pt>
                  <c:pt idx="5">
                    <c:v>Workshop tools</c:v>
                  </c:pt>
                  <c:pt idx="6">
                    <c:v>Pilot programme</c:v>
                  </c:pt>
                  <c:pt idx="7">
                    <c:v>Mixer (test head)</c:v>
                  </c:pt>
                </c:lvl>
              </c:multiLvlStrCache>
            </c:multiLvlStrRef>
          </c:cat>
          <c:val>
            <c:numRef>
              <c:f>Sheet1!$B$2:$B$9</c:f>
              <c:numCache>
                <c:formatCode>General</c:formatCode>
                <c:ptCount val="8"/>
                <c:pt idx="0">
                  <c:v>373418</c:v>
                </c:pt>
                <c:pt idx="1">
                  <c:v>120000</c:v>
                </c:pt>
                <c:pt idx="2">
                  <c:v>100000</c:v>
                </c:pt>
                <c:pt idx="3">
                  <c:v>90000</c:v>
                </c:pt>
                <c:pt idx="4">
                  <c:v>86735</c:v>
                </c:pt>
                <c:pt idx="5">
                  <c:v>80000</c:v>
                </c:pt>
                <c:pt idx="6">
                  <c:v>75000</c:v>
                </c:pt>
                <c:pt idx="7">
                  <c:v>74847</c:v>
                </c:pt>
              </c:numCache>
            </c:numRef>
          </c:val>
        </c:ser>
        <c:dLbls>
          <c:numFmt formatCode="[&gt;=100000]&quot;₹&quot;##\,##\,##0;&quot;₹&quot;#,##0" sourceLinked="0"/>
          <c:txPr>
            <a:bodyPr/>
            <a:lstStyle/>
            <a:p>
              <a:pPr>
                <a:defRPr b="0" i="0" strike="noStrike" sz="85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1D2522"/>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company, not the machines. Protopulse builds the physical layer an AI needs to prototype hardware. Proto is the product; Baker and Mixer are the first two machines it drives. This version responds to Prateek's round-1 feedback: softer claims, Proto-first, Baker-first raise, full competition and cost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investor we listened. Each row maps a round-1 comment to the slide that answers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Software has a closed loop: the model writes code, runs it and reads the error. That is why a commerce graduate can ship an app. In hardware the loop breaks at the physical world. A board takes 7 to 20 days to reach India, and nobody measures it for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proof that the AI part is real. Investors have put about $100M into AI that produces hardware files. Every one of these outputs a file. None of them owns a machine that makes the board or an instrument that tells the model whether the board works. That missing loop is Protopulse.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learning-curve argument. Rungs 1 to 4 are knowledge that AI tools already help with. Rungs 5 to 8 need physical skills and equipment, and the feedback loop is weeks long. Every rung Proto removes brings in a new group of builders: students, product designers, domain experts. Lovable showed what happens to a market when the coding rung goes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positioning Prateek asked for, in the founder's words. We are an engineering and product company. We don't want to become a factory, and we aren't a PCB-mill company.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input. Proto plans everything, can eventually operate the machines including a 3D printer, sets out the hardware and firmware, tests with real signals, flags problems and guides the user. The human is kept at safety gates and for part placement.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Deep dive on the software. The moat is the data layer: every run logs what was designed, how it was made and what was measured. File-only AI tools can't collect that. The model is swappable, so we aren't tied to one vendor. MCP connectors are the same mechanism that already connects Claude to Fusion and Blender.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Fifteen steps, one shuttle. The shuttle is Baker's long X axis and runs under both zones, so the board never leaves its fixture until the parts go on. That registration is our process IP. It's what a stand-alone mill plus a separate stencil can't give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Deep technical slide 1. Stress the design choices that make production cheaper: ball screws on rails instead of finished stages, and the same 10.1-inch UV engine for masking and, later, jig printing.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Deep technical slide 2. Placement is deliberately manual with a printed jig: the jig does the aiming. That brought section F down from ₹20,000 to about ₹4,900, and it's the honest answer to 'it's not fully automated': it isn't meant to 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Prateek was right that 'send it at night, pick it up in the morning' overclaims. You load boards and place parts. The honest claim: a board in about 1.4 to 2.4 hours, with 15 to 20 minutes of it hands-on. The jig prints in parallel, so it doesn't add time. Compare that with 7 to 20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Listing risks builds trust with a hardware investor. Each one has a test and a fallback, and Phase 1 money is allocated to them: ₹1.2 lakh in the use of funds.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Mixer closes the loop. Test instruments today show waveforms to a person who has to interpret them. Mixer gives the numbers to Proto, which already knows what the circuit is supposed to do. It's also the production test fixture for Baker in the China factory, so one design does two jobs.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production Mixer uses 8-bit converters, lower resolution than an Analog Discovery 3. It's a test head for pass/fail and debugging typical prototype boards, driven by an agent. The prototype keeps 12/14-bit parts so we can tune the analog front end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answers the scalability question directly. Baker isn't meant to scale to production. Our scale comes from the number of labs and teams, not boards per machine. Fabs are a partner and a future referral channel, not an enemy.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competitor either does one step or stops at files. Prices are list prices before Indian duty and GST. Our bundle sits between a desktop CNC and a pro LPKF line, but covers the whole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the rough history head on. The companies failed for specific reasons, and each has an answer. We're not a better mill. We're the first product where the machine is how an AI 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Saying where competitors beat us is what makes the rest credible to an investor who knows hardware. AI design tools are partners: Proto can take a Flux or KiCad design and make it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prototype costs ₹3.73 lakh because it's bought retail in India with duty and contingency. The production unit is ₹1.45 lakh: ball screws on rails, one controller board, one 24 V rail, China parts. At ₹3.49 lakh the gross margin is 58.5%, normal for low-volume lab equipment with support.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Prateek's X-lakh question. On direct cost alone, Baker plus Mixer pays back after 59 board iterations against ordering from JLCPCB. A hardware startup iterating twice a week gets there in about 7 months. The workbook lets him change the price and usage and see it recalculate.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Bottom-up rather than a big analyst number. If every AICTE college bought one bundle, that's ₹220 crore of hardware; hardware-relevant startups add ₹84 crore. Institutions have grant budgets: ATLs get ₹20 lakh each, AICTE IDEA Labs about ₹1.1 crore. We start with colleges and startups, then Fab Labs abroad.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machine opens the account. Proto and consumables bring recurring revenue: about ₹1.65 lakh a year per installed Baker at 3 boards a week, roughly half the machine price every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stay an engineering company. The factory builds, tests on our Mixer-based fixture and packs. India does incoming QC, the few minimal assembly steps and final test, then ships: India first, then global. This starts only after Phase 1 proves the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take the step-by-step advice. The ₹10 lakh round funds one thing: Proto driving Baker. Mixer is in it only because a board isn't done until it's tested, and it's only 17% of the hardware budget. Each phase has an exit test before we raise the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Half the money goes to the two prototypes, which are costed line by line. The rest goes to proving the process, building the Proto alpha, safety and IP, and three pilots. Every milestone is measurable.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Prateek said the strongest moat is hidden in the idea. It is: an agent that learns from real, measured builds. The machines are how we collect that data and how the agent 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risk discussion before the investor opens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on the ask, the exit test and one line to remember.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slideLayout" Target="../slideLayouts/slideLayout1.xml"/><Relationship Id="rId1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1.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slideLayout" Target="../slideLayouts/slideLayout1.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slideLayout" Target="../slideLayouts/slideLayout1.xml"/><Relationship Id="rId7"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A22"/>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90000"/>
          </a:blip>
          <a:stretch>
            <a:fillRect/>
          </a:stretch>
        </p:blipFill>
        <p:spPr>
          <a:xfrm>
            <a:off x="548640" y="640080"/>
            <a:ext cx="457200" cy="457200"/>
          </a:xfrm>
          <a:prstGeom prst="rect">
            <a:avLst/>
          </a:prstGeom>
        </p:spPr>
      </p:pic>
      <p:sp>
        <p:nvSpPr>
          <p:cNvPr id="3" name="Text 0"/>
          <p:cNvSpPr txBox="1"/>
          <p:nvPr/>
        </p:nvSpPr>
        <p:spPr>
          <a:xfrm>
            <a:off x="1143000" y="713232"/>
            <a:ext cx="4572000" cy="320040"/>
          </a:xfrm>
          <a:prstGeom prst="rect">
            <a:avLst/>
          </a:prstGeom>
          <a:noFill/>
          <a:ln/>
        </p:spPr>
        <p:txBody>
          <a:bodyPr wrap="square" lIns="0" tIns="0" rIns="0" bIns="0" rtlCol="0" anchor="t"/>
          <a:lstStyle/>
          <a:p>
            <a:pPr indent="0" marL="0">
              <a:buNone/>
            </a:pPr>
            <a:r>
              <a:rPr lang="en-US" sz="1400" b="1" spc="400" kern="0" dirty="0">
                <a:solidFill>
                  <a:srgbClr val="C8793A"/>
                </a:solidFill>
                <a:latin typeface="Arial" pitchFamily="34" charset="0"/>
                <a:ea typeface="Arial" pitchFamily="34" charset="-122"/>
                <a:cs typeface="Arial" pitchFamily="34" charset="-120"/>
              </a:rPr>
              <a:t>PROTOPULSE</a:t>
            </a:r>
            <a:endParaRPr lang="en-US" sz="1400" dirty="0"/>
          </a:p>
        </p:txBody>
      </p:sp>
      <p:sp>
        <p:nvSpPr>
          <p:cNvPr id="4" name="Text 1"/>
          <p:cNvSpPr txBox="1"/>
          <p:nvPr/>
        </p:nvSpPr>
        <p:spPr>
          <a:xfrm>
            <a:off x="548640" y="1371600"/>
            <a:ext cx="7498080" cy="1371600"/>
          </a:xfrm>
          <a:prstGeom prst="rect">
            <a:avLst/>
          </a:prstGeom>
          <a:noFill/>
          <a:ln/>
        </p:spPr>
        <p:txBody>
          <a:bodyPr wrap="square" lIns="0" tIns="0" rIns="0" bIns="0" rtlCol="0" anchor="t"/>
          <a:lstStyle/>
          <a:p>
            <a:pPr indent="0" marL="0">
              <a:buNone/>
            </a:pPr>
            <a:r>
              <a:rPr lang="en-US" sz="3000" b="1" dirty="0">
                <a:solidFill>
                  <a:srgbClr val="FFFFFF"/>
                </a:solidFill>
                <a:latin typeface="Arial" pitchFamily="34" charset="0"/>
                <a:ea typeface="Arial" pitchFamily="34" charset="-122"/>
                <a:cs typeface="Arial" pitchFamily="34" charset="-120"/>
              </a:rPr>
              <a:t>From idea to a tested hardware prototype, with an AI that can use real machines</a:t>
            </a:r>
            <a:endParaRPr lang="en-US" sz="3000" dirty="0"/>
          </a:p>
        </p:txBody>
      </p:sp>
      <p:sp>
        <p:nvSpPr>
          <p:cNvPr id="5" name="Text 2"/>
          <p:cNvSpPr txBox="1"/>
          <p:nvPr/>
        </p:nvSpPr>
        <p:spPr>
          <a:xfrm>
            <a:off x="548640" y="3154680"/>
            <a:ext cx="7315200" cy="365760"/>
          </a:xfrm>
          <a:prstGeom prst="rect">
            <a:avLst/>
          </a:prstGeom>
          <a:noFill/>
          <a:ln/>
        </p:spPr>
        <p:txBody>
          <a:bodyPr wrap="square" lIns="0" tIns="0" rIns="0" bIns="0" rtlCol="0" anchor="t"/>
          <a:lstStyle/>
          <a:p>
            <a:pPr indent="0" marL="0">
              <a:buNone/>
            </a:pPr>
            <a:r>
              <a:rPr lang="en-US" sz="1500" dirty="0">
                <a:solidFill>
                  <a:srgbClr val="D3E5DB"/>
                </a:solidFill>
                <a:latin typeface="Arial" pitchFamily="34" charset="0"/>
                <a:ea typeface="Arial" pitchFamily="34" charset="-122"/>
                <a:cs typeface="Arial" pitchFamily="34" charset="-120"/>
              </a:rPr>
              <a:t>Proto (the AI)  ·  Baker (board cell)  ·  Mixer (test head)</a:t>
            </a:r>
            <a:endParaRPr lang="en-US" sz="1500" dirty="0"/>
          </a:p>
        </p:txBody>
      </p:sp>
      <p:sp>
        <p:nvSpPr>
          <p:cNvPr id="6" name="Text 3"/>
          <p:cNvSpPr txBox="1"/>
          <p:nvPr/>
        </p:nvSpPr>
        <p:spPr>
          <a:xfrm>
            <a:off x="548640" y="4297680"/>
            <a:ext cx="7315200" cy="274320"/>
          </a:xfrm>
          <a:prstGeom prst="rect">
            <a:avLst/>
          </a:prstGeom>
          <a:noFill/>
          <a:ln/>
        </p:spPr>
        <p:txBody>
          <a:bodyPr wrap="square" lIns="0" tIns="0" rIns="0" bIns="0" rtlCol="0" anchor="t"/>
          <a:lstStyle/>
          <a:p>
            <a:pPr indent="0" marL="0">
              <a:buNone/>
            </a:pPr>
            <a:r>
              <a:rPr lang="en-US" sz="1000" dirty="0">
                <a:solidFill>
                  <a:srgbClr val="D3E5DB"/>
                </a:solidFill>
                <a:latin typeface="Arial" pitchFamily="34" charset="0"/>
                <a:ea typeface="Arial" pitchFamily="34" charset="-122"/>
                <a:cs typeface="Arial" pitchFamily="34" charset="-120"/>
              </a:rPr>
              <a:t>Pitch v2, revised after murder-board round 1 · Delhi · 30 Sep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201168"/>
          </a:xfrm>
          <a:prstGeom prst="rect">
            <a:avLst/>
          </a:prstGeom>
          <a:noFill/>
          <a:ln/>
        </p:spPr>
        <p:txBody>
          <a:bodyPr wrap="square" lIns="0" tIns="0" rIns="0" bIns="0" rtlCol="0" anchor="t"/>
          <a:lstStyle/>
          <a:p>
            <a:pPr indent="0" marL="0">
              <a:buNone/>
            </a:pPr>
            <a:r>
              <a:rPr lang="en-US" sz="900" b="1" spc="200" kern="0" dirty="0">
                <a:solidFill>
                  <a:srgbClr val="C8793A"/>
                </a:solidFill>
                <a:latin typeface="Arial" pitchFamily="34" charset="0"/>
                <a:ea typeface="Arial" pitchFamily="34" charset="-122"/>
                <a:cs typeface="Arial" pitchFamily="34" charset="-120"/>
              </a:rPr>
              <a:t>MURDER BOARD · PRATEEK</a:t>
            </a:r>
            <a:endParaRPr lang="en-US" sz="900" dirty="0"/>
          </a:p>
        </p:txBody>
      </p:sp>
      <p:sp>
        <p:nvSpPr>
          <p:cNvPr id="3" name="Text 1"/>
          <p:cNvSpPr txBox="1"/>
          <p:nvPr/>
        </p:nvSpPr>
        <p:spPr>
          <a:xfrm>
            <a:off x="457200" y="457200"/>
            <a:ext cx="8229600" cy="566928"/>
          </a:xfrm>
          <a:prstGeom prst="rect">
            <a:avLst/>
          </a:prstGeom>
          <a:noFill/>
          <a:ln/>
        </p:spPr>
        <p:txBody>
          <a:bodyPr wrap="square" lIns="0" tIns="0" rIns="0" bIns="0" rtlCol="0" anchor="ctr">
            <a:normAutofit/>
          </a:bodyPr>
          <a:lstStyle/>
          <a:p>
            <a:pPr indent="0" marL="0">
              <a:buNone/>
            </a:pPr>
            <a:r>
              <a:rPr lang="en-US" sz="2200" b="1" dirty="0">
                <a:solidFill>
                  <a:srgbClr val="0F2A22"/>
                </a:solidFill>
                <a:latin typeface="Arial" pitchFamily="34" charset="0"/>
                <a:ea typeface="Arial" pitchFamily="34" charset="-122"/>
                <a:cs typeface="Arial" pitchFamily="34" charset="-120"/>
              </a:rPr>
              <a:t>What we changed after round 1</a:t>
            </a:r>
            <a:endParaRPr lang="en-US" sz="2200" dirty="0"/>
          </a:p>
        </p:txBody>
      </p:sp>
      <p:sp>
        <p:nvSpPr>
          <p:cNvPr id="4" name="Text 2"/>
          <p:cNvSpPr txBox="1"/>
          <p:nvPr/>
        </p:nvSpPr>
        <p:spPr>
          <a:xfrm>
            <a:off x="8321040" y="4828032"/>
            <a:ext cx="365760" cy="182880"/>
          </a:xfrm>
          <a:prstGeom prst="rect">
            <a:avLst/>
          </a:prstGeom>
          <a:noFill/>
          <a:ln/>
        </p:spPr>
        <p:txBody>
          <a:bodyPr wrap="square" lIns="0" tIns="0" rIns="0" bIns="0" rtlCol="0" anchor="t"/>
          <a:lstStyle/>
          <a:p>
            <a:pPr algn="r" indent="0" marL="0">
              <a:buNone/>
            </a:pPr>
            <a:r>
              <a:rPr lang="en-US" sz="800" dirty="0">
                <a:solidFill>
                  <a:srgbClr val="5E6B66"/>
                </a:solidFill>
                <a:latin typeface="Arial" pitchFamily="34" charset="0"/>
                <a:ea typeface="Arial" pitchFamily="34" charset="-122"/>
                <a:cs typeface="Arial" pitchFamily="34" charset="-120"/>
              </a:rPr>
              <a:t>2</a:t>
            </a:r>
            <a:endParaRPr lang="en-US" sz="800" dirty="0"/>
          </a:p>
        </p:txBody>
      </p:sp>
      <p:sp>
        <p:nvSpPr>
          <p:cNvPr id="5" name="Text 3"/>
          <p:cNvSpPr txBox="1"/>
          <p:nvPr/>
        </p:nvSpPr>
        <p:spPr>
          <a:xfrm>
            <a:off x="457200" y="4828032"/>
            <a:ext cx="2743200" cy="182880"/>
          </a:xfrm>
          <a:prstGeom prst="rect">
            <a:avLst/>
          </a:prstGeom>
          <a:noFill/>
          <a:ln/>
        </p:spPr>
        <p:txBody>
          <a:bodyPr wrap="square" lIns="0" tIns="0" rIns="0" bIns="0" rtlCol="0" anchor="t"/>
          <a:lstStyle/>
          <a:p>
            <a:pPr indent="0" marL="0">
              <a:buNone/>
            </a:pPr>
            <a:r>
              <a:rPr lang="en-US" sz="800" dirty="0">
                <a:solidFill>
                  <a:srgbClr val="5E6B66"/>
                </a:solidFill>
                <a:latin typeface="Arial" pitchFamily="34" charset="0"/>
                <a:ea typeface="Arial" pitchFamily="34" charset="-122"/>
                <a:cs typeface="Arial" pitchFamily="34" charset="-120"/>
              </a:rPr>
              <a:t>Protopulse · pitch v2</a:t>
            </a:r>
            <a:endParaRPr lang="en-US" sz="8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8229600" cy="914400"/>
        </p:xfrm>
        <a:graphic>
          <a:graphicData uri="http://schemas.openxmlformats.org/drawingml/2006/table">
            <a:tbl>
              <a:tblPr/>
              <a:tblGrid>
                <a:gridCol w="3291840"/>
                <a:gridCol w="4937760"/>
              </a:tblGrid>
              <a:tr h="365760">
                <a:tc>
                  <a:txBody>
                    <a:bodyPr/>
                    <a:lstStyle/>
                    <a:p>
                      <a:pPr indent="0" marL="0">
                        <a:buNone/>
                      </a:pPr>
                      <a:r>
                        <a:rPr lang="en-US" sz="1000" b="1" dirty="0">
                          <a:solidFill>
                            <a:srgbClr val="FFFFFF"/>
                          </a:solidFill>
                          <a:latin typeface="Arial" pitchFamily="34" charset="0"/>
                          <a:ea typeface="Arial" pitchFamily="34" charset="-122"/>
                          <a:cs typeface="Arial" pitchFamily="34" charset="-120"/>
                        </a:rPr>
                        <a:t>Feedback</a:t>
                      </a:r>
                      <a:endParaRPr lang="en-US" sz="10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1B4D3E"/>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What the deck now says</a:t>
                      </a:r>
                      <a:endParaRPr lang="en-US" sz="10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1B4D3E"/>
                    </a:solidFill>
                  </a:tcPr>
                </a:tc>
              </a:tr>
              <a:tr h="365760">
                <a:tc>
                  <a:txBody>
                    <a:bodyPr/>
                    <a:lstStyle/>
                    <a:p>
                      <a:pPr indent="0" marL="0">
                        <a:buNone/>
                      </a:pPr>
                      <a:r>
                        <a:rPr lang="en-US" sz="1000" b="1" dirty="0">
                          <a:solidFill>
                            <a:srgbClr val="1D2522"/>
                          </a:solidFill>
                          <a:latin typeface="Arial" pitchFamily="34" charset="0"/>
                          <a:ea typeface="Arial" pitchFamily="34" charset="-122"/>
                          <a:cs typeface="Arial" pitchFamily="34" charset="-120"/>
                        </a:rPr>
                        <a:t>Pitch the moat (Proto), not two robots</a:t>
                      </a:r>
                      <a:endParaRPr lang="en-US" sz="10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E8F1EC"/>
                    </a:solidFill>
                  </a:tcPr>
                </a:tc>
                <a:tc>
                  <a:txBody>
                    <a:bodyPr/>
                    <a:lstStyle/>
                    <a:p>
                      <a:pPr indent="0" marL="0">
                        <a:buNone/>
                      </a:pPr>
                      <a:r>
                        <a:rPr lang="en-US" sz="1000" dirty="0">
                          <a:solidFill>
                            <a:srgbClr val="1D2522"/>
                          </a:solidFill>
                          <a:latin typeface="Arial" pitchFamily="34" charset="0"/>
                          <a:ea typeface="Arial" pitchFamily="34" charset="-122"/>
                          <a:cs typeface="Arial" pitchFamily="34" charset="-120"/>
                        </a:rPr>
                        <a:t>Proto leads. Baker and Mixer are its first hands and eyes</a:t>
                      </a:r>
                      <a:endParaRPr lang="en-US" sz="10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E8F1EC"/>
                    </a:solidFill>
                  </a:tcPr>
                </a:tc>
              </a:tr>
              <a:tr h="365760">
                <a:tc>
                  <a:txBody>
                    <a:bodyPr/>
                    <a:lstStyle/>
                    <a:p>
                      <a:pPr indent="0" marL="0">
                        <a:buNone/>
                      </a:pPr>
                      <a:r>
                        <a:rPr lang="en-US" sz="1000" b="1" dirty="0">
                          <a:solidFill>
                            <a:srgbClr val="1D2522"/>
                          </a:solidFill>
                          <a:latin typeface="Arial" pitchFamily="34" charset="0"/>
                          <a:ea typeface="Arial" pitchFamily="34" charset="-122"/>
                          <a:cs typeface="Arial" pitchFamily="34" charset="-120"/>
                        </a:rPr>
                        <a:t>Don't look like a desktop PCB mill</a:t>
                      </a:r>
                      <a:endParaRPr lang="en-US" sz="10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1000" dirty="0">
                          <a:solidFill>
                            <a:srgbClr val="1D2522"/>
                          </a:solidFill>
                          <a:latin typeface="Arial" pitchFamily="34" charset="0"/>
                          <a:ea typeface="Arial" pitchFamily="34" charset="-122"/>
                          <a:cs typeface="Arial" pitchFamily="34" charset="-120"/>
                        </a:rPr>
                        <a:t>Baker is a prototyping cell. Slide 18 covers why mills struggled</a:t>
                      </a:r>
                      <a:endParaRPr lang="en-US" sz="10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r h="365760">
                <a:tc>
                  <a:txBody>
                    <a:bodyPr/>
                    <a:lstStyle/>
                    <a:p>
                      <a:pPr indent="0" marL="0">
                        <a:buNone/>
                      </a:pPr>
                      <a:r>
                        <a:rPr lang="en-US" sz="1000" b="1" dirty="0">
                          <a:solidFill>
                            <a:srgbClr val="1D2522"/>
                          </a:solidFill>
                          <a:latin typeface="Arial" pitchFamily="34" charset="0"/>
                          <a:ea typeface="Arial" pitchFamily="34" charset="-122"/>
                          <a:cs typeface="Arial" pitchFamily="34" charset="-120"/>
                        </a:rPr>
                        <a:t>Avoid 'replaces a fabrication order'</a:t>
                      </a:r>
                      <a:endParaRPr lang="en-US" sz="10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E8F1EC"/>
                    </a:solidFill>
                  </a:tcPr>
                </a:tc>
                <a:tc>
                  <a:txBody>
                    <a:bodyPr/>
                    <a:lstStyle/>
                    <a:p>
                      <a:pPr indent="0" marL="0">
                        <a:buNone/>
                      </a:pPr>
                      <a:r>
                        <a:rPr lang="en-US" sz="1000" dirty="0">
                          <a:solidFill>
                            <a:srgbClr val="1D2522"/>
                          </a:solidFill>
                          <a:latin typeface="Arial" pitchFamily="34" charset="0"/>
                          <a:ea typeface="Arial" pitchFamily="34" charset="-122"/>
                          <a:cs typeface="Arial" pitchFamily="34" charset="-120"/>
                        </a:rPr>
                        <a:t>We complement fabs. Proto hands frozen designs to them</a:t>
                      </a:r>
                      <a:endParaRPr lang="en-US" sz="10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E8F1EC"/>
                    </a:solidFill>
                  </a:tcPr>
                </a:tc>
              </a:tr>
              <a:tr h="365760">
                <a:tc>
                  <a:txBody>
                    <a:bodyPr/>
                    <a:lstStyle/>
                    <a:p>
                      <a:pPr indent="0" marL="0">
                        <a:buNone/>
                      </a:pPr>
                      <a:r>
                        <a:rPr lang="en-US" sz="1000" b="1" dirty="0">
                          <a:solidFill>
                            <a:srgbClr val="1D2522"/>
                          </a:solidFill>
                          <a:latin typeface="Arial" pitchFamily="34" charset="0"/>
                          <a:ea typeface="Arial" pitchFamily="34" charset="-122"/>
                          <a:cs typeface="Arial" pitchFamily="34" charset="-120"/>
                        </a:rPr>
                        <a:t>Two products on ₹10 lakh is aggressive</a:t>
                      </a:r>
                      <a:endParaRPr lang="en-US" sz="10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1000" dirty="0">
                          <a:solidFill>
                            <a:srgbClr val="1D2522"/>
                          </a:solidFill>
                          <a:latin typeface="Arial" pitchFamily="34" charset="0"/>
                          <a:ea typeface="Arial" pitchFamily="34" charset="-122"/>
                          <a:cs typeface="Arial" pitchFamily="34" charset="-120"/>
                        </a:rPr>
                        <a:t>Phase 1 is Proto + Baker. Mixer is Baker's test head</a:t>
                      </a:r>
                      <a:endParaRPr lang="en-US" sz="10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r h="365760">
                <a:tc>
                  <a:txBody>
                    <a:bodyPr/>
                    <a:lstStyle/>
                    <a:p>
                      <a:pPr indent="0" marL="0">
                        <a:buNone/>
                      </a:pPr>
                      <a:r>
                        <a:rPr lang="en-US" sz="1000" b="1" dirty="0">
                          <a:solidFill>
                            <a:srgbClr val="1D2522"/>
                          </a:solidFill>
                          <a:latin typeface="Arial" pitchFamily="34" charset="0"/>
                          <a:ea typeface="Arial" pitchFamily="34" charset="-122"/>
                          <a:cs typeface="Arial" pitchFamily="34" charset="-120"/>
                        </a:rPr>
                        <a:t>'Design at night, board in the morning'</a:t>
                      </a:r>
                      <a:endParaRPr lang="en-US" sz="10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E8F1EC"/>
                    </a:solidFill>
                  </a:tcPr>
                </a:tc>
                <a:tc>
                  <a:txBody>
                    <a:bodyPr/>
                    <a:lstStyle/>
                    <a:p>
                      <a:pPr indent="0" marL="0">
                        <a:buNone/>
                      </a:pPr>
                      <a:r>
                        <a:rPr lang="en-US" sz="1000" dirty="0">
                          <a:solidFill>
                            <a:srgbClr val="1D2522"/>
                          </a:solidFill>
                          <a:latin typeface="Arial" pitchFamily="34" charset="0"/>
                          <a:ea typeface="Arial" pitchFamily="34" charset="-122"/>
                          <a:cs typeface="Arial" pitchFamily="34" charset="-120"/>
                        </a:rPr>
                        <a:t>Measured targets: ≈1.4–2.4 h per board, ≈15–20 min hands-on</a:t>
                      </a:r>
                      <a:endParaRPr lang="en-US" sz="10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E8F1EC"/>
                    </a:solidFill>
                  </a:tcPr>
                </a:tc>
              </a:tr>
              <a:tr h="365760">
                <a:tc>
                  <a:txBody>
                    <a:bodyPr/>
                    <a:lstStyle/>
                    <a:p>
                      <a:pPr indent="0" marL="0">
                        <a:buNone/>
                      </a:pPr>
                      <a:r>
                        <a:rPr lang="en-US" sz="1000" b="1" dirty="0">
                          <a:solidFill>
                            <a:srgbClr val="1D2522"/>
                          </a:solidFill>
                          <a:latin typeface="Arial" pitchFamily="34" charset="0"/>
                          <a:ea typeface="Arial" pitchFamily="34" charset="-122"/>
                          <a:cs typeface="Arial" pitchFamily="34" charset="-120"/>
                        </a:rPr>
                        <a:t>Competition and their pricing</a:t>
                      </a:r>
                      <a:endParaRPr lang="en-US" sz="10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1000" dirty="0">
                          <a:solidFill>
                            <a:srgbClr val="1D2522"/>
                          </a:solidFill>
                          <a:latin typeface="Arial" pitchFamily="34" charset="0"/>
                          <a:ea typeface="Arial" pitchFamily="34" charset="-122"/>
                          <a:cs typeface="Arial" pitchFamily="34" charset="-120"/>
                        </a:rPr>
                        <a:t>14 alternatives compared, with prices and sources (slides 17–19)</a:t>
                      </a:r>
                      <a:endParaRPr lang="en-US" sz="10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r h="365760">
                <a:tc>
                  <a:txBody>
                    <a:bodyPr/>
                    <a:lstStyle/>
                    <a:p>
                      <a:pPr indent="0" marL="0">
                        <a:buNone/>
                      </a:pPr>
                      <a:r>
                        <a:rPr lang="en-US" sz="1000" b="1" dirty="0">
                          <a:solidFill>
                            <a:srgbClr val="1D2522"/>
                          </a:solidFill>
                          <a:latin typeface="Arial" pitchFamily="34" charset="0"/>
                          <a:ea typeface="Arial" pitchFamily="34" charset="-122"/>
                          <a:cs typeface="Arial" pitchFamily="34" charset="-120"/>
                        </a:rPr>
                        <a:t>What does the machine cost, and does it pay back?</a:t>
                      </a:r>
                      <a:endParaRPr lang="en-US" sz="10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E8F1EC"/>
                    </a:solidFill>
                  </a:tcPr>
                </a:tc>
                <a:tc>
                  <a:txBody>
                    <a:bodyPr/>
                    <a:lstStyle/>
                    <a:p>
                      <a:pPr indent="0" marL="0">
                        <a:buNone/>
                      </a:pPr>
                      <a:r>
                        <a:rPr lang="en-US" sz="1000" dirty="0">
                          <a:solidFill>
                            <a:srgbClr val="1D2522"/>
                          </a:solidFill>
                          <a:latin typeface="Arial" pitchFamily="34" charset="0"/>
                          <a:ea typeface="Arial" pitchFamily="34" charset="-122"/>
                          <a:cs typeface="Arial" pitchFamily="34" charset="-120"/>
                        </a:rPr>
                        <a:t>Build ₹1.45 lakh; price ₹3.49 lakh; pays back after 59 boards</a:t>
                      </a:r>
                      <a:endParaRPr lang="en-US" sz="10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E8F1EC"/>
                    </a:solidFill>
                  </a:tcPr>
                </a:tc>
              </a:tr>
              <a:tr h="365760">
                <a:tc>
                  <a:txBody>
                    <a:bodyPr/>
                    <a:lstStyle/>
                    <a:p>
                      <a:pPr indent="0" marL="0">
                        <a:buNone/>
                      </a:pPr>
                      <a:r>
                        <a:rPr lang="en-US" sz="1000" b="1" dirty="0">
                          <a:solidFill>
                            <a:srgbClr val="1D2522"/>
                          </a:solidFill>
                          <a:latin typeface="Arial" pitchFamily="34" charset="0"/>
                          <a:ea typeface="Arial" pitchFamily="34" charset="-122"/>
                          <a:cs typeface="Arial" pitchFamily="34" charset="-120"/>
                        </a:rPr>
                        <a:t>Does it scale to 1,000 / 10,000 / 1 lakh boards?</a:t>
                      </a:r>
                      <a:endParaRPr lang="en-US" sz="10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1000" dirty="0">
                          <a:solidFill>
                            <a:srgbClr val="1D2522"/>
                          </a:solidFill>
                          <a:latin typeface="Arial" pitchFamily="34" charset="0"/>
                          <a:ea typeface="Arial" pitchFamily="34" charset="-122"/>
                          <a:cs typeface="Arial" pitchFamily="34" charset="-120"/>
                        </a:rPr>
                        <a:t>Not for production, by design. Slide 16 shows where a fab wins</a:t>
                      </a:r>
                      <a:endParaRPr lang="en-US" sz="10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201168"/>
          </a:xfrm>
          <a:prstGeom prst="rect">
            <a:avLst/>
          </a:prstGeom>
          <a:noFill/>
          <a:ln/>
        </p:spPr>
        <p:txBody>
          <a:bodyPr wrap="square" lIns="0" tIns="0" rIns="0" bIns="0" rtlCol="0" anchor="t"/>
          <a:lstStyle/>
          <a:p>
            <a:pPr indent="0" marL="0">
              <a:buNone/>
            </a:pPr>
            <a:r>
              <a:rPr lang="en-US" sz="900" b="1" spc="200" kern="0" dirty="0">
                <a:solidFill>
                  <a:srgbClr val="C8793A"/>
                </a:solidFill>
                <a:latin typeface="Arial" pitchFamily="34" charset="0"/>
                <a:ea typeface="Arial" pitchFamily="34" charset="-122"/>
                <a:cs typeface="Arial" pitchFamily="34" charset="-120"/>
              </a:rPr>
              <a:t>THE SHIFT</a:t>
            </a:r>
            <a:endParaRPr lang="en-US" sz="900" dirty="0"/>
          </a:p>
        </p:txBody>
      </p:sp>
      <p:sp>
        <p:nvSpPr>
          <p:cNvPr id="3" name="Text 1"/>
          <p:cNvSpPr txBox="1"/>
          <p:nvPr/>
        </p:nvSpPr>
        <p:spPr>
          <a:xfrm>
            <a:off x="457200" y="457200"/>
            <a:ext cx="8229600" cy="566928"/>
          </a:xfrm>
          <a:prstGeom prst="rect">
            <a:avLst/>
          </a:prstGeom>
          <a:noFill/>
          <a:ln/>
        </p:spPr>
        <p:txBody>
          <a:bodyPr wrap="square" lIns="0" tIns="0" rIns="0" bIns="0" rtlCol="0" anchor="ctr">
            <a:normAutofit/>
          </a:bodyPr>
          <a:lstStyle/>
          <a:p>
            <a:pPr indent="0" marL="0">
              <a:buNone/>
            </a:pPr>
            <a:r>
              <a:rPr lang="en-US" sz="2200" b="1" dirty="0">
                <a:solidFill>
                  <a:srgbClr val="0F2A22"/>
                </a:solidFill>
                <a:latin typeface="Arial" pitchFamily="34" charset="0"/>
                <a:ea typeface="Arial" pitchFamily="34" charset="-122"/>
                <a:cs typeface="Arial" pitchFamily="34" charset="-120"/>
              </a:rPr>
              <a:t>Software: idea to product in hours. Hardware: still weeks.</a:t>
            </a:r>
            <a:endParaRPr lang="en-US" sz="2200" dirty="0"/>
          </a:p>
        </p:txBody>
      </p:sp>
      <p:sp>
        <p:nvSpPr>
          <p:cNvPr id="4" name="Text 2"/>
          <p:cNvSpPr txBox="1"/>
          <p:nvPr/>
        </p:nvSpPr>
        <p:spPr>
          <a:xfrm>
            <a:off x="8321040" y="4828032"/>
            <a:ext cx="365760" cy="182880"/>
          </a:xfrm>
          <a:prstGeom prst="rect">
            <a:avLst/>
          </a:prstGeom>
          <a:noFill/>
          <a:ln/>
        </p:spPr>
        <p:txBody>
          <a:bodyPr wrap="square" lIns="0" tIns="0" rIns="0" bIns="0" rtlCol="0" anchor="t"/>
          <a:lstStyle/>
          <a:p>
            <a:pPr algn="r" indent="0" marL="0">
              <a:buNone/>
            </a:pPr>
            <a:r>
              <a:rPr lang="en-US" sz="800" dirty="0">
                <a:solidFill>
                  <a:srgbClr val="5E6B66"/>
                </a:solidFill>
                <a:latin typeface="Arial" pitchFamily="34" charset="0"/>
                <a:ea typeface="Arial" pitchFamily="34" charset="-122"/>
                <a:cs typeface="Arial" pitchFamily="34" charset="-120"/>
              </a:rPr>
              <a:t>3</a:t>
            </a:r>
            <a:endParaRPr lang="en-US" sz="800" dirty="0"/>
          </a:p>
        </p:txBody>
      </p:sp>
      <p:sp>
        <p:nvSpPr>
          <p:cNvPr id="5" name="Text 3"/>
          <p:cNvSpPr txBox="1"/>
          <p:nvPr/>
        </p:nvSpPr>
        <p:spPr>
          <a:xfrm>
            <a:off x="457200" y="4828032"/>
            <a:ext cx="2743200" cy="182880"/>
          </a:xfrm>
          <a:prstGeom prst="rect">
            <a:avLst/>
          </a:prstGeom>
          <a:noFill/>
          <a:ln/>
        </p:spPr>
        <p:txBody>
          <a:bodyPr wrap="square" lIns="0" tIns="0" rIns="0" bIns="0" rtlCol="0" anchor="t"/>
          <a:lstStyle/>
          <a:p>
            <a:pPr indent="0" marL="0">
              <a:buNone/>
            </a:pPr>
            <a:r>
              <a:rPr lang="en-US" sz="800" dirty="0">
                <a:solidFill>
                  <a:srgbClr val="5E6B66"/>
                </a:solidFill>
                <a:latin typeface="Arial" pitchFamily="34" charset="0"/>
                <a:ea typeface="Arial" pitchFamily="34" charset="-122"/>
                <a:cs typeface="Arial" pitchFamily="34" charset="-120"/>
              </a:rPr>
              <a:t>Protopulse · pitch v2</a:t>
            </a:r>
            <a:endParaRPr lang="en-US" sz="800" dirty="0"/>
          </a:p>
        </p:txBody>
      </p:sp>
      <p:sp>
        <p:nvSpPr>
          <p:cNvPr id="6" name="Shape 4"/>
          <p:cNvSpPr/>
          <p:nvPr/>
        </p:nvSpPr>
        <p:spPr>
          <a:xfrm>
            <a:off x="457200" y="1234440"/>
            <a:ext cx="3977640" cy="3246120"/>
          </a:xfrm>
          <a:prstGeom prst="roundRect">
            <a:avLst>
              <a:gd name="adj" fmla="val 2254"/>
            </a:avLst>
          </a:prstGeom>
          <a:solidFill>
            <a:srgbClr val="E8F1EC"/>
          </a:solidFill>
          <a:ln w="12700">
            <a:solidFill>
              <a:srgbClr val="E8F1EC"/>
            </a:solidFill>
            <a:prstDash val="solid"/>
          </a:ln>
        </p:spPr>
      </p:sp>
      <p:sp>
        <p:nvSpPr>
          <p:cNvPr id="7" name="Shape 5"/>
          <p:cNvSpPr/>
          <p:nvPr/>
        </p:nvSpPr>
        <p:spPr>
          <a:xfrm>
            <a:off x="685800" y="1417320"/>
            <a:ext cx="420624" cy="420624"/>
          </a:xfrm>
          <a:prstGeom prst="ellipse">
            <a:avLst/>
          </a:prstGeom>
          <a:solidFill>
            <a:srgbClr val="F6E7D8"/>
          </a:solidFill>
          <a:ln w="15875">
            <a:solidFill>
              <a:srgbClr val="C8793A"/>
            </a:solidFill>
            <a:prstDash val="solid"/>
          </a:ln>
        </p:spPr>
      </p:sp>
      <p:pic>
        <p:nvPicPr>
          <p:cNvPr id="8" name="Image 0" descr="preencoded.png">    </p:cNvPr>
          <p:cNvPicPr>
            <a:picLocks noChangeAspect="1"/>
          </p:cNvPicPr>
          <p:nvPr/>
        </p:nvPicPr>
        <p:blipFill>
          <a:blip r:embed="rId1"/>
          <a:stretch>
            <a:fillRect/>
          </a:stretch>
        </p:blipFill>
        <p:spPr>
          <a:xfrm>
            <a:off x="786750" y="1518270"/>
            <a:ext cx="218724" cy="218724"/>
          </a:xfrm>
          <a:prstGeom prst="rect">
            <a:avLst/>
          </a:prstGeom>
        </p:spPr>
      </p:pic>
      <p:sp>
        <p:nvSpPr>
          <p:cNvPr id="9" name="Text 6"/>
          <p:cNvSpPr txBox="1"/>
          <p:nvPr/>
        </p:nvSpPr>
        <p:spPr>
          <a:xfrm>
            <a:off x="1234440" y="1463040"/>
            <a:ext cx="2743200" cy="320040"/>
          </a:xfrm>
          <a:prstGeom prst="rect">
            <a:avLst/>
          </a:prstGeom>
          <a:noFill/>
          <a:ln/>
        </p:spPr>
        <p:txBody>
          <a:bodyPr wrap="square" lIns="0" tIns="0" rIns="0" bIns="0" rtlCol="0" anchor="t"/>
          <a:lstStyle/>
          <a:p>
            <a:pPr indent="0" marL="0">
              <a:buNone/>
            </a:pPr>
            <a:r>
              <a:rPr lang="en-US" sz="1500" b="1" dirty="0">
                <a:solidFill>
                  <a:srgbClr val="1B4D3E"/>
                </a:solidFill>
                <a:latin typeface="Arial" pitchFamily="34" charset="0"/>
                <a:ea typeface="Arial" pitchFamily="34" charset="-122"/>
                <a:cs typeface="Arial" pitchFamily="34" charset="-120"/>
              </a:rPr>
              <a:t>Software, 2026</a:t>
            </a:r>
            <a:endParaRPr lang="en-US" sz="1500" dirty="0"/>
          </a:p>
        </p:txBody>
      </p:sp>
      <p:sp>
        <p:nvSpPr>
          <p:cNvPr id="10" name="Text 7"/>
          <p:cNvSpPr txBox="1"/>
          <p:nvPr/>
        </p:nvSpPr>
        <p:spPr>
          <a:xfrm>
            <a:off x="685800" y="2011680"/>
            <a:ext cx="3657600" cy="548640"/>
          </a:xfrm>
          <a:prstGeom prst="rect">
            <a:avLst/>
          </a:prstGeom>
          <a:noFill/>
          <a:ln/>
        </p:spPr>
        <p:txBody>
          <a:bodyPr wrap="square" lIns="0" tIns="0" rIns="0" bIns="0" rtlCol="0" anchor="t"/>
          <a:lstStyle/>
          <a:p>
            <a:pPr indent="0" marL="0">
              <a:buNone/>
            </a:pPr>
            <a:r>
              <a:rPr lang="en-US" sz="3400" b="1" dirty="0">
                <a:solidFill>
                  <a:srgbClr val="C8793A"/>
                </a:solidFill>
                <a:latin typeface="Arial" pitchFamily="34" charset="0"/>
                <a:ea typeface="Arial" pitchFamily="34" charset="-122"/>
                <a:cs typeface="Arial" pitchFamily="34" charset="-120"/>
              </a:rPr>
              <a:t>$100M ARR</a:t>
            </a:r>
            <a:endParaRPr lang="en-US" sz="3400" dirty="0"/>
          </a:p>
        </p:txBody>
      </p:sp>
      <p:sp>
        <p:nvSpPr>
          <p:cNvPr id="11" name="Text 8"/>
          <p:cNvSpPr txBox="1"/>
          <p:nvPr/>
        </p:nvSpPr>
        <p:spPr>
          <a:xfrm>
            <a:off x="685800" y="2560320"/>
            <a:ext cx="3566160" cy="457200"/>
          </a:xfrm>
          <a:prstGeom prst="rect">
            <a:avLst/>
          </a:prstGeom>
          <a:noFill/>
          <a:ln/>
        </p:spPr>
        <p:txBody>
          <a:bodyPr wrap="square" lIns="0" tIns="0" rIns="0" bIns="0" rtlCol="0" anchor="t"/>
          <a:lstStyle/>
          <a:p>
            <a:pPr indent="0" marL="0">
              <a:buNone/>
            </a:pPr>
            <a:r>
              <a:rPr lang="en-US" sz="1100" dirty="0">
                <a:solidFill>
                  <a:srgbClr val="1D2522"/>
                </a:solidFill>
                <a:latin typeface="Arial" pitchFamily="34" charset="0"/>
                <a:ea typeface="Arial" pitchFamily="34" charset="-122"/>
                <a:cs typeface="Arial" pitchFamily="34" charset="-120"/>
              </a:rPr>
              <a:t>Lovable reached it 8 months after launch, selling to people who can't code</a:t>
            </a:r>
            <a:endParaRPr lang="en-US" sz="1100" dirty="0"/>
          </a:p>
        </p:txBody>
      </p:sp>
      <p:sp>
        <p:nvSpPr>
          <p:cNvPr id="12" name="Text 9"/>
          <p:cNvSpPr txBox="1"/>
          <p:nvPr/>
        </p:nvSpPr>
        <p:spPr>
          <a:xfrm>
            <a:off x="685800" y="3154680"/>
            <a:ext cx="3566160" cy="1188720"/>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rgbClr val="1D2522"/>
                </a:solidFill>
                <a:latin typeface="Arial" pitchFamily="34" charset="0"/>
                <a:ea typeface="Arial" pitchFamily="34" charset="-122"/>
                <a:cs typeface="Arial" pitchFamily="34" charset="-120"/>
              </a:rPr>
              <a:t>2.3M active users, 180,000 paying subscribers</a:t>
            </a:r>
            <a:endParaRPr lang="en-US" sz="1100" dirty="0"/>
          </a:p>
          <a:p>
            <a:pPr marL="152400" indent="-152400">
              <a:spcAft>
                <a:spcPts val="400"/>
              </a:spcAft>
              <a:buSzPct val="100000"/>
              <a:buChar char="•"/>
            </a:pPr>
            <a:r>
              <a:rPr lang="en-US" sz="1100" dirty="0">
                <a:solidFill>
                  <a:srgbClr val="1D2522"/>
                </a:solidFill>
                <a:latin typeface="Arial" pitchFamily="34" charset="0"/>
                <a:ea typeface="Arial" pitchFamily="34" charset="-122"/>
                <a:cs typeface="Arial" pitchFamily="34" charset="-120"/>
              </a:rPr>
              <a:t>$400M ARR by Feb 2026</a:t>
            </a:r>
            <a:endParaRPr lang="en-US" sz="1100" dirty="0"/>
          </a:p>
          <a:p>
            <a:pPr marL="152400" indent="-152400">
              <a:spcAft>
                <a:spcPts val="400"/>
              </a:spcAft>
              <a:buSzPct val="100000"/>
              <a:buChar char="•"/>
            </a:pPr>
            <a:r>
              <a:rPr lang="en-US" sz="1100" dirty="0">
                <a:solidFill>
                  <a:srgbClr val="1D2522"/>
                </a:solidFill>
                <a:latin typeface="Arial" pitchFamily="34" charset="0"/>
                <a:ea typeface="Arial" pitchFamily="34" charset="-122"/>
                <a:cs typeface="Arial" pitchFamily="34" charset="-120"/>
              </a:rPr>
              <a:t>Describe it, and a model builds, runs and fixes it</a:t>
            </a:r>
            <a:endParaRPr lang="en-US" sz="1100" dirty="0"/>
          </a:p>
        </p:txBody>
      </p:sp>
      <p:sp>
        <p:nvSpPr>
          <p:cNvPr id="13" name="Shape 10"/>
          <p:cNvSpPr/>
          <p:nvPr/>
        </p:nvSpPr>
        <p:spPr>
          <a:xfrm>
            <a:off x="4709160" y="1234440"/>
            <a:ext cx="3977640" cy="3246120"/>
          </a:xfrm>
          <a:prstGeom prst="roundRect">
            <a:avLst>
              <a:gd name="adj" fmla="val 2254"/>
            </a:avLst>
          </a:prstGeom>
          <a:solidFill>
            <a:srgbClr val="F6E7D8"/>
          </a:solidFill>
          <a:ln w="12700">
            <a:solidFill>
              <a:srgbClr val="F6E7D8"/>
            </a:solidFill>
            <a:prstDash val="solid"/>
          </a:ln>
        </p:spPr>
      </p:sp>
      <p:sp>
        <p:nvSpPr>
          <p:cNvPr id="14" name="Shape 11"/>
          <p:cNvSpPr/>
          <p:nvPr/>
        </p:nvSpPr>
        <p:spPr>
          <a:xfrm>
            <a:off x="4937760" y="1417320"/>
            <a:ext cx="420624" cy="420624"/>
          </a:xfrm>
          <a:prstGeom prst="ellipse">
            <a:avLst/>
          </a:prstGeom>
          <a:solidFill>
            <a:srgbClr val="C8793A"/>
          </a:solidFill>
          <a:ln w="15875">
            <a:solidFill>
              <a:srgbClr val="C8793A"/>
            </a:solidFill>
            <a:prstDash val="solid"/>
          </a:ln>
        </p:spPr>
      </p:sp>
      <p:pic>
        <p:nvPicPr>
          <p:cNvPr id="15" name="Image 1" descr="preencoded.png">    </p:cNvPr>
          <p:cNvPicPr>
            <a:picLocks noChangeAspect="1"/>
          </p:cNvPicPr>
          <p:nvPr/>
        </p:nvPicPr>
        <p:blipFill>
          <a:blip r:embed="rId2"/>
          <a:stretch>
            <a:fillRect/>
          </a:stretch>
        </p:blipFill>
        <p:spPr>
          <a:xfrm>
            <a:off x="5038710" y="1518270"/>
            <a:ext cx="218724" cy="218724"/>
          </a:xfrm>
          <a:prstGeom prst="rect">
            <a:avLst/>
          </a:prstGeom>
        </p:spPr>
      </p:pic>
      <p:sp>
        <p:nvSpPr>
          <p:cNvPr id="16" name="Text 12"/>
          <p:cNvSpPr txBox="1"/>
          <p:nvPr/>
        </p:nvSpPr>
        <p:spPr>
          <a:xfrm>
            <a:off x="5486400" y="1463040"/>
            <a:ext cx="2743200" cy="320040"/>
          </a:xfrm>
          <a:prstGeom prst="rect">
            <a:avLst/>
          </a:prstGeom>
          <a:noFill/>
          <a:ln/>
        </p:spPr>
        <p:txBody>
          <a:bodyPr wrap="square" lIns="0" tIns="0" rIns="0" bIns="0" rtlCol="0" anchor="t"/>
          <a:lstStyle/>
          <a:p>
            <a:pPr indent="0" marL="0">
              <a:buNone/>
            </a:pPr>
            <a:r>
              <a:rPr lang="en-US" sz="1500" b="1" dirty="0">
                <a:solidFill>
                  <a:srgbClr val="1B4D3E"/>
                </a:solidFill>
                <a:latin typeface="Arial" pitchFamily="34" charset="0"/>
                <a:ea typeface="Arial" pitchFamily="34" charset="-122"/>
                <a:cs typeface="Arial" pitchFamily="34" charset="-120"/>
              </a:rPr>
              <a:t>Hardware, 2026</a:t>
            </a:r>
            <a:endParaRPr lang="en-US" sz="1500" dirty="0"/>
          </a:p>
        </p:txBody>
      </p:sp>
      <p:sp>
        <p:nvSpPr>
          <p:cNvPr id="17" name="Text 13"/>
          <p:cNvSpPr txBox="1"/>
          <p:nvPr/>
        </p:nvSpPr>
        <p:spPr>
          <a:xfrm>
            <a:off x="4937760" y="2011680"/>
            <a:ext cx="3657600" cy="548640"/>
          </a:xfrm>
          <a:prstGeom prst="rect">
            <a:avLst/>
          </a:prstGeom>
          <a:noFill/>
          <a:ln/>
        </p:spPr>
        <p:txBody>
          <a:bodyPr wrap="square" lIns="0" tIns="0" rIns="0" bIns="0" rtlCol="0" anchor="t"/>
          <a:lstStyle/>
          <a:p>
            <a:pPr indent="0" marL="0">
              <a:buNone/>
            </a:pPr>
            <a:r>
              <a:rPr lang="en-US" sz="3400" b="1" dirty="0">
                <a:solidFill>
                  <a:srgbClr val="C8793A"/>
                </a:solidFill>
                <a:latin typeface="Arial" pitchFamily="34" charset="0"/>
                <a:ea typeface="Arial" pitchFamily="34" charset="-122"/>
                <a:cs typeface="Arial" pitchFamily="34" charset="-120"/>
              </a:rPr>
              <a:t>7–20 days</a:t>
            </a:r>
            <a:endParaRPr lang="en-US" sz="3400" dirty="0"/>
          </a:p>
        </p:txBody>
      </p:sp>
      <p:sp>
        <p:nvSpPr>
          <p:cNvPr id="18" name="Text 14"/>
          <p:cNvSpPr txBox="1"/>
          <p:nvPr/>
        </p:nvSpPr>
        <p:spPr>
          <a:xfrm>
            <a:off x="4937760" y="2560320"/>
            <a:ext cx="3566160" cy="457200"/>
          </a:xfrm>
          <a:prstGeom prst="rect">
            <a:avLst/>
          </a:prstGeom>
          <a:noFill/>
          <a:ln/>
        </p:spPr>
        <p:txBody>
          <a:bodyPr wrap="square" lIns="0" tIns="0" rIns="0" bIns="0" rtlCol="0" anchor="t"/>
          <a:lstStyle/>
          <a:p>
            <a:pPr indent="0" marL="0">
              <a:buNone/>
            </a:pPr>
            <a:r>
              <a:rPr lang="en-US" sz="1100" dirty="0">
                <a:solidFill>
                  <a:srgbClr val="1D2522"/>
                </a:solidFill>
                <a:latin typeface="Arial" pitchFamily="34" charset="0"/>
                <a:ea typeface="Arial" pitchFamily="34" charset="-122"/>
                <a:cs typeface="Arial" pitchFamily="34" charset="-120"/>
              </a:rPr>
              <a:t>for one assembled board from JLCPCB to an Indian desk, door to door</a:t>
            </a:r>
            <a:endParaRPr lang="en-US" sz="1100" dirty="0"/>
          </a:p>
        </p:txBody>
      </p:sp>
      <p:sp>
        <p:nvSpPr>
          <p:cNvPr id="19" name="Text 15"/>
          <p:cNvSpPr txBox="1"/>
          <p:nvPr/>
        </p:nvSpPr>
        <p:spPr>
          <a:xfrm>
            <a:off x="4937760" y="3154680"/>
            <a:ext cx="3566160" cy="1188720"/>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rgbClr val="1D2522"/>
                </a:solidFill>
                <a:latin typeface="Arial" pitchFamily="34" charset="0"/>
                <a:ea typeface="Arial" pitchFamily="34" charset="-122"/>
                <a:cs typeface="Arial" pitchFamily="34" charset="-120"/>
              </a:rPr>
              <a:t>≈₹6,700 per assembled iteration, before parts</a:t>
            </a:r>
            <a:endParaRPr lang="en-US" sz="1100" dirty="0"/>
          </a:p>
          <a:p>
            <a:pPr marL="152400" indent="-152400">
              <a:spcAft>
                <a:spcPts val="400"/>
              </a:spcAft>
              <a:buSzPct val="100000"/>
              <a:buChar char="•"/>
            </a:pPr>
            <a:r>
              <a:rPr lang="en-US" sz="1100" dirty="0">
                <a:solidFill>
                  <a:srgbClr val="1D2522"/>
                </a:solidFill>
                <a:latin typeface="Arial" pitchFamily="34" charset="0"/>
                <a:ea typeface="Arial" pitchFamily="34" charset="-122"/>
                <a:cs typeface="Arial" pitchFamily="34" charset="-120"/>
              </a:rPr>
              <a:t>5+ separate tools and skills before a board works</a:t>
            </a:r>
            <a:endParaRPr lang="en-US" sz="1100" dirty="0"/>
          </a:p>
          <a:p>
            <a:pPr marL="152400" indent="-152400">
              <a:spcAft>
                <a:spcPts val="400"/>
              </a:spcAft>
              <a:buSzPct val="100000"/>
              <a:buChar char="•"/>
            </a:pPr>
            <a:r>
              <a:rPr lang="en-US" sz="1100" dirty="0">
                <a:solidFill>
                  <a:srgbClr val="1D2522"/>
                </a:solidFill>
                <a:latin typeface="Arial" pitchFamily="34" charset="0"/>
                <a:ea typeface="Arial" pitchFamily="34" charset="-122"/>
                <a:cs typeface="Arial" pitchFamily="34" charset="-120"/>
              </a:rPr>
              <a:t>The AI can draw the board but can't make it or test it</a:t>
            </a:r>
            <a:endParaRPr lang="en-US" sz="1100" dirty="0"/>
          </a:p>
        </p:txBody>
      </p:sp>
      <p:sp>
        <p:nvSpPr>
          <p:cNvPr id="20" name="Text 16"/>
          <p:cNvSpPr txBox="1"/>
          <p:nvPr/>
        </p:nvSpPr>
        <p:spPr>
          <a:xfrm>
            <a:off x="457200" y="4617720"/>
            <a:ext cx="8229600" cy="201168"/>
          </a:xfrm>
          <a:prstGeom prst="rect">
            <a:avLst/>
          </a:prstGeom>
          <a:noFill/>
          <a:ln/>
        </p:spPr>
        <p:txBody>
          <a:bodyPr wrap="square" lIns="0" tIns="0" rIns="0" bIns="0" rtlCol="0" anchor="t"/>
          <a:lstStyle/>
          <a:p>
            <a:pPr indent="0" marL="0">
              <a:buNone/>
            </a:pPr>
            <a:r>
              <a:rPr lang="en-US" sz="750" i="1" dirty="0">
                <a:solidFill>
                  <a:srgbClr val="5E6B66"/>
                </a:solidFill>
                <a:latin typeface="Arial" pitchFamily="34" charset="0"/>
                <a:ea typeface="Arial" pitchFamily="34" charset="-122"/>
                <a:cs typeface="Arial" pitchFamily="34" charset="-120"/>
              </a:rPr>
              <a:t>Sources: TechCrunch 23 Jul 2025; founded.com / ecosistemastartup (Feb 2026); zbotic.in India shipping guide; JLCPCB pricing; Protopulse model (Board Cost sheet).</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201168"/>
          </a:xfrm>
          <a:prstGeom prst="rect">
            <a:avLst/>
          </a:prstGeom>
          <a:noFill/>
          <a:ln/>
        </p:spPr>
        <p:txBody>
          <a:bodyPr wrap="square" lIns="0" tIns="0" rIns="0" bIns="0" rtlCol="0" anchor="t"/>
          <a:lstStyle/>
          <a:p>
            <a:pPr indent="0" marL="0">
              <a:buNone/>
            </a:pPr>
            <a:r>
              <a:rPr lang="en-US" sz="900" b="1" spc="200" kern="0" dirty="0">
                <a:solidFill>
                  <a:srgbClr val="C8793A"/>
                </a:solidFill>
                <a:latin typeface="Arial" pitchFamily="34" charset="0"/>
                <a:ea typeface="Arial" pitchFamily="34" charset="-122"/>
                <a:cs typeface="Arial" pitchFamily="34" charset="-120"/>
              </a:rPr>
              <a:t>THE GAP</a:t>
            </a:r>
            <a:endParaRPr lang="en-US" sz="900" dirty="0"/>
          </a:p>
        </p:txBody>
      </p:sp>
      <p:sp>
        <p:nvSpPr>
          <p:cNvPr id="3" name="Text 1"/>
          <p:cNvSpPr txBox="1"/>
          <p:nvPr/>
        </p:nvSpPr>
        <p:spPr>
          <a:xfrm>
            <a:off x="457200" y="457200"/>
            <a:ext cx="8229600" cy="566928"/>
          </a:xfrm>
          <a:prstGeom prst="rect">
            <a:avLst/>
          </a:prstGeom>
          <a:noFill/>
          <a:ln/>
        </p:spPr>
        <p:txBody>
          <a:bodyPr wrap="square" lIns="0" tIns="0" rIns="0" bIns="0" rtlCol="0" anchor="ctr">
            <a:normAutofit/>
          </a:bodyPr>
          <a:lstStyle/>
          <a:p>
            <a:pPr indent="0" marL="0">
              <a:buNone/>
            </a:pPr>
            <a:r>
              <a:rPr lang="en-US" sz="2200" b="1" dirty="0">
                <a:solidFill>
                  <a:srgbClr val="0F2A22"/>
                </a:solidFill>
                <a:latin typeface="Arial" pitchFamily="34" charset="0"/>
                <a:ea typeface="Arial" pitchFamily="34" charset="-122"/>
                <a:cs typeface="Arial" pitchFamily="34" charset="-120"/>
              </a:rPr>
              <a:t>AI already designs hardware files. It stops there.</a:t>
            </a:r>
            <a:endParaRPr lang="en-US" sz="2200" dirty="0"/>
          </a:p>
        </p:txBody>
      </p:sp>
      <p:sp>
        <p:nvSpPr>
          <p:cNvPr id="4" name="Text 2"/>
          <p:cNvSpPr txBox="1"/>
          <p:nvPr/>
        </p:nvSpPr>
        <p:spPr>
          <a:xfrm>
            <a:off x="8321040" y="4828032"/>
            <a:ext cx="365760" cy="182880"/>
          </a:xfrm>
          <a:prstGeom prst="rect">
            <a:avLst/>
          </a:prstGeom>
          <a:noFill/>
          <a:ln/>
        </p:spPr>
        <p:txBody>
          <a:bodyPr wrap="square" lIns="0" tIns="0" rIns="0" bIns="0" rtlCol="0" anchor="t"/>
          <a:lstStyle/>
          <a:p>
            <a:pPr algn="r" indent="0" marL="0">
              <a:buNone/>
            </a:pPr>
            <a:r>
              <a:rPr lang="en-US" sz="800" dirty="0">
                <a:solidFill>
                  <a:srgbClr val="5E6B66"/>
                </a:solidFill>
                <a:latin typeface="Arial" pitchFamily="34" charset="0"/>
                <a:ea typeface="Arial" pitchFamily="34" charset="-122"/>
                <a:cs typeface="Arial" pitchFamily="34" charset="-120"/>
              </a:rPr>
              <a:t>4</a:t>
            </a:r>
            <a:endParaRPr lang="en-US" sz="800" dirty="0"/>
          </a:p>
        </p:txBody>
      </p:sp>
      <p:sp>
        <p:nvSpPr>
          <p:cNvPr id="5" name="Text 3"/>
          <p:cNvSpPr txBox="1"/>
          <p:nvPr/>
        </p:nvSpPr>
        <p:spPr>
          <a:xfrm>
            <a:off x="457200" y="4828032"/>
            <a:ext cx="2743200" cy="182880"/>
          </a:xfrm>
          <a:prstGeom prst="rect">
            <a:avLst/>
          </a:prstGeom>
          <a:noFill/>
          <a:ln/>
        </p:spPr>
        <p:txBody>
          <a:bodyPr wrap="square" lIns="0" tIns="0" rIns="0" bIns="0" rtlCol="0" anchor="t"/>
          <a:lstStyle/>
          <a:p>
            <a:pPr indent="0" marL="0">
              <a:buNone/>
            </a:pPr>
            <a:r>
              <a:rPr lang="en-US" sz="800" dirty="0">
                <a:solidFill>
                  <a:srgbClr val="5E6B66"/>
                </a:solidFill>
                <a:latin typeface="Arial" pitchFamily="34" charset="0"/>
                <a:ea typeface="Arial" pitchFamily="34" charset="-122"/>
                <a:cs typeface="Arial" pitchFamily="34" charset="-120"/>
              </a:rPr>
              <a:t>Protopulse · pitch v2</a:t>
            </a:r>
            <a:endParaRPr lang="en-US" sz="800" dirty="0"/>
          </a:p>
        </p:txBody>
      </p:sp>
      <p:sp>
        <p:nvSpPr>
          <p:cNvPr id="6" name="Shape 4"/>
          <p:cNvSpPr/>
          <p:nvPr/>
        </p:nvSpPr>
        <p:spPr>
          <a:xfrm>
            <a:off x="457200" y="1188720"/>
            <a:ext cx="3931920" cy="475488"/>
          </a:xfrm>
          <a:prstGeom prst="roundRect">
            <a:avLst>
              <a:gd name="adj" fmla="val 15385"/>
            </a:avLst>
          </a:prstGeom>
          <a:solidFill>
            <a:srgbClr val="E8F1EC"/>
          </a:solidFill>
          <a:ln w="12700">
            <a:solidFill>
              <a:srgbClr val="E8F1EC"/>
            </a:solidFill>
            <a:prstDash val="solid"/>
          </a:ln>
        </p:spPr>
      </p:sp>
      <p:sp>
        <p:nvSpPr>
          <p:cNvPr id="7" name="Text 5"/>
          <p:cNvSpPr txBox="1"/>
          <p:nvPr/>
        </p:nvSpPr>
        <p:spPr>
          <a:xfrm>
            <a:off x="594360" y="1243584"/>
            <a:ext cx="1417320" cy="365760"/>
          </a:xfrm>
          <a:prstGeom prst="rect">
            <a:avLst/>
          </a:prstGeom>
          <a:noFill/>
          <a:ln/>
        </p:spPr>
        <p:txBody>
          <a:bodyPr wrap="square" lIns="0" tIns="0" rIns="0" bIns="0" rtlCol="0" anchor="ctr"/>
          <a:lstStyle/>
          <a:p>
            <a:pPr indent="0" marL="0">
              <a:buNone/>
            </a:pPr>
            <a:r>
              <a:rPr lang="en-US" sz="1200" b="1" dirty="0">
                <a:solidFill>
                  <a:srgbClr val="1B4D3E"/>
                </a:solidFill>
                <a:latin typeface="Arial" pitchFamily="34" charset="0"/>
                <a:ea typeface="Arial" pitchFamily="34" charset="-122"/>
                <a:cs typeface="Arial" pitchFamily="34" charset="-120"/>
              </a:rPr>
              <a:t>Flux</a:t>
            </a:r>
            <a:endParaRPr lang="en-US" sz="1200" dirty="0"/>
          </a:p>
        </p:txBody>
      </p:sp>
      <p:sp>
        <p:nvSpPr>
          <p:cNvPr id="8" name="Text 6"/>
          <p:cNvSpPr txBox="1"/>
          <p:nvPr/>
        </p:nvSpPr>
        <p:spPr>
          <a:xfrm>
            <a:off x="2011680" y="1243584"/>
            <a:ext cx="914400" cy="365760"/>
          </a:xfrm>
          <a:prstGeom prst="rect">
            <a:avLst/>
          </a:prstGeom>
          <a:noFill/>
          <a:ln/>
        </p:spPr>
        <p:txBody>
          <a:bodyPr wrap="square" lIns="0" tIns="0" rIns="0" bIns="0" rtlCol="0" anchor="ctr"/>
          <a:lstStyle/>
          <a:p>
            <a:pPr indent="0" marL="0">
              <a:buNone/>
            </a:pPr>
            <a:r>
              <a:rPr lang="en-US" sz="900" dirty="0">
                <a:solidFill>
                  <a:srgbClr val="5E6B66"/>
                </a:solidFill>
                <a:latin typeface="Arial" pitchFamily="34" charset="0"/>
                <a:ea typeface="Arial" pitchFamily="34" charset="-122"/>
                <a:cs typeface="Arial" pitchFamily="34" charset="-120"/>
              </a:rPr>
              <a:t>AI PCB design</a:t>
            </a:r>
            <a:endParaRPr lang="en-US" sz="900" dirty="0"/>
          </a:p>
        </p:txBody>
      </p:sp>
      <p:sp>
        <p:nvSpPr>
          <p:cNvPr id="9" name="Text 7"/>
          <p:cNvSpPr txBox="1"/>
          <p:nvPr/>
        </p:nvSpPr>
        <p:spPr>
          <a:xfrm>
            <a:off x="2926080" y="1243584"/>
            <a:ext cx="1417320" cy="365760"/>
          </a:xfrm>
          <a:prstGeom prst="rect">
            <a:avLst/>
          </a:prstGeom>
          <a:noFill/>
          <a:ln/>
        </p:spPr>
        <p:txBody>
          <a:bodyPr wrap="square" lIns="0" tIns="0" rIns="0" bIns="0" rtlCol="0" anchor="ctr"/>
          <a:lstStyle/>
          <a:p>
            <a:pPr indent="0" marL="0">
              <a:buNone/>
            </a:pPr>
            <a:r>
              <a:rPr lang="en-US" sz="900" dirty="0">
                <a:solidFill>
                  <a:srgbClr val="1D2522"/>
                </a:solidFill>
                <a:latin typeface="Arial" pitchFamily="34" charset="0"/>
                <a:ea typeface="Arial" pitchFamily="34" charset="-122"/>
                <a:cs typeface="Arial" pitchFamily="34" charset="-120"/>
              </a:rPr>
              <a:t>$49M raised; 1M+ users</a:t>
            </a:r>
            <a:endParaRPr lang="en-US" sz="900" dirty="0"/>
          </a:p>
        </p:txBody>
      </p:sp>
      <p:sp>
        <p:nvSpPr>
          <p:cNvPr id="10" name="Shape 8"/>
          <p:cNvSpPr/>
          <p:nvPr/>
        </p:nvSpPr>
        <p:spPr>
          <a:xfrm>
            <a:off x="457200" y="1755648"/>
            <a:ext cx="3931920" cy="475488"/>
          </a:xfrm>
          <a:prstGeom prst="roundRect">
            <a:avLst>
              <a:gd name="adj" fmla="val 15385"/>
            </a:avLst>
          </a:prstGeom>
          <a:solidFill>
            <a:srgbClr val="E8F1EC"/>
          </a:solidFill>
          <a:ln w="12700">
            <a:solidFill>
              <a:srgbClr val="E8F1EC"/>
            </a:solidFill>
            <a:prstDash val="solid"/>
          </a:ln>
        </p:spPr>
      </p:sp>
      <p:sp>
        <p:nvSpPr>
          <p:cNvPr id="11" name="Text 9"/>
          <p:cNvSpPr txBox="1"/>
          <p:nvPr/>
        </p:nvSpPr>
        <p:spPr>
          <a:xfrm>
            <a:off x="594360" y="1810512"/>
            <a:ext cx="1417320" cy="365760"/>
          </a:xfrm>
          <a:prstGeom prst="rect">
            <a:avLst/>
          </a:prstGeom>
          <a:noFill/>
          <a:ln/>
        </p:spPr>
        <p:txBody>
          <a:bodyPr wrap="square" lIns="0" tIns="0" rIns="0" bIns="0" rtlCol="0" anchor="ctr"/>
          <a:lstStyle/>
          <a:p>
            <a:pPr indent="0" marL="0">
              <a:buNone/>
            </a:pPr>
            <a:r>
              <a:rPr lang="en-US" sz="1200" b="1" dirty="0">
                <a:solidFill>
                  <a:srgbClr val="1B4D3E"/>
                </a:solidFill>
                <a:latin typeface="Arial" pitchFamily="34" charset="0"/>
                <a:ea typeface="Arial" pitchFamily="34" charset="-122"/>
                <a:cs typeface="Arial" pitchFamily="34" charset="-120"/>
              </a:rPr>
              <a:t>Quilter</a:t>
            </a:r>
            <a:endParaRPr lang="en-US" sz="1200" dirty="0"/>
          </a:p>
        </p:txBody>
      </p:sp>
      <p:sp>
        <p:nvSpPr>
          <p:cNvPr id="12" name="Text 10"/>
          <p:cNvSpPr txBox="1"/>
          <p:nvPr/>
        </p:nvSpPr>
        <p:spPr>
          <a:xfrm>
            <a:off x="2011680" y="1810512"/>
            <a:ext cx="914400" cy="365760"/>
          </a:xfrm>
          <a:prstGeom prst="rect">
            <a:avLst/>
          </a:prstGeom>
          <a:noFill/>
          <a:ln/>
        </p:spPr>
        <p:txBody>
          <a:bodyPr wrap="square" lIns="0" tIns="0" rIns="0" bIns="0" rtlCol="0" anchor="ctr"/>
          <a:lstStyle/>
          <a:p>
            <a:pPr indent="0" marL="0">
              <a:buNone/>
            </a:pPr>
            <a:r>
              <a:rPr lang="en-US" sz="900" dirty="0">
                <a:solidFill>
                  <a:srgbClr val="5E6B66"/>
                </a:solidFill>
                <a:latin typeface="Arial" pitchFamily="34" charset="0"/>
                <a:ea typeface="Arial" pitchFamily="34" charset="-122"/>
                <a:cs typeface="Arial" pitchFamily="34" charset="-120"/>
              </a:rPr>
              <a:t>AI PCB layout</a:t>
            </a:r>
            <a:endParaRPr lang="en-US" sz="900" dirty="0"/>
          </a:p>
        </p:txBody>
      </p:sp>
      <p:sp>
        <p:nvSpPr>
          <p:cNvPr id="13" name="Text 11"/>
          <p:cNvSpPr txBox="1"/>
          <p:nvPr/>
        </p:nvSpPr>
        <p:spPr>
          <a:xfrm>
            <a:off x="2926080" y="1810512"/>
            <a:ext cx="1417320" cy="365760"/>
          </a:xfrm>
          <a:prstGeom prst="rect">
            <a:avLst/>
          </a:prstGeom>
          <a:noFill/>
          <a:ln/>
        </p:spPr>
        <p:txBody>
          <a:bodyPr wrap="square" lIns="0" tIns="0" rIns="0" bIns="0" rtlCol="0" anchor="ctr"/>
          <a:lstStyle/>
          <a:p>
            <a:pPr indent="0" marL="0">
              <a:buNone/>
            </a:pPr>
            <a:r>
              <a:rPr lang="en-US" sz="900" dirty="0">
                <a:solidFill>
                  <a:srgbClr val="1D2522"/>
                </a:solidFill>
                <a:latin typeface="Arial" pitchFamily="34" charset="0"/>
                <a:ea typeface="Arial" pitchFamily="34" charset="-122"/>
                <a:cs typeface="Arial" pitchFamily="34" charset="-120"/>
              </a:rPr>
              <a:t>$40M raised; $25M Series B, Oct 2025</a:t>
            </a:r>
            <a:endParaRPr lang="en-US" sz="900" dirty="0"/>
          </a:p>
        </p:txBody>
      </p:sp>
      <p:sp>
        <p:nvSpPr>
          <p:cNvPr id="14" name="Shape 12"/>
          <p:cNvSpPr/>
          <p:nvPr/>
        </p:nvSpPr>
        <p:spPr>
          <a:xfrm>
            <a:off x="457200" y="2322576"/>
            <a:ext cx="3931920" cy="475488"/>
          </a:xfrm>
          <a:prstGeom prst="roundRect">
            <a:avLst>
              <a:gd name="adj" fmla="val 15385"/>
            </a:avLst>
          </a:prstGeom>
          <a:solidFill>
            <a:srgbClr val="E8F1EC"/>
          </a:solidFill>
          <a:ln w="12700">
            <a:solidFill>
              <a:srgbClr val="E8F1EC"/>
            </a:solidFill>
            <a:prstDash val="solid"/>
          </a:ln>
        </p:spPr>
      </p:sp>
      <p:sp>
        <p:nvSpPr>
          <p:cNvPr id="15" name="Text 13"/>
          <p:cNvSpPr txBox="1"/>
          <p:nvPr/>
        </p:nvSpPr>
        <p:spPr>
          <a:xfrm>
            <a:off x="594360" y="2377440"/>
            <a:ext cx="1417320" cy="365760"/>
          </a:xfrm>
          <a:prstGeom prst="rect">
            <a:avLst/>
          </a:prstGeom>
          <a:noFill/>
          <a:ln/>
        </p:spPr>
        <p:txBody>
          <a:bodyPr wrap="square" lIns="0" tIns="0" rIns="0" bIns="0" rtlCol="0" anchor="ctr"/>
          <a:lstStyle/>
          <a:p>
            <a:pPr indent="0" marL="0">
              <a:buNone/>
            </a:pPr>
            <a:r>
              <a:rPr lang="en-US" sz="1200" b="1" dirty="0">
                <a:solidFill>
                  <a:srgbClr val="1B4D3E"/>
                </a:solidFill>
                <a:latin typeface="Arial" pitchFamily="34" charset="0"/>
                <a:ea typeface="Arial" pitchFamily="34" charset="-122"/>
                <a:cs typeface="Arial" pitchFamily="34" charset="-120"/>
              </a:rPr>
              <a:t>Diode</a:t>
            </a:r>
            <a:endParaRPr lang="en-US" sz="1200" dirty="0"/>
          </a:p>
        </p:txBody>
      </p:sp>
      <p:sp>
        <p:nvSpPr>
          <p:cNvPr id="16" name="Text 14"/>
          <p:cNvSpPr txBox="1"/>
          <p:nvPr/>
        </p:nvSpPr>
        <p:spPr>
          <a:xfrm>
            <a:off x="2011680" y="2377440"/>
            <a:ext cx="914400" cy="365760"/>
          </a:xfrm>
          <a:prstGeom prst="rect">
            <a:avLst/>
          </a:prstGeom>
          <a:noFill/>
          <a:ln/>
        </p:spPr>
        <p:txBody>
          <a:bodyPr wrap="square" lIns="0" tIns="0" rIns="0" bIns="0" rtlCol="0" anchor="ctr"/>
          <a:lstStyle/>
          <a:p>
            <a:pPr indent="0" marL="0">
              <a:buNone/>
            </a:pPr>
            <a:r>
              <a:rPr lang="en-US" sz="900" dirty="0">
                <a:solidFill>
                  <a:srgbClr val="5E6B66"/>
                </a:solidFill>
                <a:latin typeface="Arial" pitchFamily="34" charset="0"/>
                <a:ea typeface="Arial" pitchFamily="34" charset="-122"/>
                <a:cs typeface="Arial" pitchFamily="34" charset="-120"/>
              </a:rPr>
              <a:t>AI PCB design</a:t>
            </a:r>
            <a:endParaRPr lang="en-US" sz="900" dirty="0"/>
          </a:p>
        </p:txBody>
      </p:sp>
      <p:sp>
        <p:nvSpPr>
          <p:cNvPr id="17" name="Text 15"/>
          <p:cNvSpPr txBox="1"/>
          <p:nvPr/>
        </p:nvSpPr>
        <p:spPr>
          <a:xfrm>
            <a:off x="2926080" y="2377440"/>
            <a:ext cx="1417320" cy="365760"/>
          </a:xfrm>
          <a:prstGeom prst="rect">
            <a:avLst/>
          </a:prstGeom>
          <a:noFill/>
          <a:ln/>
        </p:spPr>
        <p:txBody>
          <a:bodyPr wrap="square" lIns="0" tIns="0" rIns="0" bIns="0" rtlCol="0" anchor="ctr"/>
          <a:lstStyle/>
          <a:p>
            <a:pPr indent="0" marL="0">
              <a:buNone/>
            </a:pPr>
            <a:r>
              <a:rPr lang="en-US" sz="900" dirty="0">
                <a:solidFill>
                  <a:srgbClr val="1D2522"/>
                </a:solidFill>
                <a:latin typeface="Arial" pitchFamily="34" charset="0"/>
                <a:ea typeface="Arial" pitchFamily="34" charset="-122"/>
                <a:cs typeface="Arial" pitchFamily="34" charset="-120"/>
              </a:rPr>
              <a:t>$11.4M Series A, a16z</a:t>
            </a:r>
            <a:endParaRPr lang="en-US" sz="900" dirty="0"/>
          </a:p>
        </p:txBody>
      </p:sp>
      <p:sp>
        <p:nvSpPr>
          <p:cNvPr id="18" name="Shape 16"/>
          <p:cNvSpPr/>
          <p:nvPr/>
        </p:nvSpPr>
        <p:spPr>
          <a:xfrm>
            <a:off x="457200" y="2889504"/>
            <a:ext cx="3931920" cy="475488"/>
          </a:xfrm>
          <a:prstGeom prst="roundRect">
            <a:avLst>
              <a:gd name="adj" fmla="val 15385"/>
            </a:avLst>
          </a:prstGeom>
          <a:solidFill>
            <a:srgbClr val="E8F1EC"/>
          </a:solidFill>
          <a:ln w="12700">
            <a:solidFill>
              <a:srgbClr val="E8F1EC"/>
            </a:solidFill>
            <a:prstDash val="solid"/>
          </a:ln>
        </p:spPr>
      </p:sp>
      <p:sp>
        <p:nvSpPr>
          <p:cNvPr id="19" name="Text 17"/>
          <p:cNvSpPr txBox="1"/>
          <p:nvPr/>
        </p:nvSpPr>
        <p:spPr>
          <a:xfrm>
            <a:off x="594360" y="2944368"/>
            <a:ext cx="1417320" cy="365760"/>
          </a:xfrm>
          <a:prstGeom prst="rect">
            <a:avLst/>
          </a:prstGeom>
          <a:noFill/>
          <a:ln/>
        </p:spPr>
        <p:txBody>
          <a:bodyPr wrap="square" lIns="0" tIns="0" rIns="0" bIns="0" rtlCol="0" anchor="ctr"/>
          <a:lstStyle/>
          <a:p>
            <a:pPr indent="0" marL="0">
              <a:buNone/>
            </a:pPr>
            <a:r>
              <a:rPr lang="en-US" sz="1200" b="1" dirty="0">
                <a:solidFill>
                  <a:srgbClr val="1B4D3E"/>
                </a:solidFill>
                <a:latin typeface="Arial" pitchFamily="34" charset="0"/>
                <a:ea typeface="Arial" pitchFamily="34" charset="-122"/>
                <a:cs typeface="Arial" pitchFamily="34" charset="-120"/>
              </a:rPr>
              <a:t>Claude + Fusion</a:t>
            </a:r>
            <a:endParaRPr lang="en-US" sz="1200" dirty="0"/>
          </a:p>
        </p:txBody>
      </p:sp>
      <p:sp>
        <p:nvSpPr>
          <p:cNvPr id="20" name="Text 18"/>
          <p:cNvSpPr txBox="1"/>
          <p:nvPr/>
        </p:nvSpPr>
        <p:spPr>
          <a:xfrm>
            <a:off x="2011680" y="2944368"/>
            <a:ext cx="914400" cy="365760"/>
          </a:xfrm>
          <a:prstGeom prst="rect">
            <a:avLst/>
          </a:prstGeom>
          <a:noFill/>
          <a:ln/>
        </p:spPr>
        <p:txBody>
          <a:bodyPr wrap="square" lIns="0" tIns="0" rIns="0" bIns="0" rtlCol="0" anchor="ctr"/>
          <a:lstStyle/>
          <a:p>
            <a:pPr indent="0" marL="0">
              <a:buNone/>
            </a:pPr>
            <a:r>
              <a:rPr lang="en-US" sz="900" dirty="0">
                <a:solidFill>
                  <a:srgbClr val="5E6B66"/>
                </a:solidFill>
                <a:latin typeface="Arial" pitchFamily="34" charset="0"/>
                <a:ea typeface="Arial" pitchFamily="34" charset="-122"/>
                <a:cs typeface="Arial" pitchFamily="34" charset="-120"/>
              </a:rPr>
              <a:t>CAD connector</a:t>
            </a:r>
            <a:endParaRPr lang="en-US" sz="900" dirty="0"/>
          </a:p>
        </p:txBody>
      </p:sp>
      <p:sp>
        <p:nvSpPr>
          <p:cNvPr id="21" name="Text 19"/>
          <p:cNvSpPr txBox="1"/>
          <p:nvPr/>
        </p:nvSpPr>
        <p:spPr>
          <a:xfrm>
            <a:off x="2926080" y="2944368"/>
            <a:ext cx="1417320" cy="365760"/>
          </a:xfrm>
          <a:prstGeom prst="rect">
            <a:avLst/>
          </a:prstGeom>
          <a:noFill/>
          <a:ln/>
        </p:spPr>
        <p:txBody>
          <a:bodyPr wrap="square" lIns="0" tIns="0" rIns="0" bIns="0" rtlCol="0" anchor="ctr"/>
          <a:lstStyle/>
          <a:p>
            <a:pPr indent="0" marL="0">
              <a:buNone/>
            </a:pPr>
            <a:r>
              <a:rPr lang="en-US" sz="900" dirty="0">
                <a:solidFill>
                  <a:srgbClr val="1D2522"/>
                </a:solidFill>
                <a:latin typeface="Arial" pitchFamily="34" charset="0"/>
                <a:ea typeface="Arial" pitchFamily="34" charset="-122"/>
                <a:cs typeface="Arial" pitchFamily="34" charset="-120"/>
              </a:rPr>
              <a:t>Official, May 2026</a:t>
            </a:r>
            <a:endParaRPr lang="en-US" sz="900" dirty="0"/>
          </a:p>
        </p:txBody>
      </p:sp>
      <p:sp>
        <p:nvSpPr>
          <p:cNvPr id="22" name="Shape 20"/>
          <p:cNvSpPr/>
          <p:nvPr/>
        </p:nvSpPr>
        <p:spPr>
          <a:xfrm>
            <a:off x="457200" y="3456432"/>
            <a:ext cx="3931920" cy="475488"/>
          </a:xfrm>
          <a:prstGeom prst="roundRect">
            <a:avLst>
              <a:gd name="adj" fmla="val 15385"/>
            </a:avLst>
          </a:prstGeom>
          <a:solidFill>
            <a:srgbClr val="E8F1EC"/>
          </a:solidFill>
          <a:ln w="12700">
            <a:solidFill>
              <a:srgbClr val="E8F1EC"/>
            </a:solidFill>
            <a:prstDash val="solid"/>
          </a:ln>
        </p:spPr>
      </p:sp>
      <p:sp>
        <p:nvSpPr>
          <p:cNvPr id="23" name="Text 21"/>
          <p:cNvSpPr txBox="1"/>
          <p:nvPr/>
        </p:nvSpPr>
        <p:spPr>
          <a:xfrm>
            <a:off x="594360" y="3511296"/>
            <a:ext cx="1417320" cy="365760"/>
          </a:xfrm>
          <a:prstGeom prst="rect">
            <a:avLst/>
          </a:prstGeom>
          <a:noFill/>
          <a:ln/>
        </p:spPr>
        <p:txBody>
          <a:bodyPr wrap="square" lIns="0" tIns="0" rIns="0" bIns="0" rtlCol="0" anchor="ctr"/>
          <a:lstStyle/>
          <a:p>
            <a:pPr indent="0" marL="0">
              <a:buNone/>
            </a:pPr>
            <a:r>
              <a:rPr lang="en-US" sz="1200" b="1" dirty="0">
                <a:solidFill>
                  <a:srgbClr val="1B4D3E"/>
                </a:solidFill>
                <a:latin typeface="Arial" pitchFamily="34" charset="0"/>
                <a:ea typeface="Arial" pitchFamily="34" charset="-122"/>
                <a:cs typeface="Arial" pitchFamily="34" charset="-120"/>
              </a:rPr>
              <a:t>Claude + Blender</a:t>
            </a:r>
            <a:endParaRPr lang="en-US" sz="1200" dirty="0"/>
          </a:p>
        </p:txBody>
      </p:sp>
      <p:sp>
        <p:nvSpPr>
          <p:cNvPr id="24" name="Text 22"/>
          <p:cNvSpPr txBox="1"/>
          <p:nvPr/>
        </p:nvSpPr>
        <p:spPr>
          <a:xfrm>
            <a:off x="2011680" y="3511296"/>
            <a:ext cx="914400" cy="365760"/>
          </a:xfrm>
          <a:prstGeom prst="rect">
            <a:avLst/>
          </a:prstGeom>
          <a:noFill/>
          <a:ln/>
        </p:spPr>
        <p:txBody>
          <a:bodyPr wrap="square" lIns="0" tIns="0" rIns="0" bIns="0" rtlCol="0" anchor="ctr"/>
          <a:lstStyle/>
          <a:p>
            <a:pPr indent="0" marL="0">
              <a:buNone/>
            </a:pPr>
            <a:r>
              <a:rPr lang="en-US" sz="900" dirty="0">
                <a:solidFill>
                  <a:srgbClr val="5E6B66"/>
                </a:solidFill>
                <a:latin typeface="Arial" pitchFamily="34" charset="0"/>
                <a:ea typeface="Arial" pitchFamily="34" charset="-122"/>
                <a:cs typeface="Arial" pitchFamily="34" charset="-120"/>
              </a:rPr>
              <a:t>3D connector</a:t>
            </a:r>
            <a:endParaRPr lang="en-US" sz="900" dirty="0"/>
          </a:p>
        </p:txBody>
      </p:sp>
      <p:sp>
        <p:nvSpPr>
          <p:cNvPr id="25" name="Text 23"/>
          <p:cNvSpPr txBox="1"/>
          <p:nvPr/>
        </p:nvSpPr>
        <p:spPr>
          <a:xfrm>
            <a:off x="2926080" y="3511296"/>
            <a:ext cx="1417320" cy="365760"/>
          </a:xfrm>
          <a:prstGeom prst="rect">
            <a:avLst/>
          </a:prstGeom>
          <a:noFill/>
          <a:ln/>
        </p:spPr>
        <p:txBody>
          <a:bodyPr wrap="square" lIns="0" tIns="0" rIns="0" bIns="0" rtlCol="0" anchor="ctr"/>
          <a:lstStyle/>
          <a:p>
            <a:pPr indent="0" marL="0">
              <a:buNone/>
            </a:pPr>
            <a:r>
              <a:rPr lang="en-US" sz="900" dirty="0">
                <a:solidFill>
                  <a:srgbClr val="1D2522"/>
                </a:solidFill>
                <a:latin typeface="Arial" pitchFamily="34" charset="0"/>
                <a:ea typeface="Arial" pitchFamily="34" charset="-122"/>
                <a:cs typeface="Arial" pitchFamily="34" charset="-120"/>
              </a:rPr>
              <a:t>Official, Apr 2026</a:t>
            </a:r>
            <a:endParaRPr lang="en-US" sz="900" dirty="0"/>
          </a:p>
        </p:txBody>
      </p:sp>
      <p:sp>
        <p:nvSpPr>
          <p:cNvPr id="26" name="Shape 24"/>
          <p:cNvSpPr/>
          <p:nvPr/>
        </p:nvSpPr>
        <p:spPr>
          <a:xfrm>
            <a:off x="4709160" y="1417320"/>
            <a:ext cx="694944" cy="548640"/>
          </a:xfrm>
          <a:prstGeom prst="roundRect">
            <a:avLst>
              <a:gd name="adj" fmla="val 10000"/>
            </a:avLst>
          </a:prstGeom>
          <a:solidFill>
            <a:srgbClr val="E8F1EC"/>
          </a:solidFill>
          <a:ln w="12700">
            <a:solidFill>
              <a:srgbClr val="1B4D3E"/>
            </a:solidFill>
            <a:prstDash val="solid"/>
          </a:ln>
        </p:spPr>
      </p:sp>
      <p:sp>
        <p:nvSpPr>
          <p:cNvPr id="27" name="Text 25"/>
          <p:cNvSpPr txBox="1"/>
          <p:nvPr/>
        </p:nvSpPr>
        <p:spPr>
          <a:xfrm>
            <a:off x="4709160" y="1417320"/>
            <a:ext cx="694944" cy="548640"/>
          </a:xfrm>
          <a:prstGeom prst="rect">
            <a:avLst/>
          </a:prstGeom>
          <a:noFill/>
          <a:ln/>
        </p:spPr>
        <p:txBody>
          <a:bodyPr wrap="square" lIns="0" tIns="0" rIns="0" bIns="0" rtlCol="0" anchor="ctr"/>
          <a:lstStyle/>
          <a:p>
            <a:pPr algn="ctr" indent="0" marL="0">
              <a:buNone/>
            </a:pPr>
            <a:r>
              <a:rPr lang="en-US" sz="1100" b="1" dirty="0">
                <a:solidFill>
                  <a:srgbClr val="0F2A22"/>
                </a:solidFill>
                <a:latin typeface="Arial" pitchFamily="34" charset="0"/>
                <a:ea typeface="Arial" pitchFamily="34" charset="-122"/>
                <a:cs typeface="Arial" pitchFamily="34" charset="-120"/>
              </a:rPr>
              <a:t>Idea</a:t>
            </a:r>
            <a:endParaRPr lang="en-US" sz="1100" dirty="0"/>
          </a:p>
        </p:txBody>
      </p:sp>
      <p:sp>
        <p:nvSpPr>
          <p:cNvPr id="28" name="Shape 26"/>
          <p:cNvSpPr/>
          <p:nvPr/>
        </p:nvSpPr>
        <p:spPr>
          <a:xfrm>
            <a:off x="5513832" y="1417320"/>
            <a:ext cx="694944" cy="548640"/>
          </a:xfrm>
          <a:prstGeom prst="roundRect">
            <a:avLst>
              <a:gd name="adj" fmla="val 10000"/>
            </a:avLst>
          </a:prstGeom>
          <a:solidFill>
            <a:srgbClr val="E8F1EC"/>
          </a:solidFill>
          <a:ln w="12700">
            <a:solidFill>
              <a:srgbClr val="1B4D3E"/>
            </a:solidFill>
            <a:prstDash val="solid"/>
          </a:ln>
        </p:spPr>
      </p:sp>
      <p:sp>
        <p:nvSpPr>
          <p:cNvPr id="29" name="Text 27"/>
          <p:cNvSpPr txBox="1"/>
          <p:nvPr/>
        </p:nvSpPr>
        <p:spPr>
          <a:xfrm>
            <a:off x="5513832" y="1417320"/>
            <a:ext cx="694944" cy="548640"/>
          </a:xfrm>
          <a:prstGeom prst="rect">
            <a:avLst/>
          </a:prstGeom>
          <a:noFill/>
          <a:ln/>
        </p:spPr>
        <p:txBody>
          <a:bodyPr wrap="square" lIns="0" tIns="0" rIns="0" bIns="0" rtlCol="0" anchor="ctr"/>
          <a:lstStyle/>
          <a:p>
            <a:pPr algn="ctr" indent="0" marL="0">
              <a:buNone/>
            </a:pPr>
            <a:r>
              <a:rPr lang="en-US" sz="1100" b="1" dirty="0">
                <a:solidFill>
                  <a:srgbClr val="0F2A22"/>
                </a:solidFill>
                <a:latin typeface="Arial" pitchFamily="34" charset="0"/>
                <a:ea typeface="Arial" pitchFamily="34" charset="-122"/>
                <a:cs typeface="Arial" pitchFamily="34" charset="-120"/>
              </a:rPr>
              <a:t>Files</a:t>
            </a:r>
            <a:endParaRPr lang="en-US" sz="1100" dirty="0"/>
          </a:p>
        </p:txBody>
      </p:sp>
      <p:sp>
        <p:nvSpPr>
          <p:cNvPr id="30" name="Shape 28"/>
          <p:cNvSpPr/>
          <p:nvPr/>
        </p:nvSpPr>
        <p:spPr>
          <a:xfrm>
            <a:off x="6318504" y="1417320"/>
            <a:ext cx="694944" cy="548640"/>
          </a:xfrm>
          <a:prstGeom prst="roundRect">
            <a:avLst>
              <a:gd name="adj" fmla="val 10000"/>
            </a:avLst>
          </a:prstGeom>
          <a:solidFill>
            <a:srgbClr val="F6E7D8"/>
          </a:solidFill>
          <a:ln w="12700">
            <a:solidFill>
              <a:srgbClr val="C8793A"/>
            </a:solidFill>
            <a:prstDash val="solid"/>
          </a:ln>
        </p:spPr>
      </p:sp>
      <p:sp>
        <p:nvSpPr>
          <p:cNvPr id="31" name="Text 29"/>
          <p:cNvSpPr txBox="1"/>
          <p:nvPr/>
        </p:nvSpPr>
        <p:spPr>
          <a:xfrm>
            <a:off x="6318504" y="1417320"/>
            <a:ext cx="694944" cy="548640"/>
          </a:xfrm>
          <a:prstGeom prst="rect">
            <a:avLst/>
          </a:prstGeom>
          <a:noFill/>
          <a:ln/>
        </p:spPr>
        <p:txBody>
          <a:bodyPr wrap="square" lIns="0" tIns="0" rIns="0" bIns="0" rtlCol="0" anchor="ctr"/>
          <a:lstStyle/>
          <a:p>
            <a:pPr algn="ctr" indent="0" marL="0">
              <a:buNone/>
            </a:pPr>
            <a:r>
              <a:rPr lang="en-US" sz="1100" b="1" dirty="0">
                <a:solidFill>
                  <a:srgbClr val="0F2A22"/>
                </a:solidFill>
                <a:latin typeface="Arial" pitchFamily="34" charset="0"/>
                <a:ea typeface="Arial" pitchFamily="34" charset="-122"/>
                <a:cs typeface="Arial" pitchFamily="34" charset="-120"/>
              </a:rPr>
              <a:t>Board</a:t>
            </a:r>
            <a:endParaRPr lang="en-US" sz="1100" dirty="0"/>
          </a:p>
        </p:txBody>
      </p:sp>
      <p:sp>
        <p:nvSpPr>
          <p:cNvPr id="32" name="Shape 30"/>
          <p:cNvSpPr/>
          <p:nvPr/>
        </p:nvSpPr>
        <p:spPr>
          <a:xfrm>
            <a:off x="7123176" y="1417320"/>
            <a:ext cx="694944" cy="548640"/>
          </a:xfrm>
          <a:prstGeom prst="roundRect">
            <a:avLst>
              <a:gd name="adj" fmla="val 10000"/>
            </a:avLst>
          </a:prstGeom>
          <a:solidFill>
            <a:srgbClr val="F6E7D8"/>
          </a:solidFill>
          <a:ln w="12700">
            <a:solidFill>
              <a:srgbClr val="C8793A"/>
            </a:solidFill>
            <a:prstDash val="solid"/>
          </a:ln>
        </p:spPr>
      </p:sp>
      <p:sp>
        <p:nvSpPr>
          <p:cNvPr id="33" name="Text 31"/>
          <p:cNvSpPr txBox="1"/>
          <p:nvPr/>
        </p:nvSpPr>
        <p:spPr>
          <a:xfrm>
            <a:off x="7123176" y="1417320"/>
            <a:ext cx="694944" cy="548640"/>
          </a:xfrm>
          <a:prstGeom prst="rect">
            <a:avLst/>
          </a:prstGeom>
          <a:noFill/>
          <a:ln/>
        </p:spPr>
        <p:txBody>
          <a:bodyPr wrap="square" lIns="0" tIns="0" rIns="0" bIns="0" rtlCol="0" anchor="ctr"/>
          <a:lstStyle/>
          <a:p>
            <a:pPr algn="ctr" indent="0" marL="0">
              <a:buNone/>
            </a:pPr>
            <a:r>
              <a:rPr lang="en-US" sz="1100" b="1" dirty="0">
                <a:solidFill>
                  <a:srgbClr val="0F2A22"/>
                </a:solidFill>
                <a:latin typeface="Arial" pitchFamily="34" charset="0"/>
                <a:ea typeface="Arial" pitchFamily="34" charset="-122"/>
                <a:cs typeface="Arial" pitchFamily="34" charset="-120"/>
              </a:rPr>
              <a:t>Test</a:t>
            </a:r>
            <a:endParaRPr lang="en-US" sz="1100" dirty="0"/>
          </a:p>
        </p:txBody>
      </p:sp>
      <p:sp>
        <p:nvSpPr>
          <p:cNvPr id="34" name="Shape 32"/>
          <p:cNvSpPr/>
          <p:nvPr/>
        </p:nvSpPr>
        <p:spPr>
          <a:xfrm>
            <a:off x="7927848" y="1417320"/>
            <a:ext cx="694944" cy="548640"/>
          </a:xfrm>
          <a:prstGeom prst="roundRect">
            <a:avLst>
              <a:gd name="adj" fmla="val 10000"/>
            </a:avLst>
          </a:prstGeom>
          <a:solidFill>
            <a:srgbClr val="F6E7D8"/>
          </a:solidFill>
          <a:ln w="12700">
            <a:solidFill>
              <a:srgbClr val="C8793A"/>
            </a:solidFill>
            <a:prstDash val="solid"/>
          </a:ln>
        </p:spPr>
      </p:sp>
      <p:sp>
        <p:nvSpPr>
          <p:cNvPr id="35" name="Text 33"/>
          <p:cNvSpPr txBox="1"/>
          <p:nvPr/>
        </p:nvSpPr>
        <p:spPr>
          <a:xfrm>
            <a:off x="7927848" y="1417320"/>
            <a:ext cx="694944" cy="548640"/>
          </a:xfrm>
          <a:prstGeom prst="rect">
            <a:avLst/>
          </a:prstGeom>
          <a:noFill/>
          <a:ln/>
        </p:spPr>
        <p:txBody>
          <a:bodyPr wrap="square" lIns="0" tIns="0" rIns="0" bIns="0" rtlCol="0" anchor="ctr"/>
          <a:lstStyle/>
          <a:p>
            <a:pPr algn="ctr" indent="0" marL="0">
              <a:buNone/>
            </a:pPr>
            <a:r>
              <a:rPr lang="en-US" sz="1100" b="1" dirty="0">
                <a:solidFill>
                  <a:srgbClr val="0F2A22"/>
                </a:solidFill>
                <a:latin typeface="Arial" pitchFamily="34" charset="0"/>
                <a:ea typeface="Arial" pitchFamily="34" charset="-122"/>
                <a:cs typeface="Arial" pitchFamily="34" charset="-120"/>
              </a:rPr>
              <a:t>Learn</a:t>
            </a:r>
            <a:endParaRPr lang="en-US" sz="1100" dirty="0"/>
          </a:p>
        </p:txBody>
      </p:sp>
      <p:sp>
        <p:nvSpPr>
          <p:cNvPr id="36" name="Shape 34"/>
          <p:cNvSpPr/>
          <p:nvPr/>
        </p:nvSpPr>
        <p:spPr>
          <a:xfrm>
            <a:off x="6355080" y="1234440"/>
            <a:ext cx="0" cy="960120"/>
          </a:xfrm>
          <a:prstGeom prst="line">
            <a:avLst/>
          </a:prstGeom>
          <a:noFill/>
          <a:ln w="25400">
            <a:solidFill>
              <a:srgbClr val="A8372F"/>
            </a:solidFill>
            <a:prstDash val="dash"/>
          </a:ln>
        </p:spPr>
      </p:sp>
      <p:sp>
        <p:nvSpPr>
          <p:cNvPr id="37" name="Text 35"/>
          <p:cNvSpPr txBox="1"/>
          <p:nvPr/>
        </p:nvSpPr>
        <p:spPr>
          <a:xfrm>
            <a:off x="4709160" y="2103120"/>
            <a:ext cx="1554480" cy="274320"/>
          </a:xfrm>
          <a:prstGeom prst="rect">
            <a:avLst/>
          </a:prstGeom>
          <a:noFill/>
          <a:ln/>
        </p:spPr>
        <p:txBody>
          <a:bodyPr wrap="square" lIns="0" tIns="0" rIns="0" bIns="0" rtlCol="0" anchor="t"/>
          <a:lstStyle/>
          <a:p>
            <a:pPr algn="ctr" indent="0" marL="0">
              <a:buNone/>
            </a:pPr>
            <a:r>
              <a:rPr lang="en-US" sz="1000" b="1" dirty="0">
                <a:solidFill>
                  <a:srgbClr val="1B4D3E"/>
                </a:solidFill>
                <a:latin typeface="Arial" pitchFamily="34" charset="0"/>
                <a:ea typeface="Arial" pitchFamily="34" charset="-122"/>
                <a:cs typeface="Arial" pitchFamily="34" charset="-120"/>
              </a:rPr>
              <a:t>AI works here</a:t>
            </a:r>
            <a:endParaRPr lang="en-US" sz="1000" dirty="0"/>
          </a:p>
        </p:txBody>
      </p:sp>
      <p:sp>
        <p:nvSpPr>
          <p:cNvPr id="38" name="Text 36"/>
          <p:cNvSpPr txBox="1"/>
          <p:nvPr/>
        </p:nvSpPr>
        <p:spPr>
          <a:xfrm>
            <a:off x="6400800" y="2103120"/>
            <a:ext cx="2286000" cy="274320"/>
          </a:xfrm>
          <a:prstGeom prst="rect">
            <a:avLst/>
          </a:prstGeom>
          <a:noFill/>
          <a:ln/>
        </p:spPr>
        <p:txBody>
          <a:bodyPr wrap="square" lIns="0" tIns="0" rIns="0" bIns="0" rtlCol="0" anchor="t"/>
          <a:lstStyle/>
          <a:p>
            <a:pPr algn="ctr" indent="0" marL="0">
              <a:buNone/>
            </a:pPr>
            <a:r>
              <a:rPr lang="en-US" sz="1000" b="1" dirty="0">
                <a:solidFill>
                  <a:srgbClr val="C8793A"/>
                </a:solidFill>
                <a:latin typeface="Arial" pitchFamily="34" charset="0"/>
                <a:ea typeface="Arial" pitchFamily="34" charset="-122"/>
                <a:cs typeface="Arial" pitchFamily="34" charset="-120"/>
              </a:rPr>
              <a:t>Humans, tools and weeks</a:t>
            </a:r>
            <a:endParaRPr lang="en-US" sz="1000" dirty="0"/>
          </a:p>
        </p:txBody>
      </p:sp>
      <p:sp>
        <p:nvSpPr>
          <p:cNvPr id="39" name="Shape 37"/>
          <p:cNvSpPr/>
          <p:nvPr/>
        </p:nvSpPr>
        <p:spPr>
          <a:xfrm>
            <a:off x="4709160" y="2606040"/>
            <a:ext cx="3977640" cy="1874520"/>
          </a:xfrm>
          <a:prstGeom prst="roundRect">
            <a:avLst>
              <a:gd name="adj" fmla="val 3902"/>
            </a:avLst>
          </a:prstGeom>
          <a:solidFill>
            <a:srgbClr val="0F2A22"/>
          </a:solidFill>
          <a:ln w="12700">
            <a:solidFill>
              <a:srgbClr val="0F2A22"/>
            </a:solidFill>
            <a:prstDash val="solid"/>
          </a:ln>
        </p:spPr>
      </p:sp>
      <p:sp>
        <p:nvSpPr>
          <p:cNvPr id="40" name="Text 38"/>
          <p:cNvSpPr txBox="1"/>
          <p:nvPr/>
        </p:nvSpPr>
        <p:spPr>
          <a:xfrm>
            <a:off x="4892040" y="2743200"/>
            <a:ext cx="3657600" cy="274320"/>
          </a:xfrm>
          <a:prstGeom prst="rect">
            <a:avLst/>
          </a:prstGeom>
          <a:noFill/>
          <a:ln/>
        </p:spPr>
        <p:txBody>
          <a:bodyPr wrap="square" lIns="0" tIns="0" rIns="0" bIns="0" rtlCol="0" anchor="t"/>
          <a:lstStyle/>
          <a:p>
            <a:pPr indent="0" marL="0">
              <a:buNone/>
            </a:pPr>
            <a:r>
              <a:rPr lang="en-US" sz="1300" b="1" dirty="0">
                <a:solidFill>
                  <a:srgbClr val="C8793A"/>
                </a:solidFill>
                <a:latin typeface="Arial" pitchFamily="34" charset="0"/>
                <a:ea typeface="Arial" pitchFamily="34" charset="-122"/>
                <a:cs typeface="Arial" pitchFamily="34" charset="-120"/>
              </a:rPr>
              <a:t>What's missing</a:t>
            </a:r>
            <a:endParaRPr lang="en-US" sz="1300" dirty="0"/>
          </a:p>
        </p:txBody>
      </p:sp>
      <p:sp>
        <p:nvSpPr>
          <p:cNvPr id="41" name="Text 39"/>
          <p:cNvSpPr txBox="1"/>
          <p:nvPr/>
        </p:nvSpPr>
        <p:spPr>
          <a:xfrm>
            <a:off x="4892040" y="3063240"/>
            <a:ext cx="3611880" cy="1325880"/>
          </a:xfrm>
          <a:prstGeom prst="rect">
            <a:avLst/>
          </a:prstGeom>
          <a:noFill/>
          <a:ln/>
        </p:spPr>
        <p:txBody>
          <a:bodyPr wrap="square" lIns="0" tIns="0" rIns="0" bIns="0" rtlCol="0" anchor="t"/>
          <a:lstStyle/>
          <a:p>
            <a:pPr indent="0" marL="0">
              <a:buNone/>
            </a:pPr>
            <a:r>
              <a:rPr lang="en-US" sz="1150" dirty="0">
                <a:solidFill>
                  <a:srgbClr val="FFFFFF"/>
                </a:solidFill>
                <a:latin typeface="Arial" pitchFamily="34" charset="0"/>
                <a:ea typeface="Arial" pitchFamily="34" charset="-122"/>
                <a:cs typeface="Arial" pitchFamily="34" charset="-120"/>
              </a:rPr>
              <a:t>Machines that take instructions from an agent, and instruments that send real signals back to it. The reasoning is there. What's missing is hands and eyes in the physical world.</a:t>
            </a:r>
            <a:endParaRPr lang="en-US" sz="1150" dirty="0"/>
          </a:p>
        </p:txBody>
      </p:sp>
      <p:sp>
        <p:nvSpPr>
          <p:cNvPr id="42" name="Text 40"/>
          <p:cNvSpPr txBox="1"/>
          <p:nvPr/>
        </p:nvSpPr>
        <p:spPr>
          <a:xfrm>
            <a:off x="457200" y="4617720"/>
            <a:ext cx="8229600" cy="201168"/>
          </a:xfrm>
          <a:prstGeom prst="rect">
            <a:avLst/>
          </a:prstGeom>
          <a:noFill/>
          <a:ln/>
        </p:spPr>
        <p:txBody>
          <a:bodyPr wrap="square" lIns="0" tIns="0" rIns="0" bIns="0" rtlCol="0" anchor="t"/>
          <a:lstStyle/>
          <a:p>
            <a:pPr indent="0" marL="0">
              <a:buNone/>
            </a:pPr>
            <a:r>
              <a:rPr lang="en-US" sz="750" i="1" dirty="0">
                <a:solidFill>
                  <a:srgbClr val="5E6B66"/>
                </a:solidFill>
                <a:latin typeface="Arial" pitchFamily="34" charset="0"/>
                <a:ea typeface="Arial" pitchFamily="34" charset="-122"/>
                <a:cs typeface="Arial" pitchFamily="34" charset="-120"/>
              </a:rPr>
              <a:t>Sources: SiliconANGLE 27 Feb 2026 (Flux); BusinessWire 7 Oct 2025 (Quilter); Fenwick (Diode); claude.com/connectors/autodesk-fusion; digitalproduction.com 30 Apr 2026 (Blender).</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201168"/>
          </a:xfrm>
          <a:prstGeom prst="rect">
            <a:avLst/>
          </a:prstGeom>
          <a:noFill/>
          <a:ln/>
        </p:spPr>
        <p:txBody>
          <a:bodyPr wrap="square" lIns="0" tIns="0" rIns="0" bIns="0" rtlCol="0" anchor="t"/>
          <a:lstStyle/>
          <a:p>
            <a:pPr indent="0" marL="0">
              <a:buNone/>
            </a:pPr>
            <a:r>
              <a:rPr lang="en-US" sz="900" b="1" spc="200" kern="0" dirty="0">
                <a:solidFill>
                  <a:srgbClr val="C8793A"/>
                </a:solidFill>
                <a:latin typeface="Arial" pitchFamily="34" charset="0"/>
                <a:ea typeface="Arial" pitchFamily="34" charset="-122"/>
                <a:cs typeface="Arial" pitchFamily="34" charset="-120"/>
              </a:rPr>
              <a:t>WHY EASE GROWS THE MARKET</a:t>
            </a:r>
            <a:endParaRPr lang="en-US" sz="900" dirty="0"/>
          </a:p>
        </p:txBody>
      </p:sp>
      <p:sp>
        <p:nvSpPr>
          <p:cNvPr id="3" name="Text 1"/>
          <p:cNvSpPr txBox="1"/>
          <p:nvPr/>
        </p:nvSpPr>
        <p:spPr>
          <a:xfrm>
            <a:off x="457200" y="457200"/>
            <a:ext cx="8229600" cy="566928"/>
          </a:xfrm>
          <a:prstGeom prst="rect">
            <a:avLst/>
          </a:prstGeom>
          <a:noFill/>
          <a:ln/>
        </p:spPr>
        <p:txBody>
          <a:bodyPr wrap="square" lIns="0" tIns="0" rIns="0" bIns="0" rtlCol="0" anchor="ctr">
            <a:normAutofit/>
          </a:bodyPr>
          <a:lstStyle/>
          <a:p>
            <a:pPr indent="0" marL="0">
              <a:buNone/>
            </a:pPr>
            <a:r>
              <a:rPr lang="en-US" sz="2200" b="1" dirty="0">
                <a:solidFill>
                  <a:srgbClr val="0F2A22"/>
                </a:solidFill>
                <a:latin typeface="Arial" pitchFamily="34" charset="0"/>
                <a:ea typeface="Arial" pitchFamily="34" charset="-122"/>
                <a:cs typeface="Arial" pitchFamily="34" charset="-120"/>
              </a:rPr>
              <a:t>How people learn hardware, and where they give up</a:t>
            </a:r>
            <a:endParaRPr lang="en-US" sz="2200" dirty="0"/>
          </a:p>
        </p:txBody>
      </p:sp>
      <p:sp>
        <p:nvSpPr>
          <p:cNvPr id="4" name="Text 2"/>
          <p:cNvSpPr txBox="1"/>
          <p:nvPr/>
        </p:nvSpPr>
        <p:spPr>
          <a:xfrm>
            <a:off x="8321040" y="4828032"/>
            <a:ext cx="365760" cy="182880"/>
          </a:xfrm>
          <a:prstGeom prst="rect">
            <a:avLst/>
          </a:prstGeom>
          <a:noFill/>
          <a:ln/>
        </p:spPr>
        <p:txBody>
          <a:bodyPr wrap="square" lIns="0" tIns="0" rIns="0" bIns="0" rtlCol="0" anchor="t"/>
          <a:lstStyle/>
          <a:p>
            <a:pPr algn="r" indent="0" marL="0">
              <a:buNone/>
            </a:pPr>
            <a:r>
              <a:rPr lang="en-US" sz="800" dirty="0">
                <a:solidFill>
                  <a:srgbClr val="5E6B66"/>
                </a:solidFill>
                <a:latin typeface="Arial" pitchFamily="34" charset="0"/>
                <a:ea typeface="Arial" pitchFamily="34" charset="-122"/>
                <a:cs typeface="Arial" pitchFamily="34" charset="-120"/>
              </a:rPr>
              <a:t>5</a:t>
            </a:r>
            <a:endParaRPr lang="en-US" sz="800" dirty="0"/>
          </a:p>
        </p:txBody>
      </p:sp>
      <p:sp>
        <p:nvSpPr>
          <p:cNvPr id="5" name="Text 3"/>
          <p:cNvSpPr txBox="1"/>
          <p:nvPr/>
        </p:nvSpPr>
        <p:spPr>
          <a:xfrm>
            <a:off x="457200" y="4828032"/>
            <a:ext cx="2743200" cy="182880"/>
          </a:xfrm>
          <a:prstGeom prst="rect">
            <a:avLst/>
          </a:prstGeom>
          <a:noFill/>
          <a:ln/>
        </p:spPr>
        <p:txBody>
          <a:bodyPr wrap="square" lIns="0" tIns="0" rIns="0" bIns="0" rtlCol="0" anchor="t"/>
          <a:lstStyle/>
          <a:p>
            <a:pPr indent="0" marL="0">
              <a:buNone/>
            </a:pPr>
            <a:r>
              <a:rPr lang="en-US" sz="800" dirty="0">
                <a:solidFill>
                  <a:srgbClr val="5E6B66"/>
                </a:solidFill>
                <a:latin typeface="Arial" pitchFamily="34" charset="0"/>
                <a:ea typeface="Arial" pitchFamily="34" charset="-122"/>
                <a:cs typeface="Arial" pitchFamily="34" charset="-120"/>
              </a:rPr>
              <a:t>Protopulse · pitch v2</a:t>
            </a:r>
            <a:endParaRPr lang="en-US" sz="800" dirty="0"/>
          </a:p>
        </p:txBody>
      </p:sp>
      <p:sp>
        <p:nvSpPr>
          <p:cNvPr id="6" name="Shape 4"/>
          <p:cNvSpPr/>
          <p:nvPr/>
        </p:nvSpPr>
        <p:spPr>
          <a:xfrm>
            <a:off x="457200" y="4224528"/>
            <a:ext cx="4206240" cy="320040"/>
          </a:xfrm>
          <a:prstGeom prst="roundRect">
            <a:avLst>
              <a:gd name="adj" fmla="val 14286"/>
            </a:avLst>
          </a:prstGeom>
          <a:solidFill>
            <a:srgbClr val="E8F1EC"/>
          </a:solidFill>
          <a:ln w="12700">
            <a:solidFill>
              <a:srgbClr val="D3E5DB"/>
            </a:solidFill>
            <a:prstDash val="solid"/>
          </a:ln>
        </p:spPr>
      </p:sp>
      <p:sp>
        <p:nvSpPr>
          <p:cNvPr id="7" name="Text 5"/>
          <p:cNvSpPr txBox="1"/>
          <p:nvPr/>
        </p:nvSpPr>
        <p:spPr>
          <a:xfrm>
            <a:off x="530352" y="4224528"/>
            <a:ext cx="228600" cy="347472"/>
          </a:xfrm>
          <a:prstGeom prst="rect">
            <a:avLst/>
          </a:prstGeom>
          <a:noFill/>
          <a:ln/>
        </p:spPr>
        <p:txBody>
          <a:bodyPr wrap="square" lIns="0" tIns="0" rIns="0" bIns="0" rtlCol="0" anchor="ctr"/>
          <a:lstStyle/>
          <a:p>
            <a:pPr indent="0" marL="0">
              <a:buNone/>
            </a:pPr>
            <a:r>
              <a:rPr lang="en-US" sz="1100" b="1" dirty="0">
                <a:solidFill>
                  <a:srgbClr val="C8793A"/>
                </a:solidFill>
                <a:latin typeface="Arial" pitchFamily="34" charset="0"/>
                <a:ea typeface="Arial" pitchFamily="34" charset="-122"/>
                <a:cs typeface="Arial" pitchFamily="34" charset="-120"/>
              </a:rPr>
              <a:t>1</a:t>
            </a:r>
            <a:endParaRPr lang="en-US" sz="1100" dirty="0"/>
          </a:p>
        </p:txBody>
      </p:sp>
      <p:sp>
        <p:nvSpPr>
          <p:cNvPr id="8" name="Text 6"/>
          <p:cNvSpPr txBox="1"/>
          <p:nvPr/>
        </p:nvSpPr>
        <p:spPr>
          <a:xfrm>
            <a:off x="777240" y="4224528"/>
            <a:ext cx="1325880" cy="347472"/>
          </a:xfrm>
          <a:prstGeom prst="rect">
            <a:avLst/>
          </a:prstGeom>
          <a:noFill/>
          <a:ln/>
        </p:spPr>
        <p:txBody>
          <a:bodyPr wrap="square" lIns="0" tIns="0" rIns="0" bIns="0" rtlCol="0" anchor="ctr"/>
          <a:lstStyle/>
          <a:p>
            <a:pPr indent="0" marL="0">
              <a:buNone/>
            </a:pPr>
            <a:r>
              <a:rPr lang="en-US" sz="1050" b="1" dirty="0">
                <a:solidFill>
                  <a:srgbClr val="0F2A22"/>
                </a:solidFill>
                <a:latin typeface="Arial" pitchFamily="34" charset="0"/>
                <a:ea typeface="Arial" pitchFamily="34" charset="-122"/>
                <a:cs typeface="Arial" pitchFamily="34" charset="-120"/>
              </a:rPr>
              <a:t>Idea → spec</a:t>
            </a:r>
            <a:endParaRPr lang="en-US" sz="1050" dirty="0"/>
          </a:p>
        </p:txBody>
      </p:sp>
      <p:sp>
        <p:nvSpPr>
          <p:cNvPr id="9" name="Text 7"/>
          <p:cNvSpPr txBox="1"/>
          <p:nvPr/>
        </p:nvSpPr>
        <p:spPr>
          <a:xfrm>
            <a:off x="2103120" y="4224528"/>
            <a:ext cx="2514600" cy="347472"/>
          </a:xfrm>
          <a:prstGeom prst="rect">
            <a:avLst/>
          </a:prstGeom>
          <a:noFill/>
          <a:ln/>
        </p:spPr>
        <p:txBody>
          <a:bodyPr wrap="square" lIns="0" tIns="0" rIns="0" bIns="0" rtlCol="0" anchor="ctr"/>
          <a:lstStyle/>
          <a:p>
            <a:pPr indent="0" marL="0">
              <a:buNone/>
            </a:pPr>
            <a:r>
              <a:rPr lang="en-US" sz="900" dirty="0">
                <a:solidFill>
                  <a:srgbClr val="1D2522"/>
                </a:solidFill>
                <a:latin typeface="Arial" pitchFamily="34" charset="0"/>
                <a:ea typeface="Arial" pitchFamily="34" charset="-122"/>
                <a:cs typeface="Arial" pitchFamily="34" charset="-120"/>
              </a:rPr>
              <a:t>What exactly should it do?</a:t>
            </a:r>
            <a:endParaRPr lang="en-US" sz="900" dirty="0"/>
          </a:p>
        </p:txBody>
      </p:sp>
      <p:sp>
        <p:nvSpPr>
          <p:cNvPr id="10" name="Shape 8"/>
          <p:cNvSpPr/>
          <p:nvPr/>
        </p:nvSpPr>
        <p:spPr>
          <a:xfrm>
            <a:off x="640080" y="3849624"/>
            <a:ext cx="4206240" cy="320040"/>
          </a:xfrm>
          <a:prstGeom prst="roundRect">
            <a:avLst>
              <a:gd name="adj" fmla="val 14286"/>
            </a:avLst>
          </a:prstGeom>
          <a:solidFill>
            <a:srgbClr val="E8F1EC"/>
          </a:solidFill>
          <a:ln w="12700">
            <a:solidFill>
              <a:srgbClr val="D3E5DB"/>
            </a:solidFill>
            <a:prstDash val="solid"/>
          </a:ln>
        </p:spPr>
      </p:sp>
      <p:sp>
        <p:nvSpPr>
          <p:cNvPr id="11" name="Text 9"/>
          <p:cNvSpPr txBox="1"/>
          <p:nvPr/>
        </p:nvSpPr>
        <p:spPr>
          <a:xfrm>
            <a:off x="713232" y="3849624"/>
            <a:ext cx="228600" cy="347472"/>
          </a:xfrm>
          <a:prstGeom prst="rect">
            <a:avLst/>
          </a:prstGeom>
          <a:noFill/>
          <a:ln/>
        </p:spPr>
        <p:txBody>
          <a:bodyPr wrap="square" lIns="0" tIns="0" rIns="0" bIns="0" rtlCol="0" anchor="ctr"/>
          <a:lstStyle/>
          <a:p>
            <a:pPr indent="0" marL="0">
              <a:buNone/>
            </a:pPr>
            <a:r>
              <a:rPr lang="en-US" sz="1100" b="1" dirty="0">
                <a:solidFill>
                  <a:srgbClr val="C8793A"/>
                </a:solidFill>
                <a:latin typeface="Arial" pitchFamily="34" charset="0"/>
                <a:ea typeface="Arial" pitchFamily="34" charset="-122"/>
                <a:cs typeface="Arial" pitchFamily="34" charset="-120"/>
              </a:rPr>
              <a:t>2</a:t>
            </a:r>
            <a:endParaRPr lang="en-US" sz="1100" dirty="0"/>
          </a:p>
        </p:txBody>
      </p:sp>
      <p:sp>
        <p:nvSpPr>
          <p:cNvPr id="12" name="Text 10"/>
          <p:cNvSpPr txBox="1"/>
          <p:nvPr/>
        </p:nvSpPr>
        <p:spPr>
          <a:xfrm>
            <a:off x="960120" y="3849624"/>
            <a:ext cx="1325880" cy="347472"/>
          </a:xfrm>
          <a:prstGeom prst="rect">
            <a:avLst/>
          </a:prstGeom>
          <a:noFill/>
          <a:ln/>
        </p:spPr>
        <p:txBody>
          <a:bodyPr wrap="square" lIns="0" tIns="0" rIns="0" bIns="0" rtlCol="0" anchor="ctr"/>
          <a:lstStyle/>
          <a:p>
            <a:pPr indent="0" marL="0">
              <a:buNone/>
            </a:pPr>
            <a:r>
              <a:rPr lang="en-US" sz="1050" b="1" dirty="0">
                <a:solidFill>
                  <a:srgbClr val="0F2A22"/>
                </a:solidFill>
                <a:latin typeface="Arial" pitchFamily="34" charset="0"/>
                <a:ea typeface="Arial" pitchFamily="34" charset="-122"/>
                <a:cs typeface="Arial" pitchFamily="34" charset="-120"/>
              </a:rPr>
              <a:t>Parts</a:t>
            </a:r>
            <a:endParaRPr lang="en-US" sz="1050" dirty="0"/>
          </a:p>
        </p:txBody>
      </p:sp>
      <p:sp>
        <p:nvSpPr>
          <p:cNvPr id="13" name="Text 11"/>
          <p:cNvSpPr txBox="1"/>
          <p:nvPr/>
        </p:nvSpPr>
        <p:spPr>
          <a:xfrm>
            <a:off x="2286000" y="3849624"/>
            <a:ext cx="2514600" cy="347472"/>
          </a:xfrm>
          <a:prstGeom prst="rect">
            <a:avLst/>
          </a:prstGeom>
          <a:noFill/>
          <a:ln/>
        </p:spPr>
        <p:txBody>
          <a:bodyPr wrap="square" lIns="0" tIns="0" rIns="0" bIns="0" rtlCol="0" anchor="ctr"/>
          <a:lstStyle/>
          <a:p>
            <a:pPr indent="0" marL="0">
              <a:buNone/>
            </a:pPr>
            <a:r>
              <a:rPr lang="en-US" sz="900" dirty="0">
                <a:solidFill>
                  <a:srgbClr val="1D2522"/>
                </a:solidFill>
                <a:latin typeface="Arial" pitchFamily="34" charset="0"/>
                <a:ea typeface="Arial" pitchFamily="34" charset="-122"/>
                <a:cs typeface="Arial" pitchFamily="34" charset="-120"/>
              </a:rPr>
              <a:t>Datasheets, availability, footprints</a:t>
            </a:r>
            <a:endParaRPr lang="en-US" sz="900" dirty="0"/>
          </a:p>
        </p:txBody>
      </p:sp>
      <p:sp>
        <p:nvSpPr>
          <p:cNvPr id="14" name="Shape 12"/>
          <p:cNvSpPr/>
          <p:nvPr/>
        </p:nvSpPr>
        <p:spPr>
          <a:xfrm>
            <a:off x="822960" y="3474720"/>
            <a:ext cx="4206240" cy="320040"/>
          </a:xfrm>
          <a:prstGeom prst="roundRect">
            <a:avLst>
              <a:gd name="adj" fmla="val 14286"/>
            </a:avLst>
          </a:prstGeom>
          <a:solidFill>
            <a:srgbClr val="E8F1EC"/>
          </a:solidFill>
          <a:ln w="12700">
            <a:solidFill>
              <a:srgbClr val="D3E5DB"/>
            </a:solidFill>
            <a:prstDash val="solid"/>
          </a:ln>
        </p:spPr>
      </p:sp>
      <p:sp>
        <p:nvSpPr>
          <p:cNvPr id="15" name="Text 13"/>
          <p:cNvSpPr txBox="1"/>
          <p:nvPr/>
        </p:nvSpPr>
        <p:spPr>
          <a:xfrm>
            <a:off x="896112" y="3474720"/>
            <a:ext cx="228600" cy="347472"/>
          </a:xfrm>
          <a:prstGeom prst="rect">
            <a:avLst/>
          </a:prstGeom>
          <a:noFill/>
          <a:ln/>
        </p:spPr>
        <p:txBody>
          <a:bodyPr wrap="square" lIns="0" tIns="0" rIns="0" bIns="0" rtlCol="0" anchor="ctr"/>
          <a:lstStyle/>
          <a:p>
            <a:pPr indent="0" marL="0">
              <a:buNone/>
            </a:pPr>
            <a:r>
              <a:rPr lang="en-US" sz="1100" b="1" dirty="0">
                <a:solidFill>
                  <a:srgbClr val="C8793A"/>
                </a:solidFill>
                <a:latin typeface="Arial" pitchFamily="34" charset="0"/>
                <a:ea typeface="Arial" pitchFamily="34" charset="-122"/>
                <a:cs typeface="Arial" pitchFamily="34" charset="-120"/>
              </a:rPr>
              <a:t>3</a:t>
            </a:r>
            <a:endParaRPr lang="en-US" sz="1100" dirty="0"/>
          </a:p>
        </p:txBody>
      </p:sp>
      <p:sp>
        <p:nvSpPr>
          <p:cNvPr id="16" name="Text 14"/>
          <p:cNvSpPr txBox="1"/>
          <p:nvPr/>
        </p:nvSpPr>
        <p:spPr>
          <a:xfrm>
            <a:off x="1143000" y="3474720"/>
            <a:ext cx="1325880" cy="347472"/>
          </a:xfrm>
          <a:prstGeom prst="rect">
            <a:avLst/>
          </a:prstGeom>
          <a:noFill/>
          <a:ln/>
        </p:spPr>
        <p:txBody>
          <a:bodyPr wrap="square" lIns="0" tIns="0" rIns="0" bIns="0" rtlCol="0" anchor="ctr"/>
          <a:lstStyle/>
          <a:p>
            <a:pPr indent="0" marL="0">
              <a:buNone/>
            </a:pPr>
            <a:r>
              <a:rPr lang="en-US" sz="1050" b="1" dirty="0">
                <a:solidFill>
                  <a:srgbClr val="0F2A22"/>
                </a:solidFill>
                <a:latin typeface="Arial" pitchFamily="34" charset="0"/>
                <a:ea typeface="Arial" pitchFamily="34" charset="-122"/>
                <a:cs typeface="Arial" pitchFamily="34" charset="-120"/>
              </a:rPr>
              <a:t>Schematic</a:t>
            </a:r>
            <a:endParaRPr lang="en-US" sz="1050" dirty="0"/>
          </a:p>
        </p:txBody>
      </p:sp>
      <p:sp>
        <p:nvSpPr>
          <p:cNvPr id="17" name="Text 15"/>
          <p:cNvSpPr txBox="1"/>
          <p:nvPr/>
        </p:nvSpPr>
        <p:spPr>
          <a:xfrm>
            <a:off x="2468880" y="3474720"/>
            <a:ext cx="2514600" cy="347472"/>
          </a:xfrm>
          <a:prstGeom prst="rect">
            <a:avLst/>
          </a:prstGeom>
          <a:noFill/>
          <a:ln/>
        </p:spPr>
        <p:txBody>
          <a:bodyPr wrap="square" lIns="0" tIns="0" rIns="0" bIns="0" rtlCol="0" anchor="ctr"/>
          <a:lstStyle/>
          <a:p>
            <a:pPr indent="0" marL="0">
              <a:buNone/>
            </a:pPr>
            <a:r>
              <a:rPr lang="en-US" sz="900" dirty="0">
                <a:solidFill>
                  <a:srgbClr val="1D2522"/>
                </a:solidFill>
                <a:latin typeface="Arial" pitchFamily="34" charset="0"/>
                <a:ea typeface="Arial" pitchFamily="34" charset="-122"/>
                <a:cs typeface="Arial" pitchFamily="34" charset="-120"/>
              </a:rPr>
              <a:t>Circuit theory, reference designs</a:t>
            </a:r>
            <a:endParaRPr lang="en-US" sz="900" dirty="0"/>
          </a:p>
        </p:txBody>
      </p:sp>
      <p:sp>
        <p:nvSpPr>
          <p:cNvPr id="18" name="Shape 16"/>
          <p:cNvSpPr/>
          <p:nvPr/>
        </p:nvSpPr>
        <p:spPr>
          <a:xfrm>
            <a:off x="1005840" y="3099816"/>
            <a:ext cx="4206240" cy="320040"/>
          </a:xfrm>
          <a:prstGeom prst="roundRect">
            <a:avLst>
              <a:gd name="adj" fmla="val 14286"/>
            </a:avLst>
          </a:prstGeom>
          <a:solidFill>
            <a:srgbClr val="E8F1EC"/>
          </a:solidFill>
          <a:ln w="12700">
            <a:solidFill>
              <a:srgbClr val="D3E5DB"/>
            </a:solidFill>
            <a:prstDash val="solid"/>
          </a:ln>
        </p:spPr>
      </p:sp>
      <p:sp>
        <p:nvSpPr>
          <p:cNvPr id="19" name="Text 17"/>
          <p:cNvSpPr txBox="1"/>
          <p:nvPr/>
        </p:nvSpPr>
        <p:spPr>
          <a:xfrm>
            <a:off x="1078992" y="3099816"/>
            <a:ext cx="228600" cy="347472"/>
          </a:xfrm>
          <a:prstGeom prst="rect">
            <a:avLst/>
          </a:prstGeom>
          <a:noFill/>
          <a:ln/>
        </p:spPr>
        <p:txBody>
          <a:bodyPr wrap="square" lIns="0" tIns="0" rIns="0" bIns="0" rtlCol="0" anchor="ctr"/>
          <a:lstStyle/>
          <a:p>
            <a:pPr indent="0" marL="0">
              <a:buNone/>
            </a:pPr>
            <a:r>
              <a:rPr lang="en-US" sz="1100" b="1" dirty="0">
                <a:solidFill>
                  <a:srgbClr val="C8793A"/>
                </a:solidFill>
                <a:latin typeface="Arial" pitchFamily="34" charset="0"/>
                <a:ea typeface="Arial" pitchFamily="34" charset="-122"/>
                <a:cs typeface="Arial" pitchFamily="34" charset="-120"/>
              </a:rPr>
              <a:t>4</a:t>
            </a:r>
            <a:endParaRPr lang="en-US" sz="1100" dirty="0"/>
          </a:p>
        </p:txBody>
      </p:sp>
      <p:sp>
        <p:nvSpPr>
          <p:cNvPr id="20" name="Text 18"/>
          <p:cNvSpPr txBox="1"/>
          <p:nvPr/>
        </p:nvSpPr>
        <p:spPr>
          <a:xfrm>
            <a:off x="1325880" y="3099816"/>
            <a:ext cx="1325880" cy="347472"/>
          </a:xfrm>
          <a:prstGeom prst="rect">
            <a:avLst/>
          </a:prstGeom>
          <a:noFill/>
          <a:ln/>
        </p:spPr>
        <p:txBody>
          <a:bodyPr wrap="square" lIns="0" tIns="0" rIns="0" bIns="0" rtlCol="0" anchor="ctr"/>
          <a:lstStyle/>
          <a:p>
            <a:pPr indent="0" marL="0">
              <a:buNone/>
            </a:pPr>
            <a:r>
              <a:rPr lang="en-US" sz="1050" b="1" dirty="0">
                <a:solidFill>
                  <a:srgbClr val="0F2A22"/>
                </a:solidFill>
                <a:latin typeface="Arial" pitchFamily="34" charset="0"/>
                <a:ea typeface="Arial" pitchFamily="34" charset="-122"/>
                <a:cs typeface="Arial" pitchFamily="34" charset="-120"/>
              </a:rPr>
              <a:t>Layout</a:t>
            </a:r>
            <a:endParaRPr lang="en-US" sz="1050" dirty="0"/>
          </a:p>
        </p:txBody>
      </p:sp>
      <p:sp>
        <p:nvSpPr>
          <p:cNvPr id="21" name="Text 19"/>
          <p:cNvSpPr txBox="1"/>
          <p:nvPr/>
        </p:nvSpPr>
        <p:spPr>
          <a:xfrm>
            <a:off x="2651760" y="3099816"/>
            <a:ext cx="2514600" cy="347472"/>
          </a:xfrm>
          <a:prstGeom prst="rect">
            <a:avLst/>
          </a:prstGeom>
          <a:noFill/>
          <a:ln/>
        </p:spPr>
        <p:txBody>
          <a:bodyPr wrap="square" lIns="0" tIns="0" rIns="0" bIns="0" rtlCol="0" anchor="ctr"/>
          <a:lstStyle/>
          <a:p>
            <a:pPr indent="0" marL="0">
              <a:buNone/>
            </a:pPr>
            <a:r>
              <a:rPr lang="en-US" sz="900" dirty="0">
                <a:solidFill>
                  <a:srgbClr val="1D2522"/>
                </a:solidFill>
                <a:latin typeface="Arial" pitchFamily="34" charset="0"/>
                <a:ea typeface="Arial" pitchFamily="34" charset="-122"/>
                <a:cs typeface="Arial" pitchFamily="34" charset="-120"/>
              </a:rPr>
              <a:t>EDA tool, DRC, manufacturability</a:t>
            </a:r>
            <a:endParaRPr lang="en-US" sz="900" dirty="0"/>
          </a:p>
        </p:txBody>
      </p:sp>
      <p:sp>
        <p:nvSpPr>
          <p:cNvPr id="22" name="Shape 20"/>
          <p:cNvSpPr/>
          <p:nvPr/>
        </p:nvSpPr>
        <p:spPr>
          <a:xfrm>
            <a:off x="1188720" y="2724912"/>
            <a:ext cx="4206240" cy="320040"/>
          </a:xfrm>
          <a:prstGeom prst="roundRect">
            <a:avLst>
              <a:gd name="adj" fmla="val 14286"/>
            </a:avLst>
          </a:prstGeom>
          <a:solidFill>
            <a:srgbClr val="F6E7D8"/>
          </a:solidFill>
          <a:ln w="12700">
            <a:solidFill>
              <a:srgbClr val="E9CDB3"/>
            </a:solidFill>
            <a:prstDash val="solid"/>
          </a:ln>
        </p:spPr>
      </p:sp>
      <p:sp>
        <p:nvSpPr>
          <p:cNvPr id="23" name="Text 21"/>
          <p:cNvSpPr txBox="1"/>
          <p:nvPr/>
        </p:nvSpPr>
        <p:spPr>
          <a:xfrm>
            <a:off x="1261872" y="2724912"/>
            <a:ext cx="228600" cy="347472"/>
          </a:xfrm>
          <a:prstGeom prst="rect">
            <a:avLst/>
          </a:prstGeom>
          <a:noFill/>
          <a:ln/>
        </p:spPr>
        <p:txBody>
          <a:bodyPr wrap="square" lIns="0" tIns="0" rIns="0" bIns="0" rtlCol="0" anchor="ctr"/>
          <a:lstStyle/>
          <a:p>
            <a:pPr indent="0" marL="0">
              <a:buNone/>
            </a:pPr>
            <a:r>
              <a:rPr lang="en-US" sz="1100" b="1" dirty="0">
                <a:solidFill>
                  <a:srgbClr val="C8793A"/>
                </a:solidFill>
                <a:latin typeface="Arial" pitchFamily="34" charset="0"/>
                <a:ea typeface="Arial" pitchFamily="34" charset="-122"/>
                <a:cs typeface="Arial" pitchFamily="34" charset="-120"/>
              </a:rPr>
              <a:t>5</a:t>
            </a:r>
            <a:endParaRPr lang="en-US" sz="1100" dirty="0"/>
          </a:p>
        </p:txBody>
      </p:sp>
      <p:sp>
        <p:nvSpPr>
          <p:cNvPr id="24" name="Text 22"/>
          <p:cNvSpPr txBox="1"/>
          <p:nvPr/>
        </p:nvSpPr>
        <p:spPr>
          <a:xfrm>
            <a:off x="1508760" y="2724912"/>
            <a:ext cx="1325880" cy="347472"/>
          </a:xfrm>
          <a:prstGeom prst="rect">
            <a:avLst/>
          </a:prstGeom>
          <a:noFill/>
          <a:ln/>
        </p:spPr>
        <p:txBody>
          <a:bodyPr wrap="square" lIns="0" tIns="0" rIns="0" bIns="0" rtlCol="0" anchor="ctr"/>
          <a:lstStyle/>
          <a:p>
            <a:pPr indent="0" marL="0">
              <a:buNone/>
            </a:pPr>
            <a:r>
              <a:rPr lang="en-US" sz="1050" b="1" dirty="0">
                <a:solidFill>
                  <a:srgbClr val="0F2A22"/>
                </a:solidFill>
                <a:latin typeface="Arial" pitchFamily="34" charset="0"/>
                <a:ea typeface="Arial" pitchFamily="34" charset="-122"/>
                <a:cs typeface="Arial" pitchFamily="34" charset="-120"/>
              </a:rPr>
              <a:t>Fabrication</a:t>
            </a:r>
            <a:endParaRPr lang="en-US" sz="1050" dirty="0"/>
          </a:p>
        </p:txBody>
      </p:sp>
      <p:sp>
        <p:nvSpPr>
          <p:cNvPr id="25" name="Text 23"/>
          <p:cNvSpPr txBox="1"/>
          <p:nvPr/>
        </p:nvSpPr>
        <p:spPr>
          <a:xfrm>
            <a:off x="2834640" y="2724912"/>
            <a:ext cx="2514600" cy="347472"/>
          </a:xfrm>
          <a:prstGeom prst="rect">
            <a:avLst/>
          </a:prstGeom>
          <a:noFill/>
          <a:ln/>
        </p:spPr>
        <p:txBody>
          <a:bodyPr wrap="square" lIns="0" tIns="0" rIns="0" bIns="0" rtlCol="0" anchor="ctr"/>
          <a:lstStyle/>
          <a:p>
            <a:pPr indent="0" marL="0">
              <a:buNone/>
            </a:pPr>
            <a:r>
              <a:rPr lang="en-US" sz="900" dirty="0">
                <a:solidFill>
                  <a:srgbClr val="1D2522"/>
                </a:solidFill>
                <a:latin typeface="Arial" pitchFamily="34" charset="0"/>
                <a:ea typeface="Arial" pitchFamily="34" charset="-122"/>
                <a:cs typeface="Arial" pitchFamily="34" charset="-120"/>
              </a:rPr>
              <a:t>Gerbers, vendors, customs, 7–20 days</a:t>
            </a:r>
            <a:endParaRPr lang="en-US" sz="900" dirty="0"/>
          </a:p>
        </p:txBody>
      </p:sp>
      <p:sp>
        <p:nvSpPr>
          <p:cNvPr id="26" name="Shape 24"/>
          <p:cNvSpPr/>
          <p:nvPr/>
        </p:nvSpPr>
        <p:spPr>
          <a:xfrm>
            <a:off x="1371600" y="2350008"/>
            <a:ext cx="4206240" cy="320040"/>
          </a:xfrm>
          <a:prstGeom prst="roundRect">
            <a:avLst>
              <a:gd name="adj" fmla="val 14286"/>
            </a:avLst>
          </a:prstGeom>
          <a:solidFill>
            <a:srgbClr val="F6E7D8"/>
          </a:solidFill>
          <a:ln w="12700">
            <a:solidFill>
              <a:srgbClr val="E9CDB3"/>
            </a:solidFill>
            <a:prstDash val="solid"/>
          </a:ln>
        </p:spPr>
      </p:sp>
      <p:sp>
        <p:nvSpPr>
          <p:cNvPr id="27" name="Text 25"/>
          <p:cNvSpPr txBox="1"/>
          <p:nvPr/>
        </p:nvSpPr>
        <p:spPr>
          <a:xfrm>
            <a:off x="1444752" y="2350008"/>
            <a:ext cx="228600" cy="347472"/>
          </a:xfrm>
          <a:prstGeom prst="rect">
            <a:avLst/>
          </a:prstGeom>
          <a:noFill/>
          <a:ln/>
        </p:spPr>
        <p:txBody>
          <a:bodyPr wrap="square" lIns="0" tIns="0" rIns="0" bIns="0" rtlCol="0" anchor="ctr"/>
          <a:lstStyle/>
          <a:p>
            <a:pPr indent="0" marL="0">
              <a:buNone/>
            </a:pPr>
            <a:r>
              <a:rPr lang="en-US" sz="1100" b="1" dirty="0">
                <a:solidFill>
                  <a:srgbClr val="C8793A"/>
                </a:solidFill>
                <a:latin typeface="Arial" pitchFamily="34" charset="0"/>
                <a:ea typeface="Arial" pitchFamily="34" charset="-122"/>
                <a:cs typeface="Arial" pitchFamily="34" charset="-120"/>
              </a:rPr>
              <a:t>6</a:t>
            </a:r>
            <a:endParaRPr lang="en-US" sz="1100" dirty="0"/>
          </a:p>
        </p:txBody>
      </p:sp>
      <p:sp>
        <p:nvSpPr>
          <p:cNvPr id="28" name="Text 26"/>
          <p:cNvSpPr txBox="1"/>
          <p:nvPr/>
        </p:nvSpPr>
        <p:spPr>
          <a:xfrm>
            <a:off x="1691640" y="2350008"/>
            <a:ext cx="1325880" cy="347472"/>
          </a:xfrm>
          <a:prstGeom prst="rect">
            <a:avLst/>
          </a:prstGeom>
          <a:noFill/>
          <a:ln/>
        </p:spPr>
        <p:txBody>
          <a:bodyPr wrap="square" lIns="0" tIns="0" rIns="0" bIns="0" rtlCol="0" anchor="ctr"/>
          <a:lstStyle/>
          <a:p>
            <a:pPr indent="0" marL="0">
              <a:buNone/>
            </a:pPr>
            <a:r>
              <a:rPr lang="en-US" sz="1050" b="1" dirty="0">
                <a:solidFill>
                  <a:srgbClr val="0F2A22"/>
                </a:solidFill>
                <a:latin typeface="Arial" pitchFamily="34" charset="0"/>
                <a:ea typeface="Arial" pitchFamily="34" charset="-122"/>
                <a:cs typeface="Arial" pitchFamily="34" charset="-120"/>
              </a:rPr>
              <a:t>Assembly</a:t>
            </a:r>
            <a:endParaRPr lang="en-US" sz="1050" dirty="0"/>
          </a:p>
        </p:txBody>
      </p:sp>
      <p:sp>
        <p:nvSpPr>
          <p:cNvPr id="29" name="Text 27"/>
          <p:cNvSpPr txBox="1"/>
          <p:nvPr/>
        </p:nvSpPr>
        <p:spPr>
          <a:xfrm>
            <a:off x="3017520" y="2350008"/>
            <a:ext cx="2514600" cy="347472"/>
          </a:xfrm>
          <a:prstGeom prst="rect">
            <a:avLst/>
          </a:prstGeom>
          <a:noFill/>
          <a:ln/>
        </p:spPr>
        <p:txBody>
          <a:bodyPr wrap="square" lIns="0" tIns="0" rIns="0" bIns="0" rtlCol="0" anchor="ctr"/>
          <a:lstStyle/>
          <a:p>
            <a:pPr indent="0" marL="0">
              <a:buNone/>
            </a:pPr>
            <a:r>
              <a:rPr lang="en-US" sz="900" dirty="0">
                <a:solidFill>
                  <a:srgbClr val="1D2522"/>
                </a:solidFill>
                <a:latin typeface="Arial" pitchFamily="34" charset="0"/>
                <a:ea typeface="Arial" pitchFamily="34" charset="-122"/>
                <a:cs typeface="Arial" pitchFamily="34" charset="-120"/>
              </a:rPr>
              <a:t>SMD soldering, stencil, reflow</a:t>
            </a:r>
            <a:endParaRPr lang="en-US" sz="900" dirty="0"/>
          </a:p>
        </p:txBody>
      </p:sp>
      <p:sp>
        <p:nvSpPr>
          <p:cNvPr id="30" name="Shape 28"/>
          <p:cNvSpPr/>
          <p:nvPr/>
        </p:nvSpPr>
        <p:spPr>
          <a:xfrm>
            <a:off x="1554480" y="1975104"/>
            <a:ext cx="4206240" cy="320040"/>
          </a:xfrm>
          <a:prstGeom prst="roundRect">
            <a:avLst>
              <a:gd name="adj" fmla="val 14286"/>
            </a:avLst>
          </a:prstGeom>
          <a:solidFill>
            <a:srgbClr val="F6E7D8"/>
          </a:solidFill>
          <a:ln w="12700">
            <a:solidFill>
              <a:srgbClr val="E9CDB3"/>
            </a:solidFill>
            <a:prstDash val="solid"/>
          </a:ln>
        </p:spPr>
      </p:sp>
      <p:sp>
        <p:nvSpPr>
          <p:cNvPr id="31" name="Text 29"/>
          <p:cNvSpPr txBox="1"/>
          <p:nvPr/>
        </p:nvSpPr>
        <p:spPr>
          <a:xfrm>
            <a:off x="1627632" y="1975104"/>
            <a:ext cx="228600" cy="347472"/>
          </a:xfrm>
          <a:prstGeom prst="rect">
            <a:avLst/>
          </a:prstGeom>
          <a:noFill/>
          <a:ln/>
        </p:spPr>
        <p:txBody>
          <a:bodyPr wrap="square" lIns="0" tIns="0" rIns="0" bIns="0" rtlCol="0" anchor="ctr"/>
          <a:lstStyle/>
          <a:p>
            <a:pPr indent="0" marL="0">
              <a:buNone/>
            </a:pPr>
            <a:r>
              <a:rPr lang="en-US" sz="1100" b="1" dirty="0">
                <a:solidFill>
                  <a:srgbClr val="C8793A"/>
                </a:solidFill>
                <a:latin typeface="Arial" pitchFamily="34" charset="0"/>
                <a:ea typeface="Arial" pitchFamily="34" charset="-122"/>
                <a:cs typeface="Arial" pitchFamily="34" charset="-120"/>
              </a:rPr>
              <a:t>7</a:t>
            </a:r>
            <a:endParaRPr lang="en-US" sz="1100" dirty="0"/>
          </a:p>
        </p:txBody>
      </p:sp>
      <p:sp>
        <p:nvSpPr>
          <p:cNvPr id="32" name="Text 30"/>
          <p:cNvSpPr txBox="1"/>
          <p:nvPr/>
        </p:nvSpPr>
        <p:spPr>
          <a:xfrm>
            <a:off x="1874520" y="1975104"/>
            <a:ext cx="1325880" cy="347472"/>
          </a:xfrm>
          <a:prstGeom prst="rect">
            <a:avLst/>
          </a:prstGeom>
          <a:noFill/>
          <a:ln/>
        </p:spPr>
        <p:txBody>
          <a:bodyPr wrap="square" lIns="0" tIns="0" rIns="0" bIns="0" rtlCol="0" anchor="ctr"/>
          <a:lstStyle/>
          <a:p>
            <a:pPr indent="0" marL="0">
              <a:buNone/>
            </a:pPr>
            <a:r>
              <a:rPr lang="en-US" sz="1050" b="1" dirty="0">
                <a:solidFill>
                  <a:srgbClr val="0F2A22"/>
                </a:solidFill>
                <a:latin typeface="Arial" pitchFamily="34" charset="0"/>
                <a:ea typeface="Arial" pitchFamily="34" charset="-122"/>
                <a:cs typeface="Arial" pitchFamily="34" charset="-120"/>
              </a:rPr>
              <a:t>Bring-up</a:t>
            </a:r>
            <a:endParaRPr lang="en-US" sz="1050" dirty="0"/>
          </a:p>
        </p:txBody>
      </p:sp>
      <p:sp>
        <p:nvSpPr>
          <p:cNvPr id="33" name="Text 31"/>
          <p:cNvSpPr txBox="1"/>
          <p:nvPr/>
        </p:nvSpPr>
        <p:spPr>
          <a:xfrm>
            <a:off x="3200400" y="1975104"/>
            <a:ext cx="2514600" cy="347472"/>
          </a:xfrm>
          <a:prstGeom prst="rect">
            <a:avLst/>
          </a:prstGeom>
          <a:noFill/>
          <a:ln/>
        </p:spPr>
        <p:txBody>
          <a:bodyPr wrap="square" lIns="0" tIns="0" rIns="0" bIns="0" rtlCol="0" anchor="ctr"/>
          <a:lstStyle/>
          <a:p>
            <a:pPr indent="0" marL="0">
              <a:buNone/>
            </a:pPr>
            <a:r>
              <a:rPr lang="en-US" sz="900" dirty="0">
                <a:solidFill>
                  <a:srgbClr val="1D2522"/>
                </a:solidFill>
                <a:latin typeface="Arial" pitchFamily="34" charset="0"/>
                <a:ea typeface="Arial" pitchFamily="34" charset="-122"/>
                <a:cs typeface="Arial" pitchFamily="34" charset="-120"/>
              </a:rPr>
              <a:t>Scope, logic analyser, firmware</a:t>
            </a:r>
            <a:endParaRPr lang="en-US" sz="900" dirty="0"/>
          </a:p>
        </p:txBody>
      </p:sp>
      <p:sp>
        <p:nvSpPr>
          <p:cNvPr id="34" name="Shape 32"/>
          <p:cNvSpPr/>
          <p:nvPr/>
        </p:nvSpPr>
        <p:spPr>
          <a:xfrm>
            <a:off x="1737360" y="1600200"/>
            <a:ext cx="4206240" cy="320040"/>
          </a:xfrm>
          <a:prstGeom prst="roundRect">
            <a:avLst>
              <a:gd name="adj" fmla="val 14286"/>
            </a:avLst>
          </a:prstGeom>
          <a:solidFill>
            <a:srgbClr val="F6E7D8"/>
          </a:solidFill>
          <a:ln w="12700">
            <a:solidFill>
              <a:srgbClr val="E9CDB3"/>
            </a:solidFill>
            <a:prstDash val="solid"/>
          </a:ln>
        </p:spPr>
      </p:sp>
      <p:sp>
        <p:nvSpPr>
          <p:cNvPr id="35" name="Text 33"/>
          <p:cNvSpPr txBox="1"/>
          <p:nvPr/>
        </p:nvSpPr>
        <p:spPr>
          <a:xfrm>
            <a:off x="1810512" y="1600200"/>
            <a:ext cx="228600" cy="347472"/>
          </a:xfrm>
          <a:prstGeom prst="rect">
            <a:avLst/>
          </a:prstGeom>
          <a:noFill/>
          <a:ln/>
        </p:spPr>
        <p:txBody>
          <a:bodyPr wrap="square" lIns="0" tIns="0" rIns="0" bIns="0" rtlCol="0" anchor="ctr"/>
          <a:lstStyle/>
          <a:p>
            <a:pPr indent="0" marL="0">
              <a:buNone/>
            </a:pPr>
            <a:r>
              <a:rPr lang="en-US" sz="1100" b="1" dirty="0">
                <a:solidFill>
                  <a:srgbClr val="C8793A"/>
                </a:solidFill>
                <a:latin typeface="Arial" pitchFamily="34" charset="0"/>
                <a:ea typeface="Arial" pitchFamily="34" charset="-122"/>
                <a:cs typeface="Arial" pitchFamily="34" charset="-120"/>
              </a:rPr>
              <a:t>8</a:t>
            </a:r>
            <a:endParaRPr lang="en-US" sz="1100" dirty="0"/>
          </a:p>
        </p:txBody>
      </p:sp>
      <p:sp>
        <p:nvSpPr>
          <p:cNvPr id="36" name="Text 34"/>
          <p:cNvSpPr txBox="1"/>
          <p:nvPr/>
        </p:nvSpPr>
        <p:spPr>
          <a:xfrm>
            <a:off x="2057400" y="1600200"/>
            <a:ext cx="1325880" cy="347472"/>
          </a:xfrm>
          <a:prstGeom prst="rect">
            <a:avLst/>
          </a:prstGeom>
          <a:noFill/>
          <a:ln/>
        </p:spPr>
        <p:txBody>
          <a:bodyPr wrap="square" lIns="0" tIns="0" rIns="0" bIns="0" rtlCol="0" anchor="ctr"/>
          <a:lstStyle/>
          <a:p>
            <a:pPr indent="0" marL="0">
              <a:buNone/>
            </a:pPr>
            <a:r>
              <a:rPr lang="en-US" sz="1050" b="1" dirty="0">
                <a:solidFill>
                  <a:srgbClr val="0F2A22"/>
                </a:solidFill>
                <a:latin typeface="Arial" pitchFamily="34" charset="0"/>
                <a:ea typeface="Arial" pitchFamily="34" charset="-122"/>
                <a:cs typeface="Arial" pitchFamily="34" charset="-120"/>
              </a:rPr>
              <a:t>Iterate → volume</a:t>
            </a:r>
            <a:endParaRPr lang="en-US" sz="1050" dirty="0"/>
          </a:p>
        </p:txBody>
      </p:sp>
      <p:sp>
        <p:nvSpPr>
          <p:cNvPr id="37" name="Text 35"/>
          <p:cNvSpPr txBox="1"/>
          <p:nvPr/>
        </p:nvSpPr>
        <p:spPr>
          <a:xfrm>
            <a:off x="3383280" y="1600200"/>
            <a:ext cx="2514600" cy="347472"/>
          </a:xfrm>
          <a:prstGeom prst="rect">
            <a:avLst/>
          </a:prstGeom>
          <a:noFill/>
          <a:ln/>
        </p:spPr>
        <p:txBody>
          <a:bodyPr wrap="square" lIns="0" tIns="0" rIns="0" bIns="0" rtlCol="0" anchor="ctr"/>
          <a:lstStyle/>
          <a:p>
            <a:pPr indent="0" marL="0">
              <a:buNone/>
            </a:pPr>
            <a:r>
              <a:rPr lang="en-US" sz="900" dirty="0">
                <a:solidFill>
                  <a:srgbClr val="1D2522"/>
                </a:solidFill>
                <a:latin typeface="Arial" pitchFamily="34" charset="0"/>
                <a:ea typeface="Arial" pitchFamily="34" charset="-122"/>
                <a:cs typeface="Arial" pitchFamily="34" charset="-120"/>
              </a:rPr>
              <a:t>Debug root cause; DFM for a fab</a:t>
            </a:r>
            <a:endParaRPr lang="en-US" sz="900" dirty="0"/>
          </a:p>
        </p:txBody>
      </p:sp>
      <p:sp>
        <p:nvSpPr>
          <p:cNvPr id="38" name="Text 36"/>
          <p:cNvSpPr txBox="1"/>
          <p:nvPr/>
        </p:nvSpPr>
        <p:spPr>
          <a:xfrm>
            <a:off x="457200" y="1051560"/>
            <a:ext cx="4389120" cy="365760"/>
          </a:xfrm>
          <a:prstGeom prst="rect">
            <a:avLst/>
          </a:prstGeom>
          <a:noFill/>
          <a:ln/>
        </p:spPr>
        <p:txBody>
          <a:bodyPr wrap="square" lIns="0" tIns="0" rIns="0" bIns="0" rtlCol="0" anchor="t"/>
          <a:lstStyle/>
          <a:p>
            <a:pPr indent="0" marL="0">
              <a:buNone/>
            </a:pPr>
            <a:r>
              <a:rPr lang="en-US" sz="1000" i="1" dirty="0">
                <a:solidFill>
                  <a:srgbClr val="5E6B66"/>
                </a:solidFill>
                <a:latin typeface="Arial" pitchFamily="34" charset="0"/>
                <a:ea typeface="Arial" pitchFamily="34" charset="-122"/>
                <a:cs typeface="Arial" pitchFamily="34" charset="-120"/>
              </a:rPr>
              <a:t>Each rung needs new knowledge before you can climb it. Each one loses people.</a:t>
            </a:r>
            <a:endParaRPr lang="en-US" sz="1000" dirty="0"/>
          </a:p>
        </p:txBody>
      </p:sp>
      <p:sp>
        <p:nvSpPr>
          <p:cNvPr id="39" name="Shape 37"/>
          <p:cNvSpPr/>
          <p:nvPr/>
        </p:nvSpPr>
        <p:spPr>
          <a:xfrm>
            <a:off x="6446520" y="1188720"/>
            <a:ext cx="2240280" cy="3291840"/>
          </a:xfrm>
          <a:prstGeom prst="roundRect">
            <a:avLst>
              <a:gd name="adj" fmla="val 3265"/>
            </a:avLst>
          </a:prstGeom>
          <a:solidFill>
            <a:srgbClr val="0F2A22"/>
          </a:solidFill>
          <a:ln w="12700">
            <a:solidFill>
              <a:srgbClr val="0F2A22"/>
            </a:solidFill>
            <a:prstDash val="solid"/>
          </a:ln>
        </p:spPr>
      </p:sp>
      <p:sp>
        <p:nvSpPr>
          <p:cNvPr id="40" name="Text 38"/>
          <p:cNvSpPr txBox="1"/>
          <p:nvPr/>
        </p:nvSpPr>
        <p:spPr>
          <a:xfrm>
            <a:off x="6583680" y="1325880"/>
            <a:ext cx="1965960" cy="1188720"/>
          </a:xfrm>
          <a:prstGeom prst="rect">
            <a:avLst/>
          </a:prstGeom>
          <a:noFill/>
          <a:ln/>
        </p:spPr>
        <p:txBody>
          <a:bodyPr wrap="square" lIns="0" tIns="0" rIns="0" bIns="0" rtlCol="0" anchor="t"/>
          <a:lstStyle/>
          <a:p>
            <a:pPr indent="0" marL="0">
              <a:buNone/>
            </a:pPr>
            <a:r>
              <a:rPr lang="en-US" sz="1050" dirty="0">
                <a:solidFill>
                  <a:srgbClr val="FFFFFF"/>
                </a:solidFill>
                <a:latin typeface="Arial" pitchFamily="34" charset="0"/>
                <a:ea typeface="Arial" pitchFamily="34" charset="-122"/>
                <a:cs typeface="Arial" pitchFamily="34" charset="-120"/>
              </a:rPr>
              <a:t>People learn by doing: try, observe, adjust (Kolb's cycle). The speed of feedback sets the speed of learning.</a:t>
            </a:r>
            <a:endParaRPr lang="en-US" sz="1050" dirty="0"/>
          </a:p>
        </p:txBody>
      </p:sp>
      <p:sp>
        <p:nvSpPr>
          <p:cNvPr id="41" name="Text 39"/>
          <p:cNvSpPr txBox="1"/>
          <p:nvPr/>
        </p:nvSpPr>
        <p:spPr>
          <a:xfrm>
            <a:off x="6583680" y="2560320"/>
            <a:ext cx="1965960" cy="365760"/>
          </a:xfrm>
          <a:prstGeom prst="rect">
            <a:avLst/>
          </a:prstGeom>
          <a:noFill/>
          <a:ln/>
        </p:spPr>
        <p:txBody>
          <a:bodyPr wrap="square" lIns="0" tIns="0" rIns="0" bIns="0" rtlCol="0" anchor="t"/>
          <a:lstStyle/>
          <a:p>
            <a:pPr indent="0" marL="0">
              <a:buNone/>
            </a:pPr>
            <a:r>
              <a:rPr lang="en-US" sz="2000" b="1" dirty="0">
                <a:solidFill>
                  <a:srgbClr val="C8793A"/>
                </a:solidFill>
                <a:latin typeface="Arial" pitchFamily="34" charset="0"/>
                <a:ea typeface="Arial" pitchFamily="34" charset="-122"/>
                <a:cs typeface="Arial" pitchFamily="34" charset="-120"/>
              </a:rPr>
              <a:t>2 weeks</a:t>
            </a:r>
            <a:endParaRPr lang="en-US" sz="2000" dirty="0"/>
          </a:p>
        </p:txBody>
      </p:sp>
      <p:sp>
        <p:nvSpPr>
          <p:cNvPr id="42" name="Text 40"/>
          <p:cNvSpPr txBox="1"/>
          <p:nvPr/>
        </p:nvSpPr>
        <p:spPr>
          <a:xfrm>
            <a:off x="6583680" y="2926080"/>
            <a:ext cx="1965960" cy="457200"/>
          </a:xfrm>
          <a:prstGeom prst="rect">
            <a:avLst/>
          </a:prstGeom>
          <a:noFill/>
          <a:ln/>
        </p:spPr>
        <p:txBody>
          <a:bodyPr wrap="square" lIns="0" tIns="0" rIns="0" bIns="0" rtlCol="0" anchor="t"/>
          <a:lstStyle/>
          <a:p>
            <a:pPr indent="0" marL="0">
              <a:buNone/>
            </a:pPr>
            <a:r>
              <a:rPr lang="en-US" sz="900" dirty="0">
                <a:solidFill>
                  <a:srgbClr val="D3E5DB"/>
                </a:solidFill>
                <a:latin typeface="Arial" pitchFamily="34" charset="0"/>
                <a:ea typeface="Arial" pitchFamily="34" charset="-122"/>
                <a:cs typeface="Arial" pitchFamily="34" charset="-120"/>
              </a:rPr>
              <a:t>per attempt: beginners give up, experts batch their changes</a:t>
            </a:r>
            <a:endParaRPr lang="en-US" sz="900" dirty="0"/>
          </a:p>
        </p:txBody>
      </p:sp>
      <p:sp>
        <p:nvSpPr>
          <p:cNvPr id="43" name="Text 41"/>
          <p:cNvSpPr txBox="1"/>
          <p:nvPr/>
        </p:nvSpPr>
        <p:spPr>
          <a:xfrm>
            <a:off x="6583680" y="3429000"/>
            <a:ext cx="1965960" cy="365760"/>
          </a:xfrm>
          <a:prstGeom prst="rect">
            <a:avLst/>
          </a:prstGeom>
          <a:noFill/>
          <a:ln/>
        </p:spPr>
        <p:txBody>
          <a:bodyPr wrap="square" lIns="0" tIns="0" rIns="0" bIns="0" rtlCol="0" anchor="t"/>
          <a:lstStyle/>
          <a:p>
            <a:pPr indent="0" marL="0">
              <a:buNone/>
            </a:pPr>
            <a:r>
              <a:rPr lang="en-US" sz="2000" b="1" dirty="0">
                <a:solidFill>
                  <a:srgbClr val="C8793A"/>
                </a:solidFill>
                <a:latin typeface="Arial" pitchFamily="34" charset="0"/>
                <a:ea typeface="Arial" pitchFamily="34" charset="-122"/>
                <a:cs typeface="Arial" pitchFamily="34" charset="-120"/>
              </a:rPr>
              <a:t>Same day</a:t>
            </a:r>
            <a:endParaRPr lang="en-US" sz="2000" dirty="0"/>
          </a:p>
        </p:txBody>
      </p:sp>
      <p:sp>
        <p:nvSpPr>
          <p:cNvPr id="44" name="Text 42"/>
          <p:cNvSpPr txBox="1"/>
          <p:nvPr/>
        </p:nvSpPr>
        <p:spPr>
          <a:xfrm>
            <a:off x="6583680" y="3794760"/>
            <a:ext cx="1965960" cy="457200"/>
          </a:xfrm>
          <a:prstGeom prst="rect">
            <a:avLst/>
          </a:prstGeom>
          <a:noFill/>
          <a:ln/>
        </p:spPr>
        <p:txBody>
          <a:bodyPr wrap="square" lIns="0" tIns="0" rIns="0" bIns="0" rtlCol="0" anchor="t"/>
          <a:lstStyle/>
          <a:p>
            <a:pPr indent="0" marL="0">
              <a:buNone/>
            </a:pPr>
            <a:r>
              <a:rPr lang="en-US" sz="900" dirty="0">
                <a:solidFill>
                  <a:srgbClr val="D3E5DB"/>
                </a:solidFill>
                <a:latin typeface="Arial" pitchFamily="34" charset="0"/>
                <a:ea typeface="Arial" pitchFamily="34" charset="-122"/>
                <a:cs typeface="Arial" pitchFamily="34" charset="-120"/>
              </a:rPr>
              <a:t>per attempt: a student gets many more tries in one semester</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2A22"/>
        </a:solidFill>
      </p:bgPr>
    </p:bg>
    <p:spTree>
      <p:nvGrpSpPr>
        <p:cNvPr id="1" name=""/>
        <p:cNvGrpSpPr/>
        <p:nvPr/>
      </p:nvGrpSpPr>
      <p:grpSpPr>
        <a:xfrm>
          <a:off x="0" y="0"/>
          <a:ext cx="0" cy="0"/>
          <a:chOff x="0" y="0"/>
          <a:chExt cx="0" cy="0"/>
        </a:xfrm>
      </p:grpSpPr>
      <p:sp>
        <p:nvSpPr>
          <p:cNvPr id="2" name="Text 0"/>
          <p:cNvSpPr txBox="1"/>
          <p:nvPr/>
        </p:nvSpPr>
        <p:spPr>
          <a:xfrm>
            <a:off x="548640" y="411480"/>
            <a:ext cx="4572000" cy="228600"/>
          </a:xfrm>
          <a:prstGeom prst="rect">
            <a:avLst/>
          </a:prstGeom>
          <a:noFill/>
          <a:ln/>
        </p:spPr>
        <p:txBody>
          <a:bodyPr wrap="square" lIns="0" tIns="0" rIns="0" bIns="0" rtlCol="0" anchor="t"/>
          <a:lstStyle/>
          <a:p>
            <a:pPr indent="0" marL="0">
              <a:buNone/>
            </a:pPr>
            <a:r>
              <a:rPr lang="en-US" sz="1000" b="1" spc="300" kern="0" dirty="0">
                <a:solidFill>
                  <a:srgbClr val="C8793A"/>
                </a:solidFill>
                <a:latin typeface="Arial" pitchFamily="34" charset="0"/>
                <a:ea typeface="Arial" pitchFamily="34" charset="-122"/>
                <a:cs typeface="Arial" pitchFamily="34" charset="-120"/>
              </a:rPr>
              <a:t>WHO WE ARE</a:t>
            </a:r>
            <a:endParaRPr lang="en-US" sz="1000" dirty="0"/>
          </a:p>
        </p:txBody>
      </p:sp>
      <p:sp>
        <p:nvSpPr>
          <p:cNvPr id="3" name="Text 1"/>
          <p:cNvSpPr txBox="1"/>
          <p:nvPr/>
        </p:nvSpPr>
        <p:spPr>
          <a:xfrm>
            <a:off x="548640" y="731520"/>
            <a:ext cx="8046720" cy="1005840"/>
          </a:xfrm>
          <a:prstGeom prst="rect">
            <a:avLst/>
          </a:prstGeom>
          <a:noFill/>
          <a:ln/>
        </p:spPr>
        <p:txBody>
          <a:bodyPr wrap="square" lIns="0" tIns="0" rIns="0" bIns="0" rtlCol="0" anchor="t"/>
          <a:lstStyle/>
          <a:p>
            <a:pPr indent="0" marL="0">
              <a:buNone/>
            </a:pPr>
            <a:r>
              <a:rPr lang="en-US" sz="2100" b="1" dirty="0">
                <a:solidFill>
                  <a:srgbClr val="FFFFFF"/>
                </a:solidFill>
                <a:latin typeface="Arial" pitchFamily="34" charset="0"/>
                <a:ea typeface="Arial" pitchFamily="34" charset="-122"/>
                <a:cs typeface="Arial" pitchFamily="34" charset="-120"/>
              </a:rPr>
              <a:t>We build smart prototyping machines and accessories for an AI, so going from idea to working prototype feels effortless.</a:t>
            </a:r>
            <a:endParaRPr lang="en-US" sz="2100" dirty="0"/>
          </a:p>
        </p:txBody>
      </p:sp>
      <p:sp>
        <p:nvSpPr>
          <p:cNvPr id="4" name="Shape 2"/>
          <p:cNvSpPr/>
          <p:nvPr/>
        </p:nvSpPr>
        <p:spPr>
          <a:xfrm>
            <a:off x="548640" y="2103120"/>
            <a:ext cx="2514600" cy="2331720"/>
          </a:xfrm>
          <a:prstGeom prst="roundRect">
            <a:avLst>
              <a:gd name="adj" fmla="val 3137"/>
            </a:avLst>
          </a:prstGeom>
          <a:solidFill>
            <a:srgbClr val="1B4D3E"/>
          </a:solidFill>
          <a:ln w="12700">
            <a:solidFill>
              <a:srgbClr val="1B4D3E"/>
            </a:solidFill>
            <a:prstDash val="solid"/>
          </a:ln>
        </p:spPr>
      </p:sp>
      <p:sp>
        <p:nvSpPr>
          <p:cNvPr id="5" name="Shape 3"/>
          <p:cNvSpPr/>
          <p:nvPr/>
        </p:nvSpPr>
        <p:spPr>
          <a:xfrm>
            <a:off x="731520" y="2286000"/>
            <a:ext cx="457200" cy="457200"/>
          </a:xfrm>
          <a:prstGeom prst="ellipse">
            <a:avLst/>
          </a:prstGeom>
          <a:solidFill>
            <a:srgbClr val="C8793A"/>
          </a:solidFill>
          <a:ln w="15875">
            <a:solidFill>
              <a:srgbClr val="C8793A"/>
            </a:solidFill>
            <a:prstDash val="solid"/>
          </a:ln>
        </p:spPr>
      </p:sp>
      <p:pic>
        <p:nvPicPr>
          <p:cNvPr id="6" name="Image 0" descr="preencoded.png">    </p:cNvPr>
          <p:cNvPicPr>
            <a:picLocks noChangeAspect="1"/>
          </p:cNvPicPr>
          <p:nvPr/>
        </p:nvPicPr>
        <p:blipFill>
          <a:blip r:embed="rId1"/>
          <a:stretch>
            <a:fillRect/>
          </a:stretch>
        </p:blipFill>
        <p:spPr>
          <a:xfrm>
            <a:off x="841248" y="2395728"/>
            <a:ext cx="237744" cy="237744"/>
          </a:xfrm>
          <a:prstGeom prst="rect">
            <a:avLst/>
          </a:prstGeom>
        </p:spPr>
      </p:pic>
      <p:sp>
        <p:nvSpPr>
          <p:cNvPr id="7" name="Text 4"/>
          <p:cNvSpPr txBox="1"/>
          <p:nvPr/>
        </p:nvSpPr>
        <p:spPr>
          <a:xfrm>
            <a:off x="731520" y="2834640"/>
            <a:ext cx="2194560" cy="320040"/>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Software team</a:t>
            </a:r>
            <a:endParaRPr lang="en-US" sz="1400" dirty="0"/>
          </a:p>
        </p:txBody>
      </p:sp>
      <p:sp>
        <p:nvSpPr>
          <p:cNvPr id="8" name="Text 5"/>
          <p:cNvSpPr txBox="1"/>
          <p:nvPr/>
        </p:nvSpPr>
        <p:spPr>
          <a:xfrm>
            <a:off x="731520" y="3154680"/>
            <a:ext cx="2194560" cy="1188720"/>
          </a:xfrm>
          <a:prstGeom prst="rect">
            <a:avLst/>
          </a:prstGeom>
          <a:noFill/>
          <a:ln/>
        </p:spPr>
        <p:txBody>
          <a:bodyPr wrap="square" lIns="0" tIns="0" rIns="0" bIns="0" rtlCol="0" anchor="t"/>
          <a:lstStyle/>
          <a:p>
            <a:pPr indent="0" marL="0">
              <a:buNone/>
            </a:pPr>
            <a:r>
              <a:rPr lang="en-US" sz="1050" dirty="0">
                <a:solidFill>
                  <a:srgbClr val="D3E5DB"/>
                </a:solidFill>
                <a:latin typeface="Arial" pitchFamily="34" charset="0"/>
                <a:ea typeface="Arial" pitchFamily="34" charset="-122"/>
                <a:cs typeface="Arial" pitchFamily="34" charset="-120"/>
              </a:rPr>
              <a:t>Proto: the agent that plans, designs, runs the machines, reads the instruments and explains what happened</a:t>
            </a:r>
            <a:endParaRPr lang="en-US" sz="1050" dirty="0"/>
          </a:p>
        </p:txBody>
      </p:sp>
      <p:sp>
        <p:nvSpPr>
          <p:cNvPr id="9" name="Shape 6"/>
          <p:cNvSpPr/>
          <p:nvPr/>
        </p:nvSpPr>
        <p:spPr>
          <a:xfrm>
            <a:off x="3291840" y="2103120"/>
            <a:ext cx="2514600" cy="2331720"/>
          </a:xfrm>
          <a:prstGeom prst="roundRect">
            <a:avLst>
              <a:gd name="adj" fmla="val 3137"/>
            </a:avLst>
          </a:prstGeom>
          <a:solidFill>
            <a:srgbClr val="1B4D3E"/>
          </a:solidFill>
          <a:ln w="12700">
            <a:solidFill>
              <a:srgbClr val="1B4D3E"/>
            </a:solidFill>
            <a:prstDash val="solid"/>
          </a:ln>
        </p:spPr>
      </p:sp>
      <p:sp>
        <p:nvSpPr>
          <p:cNvPr id="10" name="Shape 7"/>
          <p:cNvSpPr/>
          <p:nvPr/>
        </p:nvSpPr>
        <p:spPr>
          <a:xfrm>
            <a:off x="3474720" y="2286000"/>
            <a:ext cx="457200" cy="457200"/>
          </a:xfrm>
          <a:prstGeom prst="ellipse">
            <a:avLst/>
          </a:prstGeom>
          <a:solidFill>
            <a:srgbClr val="C8793A"/>
          </a:solidFill>
          <a:ln w="15875">
            <a:solidFill>
              <a:srgbClr val="C8793A"/>
            </a:solidFill>
            <a:prstDash val="solid"/>
          </a:ln>
        </p:spPr>
      </p:sp>
      <p:pic>
        <p:nvPicPr>
          <p:cNvPr id="11" name="Image 1" descr="preencoded.png">    </p:cNvPr>
          <p:cNvPicPr>
            <a:picLocks noChangeAspect="1"/>
          </p:cNvPicPr>
          <p:nvPr/>
        </p:nvPicPr>
        <p:blipFill>
          <a:blip r:embed="rId2"/>
          <a:stretch>
            <a:fillRect/>
          </a:stretch>
        </p:blipFill>
        <p:spPr>
          <a:xfrm>
            <a:off x="3584448" y="2395728"/>
            <a:ext cx="237744" cy="237744"/>
          </a:xfrm>
          <a:prstGeom prst="rect">
            <a:avLst/>
          </a:prstGeom>
        </p:spPr>
      </p:pic>
      <p:sp>
        <p:nvSpPr>
          <p:cNvPr id="12" name="Text 8"/>
          <p:cNvSpPr txBox="1"/>
          <p:nvPr/>
        </p:nvSpPr>
        <p:spPr>
          <a:xfrm>
            <a:off x="3474720" y="2834640"/>
            <a:ext cx="2194560" cy="320040"/>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Hardware team</a:t>
            </a:r>
            <a:endParaRPr lang="en-US" sz="1400" dirty="0"/>
          </a:p>
        </p:txBody>
      </p:sp>
      <p:sp>
        <p:nvSpPr>
          <p:cNvPr id="13" name="Text 9"/>
          <p:cNvSpPr txBox="1"/>
          <p:nvPr/>
        </p:nvSpPr>
        <p:spPr>
          <a:xfrm>
            <a:off x="3474720" y="3154680"/>
            <a:ext cx="2194560" cy="1188720"/>
          </a:xfrm>
          <a:prstGeom prst="rect">
            <a:avLst/>
          </a:prstGeom>
          <a:noFill/>
          <a:ln/>
        </p:spPr>
        <p:txBody>
          <a:bodyPr wrap="square" lIns="0" tIns="0" rIns="0" bIns="0" rtlCol="0" anchor="t"/>
          <a:lstStyle/>
          <a:p>
            <a:pPr indent="0" marL="0">
              <a:buNone/>
            </a:pPr>
            <a:r>
              <a:rPr lang="en-US" sz="1050" dirty="0">
                <a:solidFill>
                  <a:srgbClr val="D3E5DB"/>
                </a:solidFill>
                <a:latin typeface="Arial" pitchFamily="34" charset="0"/>
                <a:ea typeface="Arial" pitchFamily="34" charset="-122"/>
                <a:cs typeface="Arial" pitchFamily="34" charset="-120"/>
              </a:rPr>
              <a:t>Baker and Mixer first. Later: 3D-printer integration and more smart accessories, all with an agent API</a:t>
            </a:r>
            <a:endParaRPr lang="en-US" sz="1050" dirty="0"/>
          </a:p>
        </p:txBody>
      </p:sp>
      <p:sp>
        <p:nvSpPr>
          <p:cNvPr id="14" name="Shape 10"/>
          <p:cNvSpPr/>
          <p:nvPr/>
        </p:nvSpPr>
        <p:spPr>
          <a:xfrm>
            <a:off x="6035040" y="2103120"/>
            <a:ext cx="2514600" cy="2331720"/>
          </a:xfrm>
          <a:prstGeom prst="roundRect">
            <a:avLst>
              <a:gd name="adj" fmla="val 3137"/>
            </a:avLst>
          </a:prstGeom>
          <a:solidFill>
            <a:srgbClr val="1B4D3E"/>
          </a:solidFill>
          <a:ln w="12700">
            <a:solidFill>
              <a:srgbClr val="1B4D3E"/>
            </a:solidFill>
            <a:prstDash val="solid"/>
          </a:ln>
        </p:spPr>
      </p:sp>
      <p:sp>
        <p:nvSpPr>
          <p:cNvPr id="15" name="Shape 11"/>
          <p:cNvSpPr/>
          <p:nvPr/>
        </p:nvSpPr>
        <p:spPr>
          <a:xfrm>
            <a:off x="6217920" y="2286000"/>
            <a:ext cx="457200" cy="457200"/>
          </a:xfrm>
          <a:prstGeom prst="ellipse">
            <a:avLst/>
          </a:prstGeom>
          <a:solidFill>
            <a:srgbClr val="C8793A"/>
          </a:solidFill>
          <a:ln w="15875">
            <a:solidFill>
              <a:srgbClr val="C8793A"/>
            </a:solidFill>
            <a:prstDash val="solid"/>
          </a:ln>
        </p:spPr>
      </p:sp>
      <p:pic>
        <p:nvPicPr>
          <p:cNvPr id="16" name="Image 2" descr="preencoded.png">    </p:cNvPr>
          <p:cNvPicPr>
            <a:picLocks noChangeAspect="1"/>
          </p:cNvPicPr>
          <p:nvPr/>
        </p:nvPicPr>
        <p:blipFill>
          <a:blip r:embed="rId3"/>
          <a:stretch>
            <a:fillRect/>
          </a:stretch>
        </p:blipFill>
        <p:spPr>
          <a:xfrm>
            <a:off x="6327648" y="2395728"/>
            <a:ext cx="237744" cy="237744"/>
          </a:xfrm>
          <a:prstGeom prst="rect">
            <a:avLst/>
          </a:prstGeom>
        </p:spPr>
      </p:pic>
      <p:sp>
        <p:nvSpPr>
          <p:cNvPr id="17" name="Text 12"/>
          <p:cNvSpPr txBox="1"/>
          <p:nvPr/>
        </p:nvSpPr>
        <p:spPr>
          <a:xfrm>
            <a:off x="6217920" y="2834640"/>
            <a:ext cx="2194560" cy="320040"/>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Manufacturing</a:t>
            </a:r>
            <a:endParaRPr lang="en-US" sz="1400" dirty="0"/>
          </a:p>
        </p:txBody>
      </p:sp>
      <p:sp>
        <p:nvSpPr>
          <p:cNvPr id="18" name="Text 13"/>
          <p:cNvSpPr txBox="1"/>
          <p:nvPr/>
        </p:nvSpPr>
        <p:spPr>
          <a:xfrm>
            <a:off x="6217920" y="3154680"/>
            <a:ext cx="2194560" cy="1188720"/>
          </a:xfrm>
          <a:prstGeom prst="rect">
            <a:avLst/>
          </a:prstGeom>
          <a:noFill/>
          <a:ln/>
        </p:spPr>
        <p:txBody>
          <a:bodyPr wrap="square" lIns="0" tIns="0" rIns="0" bIns="0" rtlCol="0" anchor="t"/>
          <a:lstStyle/>
          <a:p>
            <a:pPr indent="0" marL="0">
              <a:buNone/>
            </a:pPr>
            <a:r>
              <a:rPr lang="en-US" sz="1050" dirty="0">
                <a:solidFill>
                  <a:srgbClr val="D3E5DB"/>
                </a:solidFill>
                <a:latin typeface="Arial" pitchFamily="34" charset="0"/>
                <a:ea typeface="Arial" pitchFamily="34" charset="-122"/>
                <a:cs typeface="Arial" pitchFamily="34" charset="-120"/>
              </a:rPr>
              <a:t>China turnkey build. India does incoming test, minimal assembly and shipping: India first, then global</a:t>
            </a:r>
            <a:endParaRPr lang="en-US" sz="1050" dirty="0"/>
          </a:p>
        </p:txBody>
      </p:sp>
      <p:sp>
        <p:nvSpPr>
          <p:cNvPr id="19" name="Text 14"/>
          <p:cNvSpPr txBox="1"/>
          <p:nvPr/>
        </p:nvSpPr>
        <p:spPr>
          <a:xfrm>
            <a:off x="548640" y="4572000"/>
            <a:ext cx="8046720" cy="274320"/>
          </a:xfrm>
          <a:prstGeom prst="rect">
            <a:avLst/>
          </a:prstGeom>
          <a:noFill/>
          <a:ln/>
        </p:spPr>
        <p:txBody>
          <a:bodyPr wrap="square" lIns="0" tIns="0" rIns="0" bIns="0" rtlCol="0" anchor="t"/>
          <a:lstStyle/>
          <a:p>
            <a:pPr indent="0" marL="0">
              <a:buNone/>
            </a:pPr>
            <a:r>
              <a:rPr lang="en-US" sz="1000" i="1" dirty="0">
                <a:solidFill>
                  <a:srgbClr val="C8793A"/>
                </a:solidFill>
                <a:latin typeface="Arial" pitchFamily="34" charset="0"/>
                <a:ea typeface="Arial" pitchFamily="34" charset="-122"/>
                <a:cs typeface="Arial" pitchFamily="34" charset="-120"/>
              </a:rPr>
              <a:t>For prototyping, not production. Once a design is frozen, Proto hands the checked files to a fab.</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201168"/>
          </a:xfrm>
          <a:prstGeom prst="rect">
            <a:avLst/>
          </a:prstGeom>
          <a:noFill/>
          <a:ln/>
        </p:spPr>
        <p:txBody>
          <a:bodyPr wrap="square" lIns="0" tIns="0" rIns="0" bIns="0" rtlCol="0" anchor="t"/>
          <a:lstStyle/>
          <a:p>
            <a:pPr indent="0" marL="0">
              <a:buNone/>
            </a:pPr>
            <a:r>
              <a:rPr lang="en-US" sz="900" b="1" spc="200" kern="0" dirty="0">
                <a:solidFill>
                  <a:srgbClr val="C8793A"/>
                </a:solidFill>
                <a:latin typeface="Arial" pitchFamily="34" charset="0"/>
                <a:ea typeface="Arial" pitchFamily="34" charset="-122"/>
                <a:cs typeface="Arial" pitchFamily="34" charset="-120"/>
              </a:rPr>
              <a:t>THE PRODUCT</a:t>
            </a:r>
            <a:endParaRPr lang="en-US" sz="900" dirty="0"/>
          </a:p>
        </p:txBody>
      </p:sp>
      <p:sp>
        <p:nvSpPr>
          <p:cNvPr id="3" name="Text 1"/>
          <p:cNvSpPr txBox="1"/>
          <p:nvPr/>
        </p:nvSpPr>
        <p:spPr>
          <a:xfrm>
            <a:off x="457200" y="457200"/>
            <a:ext cx="8229600" cy="566928"/>
          </a:xfrm>
          <a:prstGeom prst="rect">
            <a:avLst/>
          </a:prstGeom>
          <a:noFill/>
          <a:ln/>
        </p:spPr>
        <p:txBody>
          <a:bodyPr wrap="square" lIns="0" tIns="0" rIns="0" bIns="0" rtlCol="0" anchor="ctr">
            <a:normAutofit/>
          </a:bodyPr>
          <a:lstStyle/>
          <a:p>
            <a:pPr indent="0" marL="0">
              <a:buNone/>
            </a:pPr>
            <a:r>
              <a:rPr lang="en-US" sz="2200" b="1" dirty="0">
                <a:solidFill>
                  <a:srgbClr val="0F2A22"/>
                </a:solidFill>
                <a:latin typeface="Arial" pitchFamily="34" charset="0"/>
                <a:ea typeface="Arial" pitchFamily="34" charset="-122"/>
                <a:cs typeface="Arial" pitchFamily="34" charset="-120"/>
              </a:rPr>
              <a:t>Proto: one input in, a planned and tested prototype out</a:t>
            </a:r>
            <a:endParaRPr lang="en-US" sz="2200" dirty="0"/>
          </a:p>
        </p:txBody>
      </p:sp>
      <p:sp>
        <p:nvSpPr>
          <p:cNvPr id="4" name="Text 2"/>
          <p:cNvSpPr txBox="1"/>
          <p:nvPr/>
        </p:nvSpPr>
        <p:spPr>
          <a:xfrm>
            <a:off x="8321040" y="4828032"/>
            <a:ext cx="365760" cy="182880"/>
          </a:xfrm>
          <a:prstGeom prst="rect">
            <a:avLst/>
          </a:prstGeom>
          <a:noFill/>
          <a:ln/>
        </p:spPr>
        <p:txBody>
          <a:bodyPr wrap="square" lIns="0" tIns="0" rIns="0" bIns="0" rtlCol="0" anchor="t"/>
          <a:lstStyle/>
          <a:p>
            <a:pPr algn="r" indent="0" marL="0">
              <a:buNone/>
            </a:pPr>
            <a:r>
              <a:rPr lang="en-US" sz="800" dirty="0">
                <a:solidFill>
                  <a:srgbClr val="5E6B66"/>
                </a:solidFill>
                <a:latin typeface="Arial" pitchFamily="34" charset="0"/>
                <a:ea typeface="Arial" pitchFamily="34" charset="-122"/>
                <a:cs typeface="Arial" pitchFamily="34" charset="-120"/>
              </a:rPr>
              <a:t>7</a:t>
            </a:r>
            <a:endParaRPr lang="en-US" sz="800" dirty="0"/>
          </a:p>
        </p:txBody>
      </p:sp>
      <p:sp>
        <p:nvSpPr>
          <p:cNvPr id="5" name="Text 3"/>
          <p:cNvSpPr txBox="1"/>
          <p:nvPr/>
        </p:nvSpPr>
        <p:spPr>
          <a:xfrm>
            <a:off x="457200" y="4828032"/>
            <a:ext cx="2743200" cy="182880"/>
          </a:xfrm>
          <a:prstGeom prst="rect">
            <a:avLst/>
          </a:prstGeom>
          <a:noFill/>
          <a:ln/>
        </p:spPr>
        <p:txBody>
          <a:bodyPr wrap="square" lIns="0" tIns="0" rIns="0" bIns="0" rtlCol="0" anchor="t"/>
          <a:lstStyle/>
          <a:p>
            <a:pPr indent="0" marL="0">
              <a:buNone/>
            </a:pPr>
            <a:r>
              <a:rPr lang="en-US" sz="800" dirty="0">
                <a:solidFill>
                  <a:srgbClr val="5E6B66"/>
                </a:solidFill>
                <a:latin typeface="Arial" pitchFamily="34" charset="0"/>
                <a:ea typeface="Arial" pitchFamily="34" charset="-122"/>
                <a:cs typeface="Arial" pitchFamily="34" charset="-120"/>
              </a:rPr>
              <a:t>Protopulse · pitch v2</a:t>
            </a:r>
            <a:endParaRPr lang="en-US" sz="800" dirty="0"/>
          </a:p>
        </p:txBody>
      </p:sp>
      <p:sp>
        <p:nvSpPr>
          <p:cNvPr id="6" name="Shape 4"/>
          <p:cNvSpPr/>
          <p:nvPr/>
        </p:nvSpPr>
        <p:spPr>
          <a:xfrm>
            <a:off x="457200" y="1234440"/>
            <a:ext cx="1920240" cy="1463040"/>
          </a:xfrm>
          <a:prstGeom prst="roundRect">
            <a:avLst>
              <a:gd name="adj" fmla="val 5000"/>
            </a:avLst>
          </a:prstGeom>
          <a:solidFill>
            <a:srgbClr val="E8F1EC"/>
          </a:solidFill>
          <a:ln w="12700">
            <a:solidFill>
              <a:srgbClr val="E8F1EC"/>
            </a:solidFill>
            <a:prstDash val="solid"/>
          </a:ln>
        </p:spPr>
      </p:sp>
      <p:sp>
        <p:nvSpPr>
          <p:cNvPr id="7" name="Shape 5"/>
          <p:cNvSpPr/>
          <p:nvPr/>
        </p:nvSpPr>
        <p:spPr>
          <a:xfrm>
            <a:off x="594360" y="1371600"/>
            <a:ext cx="384048" cy="384048"/>
          </a:xfrm>
          <a:prstGeom prst="ellipse">
            <a:avLst/>
          </a:prstGeom>
          <a:solidFill>
            <a:srgbClr val="F6E7D8"/>
          </a:solidFill>
          <a:ln w="15875">
            <a:solidFill>
              <a:srgbClr val="C8793A"/>
            </a:solidFill>
            <a:prstDash val="solid"/>
          </a:ln>
        </p:spPr>
      </p:sp>
      <p:pic>
        <p:nvPicPr>
          <p:cNvPr id="8" name="Image 0" descr="preencoded.png">    </p:cNvPr>
          <p:cNvPicPr>
            <a:picLocks noChangeAspect="1"/>
          </p:cNvPicPr>
          <p:nvPr/>
        </p:nvPicPr>
        <p:blipFill>
          <a:blip r:embed="rId1"/>
          <a:stretch>
            <a:fillRect/>
          </a:stretch>
        </p:blipFill>
        <p:spPr>
          <a:xfrm>
            <a:off x="686532" y="1463772"/>
            <a:ext cx="199705" cy="199705"/>
          </a:xfrm>
          <a:prstGeom prst="rect">
            <a:avLst/>
          </a:prstGeom>
        </p:spPr>
      </p:pic>
      <p:sp>
        <p:nvSpPr>
          <p:cNvPr id="9" name="Text 6"/>
          <p:cNvSpPr txBox="1"/>
          <p:nvPr/>
        </p:nvSpPr>
        <p:spPr>
          <a:xfrm>
            <a:off x="1051560" y="1417320"/>
            <a:ext cx="1280160" cy="292608"/>
          </a:xfrm>
          <a:prstGeom prst="rect">
            <a:avLst/>
          </a:prstGeom>
          <a:noFill/>
          <a:ln/>
        </p:spPr>
        <p:txBody>
          <a:bodyPr wrap="square" lIns="0" tIns="0" rIns="0" bIns="0" rtlCol="0" anchor="ctr"/>
          <a:lstStyle/>
          <a:p>
            <a:pPr indent="0" marL="0">
              <a:buNone/>
            </a:pPr>
            <a:r>
              <a:rPr lang="en-US" sz="1200" b="1" dirty="0">
                <a:solidFill>
                  <a:srgbClr val="0F2A22"/>
                </a:solidFill>
                <a:latin typeface="Arial" pitchFamily="34" charset="0"/>
                <a:ea typeface="Arial" pitchFamily="34" charset="-122"/>
                <a:cs typeface="Arial" pitchFamily="34" charset="-120"/>
              </a:rPr>
              <a:t>1. Input</a:t>
            </a:r>
            <a:endParaRPr lang="en-US" sz="1200" dirty="0"/>
          </a:p>
        </p:txBody>
      </p:sp>
      <p:sp>
        <p:nvSpPr>
          <p:cNvPr id="10" name="Text 7"/>
          <p:cNvSpPr txBox="1"/>
          <p:nvPr/>
        </p:nvSpPr>
        <p:spPr>
          <a:xfrm>
            <a:off x="594360" y="1874520"/>
            <a:ext cx="1691640" cy="777240"/>
          </a:xfrm>
          <a:prstGeom prst="rect">
            <a:avLst/>
          </a:prstGeom>
          <a:noFill/>
          <a:ln/>
        </p:spPr>
        <p:txBody>
          <a:bodyPr wrap="square" lIns="0" tIns="0" rIns="0" bIns="0" rtlCol="0" anchor="t"/>
          <a:lstStyle/>
          <a:p>
            <a:pPr indent="0" marL="0">
              <a:buNone/>
            </a:pPr>
            <a:r>
              <a:rPr lang="en-US" sz="950" dirty="0">
                <a:solidFill>
                  <a:srgbClr val="1D2522"/>
                </a:solidFill>
                <a:latin typeface="Arial" pitchFamily="34" charset="0"/>
                <a:ea typeface="Arial" pitchFamily="34" charset="-122"/>
                <a:cs typeface="Arial" pitchFamily="34" charset="-120"/>
              </a:rPr>
              <a:t>Idea, sketch, photo, or KiCad / Flux / Fusion files</a:t>
            </a:r>
            <a:endParaRPr lang="en-US" sz="950" dirty="0"/>
          </a:p>
        </p:txBody>
      </p:sp>
      <p:sp>
        <p:nvSpPr>
          <p:cNvPr id="11" name="Shape 8"/>
          <p:cNvSpPr/>
          <p:nvPr/>
        </p:nvSpPr>
        <p:spPr>
          <a:xfrm>
            <a:off x="2542032" y="1234440"/>
            <a:ext cx="1920240" cy="1463040"/>
          </a:xfrm>
          <a:prstGeom prst="roundRect">
            <a:avLst>
              <a:gd name="adj" fmla="val 5000"/>
            </a:avLst>
          </a:prstGeom>
          <a:solidFill>
            <a:srgbClr val="E8F1EC"/>
          </a:solidFill>
          <a:ln w="12700">
            <a:solidFill>
              <a:srgbClr val="E8F1EC"/>
            </a:solidFill>
            <a:prstDash val="solid"/>
          </a:ln>
        </p:spPr>
      </p:sp>
      <p:sp>
        <p:nvSpPr>
          <p:cNvPr id="12" name="Shape 9"/>
          <p:cNvSpPr/>
          <p:nvPr/>
        </p:nvSpPr>
        <p:spPr>
          <a:xfrm>
            <a:off x="2679192" y="1371600"/>
            <a:ext cx="384048" cy="384048"/>
          </a:xfrm>
          <a:prstGeom prst="ellipse">
            <a:avLst/>
          </a:prstGeom>
          <a:solidFill>
            <a:srgbClr val="F6E7D8"/>
          </a:solidFill>
          <a:ln w="15875">
            <a:solidFill>
              <a:srgbClr val="C8793A"/>
            </a:solidFill>
            <a:prstDash val="solid"/>
          </a:ln>
        </p:spPr>
      </p:sp>
      <p:pic>
        <p:nvPicPr>
          <p:cNvPr id="13" name="Image 1" descr="preencoded.png">    </p:cNvPr>
          <p:cNvPicPr>
            <a:picLocks noChangeAspect="1"/>
          </p:cNvPicPr>
          <p:nvPr/>
        </p:nvPicPr>
        <p:blipFill>
          <a:blip r:embed="rId2"/>
          <a:stretch>
            <a:fillRect/>
          </a:stretch>
        </p:blipFill>
        <p:spPr>
          <a:xfrm>
            <a:off x="2771364" y="1463772"/>
            <a:ext cx="199705" cy="199705"/>
          </a:xfrm>
          <a:prstGeom prst="rect">
            <a:avLst/>
          </a:prstGeom>
        </p:spPr>
      </p:pic>
      <p:sp>
        <p:nvSpPr>
          <p:cNvPr id="14" name="Text 10"/>
          <p:cNvSpPr txBox="1"/>
          <p:nvPr/>
        </p:nvSpPr>
        <p:spPr>
          <a:xfrm>
            <a:off x="3136392" y="1417320"/>
            <a:ext cx="1280160" cy="292608"/>
          </a:xfrm>
          <a:prstGeom prst="rect">
            <a:avLst/>
          </a:prstGeom>
          <a:noFill/>
          <a:ln/>
        </p:spPr>
        <p:txBody>
          <a:bodyPr wrap="square" lIns="0" tIns="0" rIns="0" bIns="0" rtlCol="0" anchor="ctr"/>
          <a:lstStyle/>
          <a:p>
            <a:pPr indent="0" marL="0">
              <a:buNone/>
            </a:pPr>
            <a:r>
              <a:rPr lang="en-US" sz="1200" b="1" dirty="0">
                <a:solidFill>
                  <a:srgbClr val="0F2A22"/>
                </a:solidFill>
                <a:latin typeface="Arial" pitchFamily="34" charset="0"/>
                <a:ea typeface="Arial" pitchFamily="34" charset="-122"/>
                <a:cs typeface="Arial" pitchFamily="34" charset="-120"/>
              </a:rPr>
              <a:t>2. Plan</a:t>
            </a:r>
            <a:endParaRPr lang="en-US" sz="1200" dirty="0"/>
          </a:p>
        </p:txBody>
      </p:sp>
      <p:sp>
        <p:nvSpPr>
          <p:cNvPr id="15" name="Text 11"/>
          <p:cNvSpPr txBox="1"/>
          <p:nvPr/>
        </p:nvSpPr>
        <p:spPr>
          <a:xfrm>
            <a:off x="2679192" y="1874520"/>
            <a:ext cx="1691640" cy="777240"/>
          </a:xfrm>
          <a:prstGeom prst="rect">
            <a:avLst/>
          </a:prstGeom>
          <a:noFill/>
          <a:ln/>
        </p:spPr>
        <p:txBody>
          <a:bodyPr wrap="square" lIns="0" tIns="0" rIns="0" bIns="0" rtlCol="0" anchor="t"/>
          <a:lstStyle/>
          <a:p>
            <a:pPr indent="0" marL="0">
              <a:buNone/>
            </a:pPr>
            <a:r>
              <a:rPr lang="en-US" sz="950" dirty="0">
                <a:solidFill>
                  <a:srgbClr val="1D2522"/>
                </a:solidFill>
                <a:latin typeface="Arial" pitchFamily="34" charset="0"/>
                <a:ea typeface="Arial" pitchFamily="34" charset="-122"/>
                <a:cs typeface="Arial" pitchFamily="34" charset="-120"/>
              </a:rPr>
              <a:t>Spec, block diagram, parts in stock, test plan</a:t>
            </a:r>
            <a:endParaRPr lang="en-US" sz="950" dirty="0"/>
          </a:p>
        </p:txBody>
      </p:sp>
      <p:sp>
        <p:nvSpPr>
          <p:cNvPr id="16" name="Shape 12"/>
          <p:cNvSpPr/>
          <p:nvPr/>
        </p:nvSpPr>
        <p:spPr>
          <a:xfrm>
            <a:off x="4626864" y="1234440"/>
            <a:ext cx="1920240" cy="1463040"/>
          </a:xfrm>
          <a:prstGeom prst="roundRect">
            <a:avLst>
              <a:gd name="adj" fmla="val 5000"/>
            </a:avLst>
          </a:prstGeom>
          <a:solidFill>
            <a:srgbClr val="E8F1EC"/>
          </a:solidFill>
          <a:ln w="12700">
            <a:solidFill>
              <a:srgbClr val="E8F1EC"/>
            </a:solidFill>
            <a:prstDash val="solid"/>
          </a:ln>
        </p:spPr>
      </p:sp>
      <p:sp>
        <p:nvSpPr>
          <p:cNvPr id="17" name="Shape 13"/>
          <p:cNvSpPr/>
          <p:nvPr/>
        </p:nvSpPr>
        <p:spPr>
          <a:xfrm>
            <a:off x="4764024" y="1371600"/>
            <a:ext cx="384048" cy="384048"/>
          </a:xfrm>
          <a:prstGeom prst="ellipse">
            <a:avLst/>
          </a:prstGeom>
          <a:solidFill>
            <a:srgbClr val="F6E7D8"/>
          </a:solidFill>
          <a:ln w="15875">
            <a:solidFill>
              <a:srgbClr val="C8793A"/>
            </a:solidFill>
            <a:prstDash val="solid"/>
          </a:ln>
        </p:spPr>
      </p:sp>
      <p:pic>
        <p:nvPicPr>
          <p:cNvPr id="18" name="Image 2" descr="preencoded.png">    </p:cNvPr>
          <p:cNvPicPr>
            <a:picLocks noChangeAspect="1"/>
          </p:cNvPicPr>
          <p:nvPr/>
        </p:nvPicPr>
        <p:blipFill>
          <a:blip r:embed="rId3"/>
          <a:stretch>
            <a:fillRect/>
          </a:stretch>
        </p:blipFill>
        <p:spPr>
          <a:xfrm>
            <a:off x="4856196" y="1463772"/>
            <a:ext cx="199705" cy="199705"/>
          </a:xfrm>
          <a:prstGeom prst="rect">
            <a:avLst/>
          </a:prstGeom>
        </p:spPr>
      </p:pic>
      <p:sp>
        <p:nvSpPr>
          <p:cNvPr id="19" name="Text 14"/>
          <p:cNvSpPr txBox="1"/>
          <p:nvPr/>
        </p:nvSpPr>
        <p:spPr>
          <a:xfrm>
            <a:off x="5221224" y="1417320"/>
            <a:ext cx="1280160" cy="292608"/>
          </a:xfrm>
          <a:prstGeom prst="rect">
            <a:avLst/>
          </a:prstGeom>
          <a:noFill/>
          <a:ln/>
        </p:spPr>
        <p:txBody>
          <a:bodyPr wrap="square" lIns="0" tIns="0" rIns="0" bIns="0" rtlCol="0" anchor="ctr"/>
          <a:lstStyle/>
          <a:p>
            <a:pPr indent="0" marL="0">
              <a:buNone/>
            </a:pPr>
            <a:r>
              <a:rPr lang="en-US" sz="1200" b="1" dirty="0">
                <a:solidFill>
                  <a:srgbClr val="0F2A22"/>
                </a:solidFill>
                <a:latin typeface="Arial" pitchFamily="34" charset="0"/>
                <a:ea typeface="Arial" pitchFamily="34" charset="-122"/>
                <a:cs typeface="Arial" pitchFamily="34" charset="-120"/>
              </a:rPr>
              <a:t>3. Design</a:t>
            </a:r>
            <a:endParaRPr lang="en-US" sz="1200" dirty="0"/>
          </a:p>
        </p:txBody>
      </p:sp>
      <p:sp>
        <p:nvSpPr>
          <p:cNvPr id="20" name="Text 15"/>
          <p:cNvSpPr txBox="1"/>
          <p:nvPr/>
        </p:nvSpPr>
        <p:spPr>
          <a:xfrm>
            <a:off x="4764024" y="1874520"/>
            <a:ext cx="1691640" cy="777240"/>
          </a:xfrm>
          <a:prstGeom prst="rect">
            <a:avLst/>
          </a:prstGeom>
          <a:noFill/>
          <a:ln/>
        </p:spPr>
        <p:txBody>
          <a:bodyPr wrap="square" lIns="0" tIns="0" rIns="0" bIns="0" rtlCol="0" anchor="t"/>
          <a:lstStyle/>
          <a:p>
            <a:pPr indent="0" marL="0">
              <a:buNone/>
            </a:pPr>
            <a:r>
              <a:rPr lang="en-US" sz="950" dirty="0">
                <a:solidFill>
                  <a:srgbClr val="1D2522"/>
                </a:solidFill>
                <a:latin typeface="Arial" pitchFamily="34" charset="0"/>
                <a:ea typeface="Arial" pitchFamily="34" charset="-122"/>
                <a:cs typeface="Arial" pitchFamily="34" charset="-120"/>
              </a:rPr>
              <a:t>Schematic + layout via EDA connectors; Baker DRC</a:t>
            </a:r>
            <a:endParaRPr lang="en-US" sz="950" dirty="0"/>
          </a:p>
        </p:txBody>
      </p:sp>
      <p:sp>
        <p:nvSpPr>
          <p:cNvPr id="21" name="Shape 16"/>
          <p:cNvSpPr/>
          <p:nvPr/>
        </p:nvSpPr>
        <p:spPr>
          <a:xfrm>
            <a:off x="6711696" y="1234440"/>
            <a:ext cx="1920240" cy="1463040"/>
          </a:xfrm>
          <a:prstGeom prst="roundRect">
            <a:avLst>
              <a:gd name="adj" fmla="val 5000"/>
            </a:avLst>
          </a:prstGeom>
          <a:solidFill>
            <a:srgbClr val="E8F1EC"/>
          </a:solidFill>
          <a:ln w="12700">
            <a:solidFill>
              <a:srgbClr val="E8F1EC"/>
            </a:solidFill>
            <a:prstDash val="solid"/>
          </a:ln>
        </p:spPr>
      </p:sp>
      <p:sp>
        <p:nvSpPr>
          <p:cNvPr id="22" name="Shape 17"/>
          <p:cNvSpPr/>
          <p:nvPr/>
        </p:nvSpPr>
        <p:spPr>
          <a:xfrm>
            <a:off x="6848856" y="1371600"/>
            <a:ext cx="384048" cy="384048"/>
          </a:xfrm>
          <a:prstGeom prst="ellipse">
            <a:avLst/>
          </a:prstGeom>
          <a:solidFill>
            <a:srgbClr val="F6E7D8"/>
          </a:solidFill>
          <a:ln w="15875">
            <a:solidFill>
              <a:srgbClr val="C8793A"/>
            </a:solidFill>
            <a:prstDash val="solid"/>
          </a:ln>
        </p:spPr>
      </p:sp>
      <p:pic>
        <p:nvPicPr>
          <p:cNvPr id="23" name="Image 3" descr="preencoded.png">    </p:cNvPr>
          <p:cNvPicPr>
            <a:picLocks noChangeAspect="1"/>
          </p:cNvPicPr>
          <p:nvPr/>
        </p:nvPicPr>
        <p:blipFill>
          <a:blip r:embed="rId4"/>
          <a:stretch>
            <a:fillRect/>
          </a:stretch>
        </p:blipFill>
        <p:spPr>
          <a:xfrm>
            <a:off x="6941028" y="1463772"/>
            <a:ext cx="199705" cy="199705"/>
          </a:xfrm>
          <a:prstGeom prst="rect">
            <a:avLst/>
          </a:prstGeom>
        </p:spPr>
      </p:pic>
      <p:sp>
        <p:nvSpPr>
          <p:cNvPr id="24" name="Text 18"/>
          <p:cNvSpPr txBox="1"/>
          <p:nvPr/>
        </p:nvSpPr>
        <p:spPr>
          <a:xfrm>
            <a:off x="7306056" y="1417320"/>
            <a:ext cx="1280160" cy="292608"/>
          </a:xfrm>
          <a:prstGeom prst="rect">
            <a:avLst/>
          </a:prstGeom>
          <a:noFill/>
          <a:ln/>
        </p:spPr>
        <p:txBody>
          <a:bodyPr wrap="square" lIns="0" tIns="0" rIns="0" bIns="0" rtlCol="0" anchor="ctr"/>
          <a:lstStyle/>
          <a:p>
            <a:pPr indent="0" marL="0">
              <a:buNone/>
            </a:pPr>
            <a:r>
              <a:rPr lang="en-US" sz="1200" b="1" dirty="0">
                <a:solidFill>
                  <a:srgbClr val="0F2A22"/>
                </a:solidFill>
                <a:latin typeface="Arial" pitchFamily="34" charset="0"/>
                <a:ea typeface="Arial" pitchFamily="34" charset="-122"/>
                <a:cs typeface="Arial" pitchFamily="34" charset="-120"/>
              </a:rPr>
              <a:t>4. Make</a:t>
            </a:r>
            <a:endParaRPr lang="en-US" sz="1200" dirty="0"/>
          </a:p>
        </p:txBody>
      </p:sp>
      <p:sp>
        <p:nvSpPr>
          <p:cNvPr id="25" name="Text 19"/>
          <p:cNvSpPr txBox="1"/>
          <p:nvPr/>
        </p:nvSpPr>
        <p:spPr>
          <a:xfrm>
            <a:off x="6848856" y="1874520"/>
            <a:ext cx="1691640" cy="777240"/>
          </a:xfrm>
          <a:prstGeom prst="rect">
            <a:avLst/>
          </a:prstGeom>
          <a:noFill/>
          <a:ln/>
        </p:spPr>
        <p:txBody>
          <a:bodyPr wrap="square" lIns="0" tIns="0" rIns="0" bIns="0" rtlCol="0" anchor="t"/>
          <a:lstStyle/>
          <a:p>
            <a:pPr indent="0" marL="0">
              <a:buNone/>
            </a:pPr>
            <a:r>
              <a:rPr lang="en-US" sz="950" dirty="0">
                <a:solidFill>
                  <a:srgbClr val="1D2522"/>
                </a:solidFill>
                <a:latin typeface="Arial" pitchFamily="34" charset="0"/>
                <a:ea typeface="Arial" pitchFamily="34" charset="-122"/>
                <a:cs typeface="Arial" pitchFamily="34" charset="-120"/>
              </a:rPr>
              <a:t>Baker mills, masks, stencils and pastes the board</a:t>
            </a:r>
            <a:endParaRPr lang="en-US" sz="950" dirty="0"/>
          </a:p>
        </p:txBody>
      </p:sp>
      <p:sp>
        <p:nvSpPr>
          <p:cNvPr id="26" name="Shape 20"/>
          <p:cNvSpPr/>
          <p:nvPr/>
        </p:nvSpPr>
        <p:spPr>
          <a:xfrm>
            <a:off x="457200" y="2880360"/>
            <a:ext cx="1920240" cy="1463040"/>
          </a:xfrm>
          <a:prstGeom prst="roundRect">
            <a:avLst>
              <a:gd name="adj" fmla="val 5000"/>
            </a:avLst>
          </a:prstGeom>
          <a:solidFill>
            <a:srgbClr val="F6E7D8"/>
          </a:solidFill>
          <a:ln w="12700">
            <a:solidFill>
              <a:srgbClr val="F6E7D8"/>
            </a:solidFill>
            <a:prstDash val="solid"/>
          </a:ln>
        </p:spPr>
      </p:sp>
      <p:sp>
        <p:nvSpPr>
          <p:cNvPr id="27" name="Shape 21"/>
          <p:cNvSpPr/>
          <p:nvPr/>
        </p:nvSpPr>
        <p:spPr>
          <a:xfrm>
            <a:off x="594360" y="3017520"/>
            <a:ext cx="384048" cy="384048"/>
          </a:xfrm>
          <a:prstGeom prst="ellipse">
            <a:avLst/>
          </a:prstGeom>
          <a:solidFill>
            <a:srgbClr val="F6E7D8"/>
          </a:solidFill>
          <a:ln w="15875">
            <a:solidFill>
              <a:srgbClr val="C8793A"/>
            </a:solidFill>
            <a:prstDash val="solid"/>
          </a:ln>
        </p:spPr>
      </p:sp>
      <p:pic>
        <p:nvPicPr>
          <p:cNvPr id="28" name="Image 4" descr="preencoded.png">    </p:cNvPr>
          <p:cNvPicPr>
            <a:picLocks noChangeAspect="1"/>
          </p:cNvPicPr>
          <p:nvPr/>
        </p:nvPicPr>
        <p:blipFill>
          <a:blip r:embed="rId5"/>
          <a:stretch>
            <a:fillRect/>
          </a:stretch>
        </p:blipFill>
        <p:spPr>
          <a:xfrm>
            <a:off x="686532" y="3109692"/>
            <a:ext cx="199705" cy="199705"/>
          </a:xfrm>
          <a:prstGeom prst="rect">
            <a:avLst/>
          </a:prstGeom>
        </p:spPr>
      </p:pic>
      <p:sp>
        <p:nvSpPr>
          <p:cNvPr id="29" name="Text 22"/>
          <p:cNvSpPr txBox="1"/>
          <p:nvPr/>
        </p:nvSpPr>
        <p:spPr>
          <a:xfrm>
            <a:off x="1051560" y="3063240"/>
            <a:ext cx="1280160" cy="292608"/>
          </a:xfrm>
          <a:prstGeom prst="rect">
            <a:avLst/>
          </a:prstGeom>
          <a:noFill/>
          <a:ln/>
        </p:spPr>
        <p:txBody>
          <a:bodyPr wrap="square" lIns="0" tIns="0" rIns="0" bIns="0" rtlCol="0" anchor="ctr"/>
          <a:lstStyle/>
          <a:p>
            <a:pPr indent="0" marL="0">
              <a:buNone/>
            </a:pPr>
            <a:r>
              <a:rPr lang="en-US" sz="1200" b="1" dirty="0">
                <a:solidFill>
                  <a:srgbClr val="0F2A22"/>
                </a:solidFill>
                <a:latin typeface="Arial" pitchFamily="34" charset="0"/>
                <a:ea typeface="Arial" pitchFamily="34" charset="-122"/>
                <a:cs typeface="Arial" pitchFamily="34" charset="-120"/>
              </a:rPr>
              <a:t>5. Assemble</a:t>
            </a:r>
            <a:endParaRPr lang="en-US" sz="1200" dirty="0"/>
          </a:p>
        </p:txBody>
      </p:sp>
      <p:sp>
        <p:nvSpPr>
          <p:cNvPr id="30" name="Text 23"/>
          <p:cNvSpPr txBox="1"/>
          <p:nvPr/>
        </p:nvSpPr>
        <p:spPr>
          <a:xfrm>
            <a:off x="594360" y="3520440"/>
            <a:ext cx="1691640" cy="777240"/>
          </a:xfrm>
          <a:prstGeom prst="rect">
            <a:avLst/>
          </a:prstGeom>
          <a:noFill/>
          <a:ln/>
        </p:spPr>
        <p:txBody>
          <a:bodyPr wrap="square" lIns="0" tIns="0" rIns="0" bIns="0" rtlCol="0" anchor="t"/>
          <a:lstStyle/>
          <a:p>
            <a:pPr indent="0" marL="0">
              <a:buNone/>
            </a:pPr>
            <a:r>
              <a:rPr lang="en-US" sz="950" dirty="0">
                <a:solidFill>
                  <a:srgbClr val="1D2522"/>
                </a:solidFill>
                <a:latin typeface="Arial" pitchFamily="34" charset="0"/>
                <a:ea typeface="Arial" pitchFamily="34" charset="-122"/>
                <a:cs typeface="Arial" pitchFamily="34" charset="-120"/>
              </a:rPr>
              <a:t>Guided placement into a printed jig; reflow</a:t>
            </a:r>
            <a:endParaRPr lang="en-US" sz="950" dirty="0"/>
          </a:p>
        </p:txBody>
      </p:sp>
      <p:sp>
        <p:nvSpPr>
          <p:cNvPr id="31" name="Shape 24"/>
          <p:cNvSpPr/>
          <p:nvPr/>
        </p:nvSpPr>
        <p:spPr>
          <a:xfrm>
            <a:off x="2542032" y="2880360"/>
            <a:ext cx="1920240" cy="1463040"/>
          </a:xfrm>
          <a:prstGeom prst="roundRect">
            <a:avLst>
              <a:gd name="adj" fmla="val 5000"/>
            </a:avLst>
          </a:prstGeom>
          <a:solidFill>
            <a:srgbClr val="F6E7D8"/>
          </a:solidFill>
          <a:ln w="12700">
            <a:solidFill>
              <a:srgbClr val="F6E7D8"/>
            </a:solidFill>
            <a:prstDash val="solid"/>
          </a:ln>
        </p:spPr>
      </p:sp>
      <p:sp>
        <p:nvSpPr>
          <p:cNvPr id="32" name="Shape 25"/>
          <p:cNvSpPr/>
          <p:nvPr/>
        </p:nvSpPr>
        <p:spPr>
          <a:xfrm>
            <a:off x="2679192" y="3017520"/>
            <a:ext cx="384048" cy="384048"/>
          </a:xfrm>
          <a:prstGeom prst="ellipse">
            <a:avLst/>
          </a:prstGeom>
          <a:solidFill>
            <a:srgbClr val="F6E7D8"/>
          </a:solidFill>
          <a:ln w="15875">
            <a:solidFill>
              <a:srgbClr val="C8793A"/>
            </a:solidFill>
            <a:prstDash val="solid"/>
          </a:ln>
        </p:spPr>
      </p:sp>
      <p:pic>
        <p:nvPicPr>
          <p:cNvPr id="33" name="Image 5" descr="preencoded.png">    </p:cNvPr>
          <p:cNvPicPr>
            <a:picLocks noChangeAspect="1"/>
          </p:cNvPicPr>
          <p:nvPr/>
        </p:nvPicPr>
        <p:blipFill>
          <a:blip r:embed="rId6"/>
          <a:stretch>
            <a:fillRect/>
          </a:stretch>
        </p:blipFill>
        <p:spPr>
          <a:xfrm>
            <a:off x="2771364" y="3109692"/>
            <a:ext cx="199705" cy="199705"/>
          </a:xfrm>
          <a:prstGeom prst="rect">
            <a:avLst/>
          </a:prstGeom>
        </p:spPr>
      </p:pic>
      <p:sp>
        <p:nvSpPr>
          <p:cNvPr id="34" name="Text 26"/>
          <p:cNvSpPr txBox="1"/>
          <p:nvPr/>
        </p:nvSpPr>
        <p:spPr>
          <a:xfrm>
            <a:off x="3136392" y="3063240"/>
            <a:ext cx="1280160" cy="292608"/>
          </a:xfrm>
          <a:prstGeom prst="rect">
            <a:avLst/>
          </a:prstGeom>
          <a:noFill/>
          <a:ln/>
        </p:spPr>
        <p:txBody>
          <a:bodyPr wrap="square" lIns="0" tIns="0" rIns="0" bIns="0" rtlCol="0" anchor="ctr"/>
          <a:lstStyle/>
          <a:p>
            <a:pPr indent="0" marL="0">
              <a:buNone/>
            </a:pPr>
            <a:r>
              <a:rPr lang="en-US" sz="1200" b="1" dirty="0">
                <a:solidFill>
                  <a:srgbClr val="0F2A22"/>
                </a:solidFill>
                <a:latin typeface="Arial" pitchFamily="34" charset="0"/>
                <a:ea typeface="Arial" pitchFamily="34" charset="-122"/>
                <a:cs typeface="Arial" pitchFamily="34" charset="-120"/>
              </a:rPr>
              <a:t>6. Test</a:t>
            </a:r>
            <a:endParaRPr lang="en-US" sz="1200" dirty="0"/>
          </a:p>
        </p:txBody>
      </p:sp>
      <p:sp>
        <p:nvSpPr>
          <p:cNvPr id="35" name="Text 27"/>
          <p:cNvSpPr txBox="1"/>
          <p:nvPr/>
        </p:nvSpPr>
        <p:spPr>
          <a:xfrm>
            <a:off x="2679192" y="3520440"/>
            <a:ext cx="1691640" cy="777240"/>
          </a:xfrm>
          <a:prstGeom prst="rect">
            <a:avLst/>
          </a:prstGeom>
          <a:noFill/>
          <a:ln/>
        </p:spPr>
        <p:txBody>
          <a:bodyPr wrap="square" lIns="0" tIns="0" rIns="0" bIns="0" rtlCol="0" anchor="t"/>
          <a:lstStyle/>
          <a:p>
            <a:pPr indent="0" marL="0">
              <a:buNone/>
            </a:pPr>
            <a:r>
              <a:rPr lang="en-US" sz="950" dirty="0">
                <a:solidFill>
                  <a:srgbClr val="1D2522"/>
                </a:solidFill>
                <a:latin typeface="Arial" pitchFamily="34" charset="0"/>
                <a:ea typeface="Arial" pitchFamily="34" charset="-122"/>
                <a:cs typeface="Arial" pitchFamily="34" charset="-120"/>
              </a:rPr>
              <a:t>Mixer powers, drives and measures the board</a:t>
            </a:r>
            <a:endParaRPr lang="en-US" sz="950" dirty="0"/>
          </a:p>
        </p:txBody>
      </p:sp>
      <p:sp>
        <p:nvSpPr>
          <p:cNvPr id="36" name="Shape 28"/>
          <p:cNvSpPr/>
          <p:nvPr/>
        </p:nvSpPr>
        <p:spPr>
          <a:xfrm>
            <a:off x="4626864" y="2880360"/>
            <a:ext cx="1920240" cy="1463040"/>
          </a:xfrm>
          <a:prstGeom prst="roundRect">
            <a:avLst>
              <a:gd name="adj" fmla="val 5000"/>
            </a:avLst>
          </a:prstGeom>
          <a:solidFill>
            <a:srgbClr val="F6E7D8"/>
          </a:solidFill>
          <a:ln w="12700">
            <a:solidFill>
              <a:srgbClr val="F6E7D8"/>
            </a:solidFill>
            <a:prstDash val="solid"/>
          </a:ln>
        </p:spPr>
      </p:sp>
      <p:sp>
        <p:nvSpPr>
          <p:cNvPr id="37" name="Shape 29"/>
          <p:cNvSpPr/>
          <p:nvPr/>
        </p:nvSpPr>
        <p:spPr>
          <a:xfrm>
            <a:off x="4764024" y="3017520"/>
            <a:ext cx="384048" cy="384048"/>
          </a:xfrm>
          <a:prstGeom prst="ellipse">
            <a:avLst/>
          </a:prstGeom>
          <a:solidFill>
            <a:srgbClr val="C8793A"/>
          </a:solidFill>
          <a:ln w="15875">
            <a:solidFill>
              <a:srgbClr val="C8793A"/>
            </a:solidFill>
            <a:prstDash val="solid"/>
          </a:ln>
        </p:spPr>
      </p:sp>
      <p:pic>
        <p:nvPicPr>
          <p:cNvPr id="38" name="Image 6" descr="preencoded.png">    </p:cNvPr>
          <p:cNvPicPr>
            <a:picLocks noChangeAspect="1"/>
          </p:cNvPicPr>
          <p:nvPr/>
        </p:nvPicPr>
        <p:blipFill>
          <a:blip r:embed="rId7"/>
          <a:stretch>
            <a:fillRect/>
          </a:stretch>
        </p:blipFill>
        <p:spPr>
          <a:xfrm>
            <a:off x="4856196" y="3109692"/>
            <a:ext cx="199705" cy="199705"/>
          </a:xfrm>
          <a:prstGeom prst="rect">
            <a:avLst/>
          </a:prstGeom>
        </p:spPr>
      </p:pic>
      <p:sp>
        <p:nvSpPr>
          <p:cNvPr id="39" name="Text 30"/>
          <p:cNvSpPr txBox="1"/>
          <p:nvPr/>
        </p:nvSpPr>
        <p:spPr>
          <a:xfrm>
            <a:off x="5221224" y="3063240"/>
            <a:ext cx="1280160" cy="292608"/>
          </a:xfrm>
          <a:prstGeom prst="rect">
            <a:avLst/>
          </a:prstGeom>
          <a:noFill/>
          <a:ln/>
        </p:spPr>
        <p:txBody>
          <a:bodyPr wrap="square" lIns="0" tIns="0" rIns="0" bIns="0" rtlCol="0" anchor="ctr"/>
          <a:lstStyle/>
          <a:p>
            <a:pPr indent="0" marL="0">
              <a:buNone/>
            </a:pPr>
            <a:r>
              <a:rPr lang="en-US" sz="1200" b="1" dirty="0">
                <a:solidFill>
                  <a:srgbClr val="0F2A22"/>
                </a:solidFill>
                <a:latin typeface="Arial" pitchFamily="34" charset="0"/>
                <a:ea typeface="Arial" pitchFamily="34" charset="-122"/>
                <a:cs typeface="Arial" pitchFamily="34" charset="-120"/>
              </a:rPr>
              <a:t>7. Diagnose</a:t>
            </a:r>
            <a:endParaRPr lang="en-US" sz="1200" dirty="0"/>
          </a:p>
        </p:txBody>
      </p:sp>
      <p:sp>
        <p:nvSpPr>
          <p:cNvPr id="40" name="Text 31"/>
          <p:cNvSpPr txBox="1"/>
          <p:nvPr/>
        </p:nvSpPr>
        <p:spPr>
          <a:xfrm>
            <a:off x="4764024" y="3520440"/>
            <a:ext cx="1691640" cy="777240"/>
          </a:xfrm>
          <a:prstGeom prst="rect">
            <a:avLst/>
          </a:prstGeom>
          <a:noFill/>
          <a:ln/>
        </p:spPr>
        <p:txBody>
          <a:bodyPr wrap="square" lIns="0" tIns="0" rIns="0" bIns="0" rtlCol="0" anchor="t"/>
          <a:lstStyle/>
          <a:p>
            <a:pPr indent="0" marL="0">
              <a:buNone/>
            </a:pPr>
            <a:r>
              <a:rPr lang="en-US" sz="950" dirty="0">
                <a:solidFill>
                  <a:srgbClr val="1D2522"/>
                </a:solidFill>
                <a:latin typeface="Arial" pitchFamily="34" charset="0"/>
                <a:ea typeface="Arial" pitchFamily="34" charset="-122"/>
                <a:cs typeface="Arial" pitchFamily="34" charset="-120"/>
              </a:rPr>
              <a:t>Plain-language pass/fail and next change</a:t>
            </a:r>
            <a:endParaRPr lang="en-US" sz="950" dirty="0"/>
          </a:p>
        </p:txBody>
      </p:sp>
      <p:sp>
        <p:nvSpPr>
          <p:cNvPr id="41" name="Shape 32"/>
          <p:cNvSpPr/>
          <p:nvPr/>
        </p:nvSpPr>
        <p:spPr>
          <a:xfrm>
            <a:off x="6711696" y="2880360"/>
            <a:ext cx="1920240" cy="1463040"/>
          </a:xfrm>
          <a:prstGeom prst="roundRect">
            <a:avLst>
              <a:gd name="adj" fmla="val 5000"/>
            </a:avLst>
          </a:prstGeom>
          <a:solidFill>
            <a:srgbClr val="F6E7D8"/>
          </a:solidFill>
          <a:ln w="12700">
            <a:solidFill>
              <a:srgbClr val="F6E7D8"/>
            </a:solidFill>
            <a:prstDash val="solid"/>
          </a:ln>
        </p:spPr>
      </p:sp>
      <p:sp>
        <p:nvSpPr>
          <p:cNvPr id="42" name="Shape 33"/>
          <p:cNvSpPr/>
          <p:nvPr/>
        </p:nvSpPr>
        <p:spPr>
          <a:xfrm>
            <a:off x="6848856" y="3017520"/>
            <a:ext cx="384048" cy="384048"/>
          </a:xfrm>
          <a:prstGeom prst="ellipse">
            <a:avLst/>
          </a:prstGeom>
          <a:solidFill>
            <a:srgbClr val="F6E7D8"/>
          </a:solidFill>
          <a:ln w="15875">
            <a:solidFill>
              <a:srgbClr val="C8793A"/>
            </a:solidFill>
            <a:prstDash val="solid"/>
          </a:ln>
        </p:spPr>
      </p:sp>
      <p:pic>
        <p:nvPicPr>
          <p:cNvPr id="43" name="Image 7" descr="preencoded.png">    </p:cNvPr>
          <p:cNvPicPr>
            <a:picLocks noChangeAspect="1"/>
          </p:cNvPicPr>
          <p:nvPr/>
        </p:nvPicPr>
        <p:blipFill>
          <a:blip r:embed="rId8"/>
          <a:stretch>
            <a:fillRect/>
          </a:stretch>
        </p:blipFill>
        <p:spPr>
          <a:xfrm>
            <a:off x="6941028" y="3109692"/>
            <a:ext cx="199705" cy="199705"/>
          </a:xfrm>
          <a:prstGeom prst="rect">
            <a:avLst/>
          </a:prstGeom>
        </p:spPr>
      </p:pic>
      <p:sp>
        <p:nvSpPr>
          <p:cNvPr id="44" name="Text 34"/>
          <p:cNvSpPr txBox="1"/>
          <p:nvPr/>
        </p:nvSpPr>
        <p:spPr>
          <a:xfrm>
            <a:off x="7306056" y="3063240"/>
            <a:ext cx="1280160" cy="292608"/>
          </a:xfrm>
          <a:prstGeom prst="rect">
            <a:avLst/>
          </a:prstGeom>
          <a:noFill/>
          <a:ln/>
        </p:spPr>
        <p:txBody>
          <a:bodyPr wrap="square" lIns="0" tIns="0" rIns="0" bIns="0" rtlCol="0" anchor="ctr"/>
          <a:lstStyle/>
          <a:p>
            <a:pPr indent="0" marL="0">
              <a:buNone/>
            </a:pPr>
            <a:r>
              <a:rPr lang="en-US" sz="1200" b="1" dirty="0">
                <a:solidFill>
                  <a:srgbClr val="0F2A22"/>
                </a:solidFill>
                <a:latin typeface="Arial" pitchFamily="34" charset="0"/>
                <a:ea typeface="Arial" pitchFamily="34" charset="-122"/>
                <a:cs typeface="Arial" pitchFamily="34" charset="-120"/>
              </a:rPr>
              <a:t>8. Hand off</a:t>
            </a:r>
            <a:endParaRPr lang="en-US" sz="1200" dirty="0"/>
          </a:p>
        </p:txBody>
      </p:sp>
      <p:sp>
        <p:nvSpPr>
          <p:cNvPr id="45" name="Text 35"/>
          <p:cNvSpPr txBox="1"/>
          <p:nvPr/>
        </p:nvSpPr>
        <p:spPr>
          <a:xfrm>
            <a:off x="6848856" y="3520440"/>
            <a:ext cx="1691640" cy="777240"/>
          </a:xfrm>
          <a:prstGeom prst="rect">
            <a:avLst/>
          </a:prstGeom>
          <a:noFill/>
          <a:ln/>
        </p:spPr>
        <p:txBody>
          <a:bodyPr wrap="square" lIns="0" tIns="0" rIns="0" bIns="0" rtlCol="0" anchor="t"/>
          <a:lstStyle/>
          <a:p>
            <a:pPr indent="0" marL="0">
              <a:buNone/>
            </a:pPr>
            <a:r>
              <a:rPr lang="en-US" sz="950" dirty="0">
                <a:solidFill>
                  <a:srgbClr val="1D2522"/>
                </a:solidFill>
                <a:latin typeface="Arial" pitchFamily="34" charset="0"/>
                <a:ea typeface="Arial" pitchFamily="34" charset="-122"/>
                <a:cs typeface="Arial" pitchFamily="34" charset="-120"/>
              </a:rPr>
              <a:t>Checked Gerber/BOM/CPL to a fab for 100+ units</a:t>
            </a:r>
            <a:endParaRPr lang="en-US" sz="950" dirty="0"/>
          </a:p>
        </p:txBody>
      </p:sp>
      <p:sp>
        <p:nvSpPr>
          <p:cNvPr id="46" name="Text 36"/>
          <p:cNvSpPr txBox="1"/>
          <p:nvPr/>
        </p:nvSpPr>
        <p:spPr>
          <a:xfrm>
            <a:off x="457200" y="4526280"/>
            <a:ext cx="8229600" cy="274320"/>
          </a:xfrm>
          <a:prstGeom prst="rect">
            <a:avLst/>
          </a:prstGeom>
          <a:noFill/>
          <a:ln/>
        </p:spPr>
        <p:txBody>
          <a:bodyPr wrap="square" lIns="0" tIns="0" rIns="0" bIns="0" rtlCol="0" anchor="t"/>
          <a:lstStyle/>
          <a:p>
            <a:pPr indent="0" marL="0">
              <a:buNone/>
            </a:pPr>
            <a:r>
              <a:rPr lang="en-US" sz="950" i="1" dirty="0">
                <a:solidFill>
                  <a:srgbClr val="5E6B66"/>
                </a:solidFill>
                <a:latin typeface="Arial" pitchFamily="34" charset="0"/>
                <a:ea typeface="Arial" pitchFamily="34" charset="-122"/>
                <a:cs typeface="Arial" pitchFamily="34" charset="-120"/>
              </a:rPr>
              <a:t>A person confirms before anything is cut, lasered or powered. Proto plans and checks; the machines only act on approved steps.</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201168"/>
          </a:xfrm>
          <a:prstGeom prst="rect">
            <a:avLst/>
          </a:prstGeom>
          <a:noFill/>
          <a:ln/>
        </p:spPr>
        <p:txBody>
          <a:bodyPr wrap="square" lIns="0" tIns="0" rIns="0" bIns="0" rtlCol="0" anchor="t"/>
          <a:lstStyle/>
          <a:p>
            <a:pPr indent="0" marL="0">
              <a:buNone/>
            </a:pPr>
            <a:r>
              <a:rPr lang="en-US" sz="900" b="1" spc="200" kern="0" dirty="0">
                <a:solidFill>
                  <a:srgbClr val="C8793A"/>
                </a:solidFill>
                <a:latin typeface="Arial" pitchFamily="34" charset="0"/>
                <a:ea typeface="Arial" pitchFamily="34" charset="-122"/>
                <a:cs typeface="Arial" pitchFamily="34" charset="-120"/>
              </a:rPr>
              <a:t>TECH STACK · PROTO</a:t>
            </a:r>
            <a:endParaRPr lang="en-US" sz="900" dirty="0"/>
          </a:p>
        </p:txBody>
      </p:sp>
      <p:sp>
        <p:nvSpPr>
          <p:cNvPr id="3" name="Text 1"/>
          <p:cNvSpPr txBox="1"/>
          <p:nvPr/>
        </p:nvSpPr>
        <p:spPr>
          <a:xfrm>
            <a:off x="457200" y="457200"/>
            <a:ext cx="8229600" cy="566928"/>
          </a:xfrm>
          <a:prstGeom prst="rect">
            <a:avLst/>
          </a:prstGeom>
          <a:noFill/>
          <a:ln/>
        </p:spPr>
        <p:txBody>
          <a:bodyPr wrap="square" lIns="0" tIns="0" rIns="0" bIns="0" rtlCol="0" anchor="ctr">
            <a:normAutofit/>
          </a:bodyPr>
          <a:lstStyle/>
          <a:p>
            <a:pPr indent="0" marL="0">
              <a:buNone/>
            </a:pPr>
            <a:r>
              <a:rPr lang="en-US" sz="2200" b="1" dirty="0">
                <a:solidFill>
                  <a:srgbClr val="0F2A22"/>
                </a:solidFill>
                <a:latin typeface="Arial" pitchFamily="34" charset="0"/>
                <a:ea typeface="Arial" pitchFamily="34" charset="-122"/>
                <a:cs typeface="Arial" pitchFamily="34" charset="-120"/>
              </a:rPr>
              <a:t>Proto tech stack: an agent with real-world tools</a:t>
            </a:r>
            <a:endParaRPr lang="en-US" sz="2200" dirty="0"/>
          </a:p>
        </p:txBody>
      </p:sp>
      <p:sp>
        <p:nvSpPr>
          <p:cNvPr id="4" name="Text 2"/>
          <p:cNvSpPr txBox="1"/>
          <p:nvPr/>
        </p:nvSpPr>
        <p:spPr>
          <a:xfrm>
            <a:off x="8321040" y="4828032"/>
            <a:ext cx="365760" cy="182880"/>
          </a:xfrm>
          <a:prstGeom prst="rect">
            <a:avLst/>
          </a:prstGeom>
          <a:noFill/>
          <a:ln/>
        </p:spPr>
        <p:txBody>
          <a:bodyPr wrap="square" lIns="0" tIns="0" rIns="0" bIns="0" rtlCol="0" anchor="t"/>
          <a:lstStyle/>
          <a:p>
            <a:pPr algn="r" indent="0" marL="0">
              <a:buNone/>
            </a:pPr>
            <a:r>
              <a:rPr lang="en-US" sz="800" dirty="0">
                <a:solidFill>
                  <a:srgbClr val="5E6B66"/>
                </a:solidFill>
                <a:latin typeface="Arial" pitchFamily="34" charset="0"/>
                <a:ea typeface="Arial" pitchFamily="34" charset="-122"/>
                <a:cs typeface="Arial" pitchFamily="34" charset="-120"/>
              </a:rPr>
              <a:t>8</a:t>
            </a:r>
            <a:endParaRPr lang="en-US" sz="800" dirty="0"/>
          </a:p>
        </p:txBody>
      </p:sp>
      <p:sp>
        <p:nvSpPr>
          <p:cNvPr id="5" name="Text 3"/>
          <p:cNvSpPr txBox="1"/>
          <p:nvPr/>
        </p:nvSpPr>
        <p:spPr>
          <a:xfrm>
            <a:off x="457200" y="4828032"/>
            <a:ext cx="2743200" cy="182880"/>
          </a:xfrm>
          <a:prstGeom prst="rect">
            <a:avLst/>
          </a:prstGeom>
          <a:noFill/>
          <a:ln/>
        </p:spPr>
        <p:txBody>
          <a:bodyPr wrap="square" lIns="0" tIns="0" rIns="0" bIns="0" rtlCol="0" anchor="t"/>
          <a:lstStyle/>
          <a:p>
            <a:pPr indent="0" marL="0">
              <a:buNone/>
            </a:pPr>
            <a:r>
              <a:rPr lang="en-US" sz="800" dirty="0">
                <a:solidFill>
                  <a:srgbClr val="5E6B66"/>
                </a:solidFill>
                <a:latin typeface="Arial" pitchFamily="34" charset="0"/>
                <a:ea typeface="Arial" pitchFamily="34" charset="-122"/>
                <a:cs typeface="Arial" pitchFamily="34" charset="-120"/>
              </a:rPr>
              <a:t>Protopulse · pitch v2</a:t>
            </a:r>
            <a:endParaRPr lang="en-US" sz="800" dirty="0"/>
          </a:p>
        </p:txBody>
      </p:sp>
      <p:sp>
        <p:nvSpPr>
          <p:cNvPr id="6" name="Shape 4"/>
          <p:cNvSpPr/>
          <p:nvPr/>
        </p:nvSpPr>
        <p:spPr>
          <a:xfrm>
            <a:off x="457200" y="1143000"/>
            <a:ext cx="8229600" cy="420624"/>
          </a:xfrm>
          <a:prstGeom prst="roundRect">
            <a:avLst>
              <a:gd name="adj" fmla="val 10870"/>
            </a:avLst>
          </a:prstGeom>
          <a:solidFill>
            <a:srgbClr val="E8F1EC"/>
          </a:solidFill>
          <a:ln w="12700">
            <a:solidFill>
              <a:srgbClr val="E8F1EC"/>
            </a:solidFill>
            <a:prstDash val="solid"/>
          </a:ln>
        </p:spPr>
      </p:sp>
      <p:sp>
        <p:nvSpPr>
          <p:cNvPr id="7" name="Text 5"/>
          <p:cNvSpPr txBox="1"/>
          <p:nvPr/>
        </p:nvSpPr>
        <p:spPr>
          <a:xfrm>
            <a:off x="594360" y="1143000"/>
            <a:ext cx="1463040" cy="420624"/>
          </a:xfrm>
          <a:prstGeom prst="rect">
            <a:avLst/>
          </a:prstGeom>
          <a:noFill/>
          <a:ln/>
        </p:spPr>
        <p:txBody>
          <a:bodyPr wrap="square" lIns="0" tIns="0" rIns="0" bIns="0" rtlCol="0" anchor="ctr"/>
          <a:lstStyle/>
          <a:p>
            <a:pPr indent="0" marL="0">
              <a:buNone/>
            </a:pPr>
            <a:r>
              <a:rPr lang="en-US" sz="1100" b="1" dirty="0">
                <a:solidFill>
                  <a:srgbClr val="0F2A22"/>
                </a:solidFill>
                <a:latin typeface="Arial" pitchFamily="34" charset="0"/>
                <a:ea typeface="Arial" pitchFamily="34" charset="-122"/>
                <a:cs typeface="Arial" pitchFamily="34" charset="-120"/>
              </a:rPr>
              <a:t>Interface</a:t>
            </a:r>
            <a:endParaRPr lang="en-US" sz="1100" dirty="0"/>
          </a:p>
        </p:txBody>
      </p:sp>
      <p:sp>
        <p:nvSpPr>
          <p:cNvPr id="8" name="Text 6"/>
          <p:cNvSpPr txBox="1"/>
          <p:nvPr/>
        </p:nvSpPr>
        <p:spPr>
          <a:xfrm>
            <a:off x="2057400" y="1143000"/>
            <a:ext cx="6537960" cy="420624"/>
          </a:xfrm>
          <a:prstGeom prst="rect">
            <a:avLst/>
          </a:prstGeom>
          <a:noFill/>
          <a:ln/>
        </p:spPr>
        <p:txBody>
          <a:bodyPr wrap="square" lIns="0" tIns="0" rIns="0" bIns="0" rtlCol="0" anchor="ctr"/>
          <a:lstStyle/>
          <a:p>
            <a:pPr indent="0" marL="0">
              <a:buNone/>
            </a:pPr>
            <a:r>
              <a:rPr lang="en-US" sz="950" dirty="0">
                <a:solidFill>
                  <a:srgbClr val="1D2522"/>
                </a:solidFill>
                <a:latin typeface="Arial" pitchFamily="34" charset="0"/>
                <a:ea typeface="Arial" pitchFamily="34" charset="-122"/>
                <a:cs typeface="Arial" pitchFamily="34" charset="-120"/>
              </a:rPr>
              <a:t>Chat + sketch/photo upload · project timeline · Baker touch screen · browser</a:t>
            </a:r>
            <a:endParaRPr lang="en-US" sz="950" dirty="0"/>
          </a:p>
        </p:txBody>
      </p:sp>
      <p:sp>
        <p:nvSpPr>
          <p:cNvPr id="9" name="Shape 7"/>
          <p:cNvSpPr/>
          <p:nvPr/>
        </p:nvSpPr>
        <p:spPr>
          <a:xfrm>
            <a:off x="457200" y="1627632"/>
            <a:ext cx="8229600" cy="420624"/>
          </a:xfrm>
          <a:prstGeom prst="roundRect">
            <a:avLst>
              <a:gd name="adj" fmla="val 10870"/>
            </a:avLst>
          </a:prstGeom>
          <a:solidFill>
            <a:srgbClr val="E8F1EC"/>
          </a:solidFill>
          <a:ln w="12700">
            <a:solidFill>
              <a:srgbClr val="E8F1EC"/>
            </a:solidFill>
            <a:prstDash val="solid"/>
          </a:ln>
        </p:spPr>
      </p:sp>
      <p:sp>
        <p:nvSpPr>
          <p:cNvPr id="10" name="Text 8"/>
          <p:cNvSpPr txBox="1"/>
          <p:nvPr/>
        </p:nvSpPr>
        <p:spPr>
          <a:xfrm>
            <a:off x="594360" y="1627632"/>
            <a:ext cx="1463040" cy="420624"/>
          </a:xfrm>
          <a:prstGeom prst="rect">
            <a:avLst/>
          </a:prstGeom>
          <a:noFill/>
          <a:ln/>
        </p:spPr>
        <p:txBody>
          <a:bodyPr wrap="square" lIns="0" tIns="0" rIns="0" bIns="0" rtlCol="0" anchor="ctr"/>
          <a:lstStyle/>
          <a:p>
            <a:pPr indent="0" marL="0">
              <a:buNone/>
            </a:pPr>
            <a:r>
              <a:rPr lang="en-US" sz="1100" b="1" dirty="0">
                <a:solidFill>
                  <a:srgbClr val="0F2A22"/>
                </a:solidFill>
                <a:latin typeface="Arial" pitchFamily="34" charset="0"/>
                <a:ea typeface="Arial" pitchFamily="34" charset="-122"/>
                <a:cs typeface="Arial" pitchFamily="34" charset="-120"/>
              </a:rPr>
              <a:t>Reasoning</a:t>
            </a:r>
            <a:endParaRPr lang="en-US" sz="1100" dirty="0"/>
          </a:p>
        </p:txBody>
      </p:sp>
      <p:sp>
        <p:nvSpPr>
          <p:cNvPr id="11" name="Text 9"/>
          <p:cNvSpPr txBox="1"/>
          <p:nvPr/>
        </p:nvSpPr>
        <p:spPr>
          <a:xfrm>
            <a:off x="2057400" y="1627632"/>
            <a:ext cx="6537960" cy="420624"/>
          </a:xfrm>
          <a:prstGeom prst="rect">
            <a:avLst/>
          </a:prstGeom>
          <a:noFill/>
          <a:ln/>
        </p:spPr>
        <p:txBody>
          <a:bodyPr wrap="square" lIns="0" tIns="0" rIns="0" bIns="0" rtlCol="0" anchor="ctr"/>
          <a:lstStyle/>
          <a:p>
            <a:pPr indent="0" marL="0">
              <a:buNone/>
            </a:pPr>
            <a:r>
              <a:rPr lang="en-US" sz="950" dirty="0">
                <a:solidFill>
                  <a:srgbClr val="1D2522"/>
                </a:solidFill>
                <a:latin typeface="Arial" pitchFamily="34" charset="0"/>
                <a:ea typeface="Arial" pitchFamily="34" charset="-122"/>
                <a:cs typeface="Arial" pitchFamily="34" charset="-120"/>
              </a:rPr>
              <a:t>Frontier LLM, swappable, through an API · planner that breaks a goal into spec → parts → schematic → layout → fab plan → test plan</a:t>
            </a:r>
            <a:endParaRPr lang="en-US" sz="950" dirty="0"/>
          </a:p>
        </p:txBody>
      </p:sp>
      <p:sp>
        <p:nvSpPr>
          <p:cNvPr id="12" name="Shape 10"/>
          <p:cNvSpPr/>
          <p:nvPr/>
        </p:nvSpPr>
        <p:spPr>
          <a:xfrm>
            <a:off x="457200" y="2112264"/>
            <a:ext cx="8229600" cy="420624"/>
          </a:xfrm>
          <a:prstGeom prst="roundRect">
            <a:avLst>
              <a:gd name="adj" fmla="val 10870"/>
            </a:avLst>
          </a:prstGeom>
          <a:solidFill>
            <a:srgbClr val="E8F1EC"/>
          </a:solidFill>
          <a:ln w="12700">
            <a:solidFill>
              <a:srgbClr val="E8F1EC"/>
            </a:solidFill>
            <a:prstDash val="solid"/>
          </a:ln>
        </p:spPr>
      </p:sp>
      <p:sp>
        <p:nvSpPr>
          <p:cNvPr id="13" name="Text 11"/>
          <p:cNvSpPr txBox="1"/>
          <p:nvPr/>
        </p:nvSpPr>
        <p:spPr>
          <a:xfrm>
            <a:off x="594360" y="2112264"/>
            <a:ext cx="1463040" cy="420624"/>
          </a:xfrm>
          <a:prstGeom prst="rect">
            <a:avLst/>
          </a:prstGeom>
          <a:noFill/>
          <a:ln/>
        </p:spPr>
        <p:txBody>
          <a:bodyPr wrap="square" lIns="0" tIns="0" rIns="0" bIns="0" rtlCol="0" anchor="ctr"/>
          <a:lstStyle/>
          <a:p>
            <a:pPr indent="0" marL="0">
              <a:buNone/>
            </a:pPr>
            <a:r>
              <a:rPr lang="en-US" sz="1100" b="1" dirty="0">
                <a:solidFill>
                  <a:srgbClr val="0F2A22"/>
                </a:solidFill>
                <a:latin typeface="Arial" pitchFamily="34" charset="0"/>
                <a:ea typeface="Arial" pitchFamily="34" charset="-122"/>
                <a:cs typeface="Arial" pitchFamily="34" charset="-120"/>
              </a:rPr>
              <a:t>Tools (MCP)</a:t>
            </a:r>
            <a:endParaRPr lang="en-US" sz="1100" dirty="0"/>
          </a:p>
        </p:txBody>
      </p:sp>
      <p:sp>
        <p:nvSpPr>
          <p:cNvPr id="14" name="Text 12"/>
          <p:cNvSpPr txBox="1"/>
          <p:nvPr/>
        </p:nvSpPr>
        <p:spPr>
          <a:xfrm>
            <a:off x="2057400" y="2112264"/>
            <a:ext cx="6537960" cy="420624"/>
          </a:xfrm>
          <a:prstGeom prst="rect">
            <a:avLst/>
          </a:prstGeom>
          <a:noFill/>
          <a:ln/>
        </p:spPr>
        <p:txBody>
          <a:bodyPr wrap="square" lIns="0" tIns="0" rIns="0" bIns="0" rtlCol="0" anchor="ctr"/>
          <a:lstStyle/>
          <a:p>
            <a:pPr indent="0" marL="0">
              <a:buNone/>
            </a:pPr>
            <a:r>
              <a:rPr lang="en-US" sz="950" dirty="0">
                <a:solidFill>
                  <a:srgbClr val="1D2522"/>
                </a:solidFill>
                <a:latin typeface="Arial" pitchFamily="34" charset="0"/>
                <a:ea typeface="Arial" pitchFamily="34" charset="-122"/>
                <a:cs typeface="Arial" pitchFamily="34" charset="-120"/>
              </a:rPr>
              <a:t>KiCad scripting · Flux/KiCad import · Fusion &amp; Blender connectors (enclosures) · parts APIs (stock, price) · ngspice · PlatformIO / arduino-cli</a:t>
            </a:r>
            <a:endParaRPr lang="en-US" sz="950" dirty="0"/>
          </a:p>
        </p:txBody>
      </p:sp>
      <p:sp>
        <p:nvSpPr>
          <p:cNvPr id="15" name="Shape 13"/>
          <p:cNvSpPr/>
          <p:nvPr/>
        </p:nvSpPr>
        <p:spPr>
          <a:xfrm>
            <a:off x="457200" y="2596896"/>
            <a:ext cx="8229600" cy="420624"/>
          </a:xfrm>
          <a:prstGeom prst="roundRect">
            <a:avLst>
              <a:gd name="adj" fmla="val 10870"/>
            </a:avLst>
          </a:prstGeom>
          <a:solidFill>
            <a:srgbClr val="F6E7D8"/>
          </a:solidFill>
          <a:ln w="12700">
            <a:solidFill>
              <a:srgbClr val="F6E7D8"/>
            </a:solidFill>
            <a:prstDash val="solid"/>
          </a:ln>
        </p:spPr>
      </p:sp>
      <p:sp>
        <p:nvSpPr>
          <p:cNvPr id="16" name="Text 14"/>
          <p:cNvSpPr txBox="1"/>
          <p:nvPr/>
        </p:nvSpPr>
        <p:spPr>
          <a:xfrm>
            <a:off x="594360" y="2596896"/>
            <a:ext cx="1463040" cy="420624"/>
          </a:xfrm>
          <a:prstGeom prst="rect">
            <a:avLst/>
          </a:prstGeom>
          <a:noFill/>
          <a:ln/>
        </p:spPr>
        <p:txBody>
          <a:bodyPr wrap="square" lIns="0" tIns="0" rIns="0" bIns="0" rtlCol="0" anchor="ctr"/>
          <a:lstStyle/>
          <a:p>
            <a:pPr indent="0" marL="0">
              <a:buNone/>
            </a:pPr>
            <a:r>
              <a:rPr lang="en-US" sz="1100" b="1" dirty="0">
                <a:solidFill>
                  <a:srgbClr val="0F2A22"/>
                </a:solidFill>
                <a:latin typeface="Arial" pitchFamily="34" charset="0"/>
                <a:ea typeface="Arial" pitchFamily="34" charset="-122"/>
                <a:cs typeface="Arial" pitchFamily="34" charset="-120"/>
              </a:rPr>
              <a:t>Machine drivers</a:t>
            </a:r>
            <a:endParaRPr lang="en-US" sz="1100" dirty="0"/>
          </a:p>
        </p:txBody>
      </p:sp>
      <p:sp>
        <p:nvSpPr>
          <p:cNvPr id="17" name="Text 15"/>
          <p:cNvSpPr txBox="1"/>
          <p:nvPr/>
        </p:nvSpPr>
        <p:spPr>
          <a:xfrm>
            <a:off x="2057400" y="2596896"/>
            <a:ext cx="6537960" cy="420624"/>
          </a:xfrm>
          <a:prstGeom prst="rect">
            <a:avLst/>
          </a:prstGeom>
          <a:noFill/>
          <a:ln/>
        </p:spPr>
        <p:txBody>
          <a:bodyPr wrap="square" lIns="0" tIns="0" rIns="0" bIns="0" rtlCol="0" anchor="ctr"/>
          <a:lstStyle/>
          <a:p>
            <a:pPr indent="0" marL="0">
              <a:buNone/>
            </a:pPr>
            <a:r>
              <a:rPr lang="en-US" sz="950" dirty="0">
                <a:solidFill>
                  <a:srgbClr val="1D2522"/>
                </a:solidFill>
                <a:latin typeface="Arial" pitchFamily="34" charset="0"/>
                <a:ea typeface="Arial" pitchFamily="34" charset="-122"/>
                <a:cs typeface="Arial" pitchFamily="34" charset="-120"/>
              </a:rPr>
              <a:t>Baker: Klipper + Moonraker API (motion, spindle, laser, UV, pumps, hotplate) · Mixer: FPGA over USB · resin/FDM printer driver</a:t>
            </a:r>
            <a:endParaRPr lang="en-US" sz="950" dirty="0"/>
          </a:p>
        </p:txBody>
      </p:sp>
      <p:sp>
        <p:nvSpPr>
          <p:cNvPr id="18" name="Shape 16"/>
          <p:cNvSpPr/>
          <p:nvPr/>
        </p:nvSpPr>
        <p:spPr>
          <a:xfrm>
            <a:off x="457200" y="3081528"/>
            <a:ext cx="8229600" cy="420624"/>
          </a:xfrm>
          <a:prstGeom prst="roundRect">
            <a:avLst>
              <a:gd name="adj" fmla="val 10870"/>
            </a:avLst>
          </a:prstGeom>
          <a:solidFill>
            <a:srgbClr val="F6E7D8"/>
          </a:solidFill>
          <a:ln w="12700">
            <a:solidFill>
              <a:srgbClr val="F6E7D8"/>
            </a:solidFill>
            <a:prstDash val="solid"/>
          </a:ln>
        </p:spPr>
      </p:sp>
      <p:sp>
        <p:nvSpPr>
          <p:cNvPr id="19" name="Text 17"/>
          <p:cNvSpPr txBox="1"/>
          <p:nvPr/>
        </p:nvSpPr>
        <p:spPr>
          <a:xfrm>
            <a:off x="594360" y="3081528"/>
            <a:ext cx="1463040" cy="420624"/>
          </a:xfrm>
          <a:prstGeom prst="rect">
            <a:avLst/>
          </a:prstGeom>
          <a:noFill/>
          <a:ln/>
        </p:spPr>
        <p:txBody>
          <a:bodyPr wrap="square" lIns="0" tIns="0" rIns="0" bIns="0" rtlCol="0" anchor="ctr"/>
          <a:lstStyle/>
          <a:p>
            <a:pPr indent="0" marL="0">
              <a:buNone/>
            </a:pPr>
            <a:r>
              <a:rPr lang="en-US" sz="1100" b="1" dirty="0">
                <a:solidFill>
                  <a:srgbClr val="0F2A22"/>
                </a:solidFill>
                <a:latin typeface="Arial" pitchFamily="34" charset="0"/>
                <a:ea typeface="Arial" pitchFamily="34" charset="-122"/>
                <a:cs typeface="Arial" pitchFamily="34" charset="-120"/>
              </a:rPr>
              <a:t>Verification</a:t>
            </a:r>
            <a:endParaRPr lang="en-US" sz="1100" dirty="0"/>
          </a:p>
        </p:txBody>
      </p:sp>
      <p:sp>
        <p:nvSpPr>
          <p:cNvPr id="20" name="Text 18"/>
          <p:cNvSpPr txBox="1"/>
          <p:nvPr/>
        </p:nvSpPr>
        <p:spPr>
          <a:xfrm>
            <a:off x="2057400" y="3081528"/>
            <a:ext cx="6537960" cy="420624"/>
          </a:xfrm>
          <a:prstGeom prst="rect">
            <a:avLst/>
          </a:prstGeom>
          <a:noFill/>
          <a:ln/>
        </p:spPr>
        <p:txBody>
          <a:bodyPr wrap="square" lIns="0" tIns="0" rIns="0" bIns="0" rtlCol="0" anchor="ctr"/>
          <a:lstStyle/>
          <a:p>
            <a:pPr indent="0" marL="0">
              <a:buNone/>
            </a:pPr>
            <a:r>
              <a:rPr lang="en-US" sz="950" dirty="0">
                <a:solidFill>
                  <a:srgbClr val="1D2522"/>
                </a:solidFill>
                <a:latin typeface="Arial" pitchFamily="34" charset="0"/>
                <a:ea typeface="Arial" pitchFamily="34" charset="-122"/>
                <a:cs typeface="Arial" pitchFamily="34" charset="-120"/>
              </a:rPr>
              <a:t>ERC/DRC · Baker-process DRC (V-bit trace/space, laser stencil aperture) · auto test plan from the netlist: expected rails, currents, signals</a:t>
            </a:r>
            <a:endParaRPr lang="en-US" sz="950" dirty="0"/>
          </a:p>
        </p:txBody>
      </p:sp>
      <p:sp>
        <p:nvSpPr>
          <p:cNvPr id="21" name="Shape 19"/>
          <p:cNvSpPr/>
          <p:nvPr/>
        </p:nvSpPr>
        <p:spPr>
          <a:xfrm>
            <a:off x="457200" y="3566160"/>
            <a:ext cx="8229600" cy="420624"/>
          </a:xfrm>
          <a:prstGeom prst="roundRect">
            <a:avLst>
              <a:gd name="adj" fmla="val 10870"/>
            </a:avLst>
          </a:prstGeom>
          <a:solidFill>
            <a:srgbClr val="F6E7D8"/>
          </a:solidFill>
          <a:ln w="12700">
            <a:solidFill>
              <a:srgbClr val="F6E7D8"/>
            </a:solidFill>
            <a:prstDash val="solid"/>
          </a:ln>
        </p:spPr>
      </p:sp>
      <p:sp>
        <p:nvSpPr>
          <p:cNvPr id="22" name="Text 20"/>
          <p:cNvSpPr txBox="1"/>
          <p:nvPr/>
        </p:nvSpPr>
        <p:spPr>
          <a:xfrm>
            <a:off x="594360" y="3566160"/>
            <a:ext cx="1463040" cy="420624"/>
          </a:xfrm>
          <a:prstGeom prst="rect">
            <a:avLst/>
          </a:prstGeom>
          <a:noFill/>
          <a:ln/>
        </p:spPr>
        <p:txBody>
          <a:bodyPr wrap="square" lIns="0" tIns="0" rIns="0" bIns="0" rtlCol="0" anchor="ctr"/>
          <a:lstStyle/>
          <a:p>
            <a:pPr indent="0" marL="0">
              <a:buNone/>
            </a:pPr>
            <a:r>
              <a:rPr lang="en-US" sz="1100" b="1" dirty="0">
                <a:solidFill>
                  <a:srgbClr val="0F2A22"/>
                </a:solidFill>
                <a:latin typeface="Arial" pitchFamily="34" charset="0"/>
                <a:ea typeface="Arial" pitchFamily="34" charset="-122"/>
                <a:cs typeface="Arial" pitchFamily="34" charset="-120"/>
              </a:rPr>
              <a:t>Data</a:t>
            </a:r>
            <a:endParaRPr lang="en-US" sz="1100" dirty="0"/>
          </a:p>
        </p:txBody>
      </p:sp>
      <p:sp>
        <p:nvSpPr>
          <p:cNvPr id="23" name="Text 21"/>
          <p:cNvSpPr txBox="1"/>
          <p:nvPr/>
        </p:nvSpPr>
        <p:spPr>
          <a:xfrm>
            <a:off x="2057400" y="3566160"/>
            <a:ext cx="6537960" cy="420624"/>
          </a:xfrm>
          <a:prstGeom prst="rect">
            <a:avLst/>
          </a:prstGeom>
          <a:noFill/>
          <a:ln/>
        </p:spPr>
        <p:txBody>
          <a:bodyPr wrap="square" lIns="0" tIns="0" rIns="0" bIns="0" rtlCol="0" anchor="ctr"/>
          <a:lstStyle/>
          <a:p>
            <a:pPr indent="0" marL="0">
              <a:buNone/>
            </a:pPr>
            <a:r>
              <a:rPr lang="en-US" sz="950" dirty="0">
                <a:solidFill>
                  <a:srgbClr val="1D2522"/>
                </a:solidFill>
                <a:latin typeface="Arial" pitchFamily="34" charset="0"/>
                <a:ea typeface="Arial" pitchFamily="34" charset="-122"/>
                <a:cs typeface="Arial" pitchFamily="34" charset="-120"/>
              </a:rPr>
              <a:t>Per-run log: design → process settings → measured result. This dataset is what no files-only AI tool has</a:t>
            </a:r>
            <a:endParaRPr lang="en-US" sz="950" dirty="0"/>
          </a:p>
        </p:txBody>
      </p:sp>
      <p:sp>
        <p:nvSpPr>
          <p:cNvPr id="24" name="Shape 22"/>
          <p:cNvSpPr/>
          <p:nvPr/>
        </p:nvSpPr>
        <p:spPr>
          <a:xfrm>
            <a:off x="457200" y="4050792"/>
            <a:ext cx="8229600" cy="420624"/>
          </a:xfrm>
          <a:prstGeom prst="roundRect">
            <a:avLst>
              <a:gd name="adj" fmla="val 10870"/>
            </a:avLst>
          </a:prstGeom>
          <a:solidFill>
            <a:srgbClr val="F6E1DE"/>
          </a:solidFill>
          <a:ln w="12700">
            <a:solidFill>
              <a:srgbClr val="F6E1DE"/>
            </a:solidFill>
            <a:prstDash val="solid"/>
          </a:ln>
        </p:spPr>
      </p:sp>
      <p:sp>
        <p:nvSpPr>
          <p:cNvPr id="25" name="Text 23"/>
          <p:cNvSpPr txBox="1"/>
          <p:nvPr/>
        </p:nvSpPr>
        <p:spPr>
          <a:xfrm>
            <a:off x="594360" y="4050792"/>
            <a:ext cx="1463040" cy="420624"/>
          </a:xfrm>
          <a:prstGeom prst="rect">
            <a:avLst/>
          </a:prstGeom>
          <a:noFill/>
          <a:ln/>
        </p:spPr>
        <p:txBody>
          <a:bodyPr wrap="square" lIns="0" tIns="0" rIns="0" bIns="0" rtlCol="0" anchor="ctr"/>
          <a:lstStyle/>
          <a:p>
            <a:pPr indent="0" marL="0">
              <a:buNone/>
            </a:pPr>
            <a:r>
              <a:rPr lang="en-US" sz="1100" b="1" dirty="0">
                <a:solidFill>
                  <a:srgbClr val="0F2A22"/>
                </a:solidFill>
                <a:latin typeface="Arial" pitchFamily="34" charset="0"/>
                <a:ea typeface="Arial" pitchFamily="34" charset="-122"/>
                <a:cs typeface="Arial" pitchFamily="34" charset="-120"/>
              </a:rPr>
              <a:t>Safety</a:t>
            </a:r>
            <a:endParaRPr lang="en-US" sz="1100" dirty="0"/>
          </a:p>
        </p:txBody>
      </p:sp>
      <p:sp>
        <p:nvSpPr>
          <p:cNvPr id="26" name="Text 24"/>
          <p:cNvSpPr txBox="1"/>
          <p:nvPr/>
        </p:nvSpPr>
        <p:spPr>
          <a:xfrm>
            <a:off x="2057400" y="4050792"/>
            <a:ext cx="6537960" cy="420624"/>
          </a:xfrm>
          <a:prstGeom prst="rect">
            <a:avLst/>
          </a:prstGeom>
          <a:noFill/>
          <a:ln/>
        </p:spPr>
        <p:txBody>
          <a:bodyPr wrap="square" lIns="0" tIns="0" rIns="0" bIns="0" rtlCol="0" anchor="ctr"/>
          <a:lstStyle/>
          <a:p>
            <a:pPr indent="0" marL="0">
              <a:buNone/>
            </a:pPr>
            <a:r>
              <a:rPr lang="en-US" sz="950" dirty="0">
                <a:solidFill>
                  <a:srgbClr val="1D2522"/>
                </a:solidFill>
                <a:latin typeface="Arial" pitchFamily="34" charset="0"/>
                <a:ea typeface="Arial" pitchFamily="34" charset="-122"/>
                <a:cs typeface="Arial" pitchFamily="34" charset="-120"/>
              </a:rPr>
              <a:t>Human approval gates · firmware interlocks (door, E-stop) · current limits on Mixer supplies · works offline for machine control</a:t>
            </a:r>
            <a:endParaRPr lang="en-US" sz="950" dirty="0"/>
          </a:p>
        </p:txBody>
      </p:sp>
      <p:sp>
        <p:nvSpPr>
          <p:cNvPr id="27" name="Text 25"/>
          <p:cNvSpPr txBox="1"/>
          <p:nvPr/>
        </p:nvSpPr>
        <p:spPr>
          <a:xfrm>
            <a:off x="457200" y="4617720"/>
            <a:ext cx="8229600" cy="201168"/>
          </a:xfrm>
          <a:prstGeom prst="rect">
            <a:avLst/>
          </a:prstGeom>
          <a:noFill/>
          <a:ln/>
        </p:spPr>
        <p:txBody>
          <a:bodyPr wrap="square" lIns="0" tIns="0" rIns="0" bIns="0" rtlCol="0" anchor="t"/>
          <a:lstStyle/>
          <a:p>
            <a:pPr indent="0" marL="0">
              <a:buNone/>
            </a:pPr>
            <a:r>
              <a:rPr lang="en-US" sz="750" i="1" dirty="0">
                <a:solidFill>
                  <a:srgbClr val="5E6B66"/>
                </a:solidFill>
                <a:latin typeface="Arial" pitchFamily="34" charset="0"/>
                <a:ea typeface="Arial" pitchFamily="34" charset="-122"/>
                <a:cs typeface="Arial" pitchFamily="34" charset="-120"/>
              </a:rPr>
              <a:t>Runs on Baker's host (CB1 compute module in production) plus the cloud for the model. This is the target architecture; Phase 1 builds it for three reference designs.</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201168"/>
          </a:xfrm>
          <a:prstGeom prst="rect">
            <a:avLst/>
          </a:prstGeom>
          <a:noFill/>
          <a:ln/>
        </p:spPr>
        <p:txBody>
          <a:bodyPr wrap="square" lIns="0" tIns="0" rIns="0" bIns="0" rtlCol="0" anchor="t"/>
          <a:lstStyle/>
          <a:p>
            <a:pPr indent="0" marL="0">
              <a:buNone/>
            </a:pPr>
            <a:r>
              <a:rPr lang="en-US" sz="900" b="1" spc="200" kern="0" dirty="0">
                <a:solidFill>
                  <a:srgbClr val="C8793A"/>
                </a:solidFill>
                <a:latin typeface="Arial" pitchFamily="34" charset="0"/>
                <a:ea typeface="Arial" pitchFamily="34" charset="-122"/>
                <a:cs typeface="Arial" pitchFamily="34" charset="-120"/>
              </a:rPr>
              <a:t>MACHINE 1 · BAKER</a:t>
            </a:r>
            <a:endParaRPr lang="en-US" sz="900" dirty="0"/>
          </a:p>
        </p:txBody>
      </p:sp>
      <p:sp>
        <p:nvSpPr>
          <p:cNvPr id="3" name="Text 1"/>
          <p:cNvSpPr txBox="1"/>
          <p:nvPr/>
        </p:nvSpPr>
        <p:spPr>
          <a:xfrm>
            <a:off x="457200" y="457200"/>
            <a:ext cx="8229600" cy="566928"/>
          </a:xfrm>
          <a:prstGeom prst="rect">
            <a:avLst/>
          </a:prstGeom>
          <a:noFill/>
          <a:ln/>
        </p:spPr>
        <p:txBody>
          <a:bodyPr wrap="square" lIns="0" tIns="0" rIns="0" bIns="0" rtlCol="0" anchor="ctr">
            <a:normAutofit/>
          </a:bodyPr>
          <a:lstStyle/>
          <a:p>
            <a:pPr indent="0" marL="0">
              <a:buNone/>
            </a:pPr>
            <a:r>
              <a:rPr lang="en-US" sz="2200" b="1" dirty="0">
                <a:solidFill>
                  <a:srgbClr val="0F2A22"/>
                </a:solidFill>
                <a:latin typeface="Arial" pitchFamily="34" charset="0"/>
                <a:ea typeface="Arial" pitchFamily="34" charset="-122"/>
                <a:cs typeface="Arial" pitchFamily="34" charset="-120"/>
              </a:rPr>
              <a:t>Baker: a board-prototyping cell, not a desktop mill</a:t>
            </a:r>
            <a:endParaRPr lang="en-US" sz="2200" dirty="0"/>
          </a:p>
        </p:txBody>
      </p:sp>
      <p:sp>
        <p:nvSpPr>
          <p:cNvPr id="4" name="Text 2"/>
          <p:cNvSpPr txBox="1"/>
          <p:nvPr/>
        </p:nvSpPr>
        <p:spPr>
          <a:xfrm>
            <a:off x="8321040" y="4828032"/>
            <a:ext cx="365760" cy="182880"/>
          </a:xfrm>
          <a:prstGeom prst="rect">
            <a:avLst/>
          </a:prstGeom>
          <a:noFill/>
          <a:ln/>
        </p:spPr>
        <p:txBody>
          <a:bodyPr wrap="square" lIns="0" tIns="0" rIns="0" bIns="0" rtlCol="0" anchor="t"/>
          <a:lstStyle/>
          <a:p>
            <a:pPr algn="r" indent="0" marL="0">
              <a:buNone/>
            </a:pPr>
            <a:r>
              <a:rPr lang="en-US" sz="800" dirty="0">
                <a:solidFill>
                  <a:srgbClr val="5E6B66"/>
                </a:solidFill>
                <a:latin typeface="Arial" pitchFamily="34" charset="0"/>
                <a:ea typeface="Arial" pitchFamily="34" charset="-122"/>
                <a:cs typeface="Arial" pitchFamily="34" charset="-120"/>
              </a:rPr>
              <a:t>9</a:t>
            </a:r>
            <a:endParaRPr lang="en-US" sz="800" dirty="0"/>
          </a:p>
        </p:txBody>
      </p:sp>
      <p:sp>
        <p:nvSpPr>
          <p:cNvPr id="5" name="Text 3"/>
          <p:cNvSpPr txBox="1"/>
          <p:nvPr/>
        </p:nvSpPr>
        <p:spPr>
          <a:xfrm>
            <a:off x="457200" y="4828032"/>
            <a:ext cx="2743200" cy="182880"/>
          </a:xfrm>
          <a:prstGeom prst="rect">
            <a:avLst/>
          </a:prstGeom>
          <a:noFill/>
          <a:ln/>
        </p:spPr>
        <p:txBody>
          <a:bodyPr wrap="square" lIns="0" tIns="0" rIns="0" bIns="0" rtlCol="0" anchor="t"/>
          <a:lstStyle/>
          <a:p>
            <a:pPr indent="0" marL="0">
              <a:buNone/>
            </a:pPr>
            <a:r>
              <a:rPr lang="en-US" sz="800" dirty="0">
                <a:solidFill>
                  <a:srgbClr val="5E6B66"/>
                </a:solidFill>
                <a:latin typeface="Arial" pitchFamily="34" charset="0"/>
                <a:ea typeface="Arial" pitchFamily="34" charset="-122"/>
                <a:cs typeface="Arial" pitchFamily="34" charset="-120"/>
              </a:rPr>
              <a:t>Protopulse · pitch v2</a:t>
            </a:r>
            <a:endParaRPr lang="en-US" sz="800" dirty="0"/>
          </a:p>
        </p:txBody>
      </p:sp>
      <p:sp>
        <p:nvSpPr>
          <p:cNvPr id="6" name="Shape 4"/>
          <p:cNvSpPr/>
          <p:nvPr/>
        </p:nvSpPr>
        <p:spPr>
          <a:xfrm>
            <a:off x="457200" y="1188720"/>
            <a:ext cx="5120640" cy="548640"/>
          </a:xfrm>
          <a:prstGeom prst="roundRect">
            <a:avLst>
              <a:gd name="adj" fmla="val 13333"/>
            </a:avLst>
          </a:prstGeom>
          <a:solidFill>
            <a:srgbClr val="E8F1EC"/>
          </a:solidFill>
          <a:ln w="12700">
            <a:solidFill>
              <a:srgbClr val="E8F1EC"/>
            </a:solidFill>
            <a:prstDash val="solid"/>
          </a:ln>
        </p:spPr>
      </p:sp>
      <p:sp>
        <p:nvSpPr>
          <p:cNvPr id="7" name="Text 5"/>
          <p:cNvSpPr txBox="1"/>
          <p:nvPr/>
        </p:nvSpPr>
        <p:spPr>
          <a:xfrm>
            <a:off x="594360" y="1234440"/>
            <a:ext cx="4846320" cy="228600"/>
          </a:xfrm>
          <a:prstGeom prst="rect">
            <a:avLst/>
          </a:prstGeom>
          <a:noFill/>
          <a:ln/>
        </p:spPr>
        <p:txBody>
          <a:bodyPr wrap="square" lIns="0" tIns="0" rIns="0" bIns="0" rtlCol="0" anchor="t"/>
          <a:lstStyle/>
          <a:p>
            <a:pPr indent="0" marL="0">
              <a:buNone/>
            </a:pPr>
            <a:r>
              <a:rPr lang="en-US" sz="1100" b="1" dirty="0">
                <a:solidFill>
                  <a:srgbClr val="1B4D3E"/>
                </a:solidFill>
                <a:latin typeface="Arial" pitchFamily="34" charset="0"/>
                <a:ea typeface="Arial" pitchFamily="34" charset="-122"/>
                <a:cs typeface="Arial" pitchFamily="34" charset="-120"/>
              </a:rPr>
              <a:t>Zone A · spindle + laser</a:t>
            </a:r>
            <a:endParaRPr lang="en-US" sz="1100" dirty="0"/>
          </a:p>
        </p:txBody>
      </p:sp>
      <p:sp>
        <p:nvSpPr>
          <p:cNvPr id="8" name="Text 6"/>
          <p:cNvSpPr txBox="1"/>
          <p:nvPr/>
        </p:nvSpPr>
        <p:spPr>
          <a:xfrm>
            <a:off x="594360" y="1453896"/>
            <a:ext cx="4892040" cy="256032"/>
          </a:xfrm>
          <a:prstGeom prst="rect">
            <a:avLst/>
          </a:prstGeom>
          <a:noFill/>
          <a:ln/>
        </p:spPr>
        <p:txBody>
          <a:bodyPr wrap="square" lIns="0" tIns="0" rIns="0" bIns="0" rtlCol="0" anchor="t"/>
          <a:lstStyle/>
          <a:p>
            <a:pPr indent="0" marL="0">
              <a:buNone/>
            </a:pPr>
            <a:r>
              <a:rPr lang="en-US" sz="900" dirty="0">
                <a:solidFill>
                  <a:srgbClr val="1D2522"/>
                </a:solidFill>
                <a:latin typeface="Arial" pitchFamily="34" charset="0"/>
                <a:ea typeface="Arial" pitchFamily="34" charset="-122"/>
                <a:cs typeface="Arial" pitchFamily="34" charset="-120"/>
              </a:rPr>
              <a:t>01 Load  ·  02 Probe height map  ·  03 Mill + drill  ·  04 Vacuum clean  ·  10 Laser-cut stencil</a:t>
            </a:r>
            <a:endParaRPr lang="en-US" sz="900" dirty="0"/>
          </a:p>
        </p:txBody>
      </p:sp>
      <p:sp>
        <p:nvSpPr>
          <p:cNvPr id="9" name="Shape 7"/>
          <p:cNvSpPr/>
          <p:nvPr/>
        </p:nvSpPr>
        <p:spPr>
          <a:xfrm>
            <a:off x="457200" y="1828800"/>
            <a:ext cx="5120640" cy="548640"/>
          </a:xfrm>
          <a:prstGeom prst="roundRect">
            <a:avLst>
              <a:gd name="adj" fmla="val 13333"/>
            </a:avLst>
          </a:prstGeom>
          <a:solidFill>
            <a:srgbClr val="E8F1EC"/>
          </a:solidFill>
          <a:ln w="12700">
            <a:solidFill>
              <a:srgbClr val="E8F1EC"/>
            </a:solidFill>
            <a:prstDash val="solid"/>
          </a:ln>
        </p:spPr>
      </p:sp>
      <p:sp>
        <p:nvSpPr>
          <p:cNvPr id="10" name="Text 8"/>
          <p:cNvSpPr txBox="1"/>
          <p:nvPr/>
        </p:nvSpPr>
        <p:spPr>
          <a:xfrm>
            <a:off x="594360" y="1874520"/>
            <a:ext cx="4846320" cy="228600"/>
          </a:xfrm>
          <a:prstGeom prst="rect">
            <a:avLst/>
          </a:prstGeom>
          <a:noFill/>
          <a:ln/>
        </p:spPr>
        <p:txBody>
          <a:bodyPr wrap="square" lIns="0" tIns="0" rIns="0" bIns="0" rtlCol="0" anchor="t"/>
          <a:lstStyle/>
          <a:p>
            <a:pPr indent="0" marL="0">
              <a:buNone/>
            </a:pPr>
            <a:r>
              <a:rPr lang="en-US" sz="1100" b="1" dirty="0">
                <a:solidFill>
                  <a:srgbClr val="1B4D3E"/>
                </a:solidFill>
                <a:latin typeface="Arial" pitchFamily="34" charset="0"/>
                <a:ea typeface="Arial" pitchFamily="34" charset="-122"/>
                <a:cs typeface="Arial" pitchFamily="34" charset="-120"/>
              </a:rPr>
              <a:t>Zone B · mask, UV, wipe</a:t>
            </a:r>
            <a:endParaRPr lang="en-US" sz="1100" dirty="0"/>
          </a:p>
        </p:txBody>
      </p:sp>
      <p:sp>
        <p:nvSpPr>
          <p:cNvPr id="11" name="Text 9"/>
          <p:cNvSpPr txBox="1"/>
          <p:nvPr/>
        </p:nvSpPr>
        <p:spPr>
          <a:xfrm>
            <a:off x="594360" y="2093976"/>
            <a:ext cx="4892040" cy="256032"/>
          </a:xfrm>
          <a:prstGeom prst="rect">
            <a:avLst/>
          </a:prstGeom>
          <a:noFill/>
          <a:ln/>
        </p:spPr>
        <p:txBody>
          <a:bodyPr wrap="square" lIns="0" tIns="0" rIns="0" bIns="0" rtlCol="0" anchor="t"/>
          <a:lstStyle/>
          <a:p>
            <a:pPr indent="0" marL="0">
              <a:buNone/>
            </a:pPr>
            <a:r>
              <a:rPr lang="en-US" sz="900" dirty="0">
                <a:solidFill>
                  <a:srgbClr val="1D2522"/>
                </a:solidFill>
                <a:latin typeface="Arial" pitchFamily="34" charset="0"/>
                <a:ea typeface="Arial" pitchFamily="34" charset="-122"/>
                <a:cs typeface="Arial" pitchFamily="34" charset="-120"/>
              </a:rPr>
              <a:t>06 Coat mask  ·  07 UV image  ·  08 Wipe-develop + air knife  ·  09 Flood cure</a:t>
            </a:r>
            <a:endParaRPr lang="en-US" sz="900" dirty="0"/>
          </a:p>
        </p:txBody>
      </p:sp>
      <p:sp>
        <p:nvSpPr>
          <p:cNvPr id="12" name="Shape 10"/>
          <p:cNvSpPr/>
          <p:nvPr/>
        </p:nvSpPr>
        <p:spPr>
          <a:xfrm>
            <a:off x="457200" y="2468880"/>
            <a:ext cx="5120640" cy="548640"/>
          </a:xfrm>
          <a:prstGeom prst="roundRect">
            <a:avLst>
              <a:gd name="adj" fmla="val 13333"/>
            </a:avLst>
          </a:prstGeom>
          <a:solidFill>
            <a:srgbClr val="E8F1EC"/>
          </a:solidFill>
          <a:ln w="12700">
            <a:solidFill>
              <a:srgbClr val="E8F1EC"/>
            </a:solidFill>
            <a:prstDash val="solid"/>
          </a:ln>
        </p:spPr>
      </p:sp>
      <p:sp>
        <p:nvSpPr>
          <p:cNvPr id="13" name="Text 11"/>
          <p:cNvSpPr txBox="1"/>
          <p:nvPr/>
        </p:nvSpPr>
        <p:spPr>
          <a:xfrm>
            <a:off x="594360" y="2514600"/>
            <a:ext cx="4846320" cy="228600"/>
          </a:xfrm>
          <a:prstGeom prst="rect">
            <a:avLst/>
          </a:prstGeom>
          <a:noFill/>
          <a:ln/>
        </p:spPr>
        <p:txBody>
          <a:bodyPr wrap="square" lIns="0" tIns="0" rIns="0" bIns="0" rtlCol="0" anchor="t"/>
          <a:lstStyle/>
          <a:p>
            <a:pPr indent="0" marL="0">
              <a:buNone/>
            </a:pPr>
            <a:r>
              <a:rPr lang="en-US" sz="1100" b="1" dirty="0">
                <a:solidFill>
                  <a:srgbClr val="1B4D3E"/>
                </a:solidFill>
                <a:latin typeface="Arial" pitchFamily="34" charset="0"/>
                <a:ea typeface="Arial" pitchFamily="34" charset="-122"/>
                <a:cs typeface="Arial" pitchFamily="34" charset="-120"/>
              </a:rPr>
              <a:t>Stencil + paste</a:t>
            </a:r>
            <a:endParaRPr lang="en-US" sz="1100" dirty="0"/>
          </a:p>
        </p:txBody>
      </p:sp>
      <p:sp>
        <p:nvSpPr>
          <p:cNvPr id="14" name="Text 12"/>
          <p:cNvSpPr txBox="1"/>
          <p:nvPr/>
        </p:nvSpPr>
        <p:spPr>
          <a:xfrm>
            <a:off x="594360" y="2734056"/>
            <a:ext cx="4892040" cy="256032"/>
          </a:xfrm>
          <a:prstGeom prst="rect">
            <a:avLst/>
          </a:prstGeom>
          <a:noFill/>
          <a:ln/>
        </p:spPr>
        <p:txBody>
          <a:bodyPr wrap="square" lIns="0" tIns="0" rIns="0" bIns="0" rtlCol="0" anchor="t"/>
          <a:lstStyle/>
          <a:p>
            <a:pPr indent="0" marL="0">
              <a:buNone/>
            </a:pPr>
            <a:r>
              <a:rPr lang="en-US" sz="900" dirty="0">
                <a:solidFill>
                  <a:srgbClr val="1D2522"/>
                </a:solidFill>
                <a:latin typeface="Arial" pitchFamily="34" charset="0"/>
                <a:ea typeface="Arial" pitchFamily="34" charset="-122"/>
                <a:cs typeface="Arial" pitchFamily="34" charset="-120"/>
              </a:rPr>
              <a:t>05 Shuttle to Zone B  ·  11 Film clamp + paste  ·  12 Release, cut, return</a:t>
            </a:r>
            <a:endParaRPr lang="en-US" sz="900" dirty="0"/>
          </a:p>
        </p:txBody>
      </p:sp>
      <p:sp>
        <p:nvSpPr>
          <p:cNvPr id="15" name="Shape 13"/>
          <p:cNvSpPr/>
          <p:nvPr/>
        </p:nvSpPr>
        <p:spPr>
          <a:xfrm>
            <a:off x="457200" y="3108960"/>
            <a:ext cx="5120640" cy="548640"/>
          </a:xfrm>
          <a:prstGeom prst="roundRect">
            <a:avLst>
              <a:gd name="adj" fmla="val 13333"/>
            </a:avLst>
          </a:prstGeom>
          <a:solidFill>
            <a:srgbClr val="F6E7D8"/>
          </a:solidFill>
          <a:ln w="12700">
            <a:solidFill>
              <a:srgbClr val="F6E7D8"/>
            </a:solidFill>
            <a:prstDash val="solid"/>
          </a:ln>
        </p:spPr>
      </p:sp>
      <p:sp>
        <p:nvSpPr>
          <p:cNvPr id="16" name="Text 14"/>
          <p:cNvSpPr txBox="1"/>
          <p:nvPr/>
        </p:nvSpPr>
        <p:spPr>
          <a:xfrm>
            <a:off x="594360" y="3154680"/>
            <a:ext cx="4846320" cy="228600"/>
          </a:xfrm>
          <a:prstGeom prst="rect">
            <a:avLst/>
          </a:prstGeom>
          <a:noFill/>
          <a:ln/>
        </p:spPr>
        <p:txBody>
          <a:bodyPr wrap="square" lIns="0" tIns="0" rIns="0" bIns="0" rtlCol="0" anchor="t"/>
          <a:lstStyle/>
          <a:p>
            <a:pPr indent="0" marL="0">
              <a:buNone/>
            </a:pPr>
            <a:r>
              <a:rPr lang="en-US" sz="1100" b="1" dirty="0">
                <a:solidFill>
                  <a:srgbClr val="1B4D3E"/>
                </a:solidFill>
                <a:latin typeface="Arial" pitchFamily="34" charset="0"/>
                <a:ea typeface="Arial" pitchFamily="34" charset="-122"/>
                <a:cs typeface="Arial" pitchFamily="34" charset="-120"/>
              </a:rPr>
              <a:t>Operator</a:t>
            </a:r>
            <a:endParaRPr lang="en-US" sz="1100" dirty="0"/>
          </a:p>
        </p:txBody>
      </p:sp>
      <p:sp>
        <p:nvSpPr>
          <p:cNvPr id="17" name="Text 15"/>
          <p:cNvSpPr txBox="1"/>
          <p:nvPr/>
        </p:nvSpPr>
        <p:spPr>
          <a:xfrm>
            <a:off x="594360" y="3374136"/>
            <a:ext cx="4892040" cy="256032"/>
          </a:xfrm>
          <a:prstGeom prst="rect">
            <a:avLst/>
          </a:prstGeom>
          <a:noFill/>
          <a:ln/>
        </p:spPr>
        <p:txBody>
          <a:bodyPr wrap="square" lIns="0" tIns="0" rIns="0" bIns="0" rtlCol="0" anchor="t"/>
          <a:lstStyle/>
          <a:p>
            <a:pPr indent="0" marL="0">
              <a:buNone/>
            </a:pPr>
            <a:r>
              <a:rPr lang="en-US" sz="900" dirty="0">
                <a:solidFill>
                  <a:srgbClr val="1D2522"/>
                </a:solidFill>
                <a:latin typeface="Arial" pitchFamily="34" charset="0"/>
                <a:ea typeface="Arial" pitchFamily="34" charset="-122"/>
                <a:cs typeface="Arial" pitchFamily="34" charset="-120"/>
              </a:rPr>
              <a:t>13 Place parts with a vacuum pen into a printed jig  ·  14 Hotplate reflow</a:t>
            </a:r>
            <a:endParaRPr lang="en-US" sz="900" dirty="0"/>
          </a:p>
        </p:txBody>
      </p:sp>
      <p:sp>
        <p:nvSpPr>
          <p:cNvPr id="18" name="Shape 16"/>
          <p:cNvSpPr/>
          <p:nvPr/>
        </p:nvSpPr>
        <p:spPr>
          <a:xfrm>
            <a:off x="457200" y="3749040"/>
            <a:ext cx="5120640" cy="548640"/>
          </a:xfrm>
          <a:prstGeom prst="roundRect">
            <a:avLst>
              <a:gd name="adj" fmla="val 13333"/>
            </a:avLst>
          </a:prstGeom>
          <a:solidFill>
            <a:srgbClr val="F6E7D8"/>
          </a:solidFill>
          <a:ln w="12700">
            <a:solidFill>
              <a:srgbClr val="F6E7D8"/>
            </a:solidFill>
            <a:prstDash val="solid"/>
          </a:ln>
        </p:spPr>
      </p:sp>
      <p:sp>
        <p:nvSpPr>
          <p:cNvPr id="19" name="Text 17"/>
          <p:cNvSpPr txBox="1"/>
          <p:nvPr/>
        </p:nvSpPr>
        <p:spPr>
          <a:xfrm>
            <a:off x="594360" y="3794760"/>
            <a:ext cx="4846320" cy="228600"/>
          </a:xfrm>
          <a:prstGeom prst="rect">
            <a:avLst/>
          </a:prstGeom>
          <a:noFill/>
          <a:ln/>
        </p:spPr>
        <p:txBody>
          <a:bodyPr wrap="square" lIns="0" tIns="0" rIns="0" bIns="0" rtlCol="0" anchor="t"/>
          <a:lstStyle/>
          <a:p>
            <a:pPr indent="0" marL="0">
              <a:buNone/>
            </a:pPr>
            <a:r>
              <a:rPr lang="en-US" sz="1100" b="1" dirty="0">
                <a:solidFill>
                  <a:srgbClr val="1B4D3E"/>
                </a:solidFill>
                <a:latin typeface="Arial" pitchFamily="34" charset="0"/>
                <a:ea typeface="Arial" pitchFamily="34" charset="-122"/>
                <a:cs typeface="Arial" pitchFamily="34" charset="-120"/>
              </a:rPr>
              <a:t>Mixer</a:t>
            </a:r>
            <a:endParaRPr lang="en-US" sz="1100" dirty="0"/>
          </a:p>
        </p:txBody>
      </p:sp>
      <p:sp>
        <p:nvSpPr>
          <p:cNvPr id="20" name="Text 18"/>
          <p:cNvSpPr txBox="1"/>
          <p:nvPr/>
        </p:nvSpPr>
        <p:spPr>
          <a:xfrm>
            <a:off x="594360" y="4014216"/>
            <a:ext cx="4892040" cy="256032"/>
          </a:xfrm>
          <a:prstGeom prst="rect">
            <a:avLst/>
          </a:prstGeom>
          <a:noFill/>
          <a:ln/>
        </p:spPr>
        <p:txBody>
          <a:bodyPr wrap="square" lIns="0" tIns="0" rIns="0" bIns="0" rtlCol="0" anchor="t"/>
          <a:lstStyle/>
          <a:p>
            <a:pPr indent="0" marL="0">
              <a:buNone/>
            </a:pPr>
            <a:r>
              <a:rPr lang="en-US" sz="900" dirty="0">
                <a:solidFill>
                  <a:srgbClr val="1D2522"/>
                </a:solidFill>
                <a:latin typeface="Arial" pitchFamily="34" charset="0"/>
                <a:ea typeface="Arial" pitchFamily="34" charset="-122"/>
                <a:cs typeface="Arial" pitchFamily="34" charset="-120"/>
              </a:rPr>
              <a:t>15 One cable, eight instruments; Proto reads the results</a:t>
            </a:r>
            <a:endParaRPr lang="en-US" sz="900" dirty="0"/>
          </a:p>
        </p:txBody>
      </p:sp>
      <p:sp>
        <p:nvSpPr>
          <p:cNvPr id="21" name="Shape 19"/>
          <p:cNvSpPr/>
          <p:nvPr/>
        </p:nvSpPr>
        <p:spPr>
          <a:xfrm>
            <a:off x="5852160" y="1188720"/>
            <a:ext cx="2834640" cy="3108960"/>
          </a:xfrm>
          <a:prstGeom prst="roundRect">
            <a:avLst>
              <a:gd name="adj" fmla="val 2581"/>
            </a:avLst>
          </a:prstGeom>
          <a:solidFill>
            <a:srgbClr val="0F2A22"/>
          </a:solidFill>
          <a:ln w="12700">
            <a:solidFill>
              <a:srgbClr val="0F2A22"/>
            </a:solidFill>
            <a:prstDash val="solid"/>
          </a:ln>
        </p:spPr>
      </p:sp>
      <p:sp>
        <p:nvSpPr>
          <p:cNvPr id="22" name="Text 20"/>
          <p:cNvSpPr txBox="1"/>
          <p:nvPr/>
        </p:nvSpPr>
        <p:spPr>
          <a:xfrm>
            <a:off x="6035040" y="1325880"/>
            <a:ext cx="2560320" cy="274320"/>
          </a:xfrm>
          <a:prstGeom prst="rect">
            <a:avLst/>
          </a:prstGeom>
          <a:noFill/>
          <a:ln/>
        </p:spPr>
        <p:txBody>
          <a:bodyPr wrap="square" lIns="0" tIns="0" rIns="0" bIns="0" rtlCol="0" anchor="t"/>
          <a:lstStyle/>
          <a:p>
            <a:pPr indent="0" marL="0">
              <a:buNone/>
            </a:pPr>
            <a:r>
              <a:rPr lang="en-US" sz="1300" b="1" dirty="0">
                <a:solidFill>
                  <a:srgbClr val="C8793A"/>
                </a:solidFill>
                <a:latin typeface="Arial" pitchFamily="34" charset="0"/>
                <a:ea typeface="Arial" pitchFamily="34" charset="-122"/>
                <a:cs typeface="Arial" pitchFamily="34" charset="-120"/>
              </a:rPr>
              <a:t>Why it's different</a:t>
            </a:r>
            <a:endParaRPr lang="en-US" sz="1300" dirty="0"/>
          </a:p>
        </p:txBody>
      </p:sp>
      <p:sp>
        <p:nvSpPr>
          <p:cNvPr id="23" name="Text 21"/>
          <p:cNvSpPr txBox="1"/>
          <p:nvPr/>
        </p:nvSpPr>
        <p:spPr>
          <a:xfrm>
            <a:off x="6035040" y="1691640"/>
            <a:ext cx="2514600" cy="2560320"/>
          </a:xfrm>
          <a:prstGeom prst="rect">
            <a:avLst/>
          </a:prstGeom>
          <a:noFill/>
          <a:ln/>
        </p:spPr>
        <p:txBody>
          <a:bodyPr wrap="square" lIns="0" tIns="0" rIns="0" bIns="0" rtlCol="0" anchor="t"/>
          <a:lstStyle/>
          <a:p>
            <a:pPr marL="152400" indent="-152400">
              <a:spcAft>
                <a:spcPts val="400"/>
              </a:spcAft>
              <a:buSzPct val="100000"/>
              <a:buChar char="•"/>
            </a:pPr>
            <a:r>
              <a:rPr lang="en-US" sz="1000" dirty="0">
                <a:solidFill>
                  <a:srgbClr val="FFFFFF"/>
                </a:solidFill>
                <a:latin typeface="Arial" pitchFamily="34" charset="0"/>
                <a:ea typeface="Arial" pitchFamily="34" charset="-122"/>
                <a:cs typeface="Arial" pitchFamily="34" charset="-120"/>
              </a:rPr>
              <a:t>One shuttle, one fixture, one coordinate frame from bare FR4 to paste</a:t>
            </a:r>
            <a:endParaRPr lang="en-US" sz="1000" dirty="0"/>
          </a:p>
          <a:p>
            <a:pPr marL="152400" indent="-152400">
              <a:spcAft>
                <a:spcPts val="400"/>
              </a:spcAft>
              <a:buSzPct val="100000"/>
              <a:buChar char="•"/>
            </a:pPr>
            <a:r>
              <a:rPr lang="en-US" sz="1000" dirty="0">
                <a:solidFill>
                  <a:srgbClr val="FFFFFF"/>
                </a:solidFill>
                <a:latin typeface="Arial" pitchFamily="34" charset="0"/>
                <a:ea typeface="Arial" pitchFamily="34" charset="-122"/>
                <a:cs typeface="Arial" pitchFamily="34" charset="-120"/>
              </a:rPr>
              <a:t>Stencil cut from the same Gerber in the same frame: no stencil alignment step</a:t>
            </a:r>
            <a:endParaRPr lang="en-US" sz="1000" dirty="0"/>
          </a:p>
          <a:p>
            <a:pPr marL="152400" indent="-152400">
              <a:spcAft>
                <a:spcPts val="400"/>
              </a:spcAft>
              <a:buSzPct val="100000"/>
              <a:buChar char="•"/>
            </a:pPr>
            <a:r>
              <a:rPr lang="en-US" sz="1000" dirty="0">
                <a:solidFill>
                  <a:srgbClr val="FFFFFF"/>
                </a:solidFill>
                <a:latin typeface="Arial" pitchFamily="34" charset="0"/>
                <a:ea typeface="Arial" pitchFamily="34" charset="-122"/>
                <a:cs typeface="Arial" pitchFamily="34" charset="-120"/>
              </a:rPr>
              <a:t>Placement jig prints while steps 01–12 run</a:t>
            </a:r>
            <a:endParaRPr lang="en-US" sz="1000" dirty="0"/>
          </a:p>
          <a:p>
            <a:pPr marL="152400" indent="-152400">
              <a:spcAft>
                <a:spcPts val="400"/>
              </a:spcAft>
              <a:buSzPct val="100000"/>
              <a:buChar char="•"/>
            </a:pPr>
            <a:r>
              <a:rPr lang="en-US" sz="1000" dirty="0">
                <a:solidFill>
                  <a:srgbClr val="FFFFFF"/>
                </a:solidFill>
                <a:latin typeface="Arial" pitchFamily="34" charset="0"/>
                <a:ea typeface="Arial" pitchFamily="34" charset="-122"/>
                <a:cs typeface="Arial" pitchFamily="34" charset="-120"/>
              </a:rPr>
              <a:t>Mask, stencil, paste and reflow in one box. A mill does none of these</a:t>
            </a:r>
            <a:endParaRPr lang="en-US" sz="1000" dirty="0"/>
          </a:p>
        </p:txBody>
      </p:sp>
      <p:sp>
        <p:nvSpPr>
          <p:cNvPr id="24" name="Text 22"/>
          <p:cNvSpPr txBox="1"/>
          <p:nvPr/>
        </p:nvSpPr>
        <p:spPr>
          <a:xfrm>
            <a:off x="457200" y="4434840"/>
            <a:ext cx="8229600" cy="274320"/>
          </a:xfrm>
          <a:prstGeom prst="rect">
            <a:avLst/>
          </a:prstGeom>
          <a:noFill/>
          <a:ln/>
        </p:spPr>
        <p:txBody>
          <a:bodyPr wrap="square" lIns="0" tIns="0" rIns="0" bIns="0" rtlCol="0" anchor="t"/>
          <a:lstStyle/>
          <a:p>
            <a:pPr indent="0" marL="0">
              <a:buNone/>
            </a:pPr>
            <a:r>
              <a:rPr lang="en-US" sz="950" i="1" dirty="0">
                <a:solidFill>
                  <a:srgbClr val="5E6B66"/>
                </a:solidFill>
                <a:latin typeface="Arial" pitchFamily="34" charset="0"/>
                <a:ea typeface="Arial" pitchFamily="34" charset="-122"/>
                <a:cs typeface="Arial" pitchFamily="34" charset="-120"/>
              </a:rPr>
              <a:t>Board: 100 × 160 mm copper-clad FR4, fed from a magazine onto two registration pins.</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201168"/>
          </a:xfrm>
          <a:prstGeom prst="rect">
            <a:avLst/>
          </a:prstGeom>
          <a:noFill/>
          <a:ln/>
        </p:spPr>
        <p:txBody>
          <a:bodyPr wrap="square" lIns="0" tIns="0" rIns="0" bIns="0" rtlCol="0" anchor="t"/>
          <a:lstStyle/>
          <a:p>
            <a:pPr indent="0" marL="0">
              <a:buNone/>
            </a:pPr>
            <a:r>
              <a:rPr lang="en-US" sz="900" b="1" spc="200" kern="0" dirty="0">
                <a:solidFill>
                  <a:srgbClr val="C8793A"/>
                </a:solidFill>
                <a:latin typeface="Arial" pitchFamily="34" charset="0"/>
                <a:ea typeface="Arial" pitchFamily="34" charset="-122"/>
                <a:cs typeface="Arial" pitchFamily="34" charset="-120"/>
              </a:rPr>
              <a:t>TECH STACK · BAKER</a:t>
            </a:r>
            <a:endParaRPr lang="en-US" sz="900" dirty="0"/>
          </a:p>
        </p:txBody>
      </p:sp>
      <p:sp>
        <p:nvSpPr>
          <p:cNvPr id="3" name="Text 1"/>
          <p:cNvSpPr txBox="1"/>
          <p:nvPr/>
        </p:nvSpPr>
        <p:spPr>
          <a:xfrm>
            <a:off x="457200" y="457200"/>
            <a:ext cx="8229600" cy="566928"/>
          </a:xfrm>
          <a:prstGeom prst="rect">
            <a:avLst/>
          </a:prstGeom>
          <a:noFill/>
          <a:ln/>
        </p:spPr>
        <p:txBody>
          <a:bodyPr wrap="square" lIns="0" tIns="0" rIns="0" bIns="0" rtlCol="0" anchor="ctr">
            <a:normAutofit/>
          </a:bodyPr>
          <a:lstStyle/>
          <a:p>
            <a:pPr indent="0" marL="0">
              <a:buNone/>
            </a:pPr>
            <a:r>
              <a:rPr lang="en-US" sz="2200" b="1" dirty="0">
                <a:solidFill>
                  <a:srgbClr val="0F2A22"/>
                </a:solidFill>
                <a:latin typeface="Arial" pitchFamily="34" charset="0"/>
                <a:ea typeface="Arial" pitchFamily="34" charset="-122"/>
                <a:cs typeface="Arial" pitchFamily="34" charset="-120"/>
              </a:rPr>
              <a:t>Baker tech stack (1/2): motion, cutting, masking</a:t>
            </a:r>
            <a:endParaRPr lang="en-US" sz="2200" dirty="0"/>
          </a:p>
        </p:txBody>
      </p:sp>
      <p:sp>
        <p:nvSpPr>
          <p:cNvPr id="4" name="Text 2"/>
          <p:cNvSpPr txBox="1"/>
          <p:nvPr/>
        </p:nvSpPr>
        <p:spPr>
          <a:xfrm>
            <a:off x="8321040" y="4828032"/>
            <a:ext cx="365760" cy="182880"/>
          </a:xfrm>
          <a:prstGeom prst="rect">
            <a:avLst/>
          </a:prstGeom>
          <a:noFill/>
          <a:ln/>
        </p:spPr>
        <p:txBody>
          <a:bodyPr wrap="square" lIns="0" tIns="0" rIns="0" bIns="0" rtlCol="0" anchor="t"/>
          <a:lstStyle/>
          <a:p>
            <a:pPr algn="r" indent="0" marL="0">
              <a:buNone/>
            </a:pPr>
            <a:r>
              <a:rPr lang="en-US" sz="800" dirty="0">
                <a:solidFill>
                  <a:srgbClr val="5E6B66"/>
                </a:solidFill>
                <a:latin typeface="Arial" pitchFamily="34" charset="0"/>
                <a:ea typeface="Arial" pitchFamily="34" charset="-122"/>
                <a:cs typeface="Arial" pitchFamily="34" charset="-120"/>
              </a:rPr>
              <a:t>10</a:t>
            </a:r>
            <a:endParaRPr lang="en-US" sz="800" dirty="0"/>
          </a:p>
        </p:txBody>
      </p:sp>
      <p:sp>
        <p:nvSpPr>
          <p:cNvPr id="5" name="Text 3"/>
          <p:cNvSpPr txBox="1"/>
          <p:nvPr/>
        </p:nvSpPr>
        <p:spPr>
          <a:xfrm>
            <a:off x="457200" y="4828032"/>
            <a:ext cx="2743200" cy="182880"/>
          </a:xfrm>
          <a:prstGeom prst="rect">
            <a:avLst/>
          </a:prstGeom>
          <a:noFill/>
          <a:ln/>
        </p:spPr>
        <p:txBody>
          <a:bodyPr wrap="square" lIns="0" tIns="0" rIns="0" bIns="0" rtlCol="0" anchor="t"/>
          <a:lstStyle/>
          <a:p>
            <a:pPr indent="0" marL="0">
              <a:buNone/>
            </a:pPr>
            <a:r>
              <a:rPr lang="en-US" sz="800" dirty="0">
                <a:solidFill>
                  <a:srgbClr val="5E6B66"/>
                </a:solidFill>
                <a:latin typeface="Arial" pitchFamily="34" charset="0"/>
                <a:ea typeface="Arial" pitchFamily="34" charset="-122"/>
                <a:cs typeface="Arial" pitchFamily="34" charset="-120"/>
              </a:rPr>
              <a:t>Protopulse · pitch v2</a:t>
            </a:r>
            <a:endParaRPr lang="en-US" sz="8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8229600" cy="914400"/>
        </p:xfrm>
        <a:graphic>
          <a:graphicData uri="http://schemas.openxmlformats.org/drawingml/2006/table">
            <a:tbl>
              <a:tblPr/>
              <a:tblGrid>
                <a:gridCol w="1143000"/>
                <a:gridCol w="2788920"/>
                <a:gridCol w="2240280"/>
                <a:gridCol w="2057400"/>
              </a:tblGrid>
              <a:tr h="274320">
                <a:tc>
                  <a:txBody>
                    <a:bodyPr/>
                    <a:lstStyle/>
                    <a:p>
                      <a:pPr indent="0" marL="0">
                        <a:buNone/>
                      </a:pPr>
                      <a:r>
                        <a:rPr lang="en-US" sz="850" b="1" dirty="0">
                          <a:solidFill>
                            <a:srgbClr val="FFFFFF"/>
                          </a:solidFill>
                          <a:latin typeface="Arial" pitchFamily="34" charset="0"/>
                          <a:ea typeface="Arial" pitchFamily="34" charset="-122"/>
                          <a:cs typeface="Arial" pitchFamily="34" charset="-120"/>
                        </a:rPr>
                        <a:t>Subsystem</a:t>
                      </a:r>
                      <a:endParaRPr lang="en-US" sz="8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1B4D3E"/>
                    </a:solidFill>
                  </a:tcPr>
                </a:tc>
                <a:tc>
                  <a:txBody>
                    <a:bodyPr/>
                    <a:lstStyle/>
                    <a:p>
                      <a:pPr indent="0" marL="0">
                        <a:buNone/>
                      </a:pPr>
                      <a:r>
                        <a:rPr lang="en-US" sz="850" b="1" dirty="0">
                          <a:solidFill>
                            <a:srgbClr val="FFFFFF"/>
                          </a:solidFill>
                          <a:latin typeface="Arial" pitchFamily="34" charset="0"/>
                          <a:ea typeface="Arial" pitchFamily="34" charset="-122"/>
                          <a:cs typeface="Arial" pitchFamily="34" charset="-120"/>
                        </a:rPr>
                        <a:t>Prototype build</a:t>
                      </a:r>
                      <a:endParaRPr lang="en-US" sz="8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1B4D3E"/>
                    </a:solidFill>
                  </a:tcPr>
                </a:tc>
                <a:tc>
                  <a:txBody>
                    <a:bodyPr/>
                    <a:lstStyle/>
                    <a:p>
                      <a:pPr indent="0" marL="0">
                        <a:buNone/>
                      </a:pPr>
                      <a:r>
                        <a:rPr lang="en-US" sz="850" b="1" dirty="0">
                          <a:solidFill>
                            <a:srgbClr val="FFFFFF"/>
                          </a:solidFill>
                          <a:latin typeface="Arial" pitchFamily="34" charset="0"/>
                          <a:ea typeface="Arial" pitchFamily="34" charset="-122"/>
                          <a:cs typeface="Arial" pitchFamily="34" charset="-120"/>
                        </a:rPr>
                        <a:t>Production direction</a:t>
                      </a:r>
                      <a:endParaRPr lang="en-US" sz="8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1B4D3E"/>
                    </a:solidFill>
                  </a:tcPr>
                </a:tc>
                <a:tc>
                  <a:txBody>
                    <a:bodyPr/>
                    <a:lstStyle/>
                    <a:p>
                      <a:pPr indent="0" marL="0">
                        <a:buNone/>
                      </a:pPr>
                      <a:r>
                        <a:rPr lang="en-US" sz="850" b="1" dirty="0">
                          <a:solidFill>
                            <a:srgbClr val="FFFFFF"/>
                          </a:solidFill>
                          <a:latin typeface="Arial" pitchFamily="34" charset="0"/>
                          <a:ea typeface="Arial" pitchFamily="34" charset="-122"/>
                          <a:cs typeface="Arial" pitchFamily="34" charset="-120"/>
                        </a:rPr>
                        <a:t>Why</a:t>
                      </a:r>
                      <a:endParaRPr lang="en-US" sz="8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1B4D3E"/>
                    </a:solidFill>
                  </a:tcPr>
                </a:tc>
              </a:tr>
              <a:tr h="274320">
                <a:tc>
                  <a:txBody>
                    <a:bodyPr/>
                    <a:lstStyle/>
                    <a:p>
                      <a:pPr indent="0" marL="0">
                        <a:buNone/>
                      </a:pPr>
                      <a:r>
                        <a:rPr lang="en-US" sz="850" b="1" dirty="0">
                          <a:solidFill>
                            <a:srgbClr val="1D2522"/>
                          </a:solidFill>
                          <a:latin typeface="Arial" pitchFamily="34" charset="0"/>
                          <a:ea typeface="Arial" pitchFamily="34" charset="-122"/>
                          <a:cs typeface="Arial" pitchFamily="34" charset="-120"/>
                        </a:rPr>
                        <a:t>Frame</a:t>
                      </a:r>
                      <a:endParaRPr lang="en-US" sz="8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c>
                  <a:txBody>
                    <a:bodyPr/>
                    <a:lstStyle/>
                    <a:p>
                      <a:pPr indent="0" marL="0">
                        <a:buNone/>
                      </a:pPr>
                      <a:r>
                        <a:rPr lang="en-US" sz="850" dirty="0">
                          <a:solidFill>
                            <a:srgbClr val="1D2522"/>
                          </a:solidFill>
                          <a:latin typeface="Arial" pitchFamily="34" charset="0"/>
                          <a:ea typeface="Arial" pitchFamily="34" charset="-122"/>
                          <a:cs typeface="Arial" pitchFamily="34" charset="-120"/>
                        </a:rPr>
                        <a:t>20×40 T-slot, 6 mm 6061 plate, 3 mm acrylic, orange 450 nm window</a:t>
                      </a:r>
                      <a:endParaRPr lang="en-US" sz="8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c>
                  <a:txBody>
                    <a:bodyPr/>
                    <a:lstStyle/>
                    <a:p>
                      <a:pPr indent="0" marL="0">
                        <a:buNone/>
                      </a:pPr>
                      <a:r>
                        <a:rPr lang="en-US" sz="850" dirty="0">
                          <a:solidFill>
                            <a:srgbClr val="1D2522"/>
                          </a:solidFill>
                          <a:latin typeface="Arial" pitchFamily="34" charset="0"/>
                          <a:ea typeface="Arial" pitchFamily="34" charset="-122"/>
                          <a:cs typeface="Arial" pitchFamily="34" charset="-120"/>
                        </a:rPr>
                        <a:t>Sheet-metal frame + acrylic panels</a:t>
                      </a:r>
                      <a:endParaRPr lang="en-US" sz="8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c>
                  <a:txBody>
                    <a:bodyPr/>
                    <a:lstStyle/>
                    <a:p>
                      <a:pPr indent="0" marL="0">
                        <a:buNone/>
                      </a:pPr>
                      <a:r>
                        <a:rPr lang="en-US" sz="850" dirty="0">
                          <a:solidFill>
                            <a:srgbClr val="1D2522"/>
                          </a:solidFill>
                          <a:latin typeface="Arial" pitchFamily="34" charset="0"/>
                          <a:ea typeface="Arial" pitchFamily="34" charset="-122"/>
                          <a:cs typeface="Arial" pitchFamily="34" charset="-120"/>
                        </a:rPr>
                        <a:t>Rigidity; laser-safe viewing</a:t>
                      </a:r>
                      <a:endParaRPr lang="en-US" sz="8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r>
              <a:tr h="274320">
                <a:tc>
                  <a:txBody>
                    <a:bodyPr/>
                    <a:lstStyle/>
                    <a:p>
                      <a:pPr indent="0" marL="0">
                        <a:buNone/>
                      </a:pPr>
                      <a:r>
                        <a:rPr lang="en-US" sz="850" b="1" dirty="0">
                          <a:solidFill>
                            <a:srgbClr val="1D2522"/>
                          </a:solidFill>
                          <a:latin typeface="Arial" pitchFamily="34" charset="0"/>
                          <a:ea typeface="Arial" pitchFamily="34" charset="-122"/>
                          <a:cs typeface="Arial" pitchFamily="34" charset="-120"/>
                        </a:rPr>
                        <a:t>Motion X/Y</a:t>
                      </a:r>
                      <a:endParaRPr lang="en-US" sz="8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c>
                  <a:txBody>
                    <a:bodyPr/>
                    <a:lstStyle/>
                    <a:p>
                      <a:pPr indent="0" marL="0">
                        <a:buNone/>
                      </a:pPr>
                      <a:r>
                        <a:rPr lang="en-US" sz="850" dirty="0">
                          <a:solidFill>
                            <a:srgbClr val="1D2522"/>
                          </a:solidFill>
                          <a:latin typeface="Arial" pitchFamily="34" charset="0"/>
                          <a:ea typeface="Arial" pitchFamily="34" charset="-122"/>
                          <a:cs typeface="Arial" pitchFamily="34" charset="-120"/>
                        </a:rPr>
                        <a:t>3 ball-screw stages 200–300 mm, NEMA23 + DM556</a:t>
                      </a:r>
                      <a:endParaRPr lang="en-US" sz="8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c>
                  <a:txBody>
                    <a:bodyPr/>
                    <a:lstStyle/>
                    <a:p>
                      <a:pPr indent="0" marL="0">
                        <a:buNone/>
                      </a:pPr>
                      <a:r>
                        <a:rPr lang="en-US" sz="850" dirty="0">
                          <a:solidFill>
                            <a:srgbClr val="1D2522"/>
                          </a:solidFill>
                          <a:latin typeface="Arial" pitchFamily="34" charset="0"/>
                          <a:ea typeface="Arial" pitchFamily="34" charset="-122"/>
                          <a:cs typeface="Arial" pitchFamily="34" charset="-120"/>
                        </a:rPr>
                        <a:t>SFU1605 ball screws on HGR15 rails, NEMA23 1.26 Nm</a:t>
                      </a:r>
                      <a:endParaRPr lang="en-US" sz="8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c>
                  <a:txBody>
                    <a:bodyPr/>
                    <a:lstStyle/>
                    <a:p>
                      <a:pPr indent="0" marL="0">
                        <a:buNone/>
                      </a:pPr>
                      <a:r>
                        <a:rPr lang="en-US" sz="850" dirty="0">
                          <a:solidFill>
                            <a:srgbClr val="1D2522"/>
                          </a:solidFill>
                          <a:latin typeface="Arial" pitchFamily="34" charset="0"/>
                          <a:ea typeface="Arial" pitchFamily="34" charset="-122"/>
                          <a:cs typeface="Arial" pitchFamily="34" charset="-120"/>
                        </a:rPr>
                        <a:t>≈₹5,500 per axis instead of ₹16,500</a:t>
                      </a:r>
                      <a:endParaRPr lang="en-US" sz="8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r>
              <a:tr h="274320">
                <a:tc>
                  <a:txBody>
                    <a:bodyPr/>
                    <a:lstStyle/>
                    <a:p>
                      <a:pPr indent="0" marL="0">
                        <a:buNone/>
                      </a:pPr>
                      <a:r>
                        <a:rPr lang="en-US" sz="850" b="1" dirty="0">
                          <a:solidFill>
                            <a:srgbClr val="1D2522"/>
                          </a:solidFill>
                          <a:latin typeface="Arial" pitchFamily="34" charset="0"/>
                          <a:ea typeface="Arial" pitchFamily="34" charset="-122"/>
                          <a:cs typeface="Arial" pitchFamily="34" charset="-120"/>
                        </a:rPr>
                        <a:t>Motion Z (×2)</a:t>
                      </a:r>
                      <a:endParaRPr lang="en-US" sz="8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c>
                  <a:txBody>
                    <a:bodyPr/>
                    <a:lstStyle/>
                    <a:p>
                      <a:pPr indent="0" marL="0">
                        <a:buNone/>
                      </a:pPr>
                      <a:r>
                        <a:rPr lang="en-US" sz="850" dirty="0">
                          <a:solidFill>
                            <a:srgbClr val="1D2522"/>
                          </a:solidFill>
                          <a:latin typeface="Arial" pitchFamily="34" charset="0"/>
                          <a:ea typeface="Arial" pitchFamily="34" charset="-122"/>
                          <a:cs typeface="Arial" pitchFamily="34" charset="-120"/>
                        </a:rPr>
                        <a:t>100 mm SFU1605 stage + NEMA17</a:t>
                      </a:r>
                      <a:endParaRPr lang="en-US" sz="8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c>
                  <a:txBody>
                    <a:bodyPr/>
                    <a:lstStyle/>
                    <a:p>
                      <a:pPr indent="0" marL="0">
                        <a:buNone/>
                      </a:pPr>
                      <a:r>
                        <a:rPr lang="en-US" sz="850" dirty="0">
                          <a:solidFill>
                            <a:srgbClr val="1D2522"/>
                          </a:solidFill>
                          <a:latin typeface="Arial" pitchFamily="34" charset="0"/>
                          <a:ea typeface="Arial" pitchFamily="34" charset="-122"/>
                          <a:cs typeface="Arial" pitchFamily="34" charset="-120"/>
                        </a:rPr>
                        <a:t>T8 screw + linear guide</a:t>
                      </a:r>
                      <a:endParaRPr lang="en-US" sz="8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c>
                  <a:txBody>
                    <a:bodyPr/>
                    <a:lstStyle/>
                    <a:p>
                      <a:pPr indent="0" marL="0">
                        <a:buNone/>
                      </a:pPr>
                      <a:r>
                        <a:rPr lang="en-US" sz="850" dirty="0">
                          <a:solidFill>
                            <a:srgbClr val="1D2522"/>
                          </a:solidFill>
                          <a:latin typeface="Arial" pitchFamily="34" charset="0"/>
                          <a:ea typeface="Arial" pitchFamily="34" charset="-122"/>
                          <a:cs typeface="Arial" pitchFamily="34" charset="-120"/>
                        </a:rPr>
                        <a:t>Spindle/laser Z and dispense Z</a:t>
                      </a:r>
                      <a:endParaRPr lang="en-US" sz="8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r>
              <a:tr h="274320">
                <a:tc>
                  <a:txBody>
                    <a:bodyPr/>
                    <a:lstStyle/>
                    <a:p>
                      <a:pPr indent="0" marL="0">
                        <a:buNone/>
                      </a:pPr>
                      <a:r>
                        <a:rPr lang="en-US" sz="850" b="1" dirty="0">
                          <a:solidFill>
                            <a:srgbClr val="1D2522"/>
                          </a:solidFill>
                          <a:latin typeface="Arial" pitchFamily="34" charset="0"/>
                          <a:ea typeface="Arial" pitchFamily="34" charset="-122"/>
                          <a:cs typeface="Arial" pitchFamily="34" charset="-120"/>
                        </a:rPr>
                        <a:t>Height map</a:t>
                      </a:r>
                      <a:endParaRPr lang="en-US" sz="8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c>
                  <a:txBody>
                    <a:bodyPr/>
                    <a:lstStyle/>
                    <a:p>
                      <a:pPr indent="0" marL="0">
                        <a:buNone/>
                      </a:pPr>
                      <a:r>
                        <a:rPr lang="en-US" sz="850" dirty="0">
                          <a:solidFill>
                            <a:srgbClr val="1D2522"/>
                          </a:solidFill>
                          <a:latin typeface="Arial" pitchFamily="34" charset="0"/>
                          <a:ea typeface="Arial" pitchFamily="34" charset="-122"/>
                          <a:cs typeface="Arial" pitchFamily="34" charset="-120"/>
                        </a:rPr>
                        <a:t>Pogo-pin touch probe, grid probing</a:t>
                      </a:r>
                      <a:endParaRPr lang="en-US" sz="8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c>
                  <a:txBody>
                    <a:bodyPr/>
                    <a:lstStyle/>
                    <a:p>
                      <a:pPr indent="0" marL="0">
                        <a:buNone/>
                      </a:pPr>
                      <a:r>
                        <a:rPr lang="en-US" sz="850" dirty="0">
                          <a:solidFill>
                            <a:srgbClr val="1D2522"/>
                          </a:solidFill>
                          <a:latin typeface="Arial" pitchFamily="34" charset="0"/>
                          <a:ea typeface="Arial" pitchFamily="34" charset="-122"/>
                          <a:cs typeface="Arial" pitchFamily="34" charset="-120"/>
                        </a:rPr>
                        <a:t>Same</a:t>
                      </a:r>
                      <a:endParaRPr lang="en-US" sz="8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c>
                  <a:txBody>
                    <a:bodyPr/>
                    <a:lstStyle/>
                    <a:p>
                      <a:pPr indent="0" marL="0">
                        <a:buNone/>
                      </a:pPr>
                      <a:r>
                        <a:rPr lang="en-US" sz="850" dirty="0">
                          <a:solidFill>
                            <a:srgbClr val="1D2522"/>
                          </a:solidFill>
                          <a:latin typeface="Arial" pitchFamily="34" charset="0"/>
                          <a:ea typeface="Arial" pitchFamily="34" charset="-122"/>
                          <a:cs typeface="Arial" pitchFamily="34" charset="-120"/>
                        </a:rPr>
                        <a:t>FR4 isn't flat; cut depth follows the map</a:t>
                      </a:r>
                      <a:endParaRPr lang="en-US" sz="8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r>
              <a:tr h="274320">
                <a:tc>
                  <a:txBody>
                    <a:bodyPr/>
                    <a:lstStyle/>
                    <a:p>
                      <a:pPr indent="0" marL="0">
                        <a:buNone/>
                      </a:pPr>
                      <a:r>
                        <a:rPr lang="en-US" sz="850" b="1" dirty="0">
                          <a:solidFill>
                            <a:srgbClr val="1D2522"/>
                          </a:solidFill>
                          <a:latin typeface="Arial" pitchFamily="34" charset="0"/>
                          <a:ea typeface="Arial" pitchFamily="34" charset="-122"/>
                          <a:cs typeface="Arial" pitchFamily="34" charset="-120"/>
                        </a:rPr>
                        <a:t>Spindle</a:t>
                      </a:r>
                      <a:endParaRPr lang="en-US" sz="8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c>
                  <a:txBody>
                    <a:bodyPr/>
                    <a:lstStyle/>
                    <a:p>
                      <a:pPr indent="0" marL="0">
                        <a:buNone/>
                      </a:pPr>
                      <a:r>
                        <a:rPr lang="en-US" sz="850" dirty="0">
                          <a:solidFill>
                            <a:srgbClr val="1D2522"/>
                          </a:solidFill>
                          <a:latin typeface="Arial" pitchFamily="34" charset="0"/>
                          <a:ea typeface="Arial" pitchFamily="34" charset="-122"/>
                          <a:cs typeface="Arial" pitchFamily="34" charset="-120"/>
                        </a:rPr>
                        <a:t>500 W ER11, 20° 0.1 mm V-bits, carbide drills 0.3–1.2 mm</a:t>
                      </a:r>
                      <a:endParaRPr lang="en-US" sz="8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c>
                  <a:txBody>
                    <a:bodyPr/>
                    <a:lstStyle/>
                    <a:p>
                      <a:pPr indent="0" marL="0">
                        <a:buNone/>
                      </a:pPr>
                      <a:r>
                        <a:rPr lang="en-US" sz="850" dirty="0">
                          <a:solidFill>
                            <a:srgbClr val="1D2522"/>
                          </a:solidFill>
                          <a:latin typeface="Arial" pitchFamily="34" charset="0"/>
                          <a:ea typeface="Arial" pitchFamily="34" charset="-122"/>
                          <a:cs typeface="Arial" pitchFamily="34" charset="-120"/>
                        </a:rPr>
                        <a:t>Qualified volume spindle</a:t>
                      </a:r>
                      <a:endParaRPr lang="en-US" sz="8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c>
                  <a:txBody>
                    <a:bodyPr/>
                    <a:lstStyle/>
                    <a:p>
                      <a:pPr indent="0" marL="0">
                        <a:buNone/>
                      </a:pPr>
                      <a:r>
                        <a:rPr lang="en-US" sz="850" dirty="0">
                          <a:solidFill>
                            <a:srgbClr val="1D2522"/>
                          </a:solidFill>
                          <a:latin typeface="Arial" pitchFamily="34" charset="0"/>
                          <a:ea typeface="Arial" pitchFamily="34" charset="-122"/>
                          <a:cs typeface="Arial" pitchFamily="34" charset="-120"/>
                        </a:rPr>
                        <a:t>Isolation milling + drilling</a:t>
                      </a:r>
                      <a:endParaRPr lang="en-US" sz="8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r>
              <a:tr h="274320">
                <a:tc>
                  <a:txBody>
                    <a:bodyPr/>
                    <a:lstStyle/>
                    <a:p>
                      <a:pPr indent="0" marL="0">
                        <a:buNone/>
                      </a:pPr>
                      <a:r>
                        <a:rPr lang="en-US" sz="850" b="1" dirty="0">
                          <a:solidFill>
                            <a:srgbClr val="1D2522"/>
                          </a:solidFill>
                          <a:latin typeface="Arial" pitchFamily="34" charset="0"/>
                          <a:ea typeface="Arial" pitchFamily="34" charset="-122"/>
                          <a:cs typeface="Arial" pitchFamily="34" charset="-120"/>
                        </a:rPr>
                        <a:t>Laser</a:t>
                      </a:r>
                      <a:endParaRPr lang="en-US" sz="8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c>
                  <a:txBody>
                    <a:bodyPr/>
                    <a:lstStyle/>
                    <a:p>
                      <a:pPr indent="0" marL="0">
                        <a:buNone/>
                      </a:pPr>
                      <a:r>
                        <a:rPr lang="en-US" sz="850" dirty="0">
                          <a:solidFill>
                            <a:srgbClr val="1D2522"/>
                          </a:solidFill>
                          <a:latin typeface="Arial" pitchFamily="34" charset="0"/>
                          <a:ea typeface="Arial" pitchFamily="34" charset="-122"/>
                          <a:cs typeface="Arial" pitchFamily="34" charset="-120"/>
                        </a:rPr>
                        <a:t>10 W (9.5 W optical) 445 nm diode, air assist, fixed offset</a:t>
                      </a:r>
                      <a:endParaRPr lang="en-US" sz="8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c>
                  <a:txBody>
                    <a:bodyPr/>
                    <a:lstStyle/>
                    <a:p>
                      <a:pPr indent="0" marL="0">
                        <a:buNone/>
                      </a:pPr>
                      <a:r>
                        <a:rPr lang="en-US" sz="850" dirty="0">
                          <a:solidFill>
                            <a:srgbClr val="1D2522"/>
                          </a:solidFill>
                          <a:latin typeface="Arial" pitchFamily="34" charset="0"/>
                          <a:ea typeface="Arial" pitchFamily="34" charset="-122"/>
                          <a:cs typeface="Arial" pitchFamily="34" charset="-120"/>
                        </a:rPr>
                        <a:t>Volume-sourced diode module</a:t>
                      </a:r>
                      <a:endParaRPr lang="en-US" sz="8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c>
                  <a:txBody>
                    <a:bodyPr/>
                    <a:lstStyle/>
                    <a:p>
                      <a:pPr indent="0" marL="0">
                        <a:buNone/>
                      </a:pPr>
                      <a:r>
                        <a:rPr lang="en-US" sz="850" dirty="0">
                          <a:solidFill>
                            <a:srgbClr val="1D2522"/>
                          </a:solidFill>
                          <a:latin typeface="Arial" pitchFamily="34" charset="0"/>
                          <a:ea typeface="Arial" pitchFamily="34" charset="-122"/>
                          <a:cs typeface="Arial" pitchFamily="34" charset="-120"/>
                        </a:rPr>
                        <a:t>Cuts the polyimide stencil</a:t>
                      </a:r>
                      <a:endParaRPr lang="en-US" sz="8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r>
              <a:tr h="274320">
                <a:tc>
                  <a:txBody>
                    <a:bodyPr/>
                    <a:lstStyle/>
                    <a:p>
                      <a:pPr indent="0" marL="0">
                        <a:buNone/>
                      </a:pPr>
                      <a:r>
                        <a:rPr lang="en-US" sz="850" b="1" dirty="0">
                          <a:solidFill>
                            <a:srgbClr val="1D2522"/>
                          </a:solidFill>
                          <a:latin typeface="Arial" pitchFamily="34" charset="0"/>
                          <a:ea typeface="Arial" pitchFamily="34" charset="-122"/>
                          <a:cs typeface="Arial" pitchFamily="34" charset="-120"/>
                        </a:rPr>
                        <a:t>Dust</a:t>
                      </a:r>
                      <a:endParaRPr lang="en-US" sz="8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c>
                  <a:txBody>
                    <a:bodyPr/>
                    <a:lstStyle/>
                    <a:p>
                      <a:pPr indent="0" marL="0">
                        <a:buNone/>
                      </a:pPr>
                      <a:r>
                        <a:rPr lang="en-US" sz="850" dirty="0">
                          <a:solidFill>
                            <a:srgbClr val="1D2522"/>
                          </a:solidFill>
                          <a:latin typeface="Arial" pitchFamily="34" charset="0"/>
                          <a:ea typeface="Arial" pitchFamily="34" charset="-122"/>
                          <a:cs typeface="Arial" pitchFamily="34" charset="-120"/>
                        </a:rPr>
                        <a:t>1000 W wet/dry vacuum</a:t>
                      </a:r>
                      <a:endParaRPr lang="en-US" sz="8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c>
                  <a:txBody>
                    <a:bodyPr/>
                    <a:lstStyle/>
                    <a:p>
                      <a:pPr indent="0" marL="0">
                        <a:buNone/>
                      </a:pPr>
                      <a:r>
                        <a:rPr lang="en-US" sz="850" dirty="0">
                          <a:solidFill>
                            <a:srgbClr val="1D2522"/>
                          </a:solidFill>
                          <a:latin typeface="Arial" pitchFamily="34" charset="0"/>
                          <a:ea typeface="Arial" pitchFamily="34" charset="-122"/>
                          <a:cs typeface="Arial" pitchFamily="34" charset="-120"/>
                        </a:rPr>
                        <a:t>Integrated extraction</a:t>
                      </a:r>
                      <a:endParaRPr lang="en-US" sz="8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c>
                  <a:txBody>
                    <a:bodyPr/>
                    <a:lstStyle/>
                    <a:p>
                      <a:pPr indent="0" marL="0">
                        <a:buNone/>
                      </a:pPr>
                      <a:r>
                        <a:rPr lang="en-US" sz="850" dirty="0">
                          <a:solidFill>
                            <a:srgbClr val="1D2522"/>
                          </a:solidFill>
                          <a:latin typeface="Arial" pitchFamily="34" charset="0"/>
                          <a:ea typeface="Arial" pitchFamily="34" charset="-122"/>
                          <a:cs typeface="Arial" pitchFamily="34" charset="-120"/>
                        </a:rPr>
                        <a:t>Keeps chips off the mask</a:t>
                      </a:r>
                      <a:endParaRPr lang="en-US" sz="8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r>
              <a:tr h="274320">
                <a:tc>
                  <a:txBody>
                    <a:bodyPr/>
                    <a:lstStyle/>
                    <a:p>
                      <a:pPr indent="0" marL="0">
                        <a:buNone/>
                      </a:pPr>
                      <a:r>
                        <a:rPr lang="en-US" sz="850" b="1" dirty="0">
                          <a:solidFill>
                            <a:srgbClr val="1D2522"/>
                          </a:solidFill>
                          <a:latin typeface="Arial" pitchFamily="34" charset="0"/>
                          <a:ea typeface="Arial" pitchFamily="34" charset="-122"/>
                          <a:cs typeface="Arial" pitchFamily="34" charset="-120"/>
                        </a:rPr>
                        <a:t>Solder mask</a:t>
                      </a:r>
                      <a:endParaRPr lang="en-US" sz="8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c>
                  <a:txBody>
                    <a:bodyPr/>
                    <a:lstStyle/>
                    <a:p>
                      <a:pPr indent="0" marL="0">
                        <a:buNone/>
                      </a:pPr>
                      <a:r>
                        <a:rPr lang="en-US" sz="850" dirty="0">
                          <a:solidFill>
                            <a:srgbClr val="1D2522"/>
                          </a:solidFill>
                          <a:latin typeface="Arial" pitchFamily="34" charset="0"/>
                          <a:ea typeface="Arial" pitchFamily="34" charset="-122"/>
                          <a:cs typeface="Arial" pitchFamily="34" charset="-120"/>
                        </a:rPr>
                        <a:t>Syringe-dispensed alkali-developing LPSM</a:t>
                      </a:r>
                      <a:endParaRPr lang="en-US" sz="8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c>
                  <a:txBody>
                    <a:bodyPr/>
                    <a:lstStyle/>
                    <a:p>
                      <a:pPr indent="0" marL="0">
                        <a:buNone/>
                      </a:pPr>
                      <a:r>
                        <a:rPr lang="en-US" sz="850" dirty="0">
                          <a:solidFill>
                            <a:srgbClr val="1D2522"/>
                          </a:solidFill>
                          <a:latin typeface="Arial" pitchFamily="34" charset="0"/>
                          <a:ea typeface="Arial" pitchFamily="34" charset="-122"/>
                          <a:cs typeface="Arial" pitchFamily="34" charset="-120"/>
                        </a:rPr>
                        <a:t>Same, metered</a:t>
                      </a:r>
                      <a:endParaRPr lang="en-US" sz="8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c>
                  <a:txBody>
                    <a:bodyPr/>
                    <a:lstStyle/>
                    <a:p>
                      <a:pPr indent="0" marL="0">
                        <a:buNone/>
                      </a:pPr>
                      <a:r>
                        <a:rPr lang="en-US" sz="850" dirty="0">
                          <a:solidFill>
                            <a:srgbClr val="1D2522"/>
                          </a:solidFill>
                          <a:latin typeface="Arial" pitchFamily="34" charset="0"/>
                          <a:ea typeface="Arial" pitchFamily="34" charset="-122"/>
                          <a:cs typeface="Arial" pitchFamily="34" charset="-120"/>
                        </a:rPr>
                        <a:t>Mask on clean, finished copper</a:t>
                      </a:r>
                      <a:endParaRPr lang="en-US" sz="8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r>
              <a:tr h="274320">
                <a:tc>
                  <a:txBody>
                    <a:bodyPr/>
                    <a:lstStyle/>
                    <a:p>
                      <a:pPr indent="0" marL="0">
                        <a:buNone/>
                      </a:pPr>
                      <a:r>
                        <a:rPr lang="en-US" sz="850" b="1" dirty="0">
                          <a:solidFill>
                            <a:srgbClr val="1D2522"/>
                          </a:solidFill>
                          <a:latin typeface="Arial" pitchFamily="34" charset="0"/>
                          <a:ea typeface="Arial" pitchFamily="34" charset="-122"/>
                          <a:cs typeface="Arial" pitchFamily="34" charset="-120"/>
                        </a:rPr>
                        <a:t>UV imaging</a:t>
                      </a:r>
                      <a:endParaRPr lang="en-US" sz="8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c>
                  <a:txBody>
                    <a:bodyPr/>
                    <a:lstStyle/>
                    <a:p>
                      <a:pPr indent="0" marL="0">
                        <a:buNone/>
                      </a:pPr>
                      <a:r>
                        <a:rPr lang="en-US" sz="850" dirty="0">
                          <a:solidFill>
                            <a:srgbClr val="1D2522"/>
                          </a:solidFill>
                          <a:latin typeface="Arial" pitchFamily="34" charset="0"/>
                          <a:ea typeface="Arial" pitchFamily="34" charset="-122"/>
                          <a:cs typeface="Arial" pitchFamily="34" charset="-120"/>
                        </a:rPr>
                        <a:t>10.1 in 12K mono LCD + 405 nm parallel UV + ChiTu L K1</a:t>
                      </a:r>
                      <a:endParaRPr lang="en-US" sz="8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c>
                  <a:txBody>
                    <a:bodyPr/>
                    <a:lstStyle/>
                    <a:p>
                      <a:pPr indent="0" marL="0">
                        <a:buNone/>
                      </a:pPr>
                      <a:r>
                        <a:rPr lang="en-US" sz="850" dirty="0">
                          <a:solidFill>
                            <a:srgbClr val="1D2522"/>
                          </a:solidFill>
                          <a:latin typeface="Arial" pitchFamily="34" charset="0"/>
                          <a:ea typeface="Arial" pitchFamily="34" charset="-122"/>
                          <a:cs typeface="Arial" pitchFamily="34" charset="-120"/>
                        </a:rPr>
                        <a:t>Same engine also prints jigs</a:t>
                      </a:r>
                      <a:endParaRPr lang="en-US" sz="8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c>
                  <a:txBody>
                    <a:bodyPr/>
                    <a:lstStyle/>
                    <a:p>
                      <a:pPr indent="0" marL="0">
                        <a:buNone/>
                      </a:pPr>
                      <a:r>
                        <a:rPr lang="en-US" sz="850" dirty="0">
                          <a:solidFill>
                            <a:srgbClr val="1D2522"/>
                          </a:solidFill>
                          <a:latin typeface="Arial" pitchFamily="34" charset="0"/>
                          <a:ea typeface="Arial" pitchFamily="34" charset="-122"/>
                          <a:cs typeface="Arial" pitchFamily="34" charset="-120"/>
                        </a:rPr>
                        <a:t>Cures everything except the pads</a:t>
                      </a:r>
                      <a:endParaRPr lang="en-US" sz="8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r>
              <a:tr h="274320">
                <a:tc>
                  <a:txBody>
                    <a:bodyPr/>
                    <a:lstStyle/>
                    <a:p>
                      <a:pPr indent="0" marL="0">
                        <a:buNone/>
                      </a:pPr>
                      <a:r>
                        <a:rPr lang="en-US" sz="850" b="1" dirty="0">
                          <a:solidFill>
                            <a:srgbClr val="1D2522"/>
                          </a:solidFill>
                          <a:latin typeface="Arial" pitchFamily="34" charset="0"/>
                          <a:ea typeface="Arial" pitchFamily="34" charset="-122"/>
                          <a:cs typeface="Arial" pitchFamily="34" charset="-120"/>
                        </a:rPr>
                        <a:t>Develop</a:t>
                      </a:r>
                      <a:endParaRPr lang="en-US" sz="8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c>
                  <a:txBody>
                    <a:bodyPr/>
                    <a:lstStyle/>
                    <a:p>
                      <a:pPr indent="0" marL="0">
                        <a:buNone/>
                      </a:pPr>
                      <a:r>
                        <a:rPr lang="en-US" sz="850" dirty="0">
                          <a:solidFill>
                            <a:srgbClr val="1D2522"/>
                          </a:solidFill>
                          <a:latin typeface="Arial" pitchFamily="34" charset="0"/>
                          <a:ea typeface="Arial" pitchFamily="34" charset="-122"/>
                          <a:cs typeface="Arial" pitchFamily="34" charset="-120"/>
                        </a:rPr>
                        <a:t>Dilute Na₂CO₃ wipe, peristaltic pump, squeegee, 5015 air knife</a:t>
                      </a:r>
                      <a:endParaRPr lang="en-US" sz="8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c>
                  <a:txBody>
                    <a:bodyPr/>
                    <a:lstStyle/>
                    <a:p>
                      <a:pPr indent="0" marL="0">
                        <a:buNone/>
                      </a:pPr>
                      <a:r>
                        <a:rPr lang="en-US" sz="850" dirty="0">
                          <a:solidFill>
                            <a:srgbClr val="1D2522"/>
                          </a:solidFill>
                          <a:latin typeface="Arial" pitchFamily="34" charset="0"/>
                          <a:ea typeface="Arial" pitchFamily="34" charset="-122"/>
                          <a:cs typeface="Arial" pitchFamily="34" charset="-120"/>
                        </a:rPr>
                        <a:t>Same</a:t>
                      </a:r>
                      <a:endParaRPr lang="en-US" sz="8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c>
                  <a:txBody>
                    <a:bodyPr/>
                    <a:lstStyle/>
                    <a:p>
                      <a:pPr indent="0" marL="0">
                        <a:buNone/>
                      </a:pPr>
                      <a:r>
                        <a:rPr lang="en-US" sz="850" dirty="0">
                          <a:solidFill>
                            <a:srgbClr val="1D2522"/>
                          </a:solidFill>
                          <a:latin typeface="Arial" pitchFamily="34" charset="0"/>
                          <a:ea typeface="Arial" pitchFamily="34" charset="-122"/>
                          <a:cs typeface="Arial" pitchFamily="34" charset="-120"/>
                        </a:rPr>
                        <a:t>No tank or bath; a few mL</a:t>
                      </a:r>
                      <a:endParaRPr lang="en-US" sz="8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r>
            </a:tbl>
          </a:graphicData>
        </a:graphic>
      </p:graphicFrame>
      <p:sp>
        <p:nvSpPr>
          <p:cNvPr id="7" name="Text 4"/>
          <p:cNvSpPr txBox="1"/>
          <p:nvPr/>
        </p:nvSpPr>
        <p:spPr>
          <a:xfrm>
            <a:off x="457200" y="4617720"/>
            <a:ext cx="8229600" cy="201168"/>
          </a:xfrm>
          <a:prstGeom prst="rect">
            <a:avLst/>
          </a:prstGeom>
          <a:noFill/>
          <a:ln/>
        </p:spPr>
        <p:txBody>
          <a:bodyPr wrap="square" lIns="0" tIns="0" rIns="0" bIns="0" rtlCol="0" anchor="t"/>
          <a:lstStyle/>
          <a:p>
            <a:pPr indent="0" marL="0">
              <a:buNone/>
            </a:pPr>
            <a:r>
              <a:rPr lang="en-US" sz="750" i="1" dirty="0">
                <a:solidFill>
                  <a:srgbClr val="5E6B66"/>
                </a:solidFill>
                <a:latin typeface="Arial" pitchFamily="34" charset="0"/>
                <a:ea typeface="Arial" pitchFamily="34" charset="-122"/>
                <a:cs typeface="Arial" pitchFamily="34" charset="-120"/>
              </a:rPr>
              <a:t>Source: Protopus cost report and BOM, 29 Sep 2026. Production direction is from the China-parts production BOM.</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201168"/>
          </a:xfrm>
          <a:prstGeom prst="rect">
            <a:avLst/>
          </a:prstGeom>
          <a:noFill/>
          <a:ln/>
        </p:spPr>
        <p:txBody>
          <a:bodyPr wrap="square" lIns="0" tIns="0" rIns="0" bIns="0" rtlCol="0" anchor="t"/>
          <a:lstStyle/>
          <a:p>
            <a:pPr indent="0" marL="0">
              <a:buNone/>
            </a:pPr>
            <a:r>
              <a:rPr lang="en-US" sz="900" b="1" spc="200" kern="0" dirty="0">
                <a:solidFill>
                  <a:srgbClr val="C8793A"/>
                </a:solidFill>
                <a:latin typeface="Arial" pitchFamily="34" charset="0"/>
                <a:ea typeface="Arial" pitchFamily="34" charset="-122"/>
                <a:cs typeface="Arial" pitchFamily="34" charset="-120"/>
              </a:rPr>
              <a:t>TECH STACK · BAKER</a:t>
            </a:r>
            <a:endParaRPr lang="en-US" sz="900" dirty="0"/>
          </a:p>
        </p:txBody>
      </p:sp>
      <p:sp>
        <p:nvSpPr>
          <p:cNvPr id="3" name="Text 1"/>
          <p:cNvSpPr txBox="1"/>
          <p:nvPr/>
        </p:nvSpPr>
        <p:spPr>
          <a:xfrm>
            <a:off x="457200" y="457200"/>
            <a:ext cx="8229600" cy="566928"/>
          </a:xfrm>
          <a:prstGeom prst="rect">
            <a:avLst/>
          </a:prstGeom>
          <a:noFill/>
          <a:ln/>
        </p:spPr>
        <p:txBody>
          <a:bodyPr wrap="square" lIns="0" tIns="0" rIns="0" bIns="0" rtlCol="0" anchor="ctr">
            <a:normAutofit/>
          </a:bodyPr>
          <a:lstStyle/>
          <a:p>
            <a:pPr indent="0" marL="0">
              <a:buNone/>
            </a:pPr>
            <a:r>
              <a:rPr lang="en-US" sz="2200" b="1" dirty="0">
                <a:solidFill>
                  <a:srgbClr val="0F2A22"/>
                </a:solidFill>
                <a:latin typeface="Arial" pitchFamily="34" charset="0"/>
                <a:ea typeface="Arial" pitchFamily="34" charset="-122"/>
                <a:cs typeface="Arial" pitchFamily="34" charset="-120"/>
              </a:rPr>
              <a:t>Baker tech stack (2/2): stencil, placement, reflow, control</a:t>
            </a:r>
            <a:endParaRPr lang="en-US" sz="2200" dirty="0"/>
          </a:p>
        </p:txBody>
      </p:sp>
      <p:sp>
        <p:nvSpPr>
          <p:cNvPr id="4" name="Text 2"/>
          <p:cNvSpPr txBox="1"/>
          <p:nvPr/>
        </p:nvSpPr>
        <p:spPr>
          <a:xfrm>
            <a:off x="8321040" y="4828032"/>
            <a:ext cx="365760" cy="182880"/>
          </a:xfrm>
          <a:prstGeom prst="rect">
            <a:avLst/>
          </a:prstGeom>
          <a:noFill/>
          <a:ln/>
        </p:spPr>
        <p:txBody>
          <a:bodyPr wrap="square" lIns="0" tIns="0" rIns="0" bIns="0" rtlCol="0" anchor="t"/>
          <a:lstStyle/>
          <a:p>
            <a:pPr algn="r" indent="0" marL="0">
              <a:buNone/>
            </a:pPr>
            <a:r>
              <a:rPr lang="en-US" sz="800" dirty="0">
                <a:solidFill>
                  <a:srgbClr val="5E6B66"/>
                </a:solidFill>
                <a:latin typeface="Arial" pitchFamily="34" charset="0"/>
                <a:ea typeface="Arial" pitchFamily="34" charset="-122"/>
                <a:cs typeface="Arial" pitchFamily="34" charset="-120"/>
              </a:rPr>
              <a:t>11</a:t>
            </a:r>
            <a:endParaRPr lang="en-US" sz="800" dirty="0"/>
          </a:p>
        </p:txBody>
      </p:sp>
      <p:sp>
        <p:nvSpPr>
          <p:cNvPr id="5" name="Text 3"/>
          <p:cNvSpPr txBox="1"/>
          <p:nvPr/>
        </p:nvSpPr>
        <p:spPr>
          <a:xfrm>
            <a:off x="457200" y="4828032"/>
            <a:ext cx="2743200" cy="182880"/>
          </a:xfrm>
          <a:prstGeom prst="rect">
            <a:avLst/>
          </a:prstGeom>
          <a:noFill/>
          <a:ln/>
        </p:spPr>
        <p:txBody>
          <a:bodyPr wrap="square" lIns="0" tIns="0" rIns="0" bIns="0" rtlCol="0" anchor="t"/>
          <a:lstStyle/>
          <a:p>
            <a:pPr indent="0" marL="0">
              <a:buNone/>
            </a:pPr>
            <a:r>
              <a:rPr lang="en-US" sz="800" dirty="0">
                <a:solidFill>
                  <a:srgbClr val="5E6B66"/>
                </a:solidFill>
                <a:latin typeface="Arial" pitchFamily="34" charset="0"/>
                <a:ea typeface="Arial" pitchFamily="34" charset="-122"/>
                <a:cs typeface="Arial" pitchFamily="34" charset="-120"/>
              </a:rPr>
              <a:t>Protopulse · pitch v2</a:t>
            </a:r>
            <a:endParaRPr lang="en-US" sz="8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8229600" cy="914400"/>
        </p:xfrm>
        <a:graphic>
          <a:graphicData uri="http://schemas.openxmlformats.org/drawingml/2006/table">
            <a:tbl>
              <a:tblPr/>
              <a:tblGrid>
                <a:gridCol w="1143000"/>
                <a:gridCol w="2926080"/>
                <a:gridCol w="2148840"/>
                <a:gridCol w="2011680"/>
              </a:tblGrid>
              <a:tr h="292608">
                <a:tc>
                  <a:txBody>
                    <a:bodyPr/>
                    <a:lstStyle/>
                    <a:p>
                      <a:pPr indent="0" marL="0">
                        <a:buNone/>
                      </a:pPr>
                      <a:r>
                        <a:rPr lang="en-US" sz="850" b="1" dirty="0">
                          <a:solidFill>
                            <a:srgbClr val="FFFFFF"/>
                          </a:solidFill>
                          <a:latin typeface="Arial" pitchFamily="34" charset="0"/>
                          <a:ea typeface="Arial" pitchFamily="34" charset="-122"/>
                          <a:cs typeface="Arial" pitchFamily="34" charset="-120"/>
                        </a:rPr>
                        <a:t>Subsystem</a:t>
                      </a:r>
                      <a:endParaRPr lang="en-US" sz="8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1B4D3E"/>
                    </a:solidFill>
                  </a:tcPr>
                </a:tc>
                <a:tc>
                  <a:txBody>
                    <a:bodyPr/>
                    <a:lstStyle/>
                    <a:p>
                      <a:pPr indent="0" marL="0">
                        <a:buNone/>
                      </a:pPr>
                      <a:r>
                        <a:rPr lang="en-US" sz="850" b="1" dirty="0">
                          <a:solidFill>
                            <a:srgbClr val="FFFFFF"/>
                          </a:solidFill>
                          <a:latin typeface="Arial" pitchFamily="34" charset="0"/>
                          <a:ea typeface="Arial" pitchFamily="34" charset="-122"/>
                          <a:cs typeface="Arial" pitchFamily="34" charset="-120"/>
                        </a:rPr>
                        <a:t>Prototype build</a:t>
                      </a:r>
                      <a:endParaRPr lang="en-US" sz="8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1B4D3E"/>
                    </a:solidFill>
                  </a:tcPr>
                </a:tc>
                <a:tc>
                  <a:txBody>
                    <a:bodyPr/>
                    <a:lstStyle/>
                    <a:p>
                      <a:pPr indent="0" marL="0">
                        <a:buNone/>
                      </a:pPr>
                      <a:r>
                        <a:rPr lang="en-US" sz="850" b="1" dirty="0">
                          <a:solidFill>
                            <a:srgbClr val="FFFFFF"/>
                          </a:solidFill>
                          <a:latin typeface="Arial" pitchFamily="34" charset="0"/>
                          <a:ea typeface="Arial" pitchFamily="34" charset="-122"/>
                          <a:cs typeface="Arial" pitchFamily="34" charset="-120"/>
                        </a:rPr>
                        <a:t>Production direction</a:t>
                      </a:r>
                      <a:endParaRPr lang="en-US" sz="8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1B4D3E"/>
                    </a:solidFill>
                  </a:tcPr>
                </a:tc>
                <a:tc>
                  <a:txBody>
                    <a:bodyPr/>
                    <a:lstStyle/>
                    <a:p>
                      <a:pPr indent="0" marL="0">
                        <a:buNone/>
                      </a:pPr>
                      <a:r>
                        <a:rPr lang="en-US" sz="850" b="1" dirty="0">
                          <a:solidFill>
                            <a:srgbClr val="FFFFFF"/>
                          </a:solidFill>
                          <a:latin typeface="Arial" pitchFamily="34" charset="0"/>
                          <a:ea typeface="Arial" pitchFamily="34" charset="-122"/>
                          <a:cs typeface="Arial" pitchFamily="34" charset="-120"/>
                        </a:rPr>
                        <a:t>Why</a:t>
                      </a:r>
                      <a:endParaRPr lang="en-US" sz="8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1B4D3E"/>
                    </a:solidFill>
                  </a:tcPr>
                </a:tc>
              </a:tr>
              <a:tr h="292608">
                <a:tc>
                  <a:txBody>
                    <a:bodyPr/>
                    <a:lstStyle/>
                    <a:p>
                      <a:pPr indent="0" marL="0">
                        <a:buNone/>
                      </a:pPr>
                      <a:r>
                        <a:rPr lang="en-US" sz="850" b="1" dirty="0">
                          <a:solidFill>
                            <a:srgbClr val="1D2522"/>
                          </a:solidFill>
                          <a:latin typeface="Arial" pitchFamily="34" charset="0"/>
                          <a:ea typeface="Arial" pitchFamily="34" charset="-122"/>
                          <a:cs typeface="Arial" pitchFamily="34" charset="-120"/>
                        </a:rPr>
                        <a:t>Stencil film</a:t>
                      </a:r>
                      <a:endParaRPr lang="en-US" sz="8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c>
                  <a:txBody>
                    <a:bodyPr/>
                    <a:lstStyle/>
                    <a:p>
                      <a:pPr indent="0" marL="0">
                        <a:buNone/>
                      </a:pPr>
                      <a:r>
                        <a:rPr lang="en-US" sz="850" dirty="0">
                          <a:solidFill>
                            <a:srgbClr val="1D2522"/>
                          </a:solidFill>
                          <a:latin typeface="Arial" pitchFamily="34" charset="0"/>
                          <a:ea typeface="Arial" pitchFamily="34" charset="-122"/>
                          <a:cs typeface="Arial" pitchFamily="34" charset="-120"/>
                        </a:rPr>
                        <a:t>Polyimide roll; 4 × 12 V 8 kg electromagnets clamp a 430 steel frame; 25 N solenoid cut-off</a:t>
                      </a:r>
                      <a:endParaRPr lang="en-US" sz="8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c>
                  <a:txBody>
                    <a:bodyPr/>
                    <a:lstStyle/>
                    <a:p>
                      <a:pPr indent="0" marL="0">
                        <a:buNone/>
                      </a:pPr>
                      <a:r>
                        <a:rPr lang="en-US" sz="850" dirty="0">
                          <a:solidFill>
                            <a:srgbClr val="1D2522"/>
                          </a:solidFill>
                          <a:latin typeface="Arial" pitchFamily="34" charset="0"/>
                          <a:ea typeface="Arial" pitchFamily="34" charset="-122"/>
                          <a:cs typeface="Arial" pitchFamily="34" charset="-120"/>
                        </a:rPr>
                        <a:t>Controlled film feed, align and cut</a:t>
                      </a:r>
                      <a:endParaRPr lang="en-US" sz="8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c>
                  <a:txBody>
                    <a:bodyPr/>
                    <a:lstStyle/>
                    <a:p>
                      <a:pPr indent="0" marL="0">
                        <a:buNone/>
                      </a:pPr>
                      <a:r>
                        <a:rPr lang="en-US" sz="850" dirty="0">
                          <a:solidFill>
                            <a:srgbClr val="1D2522"/>
                          </a:solidFill>
                          <a:latin typeface="Arial" pitchFamily="34" charset="0"/>
                          <a:ea typeface="Arial" pitchFamily="34" charset="-122"/>
                          <a:cs typeface="Arial" pitchFamily="34" charset="-120"/>
                        </a:rPr>
                        <a:t>A fresh stencil for every board, already aligned</a:t>
                      </a:r>
                      <a:endParaRPr lang="en-US" sz="8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r>
              <a:tr h="292608">
                <a:tc>
                  <a:txBody>
                    <a:bodyPr/>
                    <a:lstStyle/>
                    <a:p>
                      <a:pPr indent="0" marL="0">
                        <a:buNone/>
                      </a:pPr>
                      <a:r>
                        <a:rPr lang="en-US" sz="850" b="1" dirty="0">
                          <a:solidFill>
                            <a:srgbClr val="1D2522"/>
                          </a:solidFill>
                          <a:latin typeface="Arial" pitchFamily="34" charset="0"/>
                          <a:ea typeface="Arial" pitchFamily="34" charset="-122"/>
                          <a:cs typeface="Arial" pitchFamily="34" charset="-120"/>
                        </a:rPr>
                        <a:t>Paste</a:t>
                      </a:r>
                      <a:endParaRPr lang="en-US" sz="8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c>
                  <a:txBody>
                    <a:bodyPr/>
                    <a:lstStyle/>
                    <a:p>
                      <a:pPr indent="0" marL="0">
                        <a:buNone/>
                      </a:pPr>
                      <a:r>
                        <a:rPr lang="en-US" sz="850" dirty="0">
                          <a:solidFill>
                            <a:srgbClr val="1D2522"/>
                          </a:solidFill>
                          <a:latin typeface="Arial" pitchFamily="34" charset="0"/>
                          <a:ea typeface="Arial" pitchFamily="34" charset="-122"/>
                          <a:cs typeface="Arial" pitchFamily="34" charset="-120"/>
                        </a:rPr>
                        <a:t>Sn42Bi58, melts at 138 °C; squeegee</a:t>
                      </a:r>
                      <a:endParaRPr lang="en-US" sz="8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c>
                  <a:txBody>
                    <a:bodyPr/>
                    <a:lstStyle/>
                    <a:p>
                      <a:pPr indent="0" marL="0">
                        <a:buNone/>
                      </a:pPr>
                      <a:r>
                        <a:rPr lang="en-US" sz="850" dirty="0">
                          <a:solidFill>
                            <a:srgbClr val="1D2522"/>
                          </a:solidFill>
                          <a:latin typeface="Arial" pitchFamily="34" charset="0"/>
                          <a:ea typeface="Arial" pitchFamily="34" charset="-122"/>
                          <a:cs typeface="Arial" pitchFamily="34" charset="-120"/>
                        </a:rPr>
                        <a:t>Same</a:t>
                      </a:r>
                      <a:endParaRPr lang="en-US" sz="8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c>
                  <a:txBody>
                    <a:bodyPr/>
                    <a:lstStyle/>
                    <a:p>
                      <a:pPr indent="0" marL="0">
                        <a:buNone/>
                      </a:pPr>
                      <a:r>
                        <a:rPr lang="en-US" sz="850" dirty="0">
                          <a:solidFill>
                            <a:srgbClr val="1D2522"/>
                          </a:solidFill>
                          <a:latin typeface="Arial" pitchFamily="34" charset="0"/>
                          <a:ea typeface="Arial" pitchFamily="34" charset="-122"/>
                          <a:cs typeface="Arial" pitchFamily="34" charset="-120"/>
                        </a:rPr>
                        <a:t>Cooler hotplate, less warp, jig-safe</a:t>
                      </a:r>
                      <a:endParaRPr lang="en-US" sz="8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r>
              <a:tr h="292608">
                <a:tc>
                  <a:txBody>
                    <a:bodyPr/>
                    <a:lstStyle/>
                    <a:p>
                      <a:pPr indent="0" marL="0">
                        <a:buNone/>
                      </a:pPr>
                      <a:r>
                        <a:rPr lang="en-US" sz="850" b="1" dirty="0">
                          <a:solidFill>
                            <a:srgbClr val="1D2522"/>
                          </a:solidFill>
                          <a:latin typeface="Arial" pitchFamily="34" charset="0"/>
                          <a:ea typeface="Arial" pitchFamily="34" charset="-122"/>
                          <a:cs typeface="Arial" pitchFamily="34" charset="-120"/>
                        </a:rPr>
                        <a:t>Placement jig</a:t>
                      </a:r>
                      <a:endParaRPr lang="en-US" sz="8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c>
                  <a:txBody>
                    <a:bodyPr/>
                    <a:lstStyle/>
                    <a:p>
                      <a:pPr indent="0" marL="0">
                        <a:buNone/>
                      </a:pPr>
                      <a:r>
                        <a:rPr lang="en-US" sz="850" dirty="0">
                          <a:solidFill>
                            <a:srgbClr val="1D2522"/>
                          </a:solidFill>
                          <a:latin typeface="Arial" pitchFamily="34" charset="0"/>
                          <a:ea typeface="Arial" pitchFamily="34" charset="-122"/>
                          <a:cs typeface="Arial" pitchFamily="34" charset="-120"/>
                        </a:rPr>
                        <a:t>Phrozen TR300 resin (HDT 160 °C) on Elegoo Saturn 3 Ultra 12K</a:t>
                      </a:r>
                      <a:endParaRPr lang="en-US" sz="8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c>
                  <a:txBody>
                    <a:bodyPr/>
                    <a:lstStyle/>
                    <a:p>
                      <a:pPr indent="0" marL="0">
                        <a:buNone/>
                      </a:pPr>
                      <a:r>
                        <a:rPr lang="en-US" sz="850" dirty="0">
                          <a:solidFill>
                            <a:srgbClr val="1D2522"/>
                          </a:solidFill>
                          <a:latin typeface="Arial" pitchFamily="34" charset="0"/>
                          <a:ea typeface="Arial" pitchFamily="34" charset="-122"/>
                          <a:cs typeface="Arial" pitchFamily="34" charset="-120"/>
                        </a:rPr>
                        <a:t>Vat + lift on Baker's own UV engine</a:t>
                      </a:r>
                      <a:endParaRPr lang="en-US" sz="8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c>
                  <a:txBody>
                    <a:bodyPr/>
                    <a:lstStyle/>
                    <a:p>
                      <a:pPr indent="0" marL="0">
                        <a:buNone/>
                      </a:pPr>
                      <a:r>
                        <a:rPr lang="en-US" sz="850" dirty="0">
                          <a:solidFill>
                            <a:srgbClr val="1D2522"/>
                          </a:solidFill>
                          <a:latin typeface="Arial" pitchFamily="34" charset="0"/>
                          <a:ea typeface="Arial" pitchFamily="34" charset="-122"/>
                          <a:cs typeface="Arial" pitchFamily="34" charset="-120"/>
                        </a:rPr>
                        <a:t>One pocket per part; removes the separate printer</a:t>
                      </a:r>
                      <a:endParaRPr lang="en-US" sz="8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r>
              <a:tr h="292608">
                <a:tc>
                  <a:txBody>
                    <a:bodyPr/>
                    <a:lstStyle/>
                    <a:p>
                      <a:pPr indent="0" marL="0">
                        <a:buNone/>
                      </a:pPr>
                      <a:r>
                        <a:rPr lang="en-US" sz="850" b="1" dirty="0">
                          <a:solidFill>
                            <a:srgbClr val="1D2522"/>
                          </a:solidFill>
                          <a:latin typeface="Arial" pitchFamily="34" charset="0"/>
                          <a:ea typeface="Arial" pitchFamily="34" charset="-122"/>
                          <a:cs typeface="Arial" pitchFamily="34" charset="-120"/>
                        </a:rPr>
                        <a:t>Placement</a:t>
                      </a:r>
                      <a:endParaRPr lang="en-US" sz="8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c>
                  <a:txBody>
                    <a:bodyPr/>
                    <a:lstStyle/>
                    <a:p>
                      <a:pPr indent="0" marL="0">
                        <a:buNone/>
                      </a:pPr>
                      <a:r>
                        <a:rPr lang="en-US" sz="850" dirty="0">
                          <a:solidFill>
                            <a:srgbClr val="1D2522"/>
                          </a:solidFill>
                          <a:latin typeface="Arial" pitchFamily="34" charset="0"/>
                          <a:ea typeface="Arial" pitchFamily="34" charset="-122"/>
                          <a:cs typeface="Arial" pitchFamily="34" charset="-120"/>
                        </a:rPr>
                        <a:t>Foot-pedal vacuum pen: 12 V pump + NC valve</a:t>
                      </a:r>
                      <a:endParaRPr lang="en-US" sz="8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c>
                  <a:txBody>
                    <a:bodyPr/>
                    <a:lstStyle/>
                    <a:p>
                      <a:pPr indent="0" marL="0">
                        <a:buNone/>
                      </a:pPr>
                      <a:r>
                        <a:rPr lang="en-US" sz="850" dirty="0">
                          <a:solidFill>
                            <a:srgbClr val="1D2522"/>
                          </a:solidFill>
                          <a:latin typeface="Arial" pitchFamily="34" charset="0"/>
                          <a:ea typeface="Arial" pitchFamily="34" charset="-122"/>
                          <a:cs typeface="Arial" pitchFamily="34" charset="-120"/>
                        </a:rPr>
                        <a:t>Same</a:t>
                      </a:r>
                      <a:endParaRPr lang="en-US" sz="8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c>
                  <a:txBody>
                    <a:bodyPr/>
                    <a:lstStyle/>
                    <a:p>
                      <a:pPr indent="0" marL="0">
                        <a:buNone/>
                      </a:pPr>
                      <a:r>
                        <a:rPr lang="en-US" sz="850" dirty="0">
                          <a:solidFill>
                            <a:srgbClr val="1D2522"/>
                          </a:solidFill>
                          <a:latin typeface="Arial" pitchFamily="34" charset="0"/>
                          <a:ea typeface="Arial" pitchFamily="34" charset="-122"/>
                          <a:cs typeface="Arial" pitchFamily="34" charset="-120"/>
                        </a:rPr>
                        <a:t>Cameras and feeders removed; ₹20,000 → ₹4,891</a:t>
                      </a:r>
                      <a:endParaRPr lang="en-US" sz="8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r>
              <a:tr h="292608">
                <a:tc>
                  <a:txBody>
                    <a:bodyPr/>
                    <a:lstStyle/>
                    <a:p>
                      <a:pPr indent="0" marL="0">
                        <a:buNone/>
                      </a:pPr>
                      <a:r>
                        <a:rPr lang="en-US" sz="850" b="1" dirty="0">
                          <a:solidFill>
                            <a:srgbClr val="1D2522"/>
                          </a:solidFill>
                          <a:latin typeface="Arial" pitchFamily="34" charset="0"/>
                          <a:ea typeface="Arial" pitchFamily="34" charset="-122"/>
                          <a:cs typeface="Arial" pitchFamily="34" charset="-120"/>
                        </a:rPr>
                        <a:t>Reflow</a:t>
                      </a:r>
                      <a:endParaRPr lang="en-US" sz="8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c>
                  <a:txBody>
                    <a:bodyPr/>
                    <a:lstStyle/>
                    <a:p>
                      <a:pPr indent="0" marL="0">
                        <a:buNone/>
                      </a:pPr>
                      <a:r>
                        <a:rPr lang="en-US" sz="850" dirty="0">
                          <a:solidFill>
                            <a:srgbClr val="1D2522"/>
                          </a:solidFill>
                          <a:latin typeface="Arial" pitchFamily="34" charset="0"/>
                          <a:ea typeface="Arial" pitchFamily="34" charset="-122"/>
                          <a:cs typeface="Arial" pitchFamily="34" charset="-120"/>
                        </a:rPr>
                        <a:t>300 W silicone pad, SSR-25DA, MAX31855 + K-type, 5015 cool-down</a:t>
                      </a:r>
                      <a:endParaRPr lang="en-US" sz="8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c>
                  <a:txBody>
                    <a:bodyPr/>
                    <a:lstStyle/>
                    <a:p>
                      <a:pPr indent="0" marL="0">
                        <a:buNone/>
                      </a:pPr>
                      <a:r>
                        <a:rPr lang="en-US" sz="850" dirty="0">
                          <a:solidFill>
                            <a:srgbClr val="1D2522"/>
                          </a:solidFill>
                          <a:latin typeface="Arial" pitchFamily="34" charset="0"/>
                          <a:ea typeface="Arial" pitchFamily="34" charset="-122"/>
                          <a:cs typeface="Arial" pitchFamily="34" charset="-120"/>
                        </a:rPr>
                        <a:t>Same, profiled</a:t>
                      </a:r>
                      <a:endParaRPr lang="en-US" sz="8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c>
                  <a:txBody>
                    <a:bodyPr/>
                    <a:lstStyle/>
                    <a:p>
                      <a:pPr indent="0" marL="0">
                        <a:buNone/>
                      </a:pPr>
                      <a:r>
                        <a:rPr lang="en-US" sz="850" dirty="0">
                          <a:solidFill>
                            <a:srgbClr val="1D2522"/>
                          </a:solidFill>
                          <a:latin typeface="Arial" pitchFamily="34" charset="0"/>
                          <a:ea typeface="Arial" pitchFamily="34" charset="-122"/>
                          <a:cs typeface="Arial" pitchFamily="34" charset="-120"/>
                        </a:rPr>
                        <a:t>Low-temperature profile</a:t>
                      </a:r>
                      <a:endParaRPr lang="en-US" sz="8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r>
              <a:tr h="292608">
                <a:tc>
                  <a:txBody>
                    <a:bodyPr/>
                    <a:lstStyle/>
                    <a:p>
                      <a:pPr indent="0" marL="0">
                        <a:buNone/>
                      </a:pPr>
                      <a:r>
                        <a:rPr lang="en-US" sz="850" b="1" dirty="0">
                          <a:solidFill>
                            <a:srgbClr val="1D2522"/>
                          </a:solidFill>
                          <a:latin typeface="Arial" pitchFamily="34" charset="0"/>
                          <a:ea typeface="Arial" pitchFamily="34" charset="-122"/>
                          <a:cs typeface="Arial" pitchFamily="34" charset="-120"/>
                        </a:rPr>
                        <a:t>Compute</a:t>
                      </a:r>
                      <a:endParaRPr lang="en-US" sz="8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c>
                  <a:txBody>
                    <a:bodyPr/>
                    <a:lstStyle/>
                    <a:p>
                      <a:pPr indent="0" marL="0">
                        <a:buNone/>
                      </a:pPr>
                      <a:r>
                        <a:rPr lang="en-US" sz="850" dirty="0">
                          <a:solidFill>
                            <a:srgbClr val="1D2522"/>
                          </a:solidFill>
                          <a:latin typeface="Arial" pitchFamily="34" charset="0"/>
                          <a:ea typeface="Arial" pitchFamily="34" charset="-122"/>
                          <a:cs typeface="Arial" pitchFamily="34" charset="-120"/>
                        </a:rPr>
                        <a:t>Raspberry Pi 5 host + BTT Octopus Pro (Klipper), 7 in touch display</a:t>
                      </a:r>
                      <a:endParaRPr lang="en-US" sz="8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c>
                  <a:txBody>
                    <a:bodyPr/>
                    <a:lstStyle/>
                    <a:p>
                      <a:pPr indent="0" marL="0">
                        <a:buNone/>
                      </a:pPr>
                      <a:r>
                        <a:rPr lang="en-US" sz="850" dirty="0">
                          <a:solidFill>
                            <a:srgbClr val="1D2522"/>
                          </a:solidFill>
                          <a:latin typeface="Arial" pitchFamily="34" charset="0"/>
                          <a:ea typeface="Arial" pitchFamily="34" charset="-122"/>
                          <a:cs typeface="Arial" pitchFamily="34" charset="-120"/>
                        </a:rPr>
                        <a:t>BTT CB1 + Manta M8P V2 (8 TMC2209), HDMI7</a:t>
                      </a:r>
                      <a:endParaRPr lang="en-US" sz="8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c>
                  <a:txBody>
                    <a:bodyPr/>
                    <a:lstStyle/>
                    <a:p>
                      <a:pPr indent="0" marL="0">
                        <a:buNone/>
                      </a:pPr>
                      <a:r>
                        <a:rPr lang="en-US" sz="850" dirty="0">
                          <a:solidFill>
                            <a:srgbClr val="1D2522"/>
                          </a:solidFill>
                          <a:latin typeface="Arial" pitchFamily="34" charset="0"/>
                          <a:ea typeface="Arial" pitchFamily="34" charset="-122"/>
                          <a:cs typeface="Arial" pitchFamily="34" charset="-120"/>
                        </a:rPr>
                        <a:t>≈₹10,800; fewer boards</a:t>
                      </a:r>
                      <a:endParaRPr lang="en-US" sz="8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r>
              <a:tr h="292608">
                <a:tc>
                  <a:txBody>
                    <a:bodyPr/>
                    <a:lstStyle/>
                    <a:p>
                      <a:pPr indent="0" marL="0">
                        <a:buNone/>
                      </a:pPr>
                      <a:r>
                        <a:rPr lang="en-US" sz="850" b="1" dirty="0">
                          <a:solidFill>
                            <a:srgbClr val="1D2522"/>
                          </a:solidFill>
                          <a:latin typeface="Arial" pitchFamily="34" charset="0"/>
                          <a:ea typeface="Arial" pitchFamily="34" charset="-122"/>
                          <a:cs typeface="Arial" pitchFamily="34" charset="-120"/>
                        </a:rPr>
                        <a:t>Power</a:t>
                      </a:r>
                      <a:endParaRPr lang="en-US" sz="8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c>
                  <a:txBody>
                    <a:bodyPr/>
                    <a:lstStyle/>
                    <a:p>
                      <a:pPr indent="0" marL="0">
                        <a:buNone/>
                      </a:pPr>
                      <a:r>
                        <a:rPr lang="en-US" sz="850" dirty="0">
                          <a:solidFill>
                            <a:srgbClr val="1D2522"/>
                          </a:solidFill>
                          <a:latin typeface="Arial" pitchFamily="34" charset="0"/>
                          <a:ea typeface="Arial" pitchFamily="34" charset="-122"/>
                          <a:cs typeface="Arial" pitchFamily="34" charset="-120"/>
                        </a:rPr>
                        <a:t>Mean Well LRS-350-24, -350-48, -150-12</a:t>
                      </a:r>
                      <a:endParaRPr lang="en-US" sz="8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c>
                  <a:txBody>
                    <a:bodyPr/>
                    <a:lstStyle/>
                    <a:p>
                      <a:pPr indent="0" marL="0">
                        <a:buNone/>
                      </a:pPr>
                      <a:r>
                        <a:rPr lang="en-US" sz="850" dirty="0">
                          <a:solidFill>
                            <a:srgbClr val="1D2522"/>
                          </a:solidFill>
                          <a:latin typeface="Arial" pitchFamily="34" charset="0"/>
                          <a:ea typeface="Arial" pitchFamily="34" charset="-122"/>
                          <a:cs typeface="Arial" pitchFamily="34" charset="-120"/>
                        </a:rPr>
                        <a:t>One LRS-350-24 rail</a:t>
                      </a:r>
                      <a:endParaRPr lang="en-US" sz="8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c>
                  <a:txBody>
                    <a:bodyPr/>
                    <a:lstStyle/>
                    <a:p>
                      <a:pPr indent="0" marL="0">
                        <a:buNone/>
                      </a:pPr>
                      <a:r>
                        <a:rPr lang="en-US" sz="850" dirty="0">
                          <a:solidFill>
                            <a:srgbClr val="1D2522"/>
                          </a:solidFill>
                          <a:latin typeface="Arial" pitchFamily="34" charset="0"/>
                          <a:ea typeface="Arial" pitchFamily="34" charset="-122"/>
                          <a:cs typeface="Arial" pitchFamily="34" charset="-120"/>
                        </a:rPr>
                        <a:t>Simpler harness</a:t>
                      </a:r>
                      <a:endParaRPr lang="en-US" sz="8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r>
              <a:tr h="292608">
                <a:tc>
                  <a:txBody>
                    <a:bodyPr/>
                    <a:lstStyle/>
                    <a:p>
                      <a:pPr indent="0" marL="0">
                        <a:buNone/>
                      </a:pPr>
                      <a:r>
                        <a:rPr lang="en-US" sz="850" b="1" dirty="0">
                          <a:solidFill>
                            <a:srgbClr val="1D2522"/>
                          </a:solidFill>
                          <a:latin typeface="Arial" pitchFamily="34" charset="0"/>
                          <a:ea typeface="Arial" pitchFamily="34" charset="-122"/>
                          <a:cs typeface="Arial" pitchFamily="34" charset="-120"/>
                        </a:rPr>
                        <a:t>Safety</a:t>
                      </a:r>
                      <a:endParaRPr lang="en-US" sz="8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c>
                  <a:txBody>
                    <a:bodyPr/>
                    <a:lstStyle/>
                    <a:p>
                      <a:pPr indent="0" marL="0">
                        <a:buNone/>
                      </a:pPr>
                      <a:r>
                        <a:rPr lang="en-US" sz="850" dirty="0">
                          <a:solidFill>
                            <a:srgbClr val="1D2522"/>
                          </a:solidFill>
                          <a:latin typeface="Arial" pitchFamily="34" charset="0"/>
                          <a:ea typeface="Arial" pitchFamily="34" charset="-122"/>
                          <a:cs typeface="Arial" pitchFamily="34" charset="-120"/>
                        </a:rPr>
                        <a:t>2 × door interlock, E-stop, OD6+ goggles, 450 nm window</a:t>
                      </a:r>
                      <a:endParaRPr lang="en-US" sz="8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c>
                  <a:txBody>
                    <a:bodyPr/>
                    <a:lstStyle/>
                    <a:p>
                      <a:pPr indent="0" marL="0">
                        <a:buNone/>
                      </a:pPr>
                      <a:r>
                        <a:rPr lang="en-US" sz="850" dirty="0">
                          <a:solidFill>
                            <a:srgbClr val="1D2522"/>
                          </a:solidFill>
                          <a:latin typeface="Arial" pitchFamily="34" charset="0"/>
                          <a:ea typeface="Arial" pitchFamily="34" charset="-122"/>
                          <a:cs typeface="Arial" pitchFamily="34" charset="-120"/>
                        </a:rPr>
                        <a:t>Class 1 enclosure goal</a:t>
                      </a:r>
                      <a:endParaRPr lang="en-US" sz="8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c>
                  <a:txBody>
                    <a:bodyPr/>
                    <a:lstStyle/>
                    <a:p>
                      <a:pPr indent="0" marL="0">
                        <a:buNone/>
                      </a:pPr>
                      <a:r>
                        <a:rPr lang="en-US" sz="850" dirty="0">
                          <a:solidFill>
                            <a:srgbClr val="1D2522"/>
                          </a:solidFill>
                          <a:latin typeface="Arial" pitchFamily="34" charset="0"/>
                          <a:ea typeface="Arial" pitchFamily="34" charset="-122"/>
                          <a:cs typeface="Arial" pitchFamily="34" charset="-120"/>
                        </a:rPr>
                        <a:t>A 10 W laser is Class 4 if exposed</a:t>
                      </a:r>
                      <a:endParaRPr lang="en-US" sz="8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r>
              <a:tr h="292608">
                <a:tc>
                  <a:txBody>
                    <a:bodyPr/>
                    <a:lstStyle/>
                    <a:p>
                      <a:pPr indent="0" marL="0">
                        <a:buNone/>
                      </a:pPr>
                      <a:r>
                        <a:rPr lang="en-US" sz="850" b="1" dirty="0">
                          <a:solidFill>
                            <a:srgbClr val="1D2522"/>
                          </a:solidFill>
                          <a:latin typeface="Arial" pitchFamily="34" charset="0"/>
                          <a:ea typeface="Arial" pitchFamily="34" charset="-122"/>
                          <a:cs typeface="Arial" pitchFamily="34" charset="-120"/>
                        </a:rPr>
                        <a:t>Firmware</a:t>
                      </a:r>
                      <a:endParaRPr lang="en-US" sz="8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c>
                  <a:txBody>
                    <a:bodyPr/>
                    <a:lstStyle/>
                    <a:p>
                      <a:pPr indent="0" marL="0">
                        <a:buNone/>
                      </a:pPr>
                      <a:r>
                        <a:rPr lang="en-US" sz="850" dirty="0">
                          <a:solidFill>
                            <a:srgbClr val="1D2522"/>
                          </a:solidFill>
                          <a:latin typeface="Arial" pitchFamily="34" charset="0"/>
                          <a:ea typeface="Arial" pitchFamily="34" charset="-122"/>
                          <a:cs typeface="Arial" pitchFamily="34" charset="-120"/>
                        </a:rPr>
                        <a:t>Klipper + Moonraker; Proto job runner</a:t>
                      </a:r>
                      <a:endParaRPr lang="en-US" sz="8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c>
                  <a:txBody>
                    <a:bodyPr/>
                    <a:lstStyle/>
                    <a:p>
                      <a:pPr indent="0" marL="0">
                        <a:buNone/>
                      </a:pPr>
                      <a:r>
                        <a:rPr lang="en-US" sz="850" dirty="0">
                          <a:solidFill>
                            <a:srgbClr val="1D2522"/>
                          </a:solidFill>
                          <a:latin typeface="Arial" pitchFamily="34" charset="0"/>
                          <a:ea typeface="Arial" pitchFamily="34" charset="-122"/>
                          <a:cs typeface="Arial" pitchFamily="34" charset="-120"/>
                        </a:rPr>
                        <a:t>Signed release binaries</a:t>
                      </a:r>
                      <a:endParaRPr lang="en-US" sz="8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c>
                  <a:txBody>
                    <a:bodyPr/>
                    <a:lstStyle/>
                    <a:p>
                      <a:pPr indent="0" marL="0">
                        <a:buNone/>
                      </a:pPr>
                      <a:r>
                        <a:rPr lang="en-US" sz="850" dirty="0">
                          <a:solidFill>
                            <a:srgbClr val="1D2522"/>
                          </a:solidFill>
                          <a:latin typeface="Arial" pitchFamily="34" charset="0"/>
                          <a:ea typeface="Arial" pitchFamily="34" charset="-122"/>
                          <a:cs typeface="Arial" pitchFamily="34" charset="-120"/>
                        </a:rPr>
                        <a:t>Agent-controllable machine API</a:t>
                      </a:r>
                      <a:endParaRPr lang="en-US" sz="8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r>
            </a:tbl>
          </a:graphicData>
        </a:graphic>
      </p:graphicFrame>
      <p:sp>
        <p:nvSpPr>
          <p:cNvPr id="7" name="Text 4"/>
          <p:cNvSpPr txBox="1"/>
          <p:nvPr/>
        </p:nvSpPr>
        <p:spPr>
          <a:xfrm>
            <a:off x="457200" y="4617720"/>
            <a:ext cx="8229600" cy="201168"/>
          </a:xfrm>
          <a:prstGeom prst="rect">
            <a:avLst/>
          </a:prstGeom>
          <a:noFill/>
          <a:ln/>
        </p:spPr>
        <p:txBody>
          <a:bodyPr wrap="square" lIns="0" tIns="0" rIns="0" bIns="0" rtlCol="0" anchor="t"/>
          <a:lstStyle/>
          <a:p>
            <a:pPr indent="0" marL="0">
              <a:buNone/>
            </a:pPr>
            <a:r>
              <a:rPr lang="en-US" sz="750" i="1" dirty="0">
                <a:solidFill>
                  <a:srgbClr val="5E6B66"/>
                </a:solidFill>
                <a:latin typeface="Arial" pitchFamily="34" charset="0"/>
                <a:ea typeface="Arial" pitchFamily="34" charset="-122"/>
                <a:cs typeface="Arial" pitchFamily="34" charset="-120"/>
              </a:rPr>
              <a:t>Source: Protopus cost report and BOM, 29 Sep 2026. Placement is manual by choice: it keeps cost down and a person in the loop.</a:t>
            </a:r>
            <a:endParaRPr lang="en-US" sz="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201168"/>
          </a:xfrm>
          <a:prstGeom prst="rect">
            <a:avLst/>
          </a:prstGeom>
          <a:noFill/>
          <a:ln/>
        </p:spPr>
        <p:txBody>
          <a:bodyPr wrap="square" lIns="0" tIns="0" rIns="0" bIns="0" rtlCol="0" anchor="t"/>
          <a:lstStyle/>
          <a:p>
            <a:pPr indent="0" marL="0">
              <a:buNone/>
            </a:pPr>
            <a:r>
              <a:rPr lang="en-US" sz="900" b="1" spc="200" kern="0" dirty="0">
                <a:solidFill>
                  <a:srgbClr val="C8793A"/>
                </a:solidFill>
                <a:latin typeface="Arial" pitchFamily="34" charset="0"/>
                <a:ea typeface="Arial" pitchFamily="34" charset="-122"/>
                <a:cs typeface="Arial" pitchFamily="34" charset="-120"/>
              </a:rPr>
              <a:t>REPLACES 'DESIGN AT NIGHT, BOARD IN THE MORNING'</a:t>
            </a:r>
            <a:endParaRPr lang="en-US" sz="900" dirty="0"/>
          </a:p>
        </p:txBody>
      </p:sp>
      <p:sp>
        <p:nvSpPr>
          <p:cNvPr id="3" name="Text 1"/>
          <p:cNvSpPr txBox="1"/>
          <p:nvPr/>
        </p:nvSpPr>
        <p:spPr>
          <a:xfrm>
            <a:off x="457200" y="457200"/>
            <a:ext cx="8229600" cy="566928"/>
          </a:xfrm>
          <a:prstGeom prst="rect">
            <a:avLst/>
          </a:prstGeom>
          <a:noFill/>
          <a:ln/>
        </p:spPr>
        <p:txBody>
          <a:bodyPr wrap="square" lIns="0" tIns="0" rIns="0" bIns="0" rtlCol="0" anchor="ctr">
            <a:normAutofit/>
          </a:bodyPr>
          <a:lstStyle/>
          <a:p>
            <a:pPr indent="0" marL="0">
              <a:buNone/>
            </a:pPr>
            <a:r>
              <a:rPr lang="en-US" sz="2200" b="1" dirty="0">
                <a:solidFill>
                  <a:srgbClr val="0F2A22"/>
                </a:solidFill>
                <a:latin typeface="Arial" pitchFamily="34" charset="0"/>
                <a:ea typeface="Arial" pitchFamily="34" charset="-122"/>
                <a:cs typeface="Arial" pitchFamily="34" charset="-120"/>
              </a:rPr>
              <a:t>Honest cycle time: ≈2 hours, 15–20 minutes hands-on</a:t>
            </a:r>
            <a:endParaRPr lang="en-US" sz="2200" dirty="0"/>
          </a:p>
        </p:txBody>
      </p:sp>
      <p:sp>
        <p:nvSpPr>
          <p:cNvPr id="4" name="Text 2"/>
          <p:cNvSpPr txBox="1"/>
          <p:nvPr/>
        </p:nvSpPr>
        <p:spPr>
          <a:xfrm>
            <a:off x="8321040" y="4828032"/>
            <a:ext cx="365760" cy="182880"/>
          </a:xfrm>
          <a:prstGeom prst="rect">
            <a:avLst/>
          </a:prstGeom>
          <a:noFill/>
          <a:ln/>
        </p:spPr>
        <p:txBody>
          <a:bodyPr wrap="square" lIns="0" tIns="0" rIns="0" bIns="0" rtlCol="0" anchor="t"/>
          <a:lstStyle/>
          <a:p>
            <a:pPr algn="r" indent="0" marL="0">
              <a:buNone/>
            </a:pPr>
            <a:r>
              <a:rPr lang="en-US" sz="800" dirty="0">
                <a:solidFill>
                  <a:srgbClr val="5E6B66"/>
                </a:solidFill>
                <a:latin typeface="Arial" pitchFamily="34" charset="0"/>
                <a:ea typeface="Arial" pitchFamily="34" charset="-122"/>
                <a:cs typeface="Arial" pitchFamily="34" charset="-120"/>
              </a:rPr>
              <a:t>12</a:t>
            </a:r>
            <a:endParaRPr lang="en-US" sz="800" dirty="0"/>
          </a:p>
        </p:txBody>
      </p:sp>
      <p:sp>
        <p:nvSpPr>
          <p:cNvPr id="5" name="Text 3"/>
          <p:cNvSpPr txBox="1"/>
          <p:nvPr/>
        </p:nvSpPr>
        <p:spPr>
          <a:xfrm>
            <a:off x="457200" y="4828032"/>
            <a:ext cx="2743200" cy="182880"/>
          </a:xfrm>
          <a:prstGeom prst="rect">
            <a:avLst/>
          </a:prstGeom>
          <a:noFill/>
          <a:ln/>
        </p:spPr>
        <p:txBody>
          <a:bodyPr wrap="square" lIns="0" tIns="0" rIns="0" bIns="0" rtlCol="0" anchor="t"/>
          <a:lstStyle/>
          <a:p>
            <a:pPr indent="0" marL="0">
              <a:buNone/>
            </a:pPr>
            <a:r>
              <a:rPr lang="en-US" sz="800" dirty="0">
                <a:solidFill>
                  <a:srgbClr val="5E6B66"/>
                </a:solidFill>
                <a:latin typeface="Arial" pitchFamily="34" charset="0"/>
                <a:ea typeface="Arial" pitchFamily="34" charset="-122"/>
                <a:cs typeface="Arial" pitchFamily="34" charset="-120"/>
              </a:rPr>
              <a:t>Protopulse · pitch v2</a:t>
            </a:r>
            <a:endParaRPr lang="en-US" sz="800" dirty="0"/>
          </a:p>
        </p:txBody>
      </p:sp>
      <p:graphicFrame>
        <p:nvGraphicFramePr>
          <p:cNvPr id="6" name="Chart 0" descr=""/>
          <p:cNvGraphicFramePr/>
          <p:nvPr/>
        </p:nvGraphicFramePr>
        <p:xfrm>
          <a:off x="365760" y="1097280"/>
          <a:ext cx="5120640" cy="352044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5715000" y="1188720"/>
            <a:ext cx="2971800" cy="868680"/>
          </a:xfrm>
          <a:prstGeom prst="roundRect">
            <a:avLst>
              <a:gd name="adj" fmla="val 8421"/>
            </a:avLst>
          </a:prstGeom>
          <a:solidFill>
            <a:srgbClr val="0F2A22"/>
          </a:solidFill>
          <a:ln w="12700">
            <a:solidFill>
              <a:srgbClr val="0F2A22"/>
            </a:solidFill>
            <a:prstDash val="solid"/>
          </a:ln>
        </p:spPr>
      </p:sp>
      <p:sp>
        <p:nvSpPr>
          <p:cNvPr id="8" name="Text 5"/>
          <p:cNvSpPr txBox="1"/>
          <p:nvPr/>
        </p:nvSpPr>
        <p:spPr>
          <a:xfrm>
            <a:off x="5852160" y="1261872"/>
            <a:ext cx="2743200" cy="411480"/>
          </a:xfrm>
          <a:prstGeom prst="rect">
            <a:avLst/>
          </a:prstGeom>
          <a:noFill/>
          <a:ln/>
        </p:spPr>
        <p:txBody>
          <a:bodyPr wrap="square" lIns="0" tIns="0" rIns="0" bIns="0" rtlCol="0" anchor="t"/>
          <a:lstStyle/>
          <a:p>
            <a:pPr indent="0" marL="0">
              <a:buNone/>
            </a:pPr>
            <a:r>
              <a:rPr lang="en-US" sz="2100" b="1" dirty="0">
                <a:solidFill>
                  <a:srgbClr val="C8793A"/>
                </a:solidFill>
                <a:latin typeface="Arial" pitchFamily="34" charset="0"/>
                <a:ea typeface="Arial" pitchFamily="34" charset="-122"/>
                <a:cs typeface="Arial" pitchFamily="34" charset="-120"/>
              </a:rPr>
              <a:t>81–141 min</a:t>
            </a:r>
            <a:endParaRPr lang="en-US" sz="2100" dirty="0"/>
          </a:p>
        </p:txBody>
      </p:sp>
      <p:sp>
        <p:nvSpPr>
          <p:cNvPr id="9" name="Text 6"/>
          <p:cNvSpPr txBox="1"/>
          <p:nvPr/>
        </p:nvSpPr>
        <p:spPr>
          <a:xfrm>
            <a:off x="5852160" y="1673352"/>
            <a:ext cx="2743200" cy="320040"/>
          </a:xfrm>
          <a:prstGeom prst="rect">
            <a:avLst/>
          </a:prstGeom>
          <a:noFill/>
          <a:ln/>
        </p:spPr>
        <p:txBody>
          <a:bodyPr wrap="square" lIns="0" tIns="0" rIns="0" bIns="0" rtlCol="0" anchor="t"/>
          <a:lstStyle/>
          <a:p>
            <a:pPr indent="0" marL="0">
              <a:buNone/>
            </a:pPr>
            <a:r>
              <a:rPr lang="en-US" sz="950" dirty="0">
                <a:solidFill>
                  <a:srgbClr val="FFFFFF"/>
                </a:solidFill>
                <a:latin typeface="Arial" pitchFamily="34" charset="0"/>
                <a:ea typeface="Arial" pitchFamily="34" charset="-122"/>
                <a:cs typeface="Arial" pitchFamily="34" charset="-120"/>
              </a:rPr>
              <a:t>per board, end to end</a:t>
            </a:r>
            <a:endParaRPr lang="en-US" sz="950" dirty="0"/>
          </a:p>
        </p:txBody>
      </p:sp>
      <p:sp>
        <p:nvSpPr>
          <p:cNvPr id="10" name="Shape 7"/>
          <p:cNvSpPr/>
          <p:nvPr/>
        </p:nvSpPr>
        <p:spPr>
          <a:xfrm>
            <a:off x="5715000" y="2176272"/>
            <a:ext cx="2971800" cy="868680"/>
          </a:xfrm>
          <a:prstGeom prst="roundRect">
            <a:avLst>
              <a:gd name="adj" fmla="val 8421"/>
            </a:avLst>
          </a:prstGeom>
          <a:solidFill>
            <a:srgbClr val="E8F1EC"/>
          </a:solidFill>
          <a:ln w="12700">
            <a:solidFill>
              <a:srgbClr val="E8F1EC"/>
            </a:solidFill>
            <a:prstDash val="solid"/>
          </a:ln>
        </p:spPr>
      </p:sp>
      <p:sp>
        <p:nvSpPr>
          <p:cNvPr id="11" name="Text 8"/>
          <p:cNvSpPr txBox="1"/>
          <p:nvPr/>
        </p:nvSpPr>
        <p:spPr>
          <a:xfrm>
            <a:off x="5852160" y="2249424"/>
            <a:ext cx="2743200" cy="411480"/>
          </a:xfrm>
          <a:prstGeom prst="rect">
            <a:avLst/>
          </a:prstGeom>
          <a:noFill/>
          <a:ln/>
        </p:spPr>
        <p:txBody>
          <a:bodyPr wrap="square" lIns="0" tIns="0" rIns="0" bIns="0" rtlCol="0" anchor="t"/>
          <a:lstStyle/>
          <a:p>
            <a:pPr indent="0" marL="0">
              <a:buNone/>
            </a:pPr>
            <a:r>
              <a:rPr lang="en-US" sz="2100" b="1" dirty="0">
                <a:solidFill>
                  <a:srgbClr val="C8793A"/>
                </a:solidFill>
                <a:latin typeface="Arial" pitchFamily="34" charset="0"/>
                <a:ea typeface="Arial" pitchFamily="34" charset="-122"/>
                <a:cs typeface="Arial" pitchFamily="34" charset="-120"/>
              </a:rPr>
              <a:t>≈15–20 min</a:t>
            </a:r>
            <a:endParaRPr lang="en-US" sz="2100" dirty="0"/>
          </a:p>
        </p:txBody>
      </p:sp>
      <p:sp>
        <p:nvSpPr>
          <p:cNvPr id="12" name="Text 9"/>
          <p:cNvSpPr txBox="1"/>
          <p:nvPr/>
        </p:nvSpPr>
        <p:spPr>
          <a:xfrm>
            <a:off x="5852160" y="2660904"/>
            <a:ext cx="2743200" cy="320040"/>
          </a:xfrm>
          <a:prstGeom prst="rect">
            <a:avLst/>
          </a:prstGeom>
          <a:noFill/>
          <a:ln/>
        </p:spPr>
        <p:txBody>
          <a:bodyPr wrap="square" lIns="0" tIns="0" rIns="0" bIns="0" rtlCol="0" anchor="t"/>
          <a:lstStyle/>
          <a:p>
            <a:pPr indent="0" marL="0">
              <a:buNone/>
            </a:pPr>
            <a:r>
              <a:rPr lang="en-US" sz="950" dirty="0">
                <a:solidFill>
                  <a:srgbClr val="1D2522"/>
                </a:solidFill>
                <a:latin typeface="Arial" pitchFamily="34" charset="0"/>
                <a:ea typeface="Arial" pitchFamily="34" charset="-122"/>
                <a:cs typeface="Arial" pitchFamily="34" charset="-120"/>
              </a:rPr>
              <a:t>hands-on: load, place, hook up the test</a:t>
            </a:r>
            <a:endParaRPr lang="en-US" sz="950" dirty="0"/>
          </a:p>
        </p:txBody>
      </p:sp>
      <p:sp>
        <p:nvSpPr>
          <p:cNvPr id="13" name="Shape 10"/>
          <p:cNvSpPr/>
          <p:nvPr/>
        </p:nvSpPr>
        <p:spPr>
          <a:xfrm>
            <a:off x="5715000" y="3163824"/>
            <a:ext cx="2971800" cy="868680"/>
          </a:xfrm>
          <a:prstGeom prst="roundRect">
            <a:avLst>
              <a:gd name="adj" fmla="val 8421"/>
            </a:avLst>
          </a:prstGeom>
          <a:solidFill>
            <a:srgbClr val="E8F1EC"/>
          </a:solidFill>
          <a:ln w="12700">
            <a:solidFill>
              <a:srgbClr val="E8F1EC"/>
            </a:solidFill>
            <a:prstDash val="solid"/>
          </a:ln>
        </p:spPr>
      </p:sp>
      <p:sp>
        <p:nvSpPr>
          <p:cNvPr id="14" name="Text 11"/>
          <p:cNvSpPr txBox="1"/>
          <p:nvPr/>
        </p:nvSpPr>
        <p:spPr>
          <a:xfrm>
            <a:off x="5852160" y="3236976"/>
            <a:ext cx="2743200" cy="411480"/>
          </a:xfrm>
          <a:prstGeom prst="rect">
            <a:avLst/>
          </a:prstGeom>
          <a:noFill/>
          <a:ln/>
        </p:spPr>
        <p:txBody>
          <a:bodyPr wrap="square" lIns="0" tIns="0" rIns="0" bIns="0" rtlCol="0" anchor="t"/>
          <a:lstStyle/>
          <a:p>
            <a:pPr indent="0" marL="0">
              <a:buNone/>
            </a:pPr>
            <a:r>
              <a:rPr lang="en-US" sz="2100" b="1" dirty="0">
                <a:solidFill>
                  <a:srgbClr val="C8793A"/>
                </a:solidFill>
                <a:latin typeface="Arial" pitchFamily="34" charset="0"/>
                <a:ea typeface="Arial" pitchFamily="34" charset="-122"/>
                <a:cs typeface="Arial" pitchFamily="34" charset="-120"/>
              </a:rPr>
              <a:t>3–5 boards</a:t>
            </a:r>
            <a:endParaRPr lang="en-US" sz="2100" dirty="0"/>
          </a:p>
        </p:txBody>
      </p:sp>
      <p:sp>
        <p:nvSpPr>
          <p:cNvPr id="15" name="Text 12"/>
          <p:cNvSpPr txBox="1"/>
          <p:nvPr/>
        </p:nvSpPr>
        <p:spPr>
          <a:xfrm>
            <a:off x="5852160" y="3648456"/>
            <a:ext cx="2743200" cy="320040"/>
          </a:xfrm>
          <a:prstGeom prst="rect">
            <a:avLst/>
          </a:prstGeom>
          <a:noFill/>
          <a:ln/>
        </p:spPr>
        <p:txBody>
          <a:bodyPr wrap="square" lIns="0" tIns="0" rIns="0" bIns="0" rtlCol="0" anchor="t"/>
          <a:lstStyle/>
          <a:p>
            <a:pPr indent="0" marL="0">
              <a:buNone/>
            </a:pPr>
            <a:r>
              <a:rPr lang="en-US" sz="950" dirty="0">
                <a:solidFill>
                  <a:srgbClr val="1D2522"/>
                </a:solidFill>
                <a:latin typeface="Arial" pitchFamily="34" charset="0"/>
                <a:ea typeface="Arial" pitchFamily="34" charset="-122"/>
                <a:cs typeface="Arial" pitchFamily="34" charset="-120"/>
              </a:rPr>
              <a:t>per 8-hour shift, one machine</a:t>
            </a:r>
            <a:endParaRPr lang="en-US" sz="950" dirty="0"/>
          </a:p>
        </p:txBody>
      </p:sp>
      <p:sp>
        <p:nvSpPr>
          <p:cNvPr id="16" name="Text 13"/>
          <p:cNvSpPr txBox="1"/>
          <p:nvPr/>
        </p:nvSpPr>
        <p:spPr>
          <a:xfrm>
            <a:off x="5715000" y="4160520"/>
            <a:ext cx="2971800" cy="457200"/>
          </a:xfrm>
          <a:prstGeom prst="rect">
            <a:avLst/>
          </a:prstGeom>
          <a:noFill/>
          <a:ln/>
        </p:spPr>
        <p:txBody>
          <a:bodyPr wrap="square" lIns="0" tIns="0" rIns="0" bIns="0" rtlCol="0" anchor="t"/>
          <a:lstStyle/>
          <a:p>
            <a:pPr indent="0" marL="0">
              <a:buNone/>
            </a:pPr>
            <a:r>
              <a:rPr lang="en-US" sz="900" i="1" dirty="0">
                <a:solidFill>
                  <a:srgbClr val="5E6B66"/>
                </a:solidFill>
                <a:latin typeface="Arial" pitchFamily="34" charset="0"/>
                <a:ea typeface="Arial" pitchFamily="34" charset="-122"/>
                <a:cs typeface="Arial" pitchFamily="34" charset="-120"/>
              </a:rPr>
              <a:t>These are engineering targets. Phase 1 measures them on real boards and reports the actual numbers.</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201168"/>
          </a:xfrm>
          <a:prstGeom prst="rect">
            <a:avLst/>
          </a:prstGeom>
          <a:noFill/>
          <a:ln/>
        </p:spPr>
        <p:txBody>
          <a:bodyPr wrap="square" lIns="0" tIns="0" rIns="0" bIns="0" rtlCol="0" anchor="t"/>
          <a:lstStyle/>
          <a:p>
            <a:pPr indent="0" marL="0">
              <a:buNone/>
            </a:pPr>
            <a:r>
              <a:rPr lang="en-US" sz="900" b="1" spc="200" kern="0" dirty="0">
                <a:solidFill>
                  <a:srgbClr val="C8793A"/>
                </a:solidFill>
                <a:latin typeface="Arial" pitchFamily="34" charset="0"/>
                <a:ea typeface="Arial" pitchFamily="34" charset="-122"/>
                <a:cs typeface="Arial" pitchFamily="34" charset="-120"/>
              </a:rPr>
              <a:t>ENGINEERING RISK, STATED OPENLY</a:t>
            </a:r>
            <a:endParaRPr lang="en-US" sz="900" dirty="0"/>
          </a:p>
        </p:txBody>
      </p:sp>
      <p:sp>
        <p:nvSpPr>
          <p:cNvPr id="3" name="Text 1"/>
          <p:cNvSpPr txBox="1"/>
          <p:nvPr/>
        </p:nvSpPr>
        <p:spPr>
          <a:xfrm>
            <a:off x="457200" y="457200"/>
            <a:ext cx="8229600" cy="566928"/>
          </a:xfrm>
          <a:prstGeom prst="rect">
            <a:avLst/>
          </a:prstGeom>
          <a:noFill/>
          <a:ln/>
        </p:spPr>
        <p:txBody>
          <a:bodyPr wrap="square" lIns="0" tIns="0" rIns="0" bIns="0" rtlCol="0" anchor="ctr">
            <a:normAutofit/>
          </a:bodyPr>
          <a:lstStyle/>
          <a:p>
            <a:pPr indent="0" marL="0">
              <a:buNone/>
            </a:pPr>
            <a:r>
              <a:rPr lang="en-US" sz="2200" b="1" dirty="0">
                <a:solidFill>
                  <a:srgbClr val="0F2A22"/>
                </a:solidFill>
                <a:latin typeface="Arial" pitchFamily="34" charset="0"/>
                <a:ea typeface="Arial" pitchFamily="34" charset="-122"/>
                <a:cs typeface="Arial" pitchFamily="34" charset="-120"/>
              </a:rPr>
              <a:t>What we still have to prove, and how we'll test it</a:t>
            </a:r>
            <a:endParaRPr lang="en-US" sz="2200" dirty="0"/>
          </a:p>
        </p:txBody>
      </p:sp>
      <p:sp>
        <p:nvSpPr>
          <p:cNvPr id="4" name="Text 2"/>
          <p:cNvSpPr txBox="1"/>
          <p:nvPr/>
        </p:nvSpPr>
        <p:spPr>
          <a:xfrm>
            <a:off x="8321040" y="4828032"/>
            <a:ext cx="365760" cy="182880"/>
          </a:xfrm>
          <a:prstGeom prst="rect">
            <a:avLst/>
          </a:prstGeom>
          <a:noFill/>
          <a:ln/>
        </p:spPr>
        <p:txBody>
          <a:bodyPr wrap="square" lIns="0" tIns="0" rIns="0" bIns="0" rtlCol="0" anchor="t"/>
          <a:lstStyle/>
          <a:p>
            <a:pPr algn="r" indent="0" marL="0">
              <a:buNone/>
            </a:pPr>
            <a:r>
              <a:rPr lang="en-US" sz="800" dirty="0">
                <a:solidFill>
                  <a:srgbClr val="5E6B66"/>
                </a:solidFill>
                <a:latin typeface="Arial" pitchFamily="34" charset="0"/>
                <a:ea typeface="Arial" pitchFamily="34" charset="-122"/>
                <a:cs typeface="Arial" pitchFamily="34" charset="-120"/>
              </a:rPr>
              <a:t>13</a:t>
            </a:r>
            <a:endParaRPr lang="en-US" sz="800" dirty="0"/>
          </a:p>
        </p:txBody>
      </p:sp>
      <p:sp>
        <p:nvSpPr>
          <p:cNvPr id="5" name="Text 3"/>
          <p:cNvSpPr txBox="1"/>
          <p:nvPr/>
        </p:nvSpPr>
        <p:spPr>
          <a:xfrm>
            <a:off x="457200" y="4828032"/>
            <a:ext cx="2743200" cy="182880"/>
          </a:xfrm>
          <a:prstGeom prst="rect">
            <a:avLst/>
          </a:prstGeom>
          <a:noFill/>
          <a:ln/>
        </p:spPr>
        <p:txBody>
          <a:bodyPr wrap="square" lIns="0" tIns="0" rIns="0" bIns="0" rtlCol="0" anchor="t"/>
          <a:lstStyle/>
          <a:p>
            <a:pPr indent="0" marL="0">
              <a:buNone/>
            </a:pPr>
            <a:r>
              <a:rPr lang="en-US" sz="800" dirty="0">
                <a:solidFill>
                  <a:srgbClr val="5E6B66"/>
                </a:solidFill>
                <a:latin typeface="Arial" pitchFamily="34" charset="0"/>
                <a:ea typeface="Arial" pitchFamily="34" charset="-122"/>
                <a:cs typeface="Arial" pitchFamily="34" charset="-120"/>
              </a:rPr>
              <a:t>Protopulse · pitch v2</a:t>
            </a:r>
            <a:endParaRPr lang="en-US" sz="8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3108960"/>
                <a:gridCol w="2834640"/>
                <a:gridCol w="2286000"/>
              </a:tblGrid>
              <a:tr h="475488">
                <a:tc>
                  <a:txBody>
                    <a:bodyPr/>
                    <a:lstStyle/>
                    <a:p>
                      <a:pPr indent="0" marL="0">
                        <a:buNone/>
                      </a:pPr>
                      <a:r>
                        <a:rPr lang="en-US" sz="1000" b="1" dirty="0">
                          <a:solidFill>
                            <a:srgbClr val="FFFFFF"/>
                          </a:solidFill>
                          <a:latin typeface="Arial" pitchFamily="34" charset="0"/>
                          <a:ea typeface="Arial" pitchFamily="34" charset="-122"/>
                          <a:cs typeface="Arial" pitchFamily="34" charset="-120"/>
                        </a:rPr>
                        <a:t>Open point</a:t>
                      </a:r>
                      <a:endParaRPr lang="en-US" sz="10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1B4D3E"/>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How Phase 1 tests it</a:t>
                      </a:r>
                      <a:endParaRPr lang="en-US" sz="10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1B4D3E"/>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Fallback if it fails</a:t>
                      </a:r>
                      <a:endParaRPr lang="en-US" sz="10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1B4D3E"/>
                    </a:solidFill>
                  </a:tcPr>
                </a:tc>
              </a:tr>
              <a:tr h="475488">
                <a:tc>
                  <a:txBody>
                    <a:bodyPr/>
                    <a:lstStyle/>
                    <a:p>
                      <a:pPr indent="0" marL="0">
                        <a:buNone/>
                      </a:pPr>
                      <a:r>
                        <a:rPr lang="en-US" sz="1000" b="1" dirty="0">
                          <a:solidFill>
                            <a:srgbClr val="1D2522"/>
                          </a:solidFill>
                          <a:latin typeface="Arial" pitchFamily="34" charset="0"/>
                          <a:ea typeface="Arial" pitchFamily="34" charset="-122"/>
                          <a:cs typeface="Arial" pitchFamily="34" charset="-120"/>
                        </a:rPr>
                        <a:t>Mask cleanliness on 0.5 mm-pitch pads</a:t>
                      </a:r>
                      <a:endParaRPr lang="en-US" sz="10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E8F1EC"/>
                    </a:solidFill>
                  </a:tcPr>
                </a:tc>
                <a:tc>
                  <a:txBody>
                    <a:bodyPr/>
                    <a:lstStyle/>
                    <a:p>
                      <a:pPr indent="0" marL="0">
                        <a:buNone/>
                      </a:pPr>
                      <a:r>
                        <a:rPr lang="en-US" sz="1000" dirty="0">
                          <a:solidFill>
                            <a:srgbClr val="1D2522"/>
                          </a:solidFill>
                          <a:latin typeface="Arial" pitchFamily="34" charset="0"/>
                          <a:ea typeface="Arial" pitchFamily="34" charset="-122"/>
                          <a:cs typeface="Arial" pitchFamily="34" charset="-120"/>
                        </a:rPr>
                        <a:t>Wipe-develop test coupons under a microscope</a:t>
                      </a:r>
                      <a:endParaRPr lang="en-US" sz="10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E8F1EC"/>
                    </a:solidFill>
                  </a:tcPr>
                </a:tc>
                <a:tc>
                  <a:txBody>
                    <a:bodyPr/>
                    <a:lstStyle/>
                    <a:p>
                      <a:pPr indent="0" marL="0">
                        <a:buNone/>
                      </a:pPr>
                      <a:r>
                        <a:rPr lang="en-US" sz="1000" dirty="0">
                          <a:solidFill>
                            <a:srgbClr val="1D2522"/>
                          </a:solidFill>
                          <a:latin typeface="Arial" pitchFamily="34" charset="0"/>
                          <a:ea typeface="Arial" pitchFamily="34" charset="-122"/>
                          <a:cs typeface="Arial" pitchFamily="34" charset="-120"/>
                        </a:rPr>
                        <a:t>Skim the pads with the spindle</a:t>
                      </a:r>
                      <a:endParaRPr lang="en-US" sz="10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E8F1EC"/>
                    </a:solidFill>
                  </a:tcPr>
                </a:tc>
              </a:tr>
              <a:tr h="475488">
                <a:tc>
                  <a:txBody>
                    <a:bodyPr/>
                    <a:lstStyle/>
                    <a:p>
                      <a:pPr indent="0" marL="0">
                        <a:buNone/>
                      </a:pPr>
                      <a:r>
                        <a:rPr lang="en-US" sz="1000" b="1" dirty="0">
                          <a:solidFill>
                            <a:srgbClr val="1D2522"/>
                          </a:solidFill>
                          <a:latin typeface="Arial" pitchFamily="34" charset="0"/>
                          <a:ea typeface="Arial" pitchFamily="34" charset="-122"/>
                          <a:cs typeface="Arial" pitchFamily="34" charset="-120"/>
                        </a:rPr>
                        <a:t>Film registration within ±50 µm after magnetic clamping</a:t>
                      </a:r>
                      <a:endParaRPr lang="en-US" sz="10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1000" dirty="0">
                          <a:solidFill>
                            <a:srgbClr val="1D2522"/>
                          </a:solidFill>
                          <a:latin typeface="Arial" pitchFamily="34" charset="0"/>
                          <a:ea typeface="Arial" pitchFamily="34" charset="-122"/>
                          <a:cs typeface="Arial" pitchFamily="34" charset="-120"/>
                        </a:rPr>
                        <a:t>Fiducial measurement on every coupon</a:t>
                      </a:r>
                      <a:endParaRPr lang="en-US" sz="10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1000" dirty="0">
                          <a:solidFill>
                            <a:srgbClr val="1D2522"/>
                          </a:solidFill>
                          <a:latin typeface="Arial" pitchFamily="34" charset="0"/>
                          <a:ea typeface="Arial" pitchFamily="34" charset="-122"/>
                          <a:cs typeface="Arial" pitchFamily="34" charset="-120"/>
                        </a:rPr>
                        <a:t>Optical fiducial correction</a:t>
                      </a:r>
                      <a:endParaRPr lang="en-US" sz="10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r h="475488">
                <a:tc>
                  <a:txBody>
                    <a:bodyPr/>
                    <a:lstStyle/>
                    <a:p>
                      <a:pPr indent="0" marL="0">
                        <a:buNone/>
                      </a:pPr>
                      <a:r>
                        <a:rPr lang="en-US" sz="1000" b="1" dirty="0">
                          <a:solidFill>
                            <a:srgbClr val="1D2522"/>
                          </a:solidFill>
                          <a:latin typeface="Arial" pitchFamily="34" charset="0"/>
                          <a:ea typeface="Arial" pitchFamily="34" charset="-122"/>
                          <a:cs typeface="Arial" pitchFamily="34" charset="-120"/>
                        </a:rPr>
                        <a:t>Jig pocket accuracy after the resin shrinks</a:t>
                      </a:r>
                      <a:endParaRPr lang="en-US" sz="10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E8F1EC"/>
                    </a:solidFill>
                  </a:tcPr>
                </a:tc>
                <a:tc>
                  <a:txBody>
                    <a:bodyPr/>
                    <a:lstStyle/>
                    <a:p>
                      <a:pPr indent="0" marL="0">
                        <a:buNone/>
                      </a:pPr>
                      <a:r>
                        <a:rPr lang="en-US" sz="1000" dirty="0">
                          <a:solidFill>
                            <a:srgbClr val="1D2522"/>
                          </a:solidFill>
                          <a:latin typeface="Arial" pitchFamily="34" charset="0"/>
                          <a:ea typeface="Arial" pitchFamily="34" charset="-122"/>
                          <a:cs typeface="Arial" pitchFamily="34" charset="-120"/>
                        </a:rPr>
                        <a:t>Measure pocket-to-pin on printed jigs</a:t>
                      </a:r>
                      <a:endParaRPr lang="en-US" sz="10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E8F1EC"/>
                    </a:solidFill>
                  </a:tcPr>
                </a:tc>
                <a:tc>
                  <a:txBody>
                    <a:bodyPr/>
                    <a:lstStyle/>
                    <a:p>
                      <a:pPr indent="0" marL="0">
                        <a:buNone/>
                      </a:pPr>
                      <a:r>
                        <a:rPr lang="en-US" sz="1000" dirty="0">
                          <a:solidFill>
                            <a:srgbClr val="1D2522"/>
                          </a:solidFill>
                          <a:latin typeface="Arial" pitchFamily="34" charset="0"/>
                          <a:ea typeface="Arial" pitchFamily="34" charset="-122"/>
                          <a:cs typeface="Arial" pitchFamily="34" charset="-120"/>
                        </a:rPr>
                        <a:t>Scale compensation in the slicer</a:t>
                      </a:r>
                      <a:endParaRPr lang="en-US" sz="10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E8F1EC"/>
                    </a:solidFill>
                  </a:tcPr>
                </a:tc>
              </a:tr>
              <a:tr h="475488">
                <a:tc>
                  <a:txBody>
                    <a:bodyPr/>
                    <a:lstStyle/>
                    <a:p>
                      <a:pPr indent="0" marL="0">
                        <a:buNone/>
                      </a:pPr>
                      <a:r>
                        <a:rPr lang="en-US" sz="1000" b="1" dirty="0">
                          <a:solidFill>
                            <a:srgbClr val="1D2522"/>
                          </a:solidFill>
                          <a:latin typeface="Arial" pitchFamily="34" charset="0"/>
                          <a:ea typeface="Arial" pitchFamily="34" charset="-122"/>
                          <a:cs typeface="Arial" pitchFamily="34" charset="-120"/>
                        </a:rPr>
                        <a:t>Laser offset drift with temperature</a:t>
                      </a:r>
                      <a:endParaRPr lang="en-US" sz="10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1000" dirty="0">
                          <a:solidFill>
                            <a:srgbClr val="1D2522"/>
                          </a:solidFill>
                          <a:latin typeface="Arial" pitchFamily="34" charset="0"/>
                          <a:ea typeface="Arial" pitchFamily="34" charset="-122"/>
                          <a:cs typeface="Arial" pitchFamily="34" charset="-120"/>
                        </a:rPr>
                        <a:t>Check against a fiducial every job</a:t>
                      </a:r>
                      <a:endParaRPr lang="en-US" sz="10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1000" dirty="0">
                          <a:solidFill>
                            <a:srgbClr val="1D2522"/>
                          </a:solidFill>
                          <a:latin typeface="Arial" pitchFamily="34" charset="0"/>
                          <a:ea typeface="Arial" pitchFamily="34" charset="-122"/>
                          <a:cs typeface="Arial" pitchFamily="34" charset="-120"/>
                        </a:rPr>
                        <a:t>Automatic re-offset routine</a:t>
                      </a:r>
                      <a:endParaRPr lang="en-US" sz="10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r h="475488">
                <a:tc>
                  <a:txBody>
                    <a:bodyPr/>
                    <a:lstStyle/>
                    <a:p>
                      <a:pPr indent="0" marL="0">
                        <a:buNone/>
                      </a:pPr>
                      <a:r>
                        <a:rPr lang="en-US" sz="1000" b="1" dirty="0">
                          <a:solidFill>
                            <a:srgbClr val="1D2522"/>
                          </a:solidFill>
                          <a:latin typeface="Arial" pitchFamily="34" charset="0"/>
                          <a:ea typeface="Arial" pitchFamily="34" charset="-122"/>
                          <a:cs typeface="Arial" pitchFamily="34" charset="-120"/>
                        </a:rPr>
                        <a:t>Double-sided boards</a:t>
                      </a:r>
                      <a:endParaRPr lang="en-US" sz="10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E8F1EC"/>
                    </a:solidFill>
                  </a:tcPr>
                </a:tc>
                <a:tc>
                  <a:txBody>
                    <a:bodyPr/>
                    <a:lstStyle/>
                    <a:p>
                      <a:pPr indent="0" marL="0">
                        <a:buNone/>
                      </a:pPr>
                      <a:r>
                        <a:rPr lang="en-US" sz="1000" dirty="0">
                          <a:solidFill>
                            <a:srgbClr val="1D2522"/>
                          </a:solidFill>
                          <a:latin typeface="Arial" pitchFamily="34" charset="0"/>
                          <a:ea typeface="Arial" pitchFamily="34" charset="-122"/>
                          <a:cs typeface="Arial" pitchFamily="34" charset="-120"/>
                        </a:rPr>
                        <a:t>Flip on the same pins; measure layer-to-layer error</a:t>
                      </a:r>
                      <a:endParaRPr lang="en-US" sz="10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E8F1EC"/>
                    </a:solidFill>
                  </a:tcPr>
                </a:tc>
                <a:tc>
                  <a:txBody>
                    <a:bodyPr/>
                    <a:lstStyle/>
                    <a:p>
                      <a:pPr indent="0" marL="0">
                        <a:buNone/>
                      </a:pPr>
                      <a:r>
                        <a:rPr lang="en-US" sz="1000" dirty="0">
                          <a:solidFill>
                            <a:srgbClr val="1D2522"/>
                          </a:solidFill>
                          <a:latin typeface="Arial" pitchFamily="34" charset="0"/>
                          <a:ea typeface="Arial" pitchFamily="34" charset="-122"/>
                          <a:cs typeface="Arial" pitchFamily="34" charset="-120"/>
                        </a:rPr>
                        <a:t>Single-sided + jumpers for v1</a:t>
                      </a:r>
                      <a:endParaRPr lang="en-US" sz="10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E8F1EC"/>
                    </a:solidFill>
                  </a:tcPr>
                </a:tc>
              </a:tr>
            </a:tbl>
          </a:graphicData>
        </a:graphic>
      </p:graphicFrame>
      <p:sp>
        <p:nvSpPr>
          <p:cNvPr id="7" name="Text 4"/>
          <p:cNvSpPr txBox="1"/>
          <p:nvPr/>
        </p:nvSpPr>
        <p:spPr>
          <a:xfrm>
            <a:off x="457200" y="4206240"/>
            <a:ext cx="8229600" cy="274320"/>
          </a:xfrm>
          <a:prstGeom prst="rect">
            <a:avLst/>
          </a:prstGeom>
          <a:noFill/>
          <a:ln/>
        </p:spPr>
        <p:txBody>
          <a:bodyPr wrap="square" lIns="0" tIns="0" rIns="0" bIns="0" rtlCol="0" anchor="t"/>
          <a:lstStyle/>
          <a:p>
            <a:pPr indent="0" marL="0">
              <a:buNone/>
            </a:pPr>
            <a:r>
              <a:rPr lang="en-US" sz="950" i="1" dirty="0">
                <a:solidFill>
                  <a:srgbClr val="5E6B66"/>
                </a:solidFill>
                <a:latin typeface="Arial" pitchFamily="34" charset="0"/>
                <a:ea typeface="Arial" pitchFamily="34" charset="-122"/>
                <a:cs typeface="Arial" pitchFamily="34" charset="-120"/>
              </a:rPr>
              <a:t>Rows 1–4 come from our own workflow document. Row 5 is added here so nobody finds it in diligence first.</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201168"/>
          </a:xfrm>
          <a:prstGeom prst="rect">
            <a:avLst/>
          </a:prstGeom>
          <a:noFill/>
          <a:ln/>
        </p:spPr>
        <p:txBody>
          <a:bodyPr wrap="square" lIns="0" tIns="0" rIns="0" bIns="0" rtlCol="0" anchor="t"/>
          <a:lstStyle/>
          <a:p>
            <a:pPr indent="0" marL="0">
              <a:buNone/>
            </a:pPr>
            <a:r>
              <a:rPr lang="en-US" sz="900" b="1" spc="200" kern="0" dirty="0">
                <a:solidFill>
                  <a:srgbClr val="C8793A"/>
                </a:solidFill>
                <a:latin typeface="Arial" pitchFamily="34" charset="0"/>
                <a:ea typeface="Arial" pitchFamily="34" charset="-122"/>
                <a:cs typeface="Arial" pitchFamily="34" charset="-120"/>
              </a:rPr>
              <a:t>MACHINE 2 · MIXER</a:t>
            </a:r>
            <a:endParaRPr lang="en-US" sz="900" dirty="0"/>
          </a:p>
        </p:txBody>
      </p:sp>
      <p:sp>
        <p:nvSpPr>
          <p:cNvPr id="3" name="Text 1"/>
          <p:cNvSpPr txBox="1"/>
          <p:nvPr/>
        </p:nvSpPr>
        <p:spPr>
          <a:xfrm>
            <a:off x="457200" y="457200"/>
            <a:ext cx="8229600" cy="566928"/>
          </a:xfrm>
          <a:prstGeom prst="rect">
            <a:avLst/>
          </a:prstGeom>
          <a:noFill/>
          <a:ln/>
        </p:spPr>
        <p:txBody>
          <a:bodyPr wrap="square" lIns="0" tIns="0" rIns="0" bIns="0" rtlCol="0" anchor="ctr">
            <a:normAutofit/>
          </a:bodyPr>
          <a:lstStyle/>
          <a:p>
            <a:pPr indent="0" marL="0">
              <a:buNone/>
            </a:pPr>
            <a:r>
              <a:rPr lang="en-US" sz="2200" b="1" dirty="0">
                <a:solidFill>
                  <a:srgbClr val="0F2A22"/>
                </a:solidFill>
                <a:latin typeface="Arial" pitchFamily="34" charset="0"/>
                <a:ea typeface="Arial" pitchFamily="34" charset="-122"/>
                <a:cs typeface="Arial" pitchFamily="34" charset="-120"/>
              </a:rPr>
              <a:t>Mixer: the test head that lets an AI see</a:t>
            </a:r>
            <a:endParaRPr lang="en-US" sz="2200" dirty="0"/>
          </a:p>
        </p:txBody>
      </p:sp>
      <p:sp>
        <p:nvSpPr>
          <p:cNvPr id="4" name="Text 2"/>
          <p:cNvSpPr txBox="1"/>
          <p:nvPr/>
        </p:nvSpPr>
        <p:spPr>
          <a:xfrm>
            <a:off x="8321040" y="4828032"/>
            <a:ext cx="365760" cy="182880"/>
          </a:xfrm>
          <a:prstGeom prst="rect">
            <a:avLst/>
          </a:prstGeom>
          <a:noFill/>
          <a:ln/>
        </p:spPr>
        <p:txBody>
          <a:bodyPr wrap="square" lIns="0" tIns="0" rIns="0" bIns="0" rtlCol="0" anchor="t"/>
          <a:lstStyle/>
          <a:p>
            <a:pPr algn="r" indent="0" marL="0">
              <a:buNone/>
            </a:pPr>
            <a:r>
              <a:rPr lang="en-US" sz="800" dirty="0">
                <a:solidFill>
                  <a:srgbClr val="5E6B66"/>
                </a:solidFill>
                <a:latin typeface="Arial" pitchFamily="34" charset="0"/>
                <a:ea typeface="Arial" pitchFamily="34" charset="-122"/>
                <a:cs typeface="Arial" pitchFamily="34" charset="-120"/>
              </a:rPr>
              <a:t>14</a:t>
            </a:r>
            <a:endParaRPr lang="en-US" sz="800" dirty="0"/>
          </a:p>
        </p:txBody>
      </p:sp>
      <p:sp>
        <p:nvSpPr>
          <p:cNvPr id="5" name="Text 3"/>
          <p:cNvSpPr txBox="1"/>
          <p:nvPr/>
        </p:nvSpPr>
        <p:spPr>
          <a:xfrm>
            <a:off x="457200" y="4828032"/>
            <a:ext cx="2743200" cy="182880"/>
          </a:xfrm>
          <a:prstGeom prst="rect">
            <a:avLst/>
          </a:prstGeom>
          <a:noFill/>
          <a:ln/>
        </p:spPr>
        <p:txBody>
          <a:bodyPr wrap="square" lIns="0" tIns="0" rIns="0" bIns="0" rtlCol="0" anchor="t"/>
          <a:lstStyle/>
          <a:p>
            <a:pPr indent="0" marL="0">
              <a:buNone/>
            </a:pPr>
            <a:r>
              <a:rPr lang="en-US" sz="800" dirty="0">
                <a:solidFill>
                  <a:srgbClr val="5E6B66"/>
                </a:solidFill>
                <a:latin typeface="Arial" pitchFamily="34" charset="0"/>
                <a:ea typeface="Arial" pitchFamily="34" charset="-122"/>
                <a:cs typeface="Arial" pitchFamily="34" charset="-120"/>
              </a:rPr>
              <a:t>Protopulse · pitch v2</a:t>
            </a:r>
            <a:endParaRPr lang="en-US" sz="800" dirty="0"/>
          </a:p>
        </p:txBody>
      </p:sp>
      <p:sp>
        <p:nvSpPr>
          <p:cNvPr id="6" name="Shape 4"/>
          <p:cNvSpPr/>
          <p:nvPr/>
        </p:nvSpPr>
        <p:spPr>
          <a:xfrm>
            <a:off x="457200" y="1188720"/>
            <a:ext cx="1874520" cy="457200"/>
          </a:xfrm>
          <a:prstGeom prst="roundRect">
            <a:avLst>
              <a:gd name="adj" fmla="val 16000"/>
            </a:avLst>
          </a:prstGeom>
          <a:solidFill>
            <a:srgbClr val="E8F1EC"/>
          </a:solidFill>
          <a:ln w="12700">
            <a:solidFill>
              <a:srgbClr val="E8F1EC"/>
            </a:solidFill>
            <a:prstDash val="solid"/>
          </a:ln>
        </p:spPr>
      </p:sp>
      <p:sp>
        <p:nvSpPr>
          <p:cNvPr id="7" name="Text 5"/>
          <p:cNvSpPr txBox="1"/>
          <p:nvPr/>
        </p:nvSpPr>
        <p:spPr>
          <a:xfrm>
            <a:off x="566928" y="1188720"/>
            <a:ext cx="1691640" cy="457200"/>
          </a:xfrm>
          <a:prstGeom prst="rect">
            <a:avLst/>
          </a:prstGeom>
          <a:noFill/>
          <a:ln/>
        </p:spPr>
        <p:txBody>
          <a:bodyPr wrap="square" lIns="0" tIns="0" rIns="0" bIns="0" rtlCol="0" anchor="ctr"/>
          <a:lstStyle/>
          <a:p>
            <a:pPr indent="0" marL="0">
              <a:buNone/>
            </a:pPr>
            <a:r>
              <a:rPr lang="en-US" sz="1000" b="1" dirty="0">
                <a:solidFill>
                  <a:srgbClr val="1B4D3E"/>
                </a:solidFill>
                <a:latin typeface="Arial" pitchFamily="34" charset="0"/>
                <a:ea typeface="Arial" pitchFamily="34" charset="-122"/>
                <a:cs typeface="Arial" pitchFamily="34" charset="-120"/>
              </a:rPr>
              <a:t>2-ch oscilloscope</a:t>
            </a:r>
            <a:endParaRPr lang="en-US" sz="1000" dirty="0"/>
          </a:p>
        </p:txBody>
      </p:sp>
      <p:sp>
        <p:nvSpPr>
          <p:cNvPr id="8" name="Shape 6"/>
          <p:cNvSpPr/>
          <p:nvPr/>
        </p:nvSpPr>
        <p:spPr>
          <a:xfrm>
            <a:off x="2468880" y="1188720"/>
            <a:ext cx="1874520" cy="457200"/>
          </a:xfrm>
          <a:prstGeom prst="roundRect">
            <a:avLst>
              <a:gd name="adj" fmla="val 16000"/>
            </a:avLst>
          </a:prstGeom>
          <a:solidFill>
            <a:srgbClr val="E8F1EC"/>
          </a:solidFill>
          <a:ln w="12700">
            <a:solidFill>
              <a:srgbClr val="E8F1EC"/>
            </a:solidFill>
            <a:prstDash val="solid"/>
          </a:ln>
        </p:spPr>
      </p:sp>
      <p:sp>
        <p:nvSpPr>
          <p:cNvPr id="9" name="Text 7"/>
          <p:cNvSpPr txBox="1"/>
          <p:nvPr/>
        </p:nvSpPr>
        <p:spPr>
          <a:xfrm>
            <a:off x="2578608" y="1188720"/>
            <a:ext cx="1691640" cy="457200"/>
          </a:xfrm>
          <a:prstGeom prst="rect">
            <a:avLst/>
          </a:prstGeom>
          <a:noFill/>
          <a:ln/>
        </p:spPr>
        <p:txBody>
          <a:bodyPr wrap="square" lIns="0" tIns="0" rIns="0" bIns="0" rtlCol="0" anchor="ctr"/>
          <a:lstStyle/>
          <a:p>
            <a:pPr indent="0" marL="0">
              <a:buNone/>
            </a:pPr>
            <a:r>
              <a:rPr lang="en-US" sz="1000" b="1" dirty="0">
                <a:solidFill>
                  <a:srgbClr val="1B4D3E"/>
                </a:solidFill>
                <a:latin typeface="Arial" pitchFamily="34" charset="0"/>
                <a:ea typeface="Arial" pitchFamily="34" charset="-122"/>
                <a:cs typeface="Arial" pitchFamily="34" charset="-120"/>
              </a:rPr>
              <a:t>2-ch waveform generator</a:t>
            </a:r>
            <a:endParaRPr lang="en-US" sz="1000" dirty="0"/>
          </a:p>
        </p:txBody>
      </p:sp>
      <p:sp>
        <p:nvSpPr>
          <p:cNvPr id="10" name="Shape 8"/>
          <p:cNvSpPr/>
          <p:nvPr/>
        </p:nvSpPr>
        <p:spPr>
          <a:xfrm>
            <a:off x="457200" y="1755648"/>
            <a:ext cx="1874520" cy="457200"/>
          </a:xfrm>
          <a:prstGeom prst="roundRect">
            <a:avLst>
              <a:gd name="adj" fmla="val 16000"/>
            </a:avLst>
          </a:prstGeom>
          <a:solidFill>
            <a:srgbClr val="E8F1EC"/>
          </a:solidFill>
          <a:ln w="12700">
            <a:solidFill>
              <a:srgbClr val="E8F1EC"/>
            </a:solidFill>
            <a:prstDash val="solid"/>
          </a:ln>
        </p:spPr>
      </p:sp>
      <p:sp>
        <p:nvSpPr>
          <p:cNvPr id="11" name="Text 9"/>
          <p:cNvSpPr txBox="1"/>
          <p:nvPr/>
        </p:nvSpPr>
        <p:spPr>
          <a:xfrm>
            <a:off x="566928" y="1755648"/>
            <a:ext cx="1691640" cy="457200"/>
          </a:xfrm>
          <a:prstGeom prst="rect">
            <a:avLst/>
          </a:prstGeom>
          <a:noFill/>
          <a:ln/>
        </p:spPr>
        <p:txBody>
          <a:bodyPr wrap="square" lIns="0" tIns="0" rIns="0" bIns="0" rtlCol="0" anchor="ctr"/>
          <a:lstStyle/>
          <a:p>
            <a:pPr indent="0" marL="0">
              <a:buNone/>
            </a:pPr>
            <a:r>
              <a:rPr lang="en-US" sz="1000" b="1" dirty="0">
                <a:solidFill>
                  <a:srgbClr val="1B4D3E"/>
                </a:solidFill>
                <a:latin typeface="Arial" pitchFamily="34" charset="0"/>
                <a:ea typeface="Arial" pitchFamily="34" charset="-122"/>
                <a:cs typeface="Arial" pitchFamily="34" charset="-120"/>
              </a:rPr>
              <a:t>16-ch logic analyser</a:t>
            </a:r>
            <a:endParaRPr lang="en-US" sz="1000" dirty="0"/>
          </a:p>
        </p:txBody>
      </p:sp>
      <p:sp>
        <p:nvSpPr>
          <p:cNvPr id="12" name="Shape 10"/>
          <p:cNvSpPr/>
          <p:nvPr/>
        </p:nvSpPr>
        <p:spPr>
          <a:xfrm>
            <a:off x="2468880" y="1755648"/>
            <a:ext cx="1874520" cy="457200"/>
          </a:xfrm>
          <a:prstGeom prst="roundRect">
            <a:avLst>
              <a:gd name="adj" fmla="val 16000"/>
            </a:avLst>
          </a:prstGeom>
          <a:solidFill>
            <a:srgbClr val="E8F1EC"/>
          </a:solidFill>
          <a:ln w="12700">
            <a:solidFill>
              <a:srgbClr val="E8F1EC"/>
            </a:solidFill>
            <a:prstDash val="solid"/>
          </a:ln>
        </p:spPr>
      </p:sp>
      <p:sp>
        <p:nvSpPr>
          <p:cNvPr id="13" name="Text 11"/>
          <p:cNvSpPr txBox="1"/>
          <p:nvPr/>
        </p:nvSpPr>
        <p:spPr>
          <a:xfrm>
            <a:off x="2578608" y="1755648"/>
            <a:ext cx="1691640" cy="457200"/>
          </a:xfrm>
          <a:prstGeom prst="rect">
            <a:avLst/>
          </a:prstGeom>
          <a:noFill/>
          <a:ln/>
        </p:spPr>
        <p:txBody>
          <a:bodyPr wrap="square" lIns="0" tIns="0" rIns="0" bIns="0" rtlCol="0" anchor="ctr"/>
          <a:lstStyle/>
          <a:p>
            <a:pPr indent="0" marL="0">
              <a:buNone/>
            </a:pPr>
            <a:r>
              <a:rPr lang="en-US" sz="1000" b="1" dirty="0">
                <a:solidFill>
                  <a:srgbClr val="1B4D3E"/>
                </a:solidFill>
                <a:latin typeface="Arial" pitchFamily="34" charset="0"/>
                <a:ea typeface="Arial" pitchFamily="34" charset="-122"/>
                <a:cs typeface="Arial" pitchFamily="34" charset="-120"/>
              </a:rPr>
              <a:t>Pattern generator</a:t>
            </a:r>
            <a:endParaRPr lang="en-US" sz="1000" dirty="0"/>
          </a:p>
        </p:txBody>
      </p:sp>
      <p:sp>
        <p:nvSpPr>
          <p:cNvPr id="14" name="Shape 12"/>
          <p:cNvSpPr/>
          <p:nvPr/>
        </p:nvSpPr>
        <p:spPr>
          <a:xfrm>
            <a:off x="457200" y="2322576"/>
            <a:ext cx="1874520" cy="457200"/>
          </a:xfrm>
          <a:prstGeom prst="roundRect">
            <a:avLst>
              <a:gd name="adj" fmla="val 16000"/>
            </a:avLst>
          </a:prstGeom>
          <a:solidFill>
            <a:srgbClr val="E8F1EC"/>
          </a:solidFill>
          <a:ln w="12700">
            <a:solidFill>
              <a:srgbClr val="E8F1EC"/>
            </a:solidFill>
            <a:prstDash val="solid"/>
          </a:ln>
        </p:spPr>
      </p:sp>
      <p:sp>
        <p:nvSpPr>
          <p:cNvPr id="15" name="Text 13"/>
          <p:cNvSpPr txBox="1"/>
          <p:nvPr/>
        </p:nvSpPr>
        <p:spPr>
          <a:xfrm>
            <a:off x="566928" y="2322576"/>
            <a:ext cx="1691640" cy="457200"/>
          </a:xfrm>
          <a:prstGeom prst="rect">
            <a:avLst/>
          </a:prstGeom>
          <a:noFill/>
          <a:ln/>
        </p:spPr>
        <p:txBody>
          <a:bodyPr wrap="square" lIns="0" tIns="0" rIns="0" bIns="0" rtlCol="0" anchor="ctr"/>
          <a:lstStyle/>
          <a:p>
            <a:pPr indent="0" marL="0">
              <a:buNone/>
            </a:pPr>
            <a:r>
              <a:rPr lang="en-US" sz="1000" b="1" dirty="0">
                <a:solidFill>
                  <a:srgbClr val="1B4D3E"/>
                </a:solidFill>
                <a:latin typeface="Arial" pitchFamily="34" charset="0"/>
                <a:ea typeface="Arial" pitchFamily="34" charset="-122"/>
                <a:cs typeface="Arial" pitchFamily="34" charset="-120"/>
              </a:rPr>
              <a:t>Protocol decoder</a:t>
            </a:r>
            <a:endParaRPr lang="en-US" sz="1000" dirty="0"/>
          </a:p>
        </p:txBody>
      </p:sp>
      <p:sp>
        <p:nvSpPr>
          <p:cNvPr id="16" name="Shape 14"/>
          <p:cNvSpPr/>
          <p:nvPr/>
        </p:nvSpPr>
        <p:spPr>
          <a:xfrm>
            <a:off x="2468880" y="2322576"/>
            <a:ext cx="1874520" cy="457200"/>
          </a:xfrm>
          <a:prstGeom prst="roundRect">
            <a:avLst>
              <a:gd name="adj" fmla="val 16000"/>
            </a:avLst>
          </a:prstGeom>
          <a:solidFill>
            <a:srgbClr val="E8F1EC"/>
          </a:solidFill>
          <a:ln w="12700">
            <a:solidFill>
              <a:srgbClr val="E8F1EC"/>
            </a:solidFill>
            <a:prstDash val="solid"/>
          </a:ln>
        </p:spPr>
      </p:sp>
      <p:sp>
        <p:nvSpPr>
          <p:cNvPr id="17" name="Text 15"/>
          <p:cNvSpPr txBox="1"/>
          <p:nvPr/>
        </p:nvSpPr>
        <p:spPr>
          <a:xfrm>
            <a:off x="2578608" y="2322576"/>
            <a:ext cx="1691640" cy="457200"/>
          </a:xfrm>
          <a:prstGeom prst="rect">
            <a:avLst/>
          </a:prstGeom>
          <a:noFill/>
          <a:ln/>
        </p:spPr>
        <p:txBody>
          <a:bodyPr wrap="square" lIns="0" tIns="0" rIns="0" bIns="0" rtlCol="0" anchor="ctr"/>
          <a:lstStyle/>
          <a:p>
            <a:pPr indent="0" marL="0">
              <a:buNone/>
            </a:pPr>
            <a:r>
              <a:rPr lang="en-US" sz="1000" b="1" dirty="0">
                <a:solidFill>
                  <a:srgbClr val="1B4D3E"/>
                </a:solidFill>
                <a:latin typeface="Arial" pitchFamily="34" charset="0"/>
                <a:ea typeface="Arial" pitchFamily="34" charset="-122"/>
                <a:cs typeface="Arial" pitchFamily="34" charset="-120"/>
              </a:rPr>
              <a:t>Programmable supply 1</a:t>
            </a:r>
            <a:endParaRPr lang="en-US" sz="1000" dirty="0"/>
          </a:p>
        </p:txBody>
      </p:sp>
      <p:sp>
        <p:nvSpPr>
          <p:cNvPr id="18" name="Shape 16"/>
          <p:cNvSpPr/>
          <p:nvPr/>
        </p:nvSpPr>
        <p:spPr>
          <a:xfrm>
            <a:off x="457200" y="2889504"/>
            <a:ext cx="1874520" cy="457200"/>
          </a:xfrm>
          <a:prstGeom prst="roundRect">
            <a:avLst>
              <a:gd name="adj" fmla="val 16000"/>
            </a:avLst>
          </a:prstGeom>
          <a:solidFill>
            <a:srgbClr val="E8F1EC"/>
          </a:solidFill>
          <a:ln w="12700">
            <a:solidFill>
              <a:srgbClr val="E8F1EC"/>
            </a:solidFill>
            <a:prstDash val="solid"/>
          </a:ln>
        </p:spPr>
      </p:sp>
      <p:sp>
        <p:nvSpPr>
          <p:cNvPr id="19" name="Text 17"/>
          <p:cNvSpPr txBox="1"/>
          <p:nvPr/>
        </p:nvSpPr>
        <p:spPr>
          <a:xfrm>
            <a:off x="566928" y="2889504"/>
            <a:ext cx="1691640" cy="457200"/>
          </a:xfrm>
          <a:prstGeom prst="rect">
            <a:avLst/>
          </a:prstGeom>
          <a:noFill/>
          <a:ln/>
        </p:spPr>
        <p:txBody>
          <a:bodyPr wrap="square" lIns="0" tIns="0" rIns="0" bIns="0" rtlCol="0" anchor="ctr"/>
          <a:lstStyle/>
          <a:p>
            <a:pPr indent="0" marL="0">
              <a:buNone/>
            </a:pPr>
            <a:r>
              <a:rPr lang="en-US" sz="1000" b="1" dirty="0">
                <a:solidFill>
                  <a:srgbClr val="1B4D3E"/>
                </a:solidFill>
                <a:latin typeface="Arial" pitchFamily="34" charset="0"/>
                <a:ea typeface="Arial" pitchFamily="34" charset="-122"/>
                <a:cs typeface="Arial" pitchFamily="34" charset="-120"/>
              </a:rPr>
              <a:t>Programmable supply 2</a:t>
            </a:r>
            <a:endParaRPr lang="en-US" sz="1000" dirty="0"/>
          </a:p>
        </p:txBody>
      </p:sp>
      <p:sp>
        <p:nvSpPr>
          <p:cNvPr id="20" name="Shape 18"/>
          <p:cNvSpPr/>
          <p:nvPr/>
        </p:nvSpPr>
        <p:spPr>
          <a:xfrm>
            <a:off x="2468880" y="2889504"/>
            <a:ext cx="1874520" cy="457200"/>
          </a:xfrm>
          <a:prstGeom prst="roundRect">
            <a:avLst>
              <a:gd name="adj" fmla="val 16000"/>
            </a:avLst>
          </a:prstGeom>
          <a:solidFill>
            <a:srgbClr val="E8F1EC"/>
          </a:solidFill>
          <a:ln w="12700">
            <a:solidFill>
              <a:srgbClr val="E8F1EC"/>
            </a:solidFill>
            <a:prstDash val="solid"/>
          </a:ln>
        </p:spPr>
      </p:sp>
      <p:sp>
        <p:nvSpPr>
          <p:cNvPr id="21" name="Text 19"/>
          <p:cNvSpPr txBox="1"/>
          <p:nvPr/>
        </p:nvSpPr>
        <p:spPr>
          <a:xfrm>
            <a:off x="2578608" y="2889504"/>
            <a:ext cx="1691640" cy="457200"/>
          </a:xfrm>
          <a:prstGeom prst="rect">
            <a:avLst/>
          </a:prstGeom>
          <a:noFill/>
          <a:ln/>
        </p:spPr>
        <p:txBody>
          <a:bodyPr wrap="square" lIns="0" tIns="0" rIns="0" bIns="0" rtlCol="0" anchor="ctr"/>
          <a:lstStyle/>
          <a:p>
            <a:pPr indent="0" marL="0">
              <a:buNone/>
            </a:pPr>
            <a:r>
              <a:rPr lang="en-US" sz="1000" b="1" dirty="0">
                <a:solidFill>
                  <a:srgbClr val="1B4D3E"/>
                </a:solidFill>
                <a:latin typeface="Arial" pitchFamily="34" charset="0"/>
                <a:ea typeface="Arial" pitchFamily="34" charset="-122"/>
                <a:cs typeface="Arial" pitchFamily="34" charset="-120"/>
              </a:rPr>
              <a:t>24-bit multimeter</a:t>
            </a:r>
            <a:endParaRPr lang="en-US" sz="1000" dirty="0"/>
          </a:p>
        </p:txBody>
      </p:sp>
      <p:sp>
        <p:nvSpPr>
          <p:cNvPr id="22" name="Text 20"/>
          <p:cNvSpPr txBox="1"/>
          <p:nvPr/>
        </p:nvSpPr>
        <p:spPr>
          <a:xfrm>
            <a:off x="457200" y="3520440"/>
            <a:ext cx="3931920" cy="320040"/>
          </a:xfrm>
          <a:prstGeom prst="rect">
            <a:avLst/>
          </a:prstGeom>
          <a:noFill/>
          <a:ln/>
        </p:spPr>
        <p:txBody>
          <a:bodyPr wrap="square" lIns="0" tIns="0" rIns="0" bIns="0" rtlCol="0" anchor="t"/>
          <a:lstStyle/>
          <a:p>
            <a:pPr indent="0" marL="0">
              <a:buNone/>
            </a:pPr>
            <a:r>
              <a:rPr lang="en-US" sz="1400" b="1" dirty="0">
                <a:solidFill>
                  <a:srgbClr val="C8793A"/>
                </a:solidFill>
                <a:latin typeface="Arial" pitchFamily="34" charset="0"/>
                <a:ea typeface="Arial" pitchFamily="34" charset="-122"/>
                <a:cs typeface="Arial" pitchFamily="34" charset="-120"/>
              </a:rPr>
              <a:t>One cable. Eight instruments.</a:t>
            </a:r>
            <a:endParaRPr lang="en-US" sz="1400" dirty="0"/>
          </a:p>
        </p:txBody>
      </p:sp>
      <p:sp>
        <p:nvSpPr>
          <p:cNvPr id="23" name="Text 21"/>
          <p:cNvSpPr txBox="1"/>
          <p:nvPr/>
        </p:nvSpPr>
        <p:spPr>
          <a:xfrm>
            <a:off x="457200" y="3840480"/>
            <a:ext cx="3931920" cy="548640"/>
          </a:xfrm>
          <a:prstGeom prst="rect">
            <a:avLst/>
          </a:prstGeom>
          <a:noFill/>
          <a:ln/>
        </p:spPr>
        <p:txBody>
          <a:bodyPr wrap="square" lIns="0" tIns="0" rIns="0" bIns="0" rtlCol="0" anchor="t"/>
          <a:lstStyle/>
          <a:p>
            <a:pPr indent="0" marL="0">
              <a:buNone/>
            </a:pPr>
            <a:r>
              <a:rPr lang="en-US" sz="1050" dirty="0">
                <a:solidFill>
                  <a:srgbClr val="1D2522"/>
                </a:solidFill>
                <a:latin typeface="Arial" pitchFamily="34" charset="0"/>
                <a:ea typeface="Arial" pitchFamily="34" charset="-122"/>
                <a:cs typeface="Arial" pitchFamily="34" charset="-120"/>
              </a:rPr>
              <a:t>It isn't trying to be a better scope than a Digilent. It's an instrument an agent can drive.</a:t>
            </a:r>
            <a:endParaRPr lang="en-US" sz="1050" dirty="0"/>
          </a:p>
        </p:txBody>
      </p:sp>
      <p:sp>
        <p:nvSpPr>
          <p:cNvPr id="24" name="Shape 22"/>
          <p:cNvSpPr/>
          <p:nvPr/>
        </p:nvSpPr>
        <p:spPr>
          <a:xfrm>
            <a:off x="4663440" y="1188720"/>
            <a:ext cx="4023360" cy="3246120"/>
          </a:xfrm>
          <a:prstGeom prst="roundRect">
            <a:avLst>
              <a:gd name="adj" fmla="val 2254"/>
            </a:avLst>
          </a:prstGeom>
          <a:solidFill>
            <a:srgbClr val="0F2A22"/>
          </a:solidFill>
          <a:ln w="12700">
            <a:solidFill>
              <a:srgbClr val="0F2A22"/>
            </a:solidFill>
            <a:prstDash val="solid"/>
          </a:ln>
        </p:spPr>
      </p:sp>
      <p:sp>
        <p:nvSpPr>
          <p:cNvPr id="25" name="Text 23"/>
          <p:cNvSpPr txBox="1"/>
          <p:nvPr/>
        </p:nvSpPr>
        <p:spPr>
          <a:xfrm>
            <a:off x="4846320" y="1325880"/>
            <a:ext cx="3657600" cy="274320"/>
          </a:xfrm>
          <a:prstGeom prst="rect">
            <a:avLst/>
          </a:prstGeom>
          <a:noFill/>
          <a:ln/>
        </p:spPr>
        <p:txBody>
          <a:bodyPr wrap="square" lIns="0" tIns="0" rIns="0" bIns="0" rtlCol="0" anchor="t"/>
          <a:lstStyle/>
          <a:p>
            <a:pPr indent="0" marL="0">
              <a:buNone/>
            </a:pPr>
            <a:r>
              <a:rPr lang="en-US" sz="1300" b="1" dirty="0">
                <a:solidFill>
                  <a:srgbClr val="C8793A"/>
                </a:solidFill>
                <a:latin typeface="Arial" pitchFamily="34" charset="0"/>
                <a:ea typeface="Arial" pitchFamily="34" charset="-122"/>
                <a:cs typeface="Arial" pitchFamily="34" charset="-120"/>
              </a:rPr>
              <a:t>How Proto uses it</a:t>
            </a:r>
            <a:endParaRPr lang="en-US" sz="1300" dirty="0"/>
          </a:p>
        </p:txBody>
      </p:sp>
      <p:sp>
        <p:nvSpPr>
          <p:cNvPr id="26" name="Text 24"/>
          <p:cNvSpPr txBox="1"/>
          <p:nvPr/>
        </p:nvSpPr>
        <p:spPr>
          <a:xfrm>
            <a:off x="4846320" y="1737360"/>
            <a:ext cx="274320" cy="365760"/>
          </a:xfrm>
          <a:prstGeom prst="rect">
            <a:avLst/>
          </a:prstGeom>
          <a:noFill/>
          <a:ln/>
        </p:spPr>
        <p:txBody>
          <a:bodyPr wrap="square" lIns="0" tIns="0" rIns="0" bIns="0" rtlCol="0" anchor="t"/>
          <a:lstStyle/>
          <a:p>
            <a:pPr indent="0" marL="0">
              <a:buNone/>
            </a:pPr>
            <a:r>
              <a:rPr lang="en-US" sz="1300" b="1" dirty="0">
                <a:solidFill>
                  <a:srgbClr val="C8793A"/>
                </a:solidFill>
                <a:latin typeface="Arial" pitchFamily="34" charset="0"/>
                <a:ea typeface="Arial" pitchFamily="34" charset="-122"/>
                <a:cs typeface="Arial" pitchFamily="34" charset="-120"/>
              </a:rPr>
              <a:t>1</a:t>
            </a:r>
            <a:endParaRPr lang="en-US" sz="1300" dirty="0"/>
          </a:p>
        </p:txBody>
      </p:sp>
      <p:sp>
        <p:nvSpPr>
          <p:cNvPr id="27" name="Text 25"/>
          <p:cNvSpPr txBox="1"/>
          <p:nvPr/>
        </p:nvSpPr>
        <p:spPr>
          <a:xfrm>
            <a:off x="5166360" y="1737360"/>
            <a:ext cx="3429000" cy="411480"/>
          </a:xfrm>
          <a:prstGeom prst="rect">
            <a:avLst/>
          </a:prstGeom>
          <a:noFill/>
          <a:ln/>
        </p:spPr>
        <p:txBody>
          <a:bodyPr wrap="square" lIns="0" tIns="0" rIns="0" bIns="0" rtlCol="0" anchor="t"/>
          <a:lstStyle/>
          <a:p>
            <a:pPr indent="0" marL="0">
              <a:buNone/>
            </a:pPr>
            <a:r>
              <a:rPr lang="en-US" sz="1000" dirty="0">
                <a:solidFill>
                  <a:srgbClr val="FFFFFF"/>
                </a:solidFill>
                <a:latin typeface="Arial" pitchFamily="34" charset="0"/>
                <a:ea typeface="Arial" pitchFamily="34" charset="-122"/>
                <a:cs typeface="Arial" pitchFamily="34" charset="-120"/>
              </a:rPr>
              <a:t>Reads the netlist and design intent</a:t>
            </a:r>
            <a:endParaRPr lang="en-US" sz="1000" dirty="0"/>
          </a:p>
        </p:txBody>
      </p:sp>
      <p:sp>
        <p:nvSpPr>
          <p:cNvPr id="28" name="Text 26"/>
          <p:cNvSpPr txBox="1"/>
          <p:nvPr/>
        </p:nvSpPr>
        <p:spPr>
          <a:xfrm>
            <a:off x="4846320" y="2167128"/>
            <a:ext cx="274320" cy="365760"/>
          </a:xfrm>
          <a:prstGeom prst="rect">
            <a:avLst/>
          </a:prstGeom>
          <a:noFill/>
          <a:ln/>
        </p:spPr>
        <p:txBody>
          <a:bodyPr wrap="square" lIns="0" tIns="0" rIns="0" bIns="0" rtlCol="0" anchor="t"/>
          <a:lstStyle/>
          <a:p>
            <a:pPr indent="0" marL="0">
              <a:buNone/>
            </a:pPr>
            <a:r>
              <a:rPr lang="en-US" sz="1300" b="1" dirty="0">
                <a:solidFill>
                  <a:srgbClr val="C8793A"/>
                </a:solidFill>
                <a:latin typeface="Arial" pitchFamily="34" charset="0"/>
                <a:ea typeface="Arial" pitchFamily="34" charset="-122"/>
                <a:cs typeface="Arial" pitchFamily="34" charset="-120"/>
              </a:rPr>
              <a:t>2</a:t>
            </a:r>
            <a:endParaRPr lang="en-US" sz="1300" dirty="0"/>
          </a:p>
        </p:txBody>
      </p:sp>
      <p:sp>
        <p:nvSpPr>
          <p:cNvPr id="29" name="Text 27"/>
          <p:cNvSpPr txBox="1"/>
          <p:nvPr/>
        </p:nvSpPr>
        <p:spPr>
          <a:xfrm>
            <a:off x="5166360" y="2167128"/>
            <a:ext cx="3429000" cy="411480"/>
          </a:xfrm>
          <a:prstGeom prst="rect">
            <a:avLst/>
          </a:prstGeom>
          <a:noFill/>
          <a:ln/>
        </p:spPr>
        <p:txBody>
          <a:bodyPr wrap="square" lIns="0" tIns="0" rIns="0" bIns="0" rtlCol="0" anchor="t"/>
          <a:lstStyle/>
          <a:p>
            <a:pPr indent="0" marL="0">
              <a:buNone/>
            </a:pPr>
            <a:r>
              <a:rPr lang="en-US" sz="1000" dirty="0">
                <a:solidFill>
                  <a:srgbClr val="FFFFFF"/>
                </a:solidFill>
                <a:latin typeface="Arial" pitchFamily="34" charset="0"/>
                <a:ea typeface="Arial" pitchFamily="34" charset="-122"/>
                <a:cs typeface="Arial" pitchFamily="34" charset="-120"/>
              </a:rPr>
              <a:t>Sets the supplies with current limits; checks quiescent current</a:t>
            </a:r>
            <a:endParaRPr lang="en-US" sz="1000" dirty="0"/>
          </a:p>
        </p:txBody>
      </p:sp>
      <p:sp>
        <p:nvSpPr>
          <p:cNvPr id="30" name="Text 28"/>
          <p:cNvSpPr txBox="1"/>
          <p:nvPr/>
        </p:nvSpPr>
        <p:spPr>
          <a:xfrm>
            <a:off x="4846320" y="2596896"/>
            <a:ext cx="274320" cy="365760"/>
          </a:xfrm>
          <a:prstGeom prst="rect">
            <a:avLst/>
          </a:prstGeom>
          <a:noFill/>
          <a:ln/>
        </p:spPr>
        <p:txBody>
          <a:bodyPr wrap="square" lIns="0" tIns="0" rIns="0" bIns="0" rtlCol="0" anchor="t"/>
          <a:lstStyle/>
          <a:p>
            <a:pPr indent="0" marL="0">
              <a:buNone/>
            </a:pPr>
            <a:r>
              <a:rPr lang="en-US" sz="1300" b="1" dirty="0">
                <a:solidFill>
                  <a:srgbClr val="C8793A"/>
                </a:solidFill>
                <a:latin typeface="Arial" pitchFamily="34" charset="0"/>
                <a:ea typeface="Arial" pitchFamily="34" charset="-122"/>
                <a:cs typeface="Arial" pitchFamily="34" charset="-120"/>
              </a:rPr>
              <a:t>3</a:t>
            </a:r>
            <a:endParaRPr lang="en-US" sz="1300" dirty="0"/>
          </a:p>
        </p:txBody>
      </p:sp>
      <p:sp>
        <p:nvSpPr>
          <p:cNvPr id="31" name="Text 29"/>
          <p:cNvSpPr txBox="1"/>
          <p:nvPr/>
        </p:nvSpPr>
        <p:spPr>
          <a:xfrm>
            <a:off x="5166360" y="2596896"/>
            <a:ext cx="3429000" cy="411480"/>
          </a:xfrm>
          <a:prstGeom prst="rect">
            <a:avLst/>
          </a:prstGeom>
          <a:noFill/>
          <a:ln/>
        </p:spPr>
        <p:txBody>
          <a:bodyPr wrap="square" lIns="0" tIns="0" rIns="0" bIns="0" rtlCol="0" anchor="t"/>
          <a:lstStyle/>
          <a:p>
            <a:pPr indent="0" marL="0">
              <a:buNone/>
            </a:pPr>
            <a:r>
              <a:rPr lang="en-US" sz="1000" dirty="0">
                <a:solidFill>
                  <a:srgbClr val="FFFFFF"/>
                </a:solidFill>
                <a:latin typeface="Arial" pitchFamily="34" charset="0"/>
                <a:ea typeface="Arial" pitchFamily="34" charset="-122"/>
                <a:cs typeface="Arial" pitchFamily="34" charset="-120"/>
              </a:rPr>
              <a:t>Checks each rail with the 24-bit meter</a:t>
            </a:r>
            <a:endParaRPr lang="en-US" sz="1000" dirty="0"/>
          </a:p>
        </p:txBody>
      </p:sp>
      <p:sp>
        <p:nvSpPr>
          <p:cNvPr id="32" name="Text 30"/>
          <p:cNvSpPr txBox="1"/>
          <p:nvPr/>
        </p:nvSpPr>
        <p:spPr>
          <a:xfrm>
            <a:off x="4846320" y="3026664"/>
            <a:ext cx="274320" cy="365760"/>
          </a:xfrm>
          <a:prstGeom prst="rect">
            <a:avLst/>
          </a:prstGeom>
          <a:noFill/>
          <a:ln/>
        </p:spPr>
        <p:txBody>
          <a:bodyPr wrap="square" lIns="0" tIns="0" rIns="0" bIns="0" rtlCol="0" anchor="t"/>
          <a:lstStyle/>
          <a:p>
            <a:pPr indent="0" marL="0">
              <a:buNone/>
            </a:pPr>
            <a:r>
              <a:rPr lang="en-US" sz="1300" b="1" dirty="0">
                <a:solidFill>
                  <a:srgbClr val="C8793A"/>
                </a:solidFill>
                <a:latin typeface="Arial" pitchFamily="34" charset="0"/>
                <a:ea typeface="Arial" pitchFamily="34" charset="-122"/>
                <a:cs typeface="Arial" pitchFamily="34" charset="-120"/>
              </a:rPr>
              <a:t>4</a:t>
            </a:r>
            <a:endParaRPr lang="en-US" sz="1300" dirty="0"/>
          </a:p>
        </p:txBody>
      </p:sp>
      <p:sp>
        <p:nvSpPr>
          <p:cNvPr id="33" name="Text 31"/>
          <p:cNvSpPr txBox="1"/>
          <p:nvPr/>
        </p:nvSpPr>
        <p:spPr>
          <a:xfrm>
            <a:off x="5166360" y="3026664"/>
            <a:ext cx="3429000" cy="411480"/>
          </a:xfrm>
          <a:prstGeom prst="rect">
            <a:avLst/>
          </a:prstGeom>
          <a:noFill/>
          <a:ln/>
        </p:spPr>
        <p:txBody>
          <a:bodyPr wrap="square" lIns="0" tIns="0" rIns="0" bIns="0" rtlCol="0" anchor="t"/>
          <a:lstStyle/>
          <a:p>
            <a:pPr indent="0" marL="0">
              <a:buNone/>
            </a:pPr>
            <a:r>
              <a:rPr lang="en-US" sz="1000" dirty="0">
                <a:solidFill>
                  <a:srgbClr val="FFFFFF"/>
                </a:solidFill>
                <a:latin typeface="Arial" pitchFamily="34" charset="0"/>
                <a:ea typeface="Arial" pitchFamily="34" charset="-122"/>
                <a:cs typeface="Arial" pitchFamily="34" charset="-120"/>
              </a:rPr>
              <a:t>Drives inputs with the waveform/pattern generator</a:t>
            </a:r>
            <a:endParaRPr lang="en-US" sz="1000" dirty="0"/>
          </a:p>
        </p:txBody>
      </p:sp>
      <p:sp>
        <p:nvSpPr>
          <p:cNvPr id="34" name="Text 32"/>
          <p:cNvSpPr txBox="1"/>
          <p:nvPr/>
        </p:nvSpPr>
        <p:spPr>
          <a:xfrm>
            <a:off x="4846320" y="3456432"/>
            <a:ext cx="274320" cy="365760"/>
          </a:xfrm>
          <a:prstGeom prst="rect">
            <a:avLst/>
          </a:prstGeom>
          <a:noFill/>
          <a:ln/>
        </p:spPr>
        <p:txBody>
          <a:bodyPr wrap="square" lIns="0" tIns="0" rIns="0" bIns="0" rtlCol="0" anchor="t"/>
          <a:lstStyle/>
          <a:p>
            <a:pPr indent="0" marL="0">
              <a:buNone/>
            </a:pPr>
            <a:r>
              <a:rPr lang="en-US" sz="1300" b="1" dirty="0">
                <a:solidFill>
                  <a:srgbClr val="C8793A"/>
                </a:solidFill>
                <a:latin typeface="Arial" pitchFamily="34" charset="0"/>
                <a:ea typeface="Arial" pitchFamily="34" charset="-122"/>
                <a:cs typeface="Arial" pitchFamily="34" charset="-120"/>
              </a:rPr>
              <a:t>5</a:t>
            </a:r>
            <a:endParaRPr lang="en-US" sz="1300" dirty="0"/>
          </a:p>
        </p:txBody>
      </p:sp>
      <p:sp>
        <p:nvSpPr>
          <p:cNvPr id="35" name="Text 33"/>
          <p:cNvSpPr txBox="1"/>
          <p:nvPr/>
        </p:nvSpPr>
        <p:spPr>
          <a:xfrm>
            <a:off x="5166360" y="3456432"/>
            <a:ext cx="3429000" cy="411480"/>
          </a:xfrm>
          <a:prstGeom prst="rect">
            <a:avLst/>
          </a:prstGeom>
          <a:noFill/>
          <a:ln/>
        </p:spPr>
        <p:txBody>
          <a:bodyPr wrap="square" lIns="0" tIns="0" rIns="0" bIns="0" rtlCol="0" anchor="t"/>
          <a:lstStyle/>
          <a:p>
            <a:pPr indent="0" marL="0">
              <a:buNone/>
            </a:pPr>
            <a:r>
              <a:rPr lang="en-US" sz="1000" dirty="0">
                <a:solidFill>
                  <a:srgbClr val="FFFFFF"/>
                </a:solidFill>
                <a:latin typeface="Arial" pitchFamily="34" charset="0"/>
                <a:ea typeface="Arial" pitchFamily="34" charset="-122"/>
                <a:cs typeface="Arial" pitchFamily="34" charset="-120"/>
              </a:rPr>
              <a:t>Captures scope and logic; decodes I²C/SPI/UART</a:t>
            </a:r>
            <a:endParaRPr lang="en-US" sz="1000" dirty="0"/>
          </a:p>
        </p:txBody>
      </p:sp>
      <p:sp>
        <p:nvSpPr>
          <p:cNvPr id="36" name="Text 34"/>
          <p:cNvSpPr txBox="1"/>
          <p:nvPr/>
        </p:nvSpPr>
        <p:spPr>
          <a:xfrm>
            <a:off x="4846320" y="3886200"/>
            <a:ext cx="274320" cy="365760"/>
          </a:xfrm>
          <a:prstGeom prst="rect">
            <a:avLst/>
          </a:prstGeom>
          <a:noFill/>
          <a:ln/>
        </p:spPr>
        <p:txBody>
          <a:bodyPr wrap="square" lIns="0" tIns="0" rIns="0" bIns="0" rtlCol="0" anchor="t"/>
          <a:lstStyle/>
          <a:p>
            <a:pPr indent="0" marL="0">
              <a:buNone/>
            </a:pPr>
            <a:r>
              <a:rPr lang="en-US" sz="1300" b="1" dirty="0">
                <a:solidFill>
                  <a:srgbClr val="C8793A"/>
                </a:solidFill>
                <a:latin typeface="Arial" pitchFamily="34" charset="0"/>
                <a:ea typeface="Arial" pitchFamily="34" charset="-122"/>
                <a:cs typeface="Arial" pitchFamily="34" charset="-120"/>
              </a:rPr>
              <a:t>6</a:t>
            </a:r>
            <a:endParaRPr lang="en-US" sz="1300" dirty="0"/>
          </a:p>
        </p:txBody>
      </p:sp>
      <p:sp>
        <p:nvSpPr>
          <p:cNvPr id="37" name="Text 35"/>
          <p:cNvSpPr txBox="1"/>
          <p:nvPr/>
        </p:nvSpPr>
        <p:spPr>
          <a:xfrm>
            <a:off x="5166360" y="3886200"/>
            <a:ext cx="3429000" cy="411480"/>
          </a:xfrm>
          <a:prstGeom prst="rect">
            <a:avLst/>
          </a:prstGeom>
          <a:noFill/>
          <a:ln/>
        </p:spPr>
        <p:txBody>
          <a:bodyPr wrap="square" lIns="0" tIns="0" rIns="0" bIns="0" rtlCol="0" anchor="t"/>
          <a:lstStyle/>
          <a:p>
            <a:pPr indent="0" marL="0">
              <a:buNone/>
            </a:pPr>
            <a:r>
              <a:rPr lang="en-US" sz="1000" dirty="0">
                <a:solidFill>
                  <a:srgbClr val="FFFFFF"/>
                </a:solidFill>
                <a:latin typeface="Arial" pitchFamily="34" charset="0"/>
                <a:ea typeface="Arial" pitchFamily="34" charset="-122"/>
                <a:cs typeface="Arial" pitchFamily="34" charset="-120"/>
              </a:rPr>
              <a:t>Compares against what it expected; reports in plain words what failed and why</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201168"/>
          </a:xfrm>
          <a:prstGeom prst="rect">
            <a:avLst/>
          </a:prstGeom>
          <a:noFill/>
          <a:ln/>
        </p:spPr>
        <p:txBody>
          <a:bodyPr wrap="square" lIns="0" tIns="0" rIns="0" bIns="0" rtlCol="0" anchor="t"/>
          <a:lstStyle/>
          <a:p>
            <a:pPr indent="0" marL="0">
              <a:buNone/>
            </a:pPr>
            <a:r>
              <a:rPr lang="en-US" sz="900" b="1" spc="200" kern="0" dirty="0">
                <a:solidFill>
                  <a:srgbClr val="C8793A"/>
                </a:solidFill>
                <a:latin typeface="Arial" pitchFamily="34" charset="0"/>
                <a:ea typeface="Arial" pitchFamily="34" charset="-122"/>
                <a:cs typeface="Arial" pitchFamily="34" charset="-120"/>
              </a:rPr>
              <a:t>TECH STACK · MIXER</a:t>
            </a:r>
            <a:endParaRPr lang="en-US" sz="900" dirty="0"/>
          </a:p>
        </p:txBody>
      </p:sp>
      <p:sp>
        <p:nvSpPr>
          <p:cNvPr id="3" name="Text 1"/>
          <p:cNvSpPr txBox="1"/>
          <p:nvPr/>
        </p:nvSpPr>
        <p:spPr>
          <a:xfrm>
            <a:off x="457200" y="457200"/>
            <a:ext cx="8229600" cy="566928"/>
          </a:xfrm>
          <a:prstGeom prst="rect">
            <a:avLst/>
          </a:prstGeom>
          <a:noFill/>
          <a:ln/>
        </p:spPr>
        <p:txBody>
          <a:bodyPr wrap="square" lIns="0" tIns="0" rIns="0" bIns="0" rtlCol="0" anchor="ctr">
            <a:normAutofit/>
          </a:bodyPr>
          <a:lstStyle/>
          <a:p>
            <a:pPr indent="0" marL="0">
              <a:buNone/>
            </a:pPr>
            <a:r>
              <a:rPr lang="en-US" sz="2200" b="1" dirty="0">
                <a:solidFill>
                  <a:srgbClr val="0F2A22"/>
                </a:solidFill>
                <a:latin typeface="Arial" pitchFamily="34" charset="0"/>
                <a:ea typeface="Arial" pitchFamily="34" charset="-122"/>
                <a:cs typeface="Arial" pitchFamily="34" charset="-120"/>
              </a:rPr>
              <a:t>Mixer tech stack: signal chain, prototype vs production</a:t>
            </a:r>
            <a:endParaRPr lang="en-US" sz="2200" dirty="0"/>
          </a:p>
        </p:txBody>
      </p:sp>
      <p:sp>
        <p:nvSpPr>
          <p:cNvPr id="4" name="Text 2"/>
          <p:cNvSpPr txBox="1"/>
          <p:nvPr/>
        </p:nvSpPr>
        <p:spPr>
          <a:xfrm>
            <a:off x="8321040" y="4828032"/>
            <a:ext cx="365760" cy="182880"/>
          </a:xfrm>
          <a:prstGeom prst="rect">
            <a:avLst/>
          </a:prstGeom>
          <a:noFill/>
          <a:ln/>
        </p:spPr>
        <p:txBody>
          <a:bodyPr wrap="square" lIns="0" tIns="0" rIns="0" bIns="0" rtlCol="0" anchor="t"/>
          <a:lstStyle/>
          <a:p>
            <a:pPr algn="r" indent="0" marL="0">
              <a:buNone/>
            </a:pPr>
            <a:r>
              <a:rPr lang="en-US" sz="800" dirty="0">
                <a:solidFill>
                  <a:srgbClr val="5E6B66"/>
                </a:solidFill>
                <a:latin typeface="Arial" pitchFamily="34" charset="0"/>
                <a:ea typeface="Arial" pitchFamily="34" charset="-122"/>
                <a:cs typeface="Arial" pitchFamily="34" charset="-120"/>
              </a:rPr>
              <a:t>15</a:t>
            </a:r>
            <a:endParaRPr lang="en-US" sz="800" dirty="0"/>
          </a:p>
        </p:txBody>
      </p:sp>
      <p:sp>
        <p:nvSpPr>
          <p:cNvPr id="5" name="Text 3"/>
          <p:cNvSpPr txBox="1"/>
          <p:nvPr/>
        </p:nvSpPr>
        <p:spPr>
          <a:xfrm>
            <a:off x="457200" y="4828032"/>
            <a:ext cx="2743200" cy="182880"/>
          </a:xfrm>
          <a:prstGeom prst="rect">
            <a:avLst/>
          </a:prstGeom>
          <a:noFill/>
          <a:ln/>
        </p:spPr>
        <p:txBody>
          <a:bodyPr wrap="square" lIns="0" tIns="0" rIns="0" bIns="0" rtlCol="0" anchor="t"/>
          <a:lstStyle/>
          <a:p>
            <a:pPr indent="0" marL="0">
              <a:buNone/>
            </a:pPr>
            <a:r>
              <a:rPr lang="en-US" sz="800" dirty="0">
                <a:solidFill>
                  <a:srgbClr val="5E6B66"/>
                </a:solidFill>
                <a:latin typeface="Arial" pitchFamily="34" charset="0"/>
                <a:ea typeface="Arial" pitchFamily="34" charset="-122"/>
                <a:cs typeface="Arial" pitchFamily="34" charset="-120"/>
              </a:rPr>
              <a:t>Protopulse · pitch v2</a:t>
            </a:r>
            <a:endParaRPr lang="en-US" sz="800" dirty="0"/>
          </a:p>
        </p:txBody>
      </p:sp>
      <p:sp>
        <p:nvSpPr>
          <p:cNvPr id="6" name="Shape 4"/>
          <p:cNvSpPr/>
          <p:nvPr/>
        </p:nvSpPr>
        <p:spPr>
          <a:xfrm>
            <a:off x="457200" y="1188720"/>
            <a:ext cx="1243584" cy="502920"/>
          </a:xfrm>
          <a:prstGeom prst="roundRect">
            <a:avLst>
              <a:gd name="adj" fmla="val 10909"/>
            </a:avLst>
          </a:prstGeom>
          <a:solidFill>
            <a:srgbClr val="E8F1EC"/>
          </a:solidFill>
          <a:ln w="12700">
            <a:solidFill>
              <a:srgbClr val="E8F1EC"/>
            </a:solidFill>
            <a:prstDash val="solid"/>
          </a:ln>
        </p:spPr>
      </p:sp>
      <p:sp>
        <p:nvSpPr>
          <p:cNvPr id="7" name="Text 5"/>
          <p:cNvSpPr txBox="1"/>
          <p:nvPr/>
        </p:nvSpPr>
        <p:spPr>
          <a:xfrm>
            <a:off x="457200" y="1188720"/>
            <a:ext cx="1243584" cy="502920"/>
          </a:xfrm>
          <a:prstGeom prst="rect">
            <a:avLst/>
          </a:prstGeom>
          <a:noFill/>
          <a:ln/>
        </p:spPr>
        <p:txBody>
          <a:bodyPr wrap="square" lIns="0" tIns="0" rIns="0" bIns="0" rtlCol="0" anchor="ctr"/>
          <a:lstStyle/>
          <a:p>
            <a:pPr algn="ctr" indent="0" marL="0">
              <a:buNone/>
            </a:pPr>
            <a:r>
              <a:rPr lang="en-US" sz="900" b="1" dirty="0">
                <a:solidFill>
                  <a:srgbClr val="0F2A22"/>
                </a:solidFill>
                <a:latin typeface="Arial" pitchFamily="34" charset="0"/>
                <a:ea typeface="Arial" pitchFamily="34" charset="-122"/>
                <a:cs typeface="Arial" pitchFamily="34" charset="-120"/>
              </a:rPr>
              <a:t>Probes / BNC</a:t>
            </a:r>
            <a:endParaRPr lang="en-US" sz="900" dirty="0"/>
          </a:p>
        </p:txBody>
      </p:sp>
      <p:sp>
        <p:nvSpPr>
          <p:cNvPr id="8" name="Shape 6"/>
          <p:cNvSpPr/>
          <p:nvPr/>
        </p:nvSpPr>
        <p:spPr>
          <a:xfrm>
            <a:off x="1700784" y="1440180"/>
            <a:ext cx="146304" cy="0"/>
          </a:xfrm>
          <a:prstGeom prst="line">
            <a:avLst/>
          </a:prstGeom>
          <a:noFill/>
          <a:ln w="19050">
            <a:solidFill>
              <a:srgbClr val="C8793A"/>
            </a:solidFill>
            <a:prstDash val="solid"/>
            <a:tailEnd type="triangle"/>
          </a:ln>
        </p:spPr>
      </p:sp>
      <p:sp>
        <p:nvSpPr>
          <p:cNvPr id="9" name="Shape 7"/>
          <p:cNvSpPr/>
          <p:nvPr/>
        </p:nvSpPr>
        <p:spPr>
          <a:xfrm>
            <a:off x="1847088" y="1188720"/>
            <a:ext cx="1243584" cy="502920"/>
          </a:xfrm>
          <a:prstGeom prst="roundRect">
            <a:avLst>
              <a:gd name="adj" fmla="val 10909"/>
            </a:avLst>
          </a:prstGeom>
          <a:solidFill>
            <a:srgbClr val="E8F1EC"/>
          </a:solidFill>
          <a:ln w="12700">
            <a:solidFill>
              <a:srgbClr val="E8F1EC"/>
            </a:solidFill>
            <a:prstDash val="solid"/>
          </a:ln>
        </p:spPr>
      </p:sp>
      <p:sp>
        <p:nvSpPr>
          <p:cNvPr id="10" name="Text 8"/>
          <p:cNvSpPr txBox="1"/>
          <p:nvPr/>
        </p:nvSpPr>
        <p:spPr>
          <a:xfrm>
            <a:off x="1847088" y="1188720"/>
            <a:ext cx="1243584" cy="502920"/>
          </a:xfrm>
          <a:prstGeom prst="rect">
            <a:avLst/>
          </a:prstGeom>
          <a:noFill/>
          <a:ln/>
        </p:spPr>
        <p:txBody>
          <a:bodyPr wrap="square" lIns="0" tIns="0" rIns="0" bIns="0" rtlCol="0" anchor="ctr"/>
          <a:lstStyle/>
          <a:p>
            <a:pPr algn="ctr" indent="0" marL="0">
              <a:buNone/>
            </a:pPr>
            <a:r>
              <a:rPr lang="en-US" sz="900" b="1" dirty="0">
                <a:solidFill>
                  <a:srgbClr val="0F2A22"/>
                </a:solidFill>
                <a:latin typeface="Arial" pitchFamily="34" charset="0"/>
                <a:ea typeface="Arial" pitchFamily="34" charset="-122"/>
                <a:cs typeface="Arial" pitchFamily="34" charset="-120"/>
              </a:rPr>
              <a:t>AD8066 buffers + relay ranges</a:t>
            </a:r>
            <a:endParaRPr lang="en-US" sz="900" dirty="0"/>
          </a:p>
        </p:txBody>
      </p:sp>
      <p:sp>
        <p:nvSpPr>
          <p:cNvPr id="11" name="Shape 9"/>
          <p:cNvSpPr/>
          <p:nvPr/>
        </p:nvSpPr>
        <p:spPr>
          <a:xfrm>
            <a:off x="3090672" y="1440180"/>
            <a:ext cx="146304" cy="0"/>
          </a:xfrm>
          <a:prstGeom prst="line">
            <a:avLst/>
          </a:prstGeom>
          <a:noFill/>
          <a:ln w="19050">
            <a:solidFill>
              <a:srgbClr val="C8793A"/>
            </a:solidFill>
            <a:prstDash val="solid"/>
            <a:tailEnd type="triangle"/>
          </a:ln>
        </p:spPr>
      </p:sp>
      <p:sp>
        <p:nvSpPr>
          <p:cNvPr id="12" name="Shape 10"/>
          <p:cNvSpPr/>
          <p:nvPr/>
        </p:nvSpPr>
        <p:spPr>
          <a:xfrm>
            <a:off x="3236976" y="1188720"/>
            <a:ext cx="1243584" cy="502920"/>
          </a:xfrm>
          <a:prstGeom prst="roundRect">
            <a:avLst>
              <a:gd name="adj" fmla="val 10909"/>
            </a:avLst>
          </a:prstGeom>
          <a:solidFill>
            <a:srgbClr val="F6E7D8"/>
          </a:solidFill>
          <a:ln w="12700">
            <a:solidFill>
              <a:srgbClr val="F6E7D8"/>
            </a:solidFill>
            <a:prstDash val="solid"/>
          </a:ln>
        </p:spPr>
      </p:sp>
      <p:sp>
        <p:nvSpPr>
          <p:cNvPr id="13" name="Text 11"/>
          <p:cNvSpPr txBox="1"/>
          <p:nvPr/>
        </p:nvSpPr>
        <p:spPr>
          <a:xfrm>
            <a:off x="3236976" y="1188720"/>
            <a:ext cx="1243584" cy="502920"/>
          </a:xfrm>
          <a:prstGeom prst="rect">
            <a:avLst/>
          </a:prstGeom>
          <a:noFill/>
          <a:ln/>
        </p:spPr>
        <p:txBody>
          <a:bodyPr wrap="square" lIns="0" tIns="0" rIns="0" bIns="0" rtlCol="0" anchor="ctr"/>
          <a:lstStyle/>
          <a:p>
            <a:pPr algn="ctr" indent="0" marL="0">
              <a:buNone/>
            </a:pPr>
            <a:r>
              <a:rPr lang="en-US" sz="900" b="1" dirty="0">
                <a:solidFill>
                  <a:srgbClr val="0F2A22"/>
                </a:solidFill>
                <a:latin typeface="Arial" pitchFamily="34" charset="0"/>
                <a:ea typeface="Arial" pitchFamily="34" charset="-122"/>
                <a:cs typeface="Arial" pitchFamily="34" charset="-120"/>
              </a:rPr>
              <a:t>ADC</a:t>
            </a:r>
            <a:endParaRPr lang="en-US" sz="900" dirty="0"/>
          </a:p>
        </p:txBody>
      </p:sp>
      <p:sp>
        <p:nvSpPr>
          <p:cNvPr id="14" name="Shape 12"/>
          <p:cNvSpPr/>
          <p:nvPr/>
        </p:nvSpPr>
        <p:spPr>
          <a:xfrm>
            <a:off x="4480560" y="1440180"/>
            <a:ext cx="146304" cy="0"/>
          </a:xfrm>
          <a:prstGeom prst="line">
            <a:avLst/>
          </a:prstGeom>
          <a:noFill/>
          <a:ln w="19050">
            <a:solidFill>
              <a:srgbClr val="C8793A"/>
            </a:solidFill>
            <a:prstDash val="solid"/>
            <a:tailEnd type="triangle"/>
          </a:ln>
        </p:spPr>
      </p:sp>
      <p:sp>
        <p:nvSpPr>
          <p:cNvPr id="15" name="Shape 13"/>
          <p:cNvSpPr/>
          <p:nvPr/>
        </p:nvSpPr>
        <p:spPr>
          <a:xfrm>
            <a:off x="4626864" y="1188720"/>
            <a:ext cx="1243584" cy="502920"/>
          </a:xfrm>
          <a:prstGeom prst="roundRect">
            <a:avLst>
              <a:gd name="adj" fmla="val 10909"/>
            </a:avLst>
          </a:prstGeom>
          <a:solidFill>
            <a:srgbClr val="F6E7D8"/>
          </a:solidFill>
          <a:ln w="12700">
            <a:solidFill>
              <a:srgbClr val="F6E7D8"/>
            </a:solidFill>
            <a:prstDash val="solid"/>
          </a:ln>
        </p:spPr>
      </p:sp>
      <p:sp>
        <p:nvSpPr>
          <p:cNvPr id="16" name="Text 14"/>
          <p:cNvSpPr txBox="1"/>
          <p:nvPr/>
        </p:nvSpPr>
        <p:spPr>
          <a:xfrm>
            <a:off x="4626864" y="1188720"/>
            <a:ext cx="1243584" cy="502920"/>
          </a:xfrm>
          <a:prstGeom prst="rect">
            <a:avLst/>
          </a:prstGeom>
          <a:noFill/>
          <a:ln/>
        </p:spPr>
        <p:txBody>
          <a:bodyPr wrap="square" lIns="0" tIns="0" rIns="0" bIns="0" rtlCol="0" anchor="ctr"/>
          <a:lstStyle/>
          <a:p>
            <a:pPr algn="ctr" indent="0" marL="0">
              <a:buNone/>
            </a:pPr>
            <a:r>
              <a:rPr lang="en-US" sz="900" b="1" dirty="0">
                <a:solidFill>
                  <a:srgbClr val="0F2A22"/>
                </a:solidFill>
                <a:latin typeface="Arial" pitchFamily="34" charset="0"/>
                <a:ea typeface="Arial" pitchFamily="34" charset="-122"/>
                <a:cs typeface="Arial" pitchFamily="34" charset="-120"/>
              </a:rPr>
              <a:t>FPGA + PSRAM</a:t>
            </a:r>
            <a:endParaRPr lang="en-US" sz="900" dirty="0"/>
          </a:p>
        </p:txBody>
      </p:sp>
      <p:sp>
        <p:nvSpPr>
          <p:cNvPr id="17" name="Shape 15"/>
          <p:cNvSpPr/>
          <p:nvPr/>
        </p:nvSpPr>
        <p:spPr>
          <a:xfrm>
            <a:off x="5870448" y="1440180"/>
            <a:ext cx="146304" cy="0"/>
          </a:xfrm>
          <a:prstGeom prst="line">
            <a:avLst/>
          </a:prstGeom>
          <a:noFill/>
          <a:ln w="19050">
            <a:solidFill>
              <a:srgbClr val="C8793A"/>
            </a:solidFill>
            <a:prstDash val="solid"/>
            <a:tailEnd type="triangle"/>
          </a:ln>
        </p:spPr>
      </p:sp>
      <p:sp>
        <p:nvSpPr>
          <p:cNvPr id="18" name="Shape 16"/>
          <p:cNvSpPr/>
          <p:nvPr/>
        </p:nvSpPr>
        <p:spPr>
          <a:xfrm>
            <a:off x="6016752" y="1188720"/>
            <a:ext cx="1243584" cy="502920"/>
          </a:xfrm>
          <a:prstGeom prst="roundRect">
            <a:avLst>
              <a:gd name="adj" fmla="val 10909"/>
            </a:avLst>
          </a:prstGeom>
          <a:solidFill>
            <a:srgbClr val="E8F1EC"/>
          </a:solidFill>
          <a:ln w="12700">
            <a:solidFill>
              <a:srgbClr val="E8F1EC"/>
            </a:solidFill>
            <a:prstDash val="solid"/>
          </a:ln>
        </p:spPr>
      </p:sp>
      <p:sp>
        <p:nvSpPr>
          <p:cNvPr id="19" name="Text 17"/>
          <p:cNvSpPr txBox="1"/>
          <p:nvPr/>
        </p:nvSpPr>
        <p:spPr>
          <a:xfrm>
            <a:off x="6016752" y="1188720"/>
            <a:ext cx="1243584" cy="502920"/>
          </a:xfrm>
          <a:prstGeom prst="rect">
            <a:avLst/>
          </a:prstGeom>
          <a:noFill/>
          <a:ln/>
        </p:spPr>
        <p:txBody>
          <a:bodyPr wrap="square" lIns="0" tIns="0" rIns="0" bIns="0" rtlCol="0" anchor="ctr"/>
          <a:lstStyle/>
          <a:p>
            <a:pPr algn="ctr" indent="0" marL="0">
              <a:buNone/>
            </a:pPr>
            <a:r>
              <a:rPr lang="en-US" sz="900" b="1" dirty="0">
                <a:solidFill>
                  <a:srgbClr val="0F2A22"/>
                </a:solidFill>
                <a:latin typeface="Arial" pitchFamily="34" charset="0"/>
                <a:ea typeface="Arial" pitchFamily="34" charset="-122"/>
                <a:cs typeface="Arial" pitchFamily="34" charset="-120"/>
              </a:rPr>
              <a:t>USB 2.0 HS</a:t>
            </a:r>
            <a:endParaRPr lang="en-US" sz="900" dirty="0"/>
          </a:p>
        </p:txBody>
      </p:sp>
      <p:sp>
        <p:nvSpPr>
          <p:cNvPr id="20" name="Shape 18"/>
          <p:cNvSpPr/>
          <p:nvPr/>
        </p:nvSpPr>
        <p:spPr>
          <a:xfrm>
            <a:off x="7260336" y="1440180"/>
            <a:ext cx="146304" cy="0"/>
          </a:xfrm>
          <a:prstGeom prst="line">
            <a:avLst/>
          </a:prstGeom>
          <a:noFill/>
          <a:ln w="19050">
            <a:solidFill>
              <a:srgbClr val="C8793A"/>
            </a:solidFill>
            <a:prstDash val="solid"/>
            <a:tailEnd type="triangle"/>
          </a:ln>
        </p:spPr>
      </p:sp>
      <p:sp>
        <p:nvSpPr>
          <p:cNvPr id="21" name="Shape 19"/>
          <p:cNvSpPr/>
          <p:nvPr/>
        </p:nvSpPr>
        <p:spPr>
          <a:xfrm>
            <a:off x="7406640" y="1188720"/>
            <a:ext cx="1243584" cy="502920"/>
          </a:xfrm>
          <a:prstGeom prst="roundRect">
            <a:avLst>
              <a:gd name="adj" fmla="val 10909"/>
            </a:avLst>
          </a:prstGeom>
          <a:solidFill>
            <a:srgbClr val="0F2A22"/>
          </a:solidFill>
          <a:ln w="12700">
            <a:solidFill>
              <a:srgbClr val="0F2A22"/>
            </a:solidFill>
            <a:prstDash val="solid"/>
          </a:ln>
        </p:spPr>
      </p:sp>
      <p:sp>
        <p:nvSpPr>
          <p:cNvPr id="22" name="Text 20"/>
          <p:cNvSpPr txBox="1"/>
          <p:nvPr/>
        </p:nvSpPr>
        <p:spPr>
          <a:xfrm>
            <a:off x="7406640" y="1188720"/>
            <a:ext cx="1243584" cy="502920"/>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Proto</a:t>
            </a:r>
            <a:endParaRPr lang="en-US" sz="9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1874520"/>
          <a:ext cx="8229600" cy="914400"/>
        </p:xfrm>
        <a:graphic>
          <a:graphicData uri="http://schemas.openxmlformats.org/drawingml/2006/table">
            <a:tbl>
              <a:tblPr/>
              <a:tblGrid>
                <a:gridCol w="1371600"/>
                <a:gridCol w="3429000"/>
                <a:gridCol w="3429000"/>
              </a:tblGrid>
              <a:tr h="265176">
                <a:tc>
                  <a:txBody>
                    <a:bodyPr/>
                    <a:lstStyle/>
                    <a:p>
                      <a:pPr indent="0" marL="0">
                        <a:buNone/>
                      </a:pPr>
                      <a:r>
                        <a:rPr lang="en-US" sz="850" b="1" dirty="0">
                          <a:solidFill>
                            <a:srgbClr val="FFFFFF"/>
                          </a:solidFill>
                          <a:latin typeface="Arial" pitchFamily="34" charset="0"/>
                          <a:ea typeface="Arial" pitchFamily="34" charset="-122"/>
                          <a:cs typeface="Arial" pitchFamily="34" charset="-120"/>
                        </a:rPr>
                        <a:t>Block</a:t>
                      </a:r>
                      <a:endParaRPr lang="en-US" sz="8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1B4D3E"/>
                    </a:solidFill>
                  </a:tcPr>
                </a:tc>
                <a:tc>
                  <a:txBody>
                    <a:bodyPr/>
                    <a:lstStyle/>
                    <a:p>
                      <a:pPr indent="0" marL="0">
                        <a:buNone/>
                      </a:pPr>
                      <a:r>
                        <a:rPr lang="en-US" sz="850" b="1" dirty="0">
                          <a:solidFill>
                            <a:srgbClr val="FFFFFF"/>
                          </a:solidFill>
                          <a:latin typeface="Arial" pitchFamily="34" charset="0"/>
                          <a:ea typeface="Arial" pitchFamily="34" charset="-122"/>
                          <a:cs typeface="Arial" pitchFamily="34" charset="-120"/>
                        </a:rPr>
                        <a:t>Prototype (tune the analog first)</a:t>
                      </a:r>
                      <a:endParaRPr lang="en-US" sz="8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1B4D3E"/>
                    </a:solidFill>
                  </a:tcPr>
                </a:tc>
                <a:tc>
                  <a:txBody>
                    <a:bodyPr/>
                    <a:lstStyle/>
                    <a:p>
                      <a:pPr indent="0" marL="0">
                        <a:buNone/>
                      </a:pPr>
                      <a:r>
                        <a:rPr lang="en-US" sz="850" b="1" dirty="0">
                          <a:solidFill>
                            <a:srgbClr val="FFFFFF"/>
                          </a:solidFill>
                          <a:latin typeface="Arial" pitchFamily="34" charset="0"/>
                          <a:ea typeface="Arial" pitchFamily="34" charset="-122"/>
                          <a:cs typeface="Arial" pitchFamily="34" charset="-120"/>
                        </a:rPr>
                        <a:t>Production (≈₹13,740 landed)</a:t>
                      </a:r>
                      <a:endParaRPr lang="en-US" sz="8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1B4D3E"/>
                    </a:solidFill>
                  </a:tcPr>
                </a:tc>
              </a:tr>
              <a:tr h="265176">
                <a:tc>
                  <a:txBody>
                    <a:bodyPr/>
                    <a:lstStyle/>
                    <a:p>
                      <a:pPr indent="0" marL="0">
                        <a:buNone/>
                      </a:pPr>
                      <a:r>
                        <a:rPr lang="en-US" sz="850" b="1" dirty="0">
                          <a:solidFill>
                            <a:srgbClr val="1D2522"/>
                          </a:solidFill>
                          <a:latin typeface="Arial" pitchFamily="34" charset="0"/>
                          <a:ea typeface="Arial" pitchFamily="34" charset="-122"/>
                          <a:cs typeface="Arial" pitchFamily="34" charset="-120"/>
                        </a:rPr>
                        <a:t>FPGA</a:t>
                      </a:r>
                      <a:endParaRPr lang="en-US" sz="8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c>
                  <a:txBody>
                    <a:bodyPr/>
                    <a:lstStyle/>
                    <a:p>
                      <a:pPr indent="0" marL="0">
                        <a:buNone/>
                      </a:pPr>
                      <a:r>
                        <a:rPr lang="en-US" sz="850" dirty="0">
                          <a:solidFill>
                            <a:srgbClr val="1D2522"/>
                          </a:solidFill>
                          <a:latin typeface="Arial" pitchFamily="34" charset="0"/>
                          <a:ea typeface="Arial" pitchFamily="34" charset="-122"/>
                          <a:cs typeface="Arial" pitchFamily="34" charset="-120"/>
                        </a:rPr>
                        <a:t>Sipeed Tang Primer 20K dock</a:t>
                      </a:r>
                      <a:endParaRPr lang="en-US" sz="8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c>
                  <a:txBody>
                    <a:bodyPr/>
                    <a:lstStyle/>
                    <a:p>
                      <a:pPr indent="0" marL="0">
                        <a:buNone/>
                      </a:pPr>
                      <a:r>
                        <a:rPr lang="en-US" sz="850" dirty="0">
                          <a:solidFill>
                            <a:srgbClr val="1D2522"/>
                          </a:solidFill>
                          <a:latin typeface="Arial" pitchFamily="34" charset="0"/>
                          <a:ea typeface="Arial" pitchFamily="34" charset="-122"/>
                          <a:cs typeface="Arial" pitchFamily="34" charset="-120"/>
                        </a:rPr>
                        <a:t>Tang Nano 9K: GW1NR-9 + 64 Mb PSRAM</a:t>
                      </a:r>
                      <a:endParaRPr lang="en-US" sz="8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r>
              <a:tr h="265176">
                <a:tc>
                  <a:txBody>
                    <a:bodyPr/>
                    <a:lstStyle/>
                    <a:p>
                      <a:pPr indent="0" marL="0">
                        <a:buNone/>
                      </a:pPr>
                      <a:r>
                        <a:rPr lang="en-US" sz="850" b="1" dirty="0">
                          <a:solidFill>
                            <a:srgbClr val="1D2522"/>
                          </a:solidFill>
                          <a:latin typeface="Arial" pitchFamily="34" charset="0"/>
                          <a:ea typeface="Arial" pitchFamily="34" charset="-122"/>
                          <a:cs typeface="Arial" pitchFamily="34" charset="-120"/>
                        </a:rPr>
                        <a:t>Scope ADC</a:t>
                      </a:r>
                      <a:endParaRPr lang="en-US" sz="8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c>
                  <a:txBody>
                    <a:bodyPr/>
                    <a:lstStyle/>
                    <a:p>
                      <a:pPr indent="0" marL="0">
                        <a:buNone/>
                      </a:pPr>
                      <a:r>
                        <a:rPr lang="en-US" sz="850" dirty="0">
                          <a:solidFill>
                            <a:srgbClr val="1D2522"/>
                          </a:solidFill>
                          <a:latin typeface="Arial" pitchFamily="34" charset="0"/>
                          <a:ea typeface="Arial" pitchFamily="34" charset="-122"/>
                          <a:cs typeface="Arial" pitchFamily="34" charset="-120"/>
                        </a:rPr>
                        <a:t>2 × AD9226, 12-bit 65 MS/s</a:t>
                      </a:r>
                      <a:endParaRPr lang="en-US" sz="8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c>
                  <a:txBody>
                    <a:bodyPr/>
                    <a:lstStyle/>
                    <a:p>
                      <a:pPr indent="0" marL="0">
                        <a:buNone/>
                      </a:pPr>
                      <a:r>
                        <a:rPr lang="en-US" sz="850" dirty="0">
                          <a:solidFill>
                            <a:srgbClr val="1D2522"/>
                          </a:solidFill>
                          <a:latin typeface="Arial" pitchFamily="34" charset="0"/>
                          <a:ea typeface="Arial" pitchFamily="34" charset="-122"/>
                          <a:cs typeface="Arial" pitchFamily="34" charset="-120"/>
                        </a:rPr>
                        <a:t>AD9288 dual 8-bit 80 MS/s</a:t>
                      </a:r>
                      <a:endParaRPr lang="en-US" sz="8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r>
              <a:tr h="265176">
                <a:tc>
                  <a:txBody>
                    <a:bodyPr/>
                    <a:lstStyle/>
                    <a:p>
                      <a:pPr indent="0" marL="0">
                        <a:buNone/>
                      </a:pPr>
                      <a:r>
                        <a:rPr lang="en-US" sz="850" b="1" dirty="0">
                          <a:solidFill>
                            <a:srgbClr val="1D2522"/>
                          </a:solidFill>
                          <a:latin typeface="Arial" pitchFamily="34" charset="0"/>
                          <a:ea typeface="Arial" pitchFamily="34" charset="-122"/>
                          <a:cs typeface="Arial" pitchFamily="34" charset="-120"/>
                        </a:rPr>
                        <a:t>Generator DAC</a:t>
                      </a:r>
                      <a:endParaRPr lang="en-US" sz="8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c>
                  <a:txBody>
                    <a:bodyPr/>
                    <a:lstStyle/>
                    <a:p>
                      <a:pPr indent="0" marL="0">
                        <a:buNone/>
                      </a:pPr>
                      <a:r>
                        <a:rPr lang="en-US" sz="850" dirty="0">
                          <a:solidFill>
                            <a:srgbClr val="1D2522"/>
                          </a:solidFill>
                          <a:latin typeface="Arial" pitchFamily="34" charset="0"/>
                          <a:ea typeface="Arial" pitchFamily="34" charset="-122"/>
                          <a:cs typeface="Arial" pitchFamily="34" charset="-120"/>
                        </a:rPr>
                        <a:t>AN9767 dual 14-bit 125 MS/s</a:t>
                      </a:r>
                      <a:endParaRPr lang="en-US" sz="8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c>
                  <a:txBody>
                    <a:bodyPr/>
                    <a:lstStyle/>
                    <a:p>
                      <a:pPr indent="0" marL="0">
                        <a:buNone/>
                      </a:pPr>
                      <a:r>
                        <a:rPr lang="en-US" sz="850" dirty="0">
                          <a:solidFill>
                            <a:srgbClr val="1D2522"/>
                          </a:solidFill>
                          <a:latin typeface="Arial" pitchFamily="34" charset="0"/>
                          <a:ea typeface="Arial" pitchFamily="34" charset="-122"/>
                          <a:cs typeface="Arial" pitchFamily="34" charset="-120"/>
                        </a:rPr>
                        <a:t>2 × DAC908 8-bit 165 MS/s</a:t>
                      </a:r>
                      <a:endParaRPr lang="en-US" sz="8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r>
              <a:tr h="265176">
                <a:tc>
                  <a:txBody>
                    <a:bodyPr/>
                    <a:lstStyle/>
                    <a:p>
                      <a:pPr indent="0" marL="0">
                        <a:buNone/>
                      </a:pPr>
                      <a:r>
                        <a:rPr lang="en-US" sz="850" b="1" dirty="0">
                          <a:solidFill>
                            <a:srgbClr val="1D2522"/>
                          </a:solidFill>
                          <a:latin typeface="Arial" pitchFamily="34" charset="0"/>
                          <a:ea typeface="Arial" pitchFamily="34" charset="-122"/>
                          <a:cs typeface="Arial" pitchFamily="34" charset="-120"/>
                        </a:rPr>
                        <a:t>Front end</a:t>
                      </a:r>
                      <a:endParaRPr lang="en-US" sz="8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c>
                  <a:txBody>
                    <a:bodyPr/>
                    <a:lstStyle/>
                    <a:p>
                      <a:pPr indent="0" marL="0">
                        <a:buNone/>
                      </a:pPr>
                      <a:r>
                        <a:rPr lang="en-US" sz="850" dirty="0">
                          <a:solidFill>
                            <a:srgbClr val="1D2522"/>
                          </a:solidFill>
                          <a:latin typeface="Arial" pitchFamily="34" charset="0"/>
                          <a:ea typeface="Arial" pitchFamily="34" charset="-122"/>
                          <a:cs typeface="Arial" pitchFamily="34" charset="-120"/>
                        </a:rPr>
                        <a:t>4 × AD8066 FET op-amps, REF5025, 8 range relays</a:t>
                      </a:r>
                      <a:endParaRPr lang="en-US" sz="8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c>
                  <a:txBody>
                    <a:bodyPr/>
                    <a:lstStyle/>
                    <a:p>
                      <a:pPr indent="0" marL="0">
                        <a:buNone/>
                      </a:pPr>
                      <a:r>
                        <a:rPr lang="en-US" sz="850" dirty="0">
                          <a:solidFill>
                            <a:srgbClr val="1D2522"/>
                          </a:solidFill>
                          <a:latin typeface="Arial" pitchFamily="34" charset="0"/>
                          <a:ea typeface="Arial" pitchFamily="34" charset="-122"/>
                          <a:cs typeface="Arial" pitchFamily="34" charset="-120"/>
                        </a:rPr>
                        <a:t>Same op-amps and reference</a:t>
                      </a:r>
                      <a:endParaRPr lang="en-US" sz="8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r>
              <a:tr h="265176">
                <a:tc>
                  <a:txBody>
                    <a:bodyPr/>
                    <a:lstStyle/>
                    <a:p>
                      <a:pPr indent="0" marL="0">
                        <a:buNone/>
                      </a:pPr>
                      <a:r>
                        <a:rPr lang="en-US" sz="850" b="1" dirty="0">
                          <a:solidFill>
                            <a:srgbClr val="1D2522"/>
                          </a:solidFill>
                          <a:latin typeface="Arial" pitchFamily="34" charset="0"/>
                          <a:ea typeface="Arial" pitchFamily="34" charset="-122"/>
                          <a:cs typeface="Arial" pitchFamily="34" charset="-120"/>
                        </a:rPr>
                        <a:t>Multimeter</a:t>
                      </a:r>
                      <a:endParaRPr lang="en-US" sz="8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c>
                  <a:txBody>
                    <a:bodyPr/>
                    <a:lstStyle/>
                    <a:p>
                      <a:pPr indent="0" marL="0">
                        <a:buNone/>
                      </a:pPr>
                      <a:r>
                        <a:rPr lang="en-US" sz="850" dirty="0">
                          <a:solidFill>
                            <a:srgbClr val="1D2522"/>
                          </a:solidFill>
                          <a:latin typeface="Arial" pitchFamily="34" charset="0"/>
                          <a:ea typeface="Arial" pitchFamily="34" charset="-122"/>
                          <a:cs typeface="Arial" pitchFamily="34" charset="-120"/>
                        </a:rPr>
                        <a:t>ADS1256 24-bit</a:t>
                      </a:r>
                      <a:endParaRPr lang="en-US" sz="8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c>
                  <a:txBody>
                    <a:bodyPr/>
                    <a:lstStyle/>
                    <a:p>
                      <a:pPr indent="0" marL="0">
                        <a:buNone/>
                      </a:pPr>
                      <a:r>
                        <a:rPr lang="en-US" sz="850" dirty="0">
                          <a:solidFill>
                            <a:srgbClr val="1D2522"/>
                          </a:solidFill>
                          <a:latin typeface="Arial" pitchFamily="34" charset="0"/>
                          <a:ea typeface="Arial" pitchFamily="34" charset="-122"/>
                          <a:cs typeface="Arial" pitchFamily="34" charset="-120"/>
                        </a:rPr>
                        <a:t>ADS1256 24-bit</a:t>
                      </a:r>
                      <a:endParaRPr lang="en-US" sz="8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r>
              <a:tr h="265176">
                <a:tc>
                  <a:txBody>
                    <a:bodyPr/>
                    <a:lstStyle/>
                    <a:p>
                      <a:pPr indent="0" marL="0">
                        <a:buNone/>
                      </a:pPr>
                      <a:r>
                        <a:rPr lang="en-US" sz="850" b="1" dirty="0">
                          <a:solidFill>
                            <a:srgbClr val="1D2522"/>
                          </a:solidFill>
                          <a:latin typeface="Arial" pitchFamily="34" charset="0"/>
                          <a:ea typeface="Arial" pitchFamily="34" charset="-122"/>
                          <a:cs typeface="Arial" pitchFamily="34" charset="-120"/>
                        </a:rPr>
                        <a:t>Supplies</a:t>
                      </a:r>
                      <a:endParaRPr lang="en-US" sz="8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c>
                  <a:txBody>
                    <a:bodyPr/>
                    <a:lstStyle/>
                    <a:p>
                      <a:pPr indent="0" marL="0">
                        <a:buNone/>
                      </a:pPr>
                      <a:r>
                        <a:rPr lang="en-US" sz="850" dirty="0">
                          <a:solidFill>
                            <a:srgbClr val="1D2522"/>
                          </a:solidFill>
                          <a:latin typeface="Arial" pitchFamily="34" charset="0"/>
                          <a:ea typeface="Arial" pitchFamily="34" charset="-122"/>
                          <a:cs typeface="Arial" pitchFamily="34" charset="-120"/>
                        </a:rPr>
                        <a:t>MCP4728 DAC setpoints, 2 × XL6009, 2 × INA226 monitors</a:t>
                      </a:r>
                      <a:endParaRPr lang="en-US" sz="8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c>
                  <a:txBody>
                    <a:bodyPr/>
                    <a:lstStyle/>
                    <a:p>
                      <a:pPr indent="0" marL="0">
                        <a:buNone/>
                      </a:pPr>
                      <a:r>
                        <a:rPr lang="en-US" sz="850" dirty="0">
                          <a:solidFill>
                            <a:srgbClr val="1D2522"/>
                          </a:solidFill>
                          <a:latin typeface="Arial" pitchFamily="34" charset="0"/>
                          <a:ea typeface="Arial" pitchFamily="34" charset="-122"/>
                          <a:cs typeface="Arial" pitchFamily="34" charset="-120"/>
                        </a:rPr>
                        <a:t>Supply DACs, INA226, protection</a:t>
                      </a:r>
                      <a:endParaRPr lang="en-US" sz="8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r>
              <a:tr h="265176">
                <a:tc>
                  <a:txBody>
                    <a:bodyPr/>
                    <a:lstStyle/>
                    <a:p>
                      <a:pPr indent="0" marL="0">
                        <a:buNone/>
                      </a:pPr>
                      <a:r>
                        <a:rPr lang="en-US" sz="850" b="1" dirty="0">
                          <a:solidFill>
                            <a:srgbClr val="1D2522"/>
                          </a:solidFill>
                          <a:latin typeface="Arial" pitchFamily="34" charset="0"/>
                          <a:ea typeface="Arial" pitchFamily="34" charset="-122"/>
                          <a:cs typeface="Arial" pitchFamily="34" charset="-120"/>
                        </a:rPr>
                        <a:t>Logic</a:t>
                      </a:r>
                      <a:endParaRPr lang="en-US" sz="8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c>
                  <a:txBody>
                    <a:bodyPr/>
                    <a:lstStyle/>
                    <a:p>
                      <a:pPr indent="0" marL="0">
                        <a:buNone/>
                      </a:pPr>
                      <a:r>
                        <a:rPr lang="en-US" sz="850" dirty="0">
                          <a:solidFill>
                            <a:srgbClr val="1D2522"/>
                          </a:solidFill>
                          <a:latin typeface="Arial" pitchFamily="34" charset="0"/>
                          <a:ea typeface="Arial" pitchFamily="34" charset="-122"/>
                          <a:cs typeface="Arial" pitchFamily="34" charset="-120"/>
                        </a:rPr>
                        <a:t>16 ch via 2 × 74LVC245</a:t>
                      </a:r>
                      <a:endParaRPr lang="en-US" sz="8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c>
                  <a:txBody>
                    <a:bodyPr/>
                    <a:lstStyle/>
                    <a:p>
                      <a:pPr indent="0" marL="0">
                        <a:buNone/>
                      </a:pPr>
                      <a:r>
                        <a:rPr lang="en-US" sz="850" dirty="0">
                          <a:solidFill>
                            <a:srgbClr val="1D2522"/>
                          </a:solidFill>
                          <a:latin typeface="Arial" pitchFamily="34" charset="0"/>
                          <a:ea typeface="Arial" pitchFamily="34" charset="-122"/>
                          <a:cs typeface="Arial" pitchFamily="34" charset="-120"/>
                        </a:rPr>
                        <a:t>16 ch logic header</a:t>
                      </a:r>
                      <a:endParaRPr lang="en-US" sz="8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r>
              <a:tr h="265176">
                <a:tc>
                  <a:txBody>
                    <a:bodyPr/>
                    <a:lstStyle/>
                    <a:p>
                      <a:pPr indent="0" marL="0">
                        <a:buNone/>
                      </a:pPr>
                      <a:r>
                        <a:rPr lang="en-US" sz="850" b="1" dirty="0">
                          <a:solidFill>
                            <a:srgbClr val="1D2522"/>
                          </a:solidFill>
                          <a:latin typeface="Arial" pitchFamily="34" charset="0"/>
                          <a:ea typeface="Arial" pitchFamily="34" charset="-122"/>
                          <a:cs typeface="Arial" pitchFamily="34" charset="-120"/>
                        </a:rPr>
                        <a:t>Host link</a:t>
                      </a:r>
                      <a:endParaRPr lang="en-US" sz="8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c>
                  <a:txBody>
                    <a:bodyPr/>
                    <a:lstStyle/>
                    <a:p>
                      <a:pPr indent="0" marL="0">
                        <a:buNone/>
                      </a:pPr>
                      <a:r>
                        <a:rPr lang="en-US" sz="850" dirty="0">
                          <a:solidFill>
                            <a:srgbClr val="1D2522"/>
                          </a:solidFill>
                          <a:latin typeface="Arial" pitchFamily="34" charset="0"/>
                          <a:ea typeface="Arial" pitchFamily="34" charset="-122"/>
                          <a:cs typeface="Arial" pitchFamily="34" charset="-120"/>
                        </a:rPr>
                        <a:t>Raspberry Pi 5 + 7 in display</a:t>
                      </a:r>
                      <a:endParaRPr lang="en-US" sz="8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c>
                  <a:txBody>
                    <a:bodyPr/>
                    <a:lstStyle/>
                    <a:p>
                      <a:pPr indent="0" marL="0">
                        <a:buNone/>
                      </a:pPr>
                      <a:r>
                        <a:rPr lang="en-US" sz="850" dirty="0">
                          <a:solidFill>
                            <a:srgbClr val="1D2522"/>
                          </a:solidFill>
                          <a:latin typeface="Arial" pitchFamily="34" charset="0"/>
                          <a:ea typeface="Arial" pitchFamily="34" charset="-122"/>
                          <a:cs typeface="Arial" pitchFamily="34" charset="-120"/>
                        </a:rPr>
                        <a:t>FT232HL USB 2.0 HS; no screen of its own</a:t>
                      </a:r>
                      <a:endParaRPr lang="en-US" sz="8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r>
              <a:tr h="265176">
                <a:tc>
                  <a:txBody>
                    <a:bodyPr/>
                    <a:lstStyle/>
                    <a:p>
                      <a:pPr indent="0" marL="0">
                        <a:buNone/>
                      </a:pPr>
                      <a:r>
                        <a:rPr lang="en-US" sz="850" b="1" dirty="0">
                          <a:solidFill>
                            <a:srgbClr val="1D2522"/>
                          </a:solidFill>
                          <a:latin typeface="Arial" pitchFamily="34" charset="0"/>
                          <a:ea typeface="Arial" pitchFamily="34" charset="-122"/>
                          <a:cs typeface="Arial" pitchFamily="34" charset="-120"/>
                        </a:rPr>
                        <a:t>Board / case</a:t>
                      </a:r>
                      <a:endParaRPr lang="en-US" sz="8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c>
                  <a:txBody>
                    <a:bodyPr/>
                    <a:lstStyle/>
                    <a:p>
                      <a:pPr indent="0" marL="0">
                        <a:buNone/>
                      </a:pPr>
                      <a:r>
                        <a:rPr lang="en-US" sz="850" dirty="0">
                          <a:solidFill>
                            <a:srgbClr val="1D2522"/>
                          </a:solidFill>
                          <a:latin typeface="Arial" pitchFamily="34" charset="0"/>
                          <a:ea typeface="Arial" pitchFamily="34" charset="-122"/>
                          <a:cs typeface="Arial" pitchFamily="34" charset="-120"/>
                        </a:rPr>
                        <a:t>4-layer carrier PCB; vacuum-formed shell</a:t>
                      </a:r>
                      <a:endParaRPr lang="en-US" sz="8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c>
                  <a:txBody>
                    <a:bodyPr/>
                    <a:lstStyle/>
                    <a:p>
                      <a:pPr indent="0" marL="0">
                        <a:buNone/>
                      </a:pPr>
                      <a:r>
                        <a:rPr lang="en-US" sz="850" dirty="0">
                          <a:solidFill>
                            <a:srgbClr val="1D2522"/>
                          </a:solidFill>
                          <a:latin typeface="Arial" pitchFamily="34" charset="0"/>
                          <a:ea typeface="Arial" pitchFamily="34" charset="-122"/>
                          <a:cs typeface="Arial" pitchFamily="34" charset="-120"/>
                        </a:rPr>
                        <a:t>4-layer PCB assembled at JLCPCB; extruded aluminium</a:t>
                      </a:r>
                      <a:endParaRPr lang="en-US" sz="8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r>
            </a:tbl>
          </a:graphicData>
        </a:graphic>
      </p:graphicFrame>
      <p:sp>
        <p:nvSpPr>
          <p:cNvPr id="24" name="Text 21"/>
          <p:cNvSpPr txBox="1"/>
          <p:nvPr/>
        </p:nvSpPr>
        <p:spPr>
          <a:xfrm>
            <a:off x="457200" y="4617720"/>
            <a:ext cx="8229600" cy="201168"/>
          </a:xfrm>
          <a:prstGeom prst="rect">
            <a:avLst/>
          </a:prstGeom>
          <a:noFill/>
          <a:ln/>
        </p:spPr>
        <p:txBody>
          <a:bodyPr wrap="square" lIns="0" tIns="0" rIns="0" bIns="0" rtlCol="0" anchor="t"/>
          <a:lstStyle/>
          <a:p>
            <a:pPr indent="0" marL="0">
              <a:buNone/>
            </a:pPr>
            <a:r>
              <a:rPr lang="en-US" sz="750" i="1" dirty="0">
                <a:solidFill>
                  <a:srgbClr val="5E6B66"/>
                </a:solidFill>
                <a:latin typeface="Arial" pitchFamily="34" charset="0"/>
                <a:ea typeface="Arial" pitchFamily="34" charset="-122"/>
                <a:cs typeface="Arial" pitchFamily="34" charset="-120"/>
              </a:rPr>
              <a:t>The production trade: 8-bit converters and no screen get it under ₹15,000. Digilent AD3 has 14-bit converters; we compete on price and on being driven by the agent, not on resolution.</a:t>
            </a:r>
            <a:endParaRPr lang="en-US" sz="7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201168"/>
          </a:xfrm>
          <a:prstGeom prst="rect">
            <a:avLst/>
          </a:prstGeom>
          <a:noFill/>
          <a:ln/>
        </p:spPr>
        <p:txBody>
          <a:bodyPr wrap="square" lIns="0" tIns="0" rIns="0" bIns="0" rtlCol="0" anchor="t"/>
          <a:lstStyle/>
          <a:p>
            <a:pPr indent="0" marL="0">
              <a:buNone/>
            </a:pPr>
            <a:r>
              <a:rPr lang="en-US" sz="900" b="1" spc="200" kern="0" dirty="0">
                <a:solidFill>
                  <a:srgbClr val="C8793A"/>
                </a:solidFill>
                <a:latin typeface="Arial" pitchFamily="34" charset="0"/>
                <a:ea typeface="Arial" pitchFamily="34" charset="-122"/>
                <a:cs typeface="Arial" pitchFamily="34" charset="-120"/>
              </a:rPr>
              <a:t>PRATEEK: 1,000? 10,000? 1 LAKH?</a:t>
            </a:r>
            <a:endParaRPr lang="en-US" sz="900" dirty="0"/>
          </a:p>
        </p:txBody>
      </p:sp>
      <p:sp>
        <p:nvSpPr>
          <p:cNvPr id="3" name="Text 1"/>
          <p:cNvSpPr txBox="1"/>
          <p:nvPr/>
        </p:nvSpPr>
        <p:spPr>
          <a:xfrm>
            <a:off x="457200" y="457200"/>
            <a:ext cx="8229600" cy="566928"/>
          </a:xfrm>
          <a:prstGeom prst="rect">
            <a:avLst/>
          </a:prstGeom>
          <a:noFill/>
          <a:ln/>
        </p:spPr>
        <p:txBody>
          <a:bodyPr wrap="square" lIns="0" tIns="0" rIns="0" bIns="0" rtlCol="0" anchor="ctr">
            <a:normAutofit/>
          </a:bodyPr>
          <a:lstStyle/>
          <a:p>
            <a:pPr indent="0" marL="0">
              <a:buNone/>
            </a:pPr>
            <a:r>
              <a:rPr lang="en-US" sz="2200" b="1" dirty="0">
                <a:solidFill>
                  <a:srgbClr val="0F2A22"/>
                </a:solidFill>
                <a:latin typeface="Arial" pitchFamily="34" charset="0"/>
                <a:ea typeface="Arial" pitchFamily="34" charset="-122"/>
                <a:cs typeface="Arial" pitchFamily="34" charset="-120"/>
              </a:rPr>
              <a:t>Prototyping, not production: where a fab wins</a:t>
            </a:r>
            <a:endParaRPr lang="en-US" sz="2200" dirty="0"/>
          </a:p>
        </p:txBody>
      </p:sp>
      <p:sp>
        <p:nvSpPr>
          <p:cNvPr id="4" name="Text 2"/>
          <p:cNvSpPr txBox="1"/>
          <p:nvPr/>
        </p:nvSpPr>
        <p:spPr>
          <a:xfrm>
            <a:off x="8321040" y="4828032"/>
            <a:ext cx="365760" cy="182880"/>
          </a:xfrm>
          <a:prstGeom prst="rect">
            <a:avLst/>
          </a:prstGeom>
          <a:noFill/>
          <a:ln/>
        </p:spPr>
        <p:txBody>
          <a:bodyPr wrap="square" lIns="0" tIns="0" rIns="0" bIns="0" rtlCol="0" anchor="t"/>
          <a:lstStyle/>
          <a:p>
            <a:pPr algn="r" indent="0" marL="0">
              <a:buNone/>
            </a:pPr>
            <a:r>
              <a:rPr lang="en-US" sz="800" dirty="0">
                <a:solidFill>
                  <a:srgbClr val="5E6B66"/>
                </a:solidFill>
                <a:latin typeface="Arial" pitchFamily="34" charset="0"/>
                <a:ea typeface="Arial" pitchFamily="34" charset="-122"/>
                <a:cs typeface="Arial" pitchFamily="34" charset="-120"/>
              </a:rPr>
              <a:t>16</a:t>
            </a:r>
            <a:endParaRPr lang="en-US" sz="800" dirty="0"/>
          </a:p>
        </p:txBody>
      </p:sp>
      <p:sp>
        <p:nvSpPr>
          <p:cNvPr id="5" name="Text 3"/>
          <p:cNvSpPr txBox="1"/>
          <p:nvPr/>
        </p:nvSpPr>
        <p:spPr>
          <a:xfrm>
            <a:off x="457200" y="4828032"/>
            <a:ext cx="2743200" cy="182880"/>
          </a:xfrm>
          <a:prstGeom prst="rect">
            <a:avLst/>
          </a:prstGeom>
          <a:noFill/>
          <a:ln/>
        </p:spPr>
        <p:txBody>
          <a:bodyPr wrap="square" lIns="0" tIns="0" rIns="0" bIns="0" rtlCol="0" anchor="t"/>
          <a:lstStyle/>
          <a:p>
            <a:pPr indent="0" marL="0">
              <a:buNone/>
            </a:pPr>
            <a:r>
              <a:rPr lang="en-US" sz="800" dirty="0">
                <a:solidFill>
                  <a:srgbClr val="5E6B66"/>
                </a:solidFill>
                <a:latin typeface="Arial" pitchFamily="34" charset="0"/>
                <a:ea typeface="Arial" pitchFamily="34" charset="-122"/>
                <a:cs typeface="Arial" pitchFamily="34" charset="-120"/>
              </a:rPr>
              <a:t>Protopulse · pitch v2</a:t>
            </a:r>
            <a:endParaRPr lang="en-US" sz="8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371600"/>
                <a:gridCol w="1188720"/>
                <a:gridCol w="2468880"/>
                <a:gridCol w="3200400"/>
              </a:tblGrid>
              <a:tr h="402336">
                <a:tc>
                  <a:txBody>
                    <a:bodyPr/>
                    <a:lstStyle/>
                    <a:p>
                      <a:pPr indent="0" marL="0">
                        <a:buNone/>
                      </a:pPr>
                      <a:r>
                        <a:rPr lang="en-US" sz="1050" b="1" dirty="0">
                          <a:solidFill>
                            <a:srgbClr val="FFFFFF"/>
                          </a:solidFill>
                          <a:latin typeface="Arial" pitchFamily="34" charset="0"/>
                          <a:ea typeface="Arial" pitchFamily="34" charset="-122"/>
                          <a:cs typeface="Arial" pitchFamily="34" charset="-120"/>
                        </a:rPr>
                        <a:t>Boards per year</a:t>
                      </a:r>
                      <a:endParaRPr lang="en-US" sz="10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1B4D3E"/>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Bakers needed*</a:t>
                      </a:r>
                      <a:endParaRPr lang="en-US" sz="10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1B4D3E"/>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Right tool</a:t>
                      </a:r>
                      <a:endParaRPr lang="en-US" sz="10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1B4D3E"/>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Why</a:t>
                      </a:r>
                      <a:endParaRPr lang="en-US" sz="10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1B4D3E"/>
                    </a:solidFill>
                  </a:tcPr>
                </a:tc>
              </a:tr>
              <a:tr h="402336">
                <a:tc>
                  <a:txBody>
                    <a:bodyPr/>
                    <a:lstStyle/>
                    <a:p>
                      <a:pPr indent="0" marL="0">
                        <a:buNone/>
                      </a:pPr>
                      <a:r>
                        <a:rPr lang="en-US" sz="1050" dirty="0">
                          <a:solidFill>
                            <a:srgbClr val="1D2522"/>
                          </a:solidFill>
                          <a:latin typeface="Arial" pitchFamily="34" charset="0"/>
                          <a:ea typeface="Arial" pitchFamily="34" charset="-122"/>
                          <a:cs typeface="Arial" pitchFamily="34" charset="-120"/>
                        </a:rPr>
                        <a:t>10</a:t>
                      </a:r>
                      <a:endParaRPr lang="en-US" sz="10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c>
                  <a:txBody>
                    <a:bodyPr/>
                    <a:lstStyle/>
                    <a:p>
                      <a:pPr indent="0" marL="0">
                        <a:buNone/>
                      </a:pPr>
                      <a:r>
                        <a:rPr lang="en-US" sz="1050" dirty="0">
                          <a:solidFill>
                            <a:srgbClr val="1D2522"/>
                          </a:solidFill>
                          <a:latin typeface="Arial" pitchFamily="34" charset="0"/>
                          <a:ea typeface="Arial" pitchFamily="34" charset="-122"/>
                          <a:cs typeface="Arial" pitchFamily="34" charset="-120"/>
                        </a:rPr>
                        <a:t>1</a:t>
                      </a:r>
                      <a:endParaRPr lang="en-US" sz="10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c>
                  <a:txBody>
                    <a:bodyPr/>
                    <a:lstStyle/>
                    <a:p>
                      <a:pPr indent="0" marL="0">
                        <a:buNone/>
                      </a:pPr>
                      <a:r>
                        <a:rPr lang="en-US" sz="1050" b="1" dirty="0">
                          <a:solidFill>
                            <a:srgbClr val="1B4D3E"/>
                          </a:solidFill>
                          <a:latin typeface="Arial" pitchFamily="34" charset="0"/>
                          <a:ea typeface="Arial" pitchFamily="34" charset="-122"/>
                          <a:cs typeface="Arial" pitchFamily="34" charset="-120"/>
                        </a:rPr>
                        <a:t>Baker</a:t>
                      </a:r>
                      <a:endParaRPr lang="en-US" sz="10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c>
                  <a:txBody>
                    <a:bodyPr/>
                    <a:lstStyle/>
                    <a:p>
                      <a:pPr indent="0" marL="0">
                        <a:buNone/>
                      </a:pPr>
                      <a:r>
                        <a:rPr lang="en-US" sz="1050" dirty="0">
                          <a:solidFill>
                            <a:srgbClr val="1D2522"/>
                          </a:solidFill>
                          <a:latin typeface="Arial" pitchFamily="34" charset="0"/>
                          <a:ea typeface="Arial" pitchFamily="34" charset="-122"/>
                          <a:cs typeface="Arial" pitchFamily="34" charset="-120"/>
                        </a:rPr>
                        <a:t>Same-day iteration; fab minimums and shipping dominate</a:t>
                      </a:r>
                      <a:endParaRPr lang="en-US" sz="10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r>
              <a:tr h="402336">
                <a:tc>
                  <a:txBody>
                    <a:bodyPr/>
                    <a:lstStyle/>
                    <a:p>
                      <a:pPr indent="0" marL="0">
                        <a:buNone/>
                      </a:pPr>
                      <a:r>
                        <a:rPr lang="en-US" sz="1050" dirty="0">
                          <a:solidFill>
                            <a:srgbClr val="1D2522"/>
                          </a:solidFill>
                          <a:latin typeface="Arial" pitchFamily="34" charset="0"/>
                          <a:ea typeface="Arial" pitchFamily="34" charset="-122"/>
                          <a:cs typeface="Arial" pitchFamily="34" charset="-120"/>
                        </a:rPr>
                        <a:t>100</a:t>
                      </a:r>
                      <a:endParaRPr lang="en-US" sz="10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c>
                  <a:txBody>
                    <a:bodyPr/>
                    <a:lstStyle/>
                    <a:p>
                      <a:pPr indent="0" marL="0">
                        <a:buNone/>
                      </a:pPr>
                      <a:r>
                        <a:rPr lang="en-US" sz="1050" dirty="0">
                          <a:solidFill>
                            <a:srgbClr val="1D2522"/>
                          </a:solidFill>
                          <a:latin typeface="Arial" pitchFamily="34" charset="0"/>
                          <a:ea typeface="Arial" pitchFamily="34" charset="-122"/>
                          <a:cs typeface="Arial" pitchFamily="34" charset="-120"/>
                        </a:rPr>
                        <a:t>1</a:t>
                      </a:r>
                      <a:endParaRPr lang="en-US" sz="10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c>
                  <a:txBody>
                    <a:bodyPr/>
                    <a:lstStyle/>
                    <a:p>
                      <a:pPr indent="0" marL="0">
                        <a:buNone/>
                      </a:pPr>
                      <a:r>
                        <a:rPr lang="en-US" sz="1050" b="1" dirty="0">
                          <a:solidFill>
                            <a:srgbClr val="1B4D3E"/>
                          </a:solidFill>
                          <a:latin typeface="Arial" pitchFamily="34" charset="0"/>
                          <a:ea typeface="Arial" pitchFamily="34" charset="-122"/>
                          <a:cs typeface="Arial" pitchFamily="34" charset="-120"/>
                        </a:rPr>
                        <a:t>Baker</a:t>
                      </a:r>
                      <a:endParaRPr lang="en-US" sz="10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c>
                  <a:txBody>
                    <a:bodyPr/>
                    <a:lstStyle/>
                    <a:p>
                      <a:pPr indent="0" marL="0">
                        <a:buNone/>
                      </a:pPr>
                      <a:r>
                        <a:rPr lang="en-US" sz="1050" dirty="0">
                          <a:solidFill>
                            <a:srgbClr val="1D2522"/>
                          </a:solidFill>
                          <a:latin typeface="Arial" pitchFamily="34" charset="0"/>
                          <a:ea typeface="Arial" pitchFamily="34" charset="-122"/>
                          <a:cs typeface="Arial" pitchFamily="34" charset="-120"/>
                        </a:rPr>
                        <a:t>One machine covers a busy lab or startup</a:t>
                      </a:r>
                      <a:endParaRPr lang="en-US" sz="10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r>
              <a:tr h="402336">
                <a:tc>
                  <a:txBody>
                    <a:bodyPr/>
                    <a:lstStyle/>
                    <a:p>
                      <a:pPr indent="0" marL="0">
                        <a:buNone/>
                      </a:pPr>
                      <a:r>
                        <a:rPr lang="en-US" sz="1050" dirty="0">
                          <a:solidFill>
                            <a:srgbClr val="1D2522"/>
                          </a:solidFill>
                          <a:latin typeface="Arial" pitchFamily="34" charset="0"/>
                          <a:ea typeface="Arial" pitchFamily="34" charset="-122"/>
                          <a:cs typeface="Arial" pitchFamily="34" charset="-120"/>
                        </a:rPr>
                        <a:t>1,000</a:t>
                      </a:r>
                      <a:endParaRPr lang="en-US" sz="10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c>
                  <a:txBody>
                    <a:bodyPr/>
                    <a:lstStyle/>
                    <a:p>
                      <a:pPr indent="0" marL="0">
                        <a:buNone/>
                      </a:pPr>
                      <a:r>
                        <a:rPr lang="en-US" sz="1050" dirty="0">
                          <a:solidFill>
                            <a:srgbClr val="1D2522"/>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c>
                  <a:txBody>
                    <a:bodyPr/>
                    <a:lstStyle/>
                    <a:p>
                      <a:pPr indent="0" marL="0">
                        <a:buNone/>
                      </a:pPr>
                      <a:r>
                        <a:rPr lang="en-US" sz="1050" b="1" dirty="0">
                          <a:solidFill>
                            <a:srgbClr val="1D2522"/>
                          </a:solidFill>
                          <a:latin typeface="Arial" pitchFamily="34" charset="0"/>
                          <a:ea typeface="Arial" pitchFamily="34" charset="-122"/>
                          <a:cs typeface="Arial" pitchFamily="34" charset="-120"/>
                        </a:rPr>
                        <a:t>Baker for iterations, fab for batches</a:t>
                      </a:r>
                      <a:endParaRPr lang="en-US" sz="10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c>
                  <a:txBody>
                    <a:bodyPr/>
                    <a:lstStyle/>
                    <a:p>
                      <a:pPr indent="0" marL="0">
                        <a:buNone/>
                      </a:pPr>
                      <a:r>
                        <a:rPr lang="en-US" sz="1050" dirty="0">
                          <a:solidFill>
                            <a:srgbClr val="1D2522"/>
                          </a:solidFill>
                          <a:latin typeface="Arial" pitchFamily="34" charset="0"/>
                          <a:ea typeface="Arial" pitchFamily="34" charset="-122"/>
                          <a:cs typeface="Arial" pitchFamily="34" charset="-120"/>
                        </a:rPr>
                        <a:t>Any run of &gt;10 identical boards goes to a fab</a:t>
                      </a:r>
                      <a:endParaRPr lang="en-US" sz="10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r>
              <a:tr h="402336">
                <a:tc>
                  <a:txBody>
                    <a:bodyPr/>
                    <a:lstStyle/>
                    <a:p>
                      <a:pPr indent="0" marL="0">
                        <a:buNone/>
                      </a:pPr>
                      <a:r>
                        <a:rPr lang="en-US" sz="1050" dirty="0">
                          <a:solidFill>
                            <a:srgbClr val="1D2522"/>
                          </a:solidFill>
                          <a:latin typeface="Arial" pitchFamily="34" charset="0"/>
                          <a:ea typeface="Arial" pitchFamily="34" charset="-122"/>
                          <a:cs typeface="Arial" pitchFamily="34" charset="-120"/>
                        </a:rPr>
                        <a:t>10,000</a:t>
                      </a:r>
                      <a:endParaRPr lang="en-US" sz="10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c>
                  <a:txBody>
                    <a:bodyPr/>
                    <a:lstStyle/>
                    <a:p>
                      <a:pPr indent="0" marL="0">
                        <a:buNone/>
                      </a:pPr>
                      <a:r>
                        <a:rPr lang="en-US" sz="1050" dirty="0">
                          <a:solidFill>
                            <a:srgbClr val="1D2522"/>
                          </a:solidFill>
                          <a:latin typeface="Arial" pitchFamily="34" charset="0"/>
                          <a:ea typeface="Arial" pitchFamily="34" charset="-122"/>
                          <a:cs typeface="Arial" pitchFamily="34" charset="-120"/>
                        </a:rPr>
                        <a:t>14</a:t>
                      </a:r>
                      <a:endParaRPr lang="en-US" sz="10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c>
                  <a:txBody>
                    <a:bodyPr/>
                    <a:lstStyle/>
                    <a:p>
                      <a:pPr indent="0" marL="0">
                        <a:buNone/>
                      </a:pPr>
                      <a:r>
                        <a:rPr lang="en-US" sz="1050" b="1" dirty="0">
                          <a:solidFill>
                            <a:srgbClr val="C8793A"/>
                          </a:solidFill>
                          <a:latin typeface="Arial" pitchFamily="34" charset="0"/>
                          <a:ea typeface="Arial" pitchFamily="34" charset="-122"/>
                          <a:cs typeface="Arial" pitchFamily="34" charset="-120"/>
                        </a:rPr>
                        <a:t>Fab / EMS</a:t>
                      </a:r>
                      <a:endParaRPr lang="en-US" sz="10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c>
                  <a:txBody>
                    <a:bodyPr/>
                    <a:lstStyle/>
                    <a:p>
                      <a:pPr indent="0" marL="0">
                        <a:buNone/>
                      </a:pPr>
                      <a:r>
                        <a:rPr lang="en-US" sz="1050" dirty="0">
                          <a:solidFill>
                            <a:srgbClr val="1D2522"/>
                          </a:solidFill>
                          <a:latin typeface="Arial" pitchFamily="34" charset="0"/>
                          <a:ea typeface="Arial" pitchFamily="34" charset="-122"/>
                          <a:cs typeface="Arial" pitchFamily="34" charset="-120"/>
                        </a:rPr>
                        <a:t>That's production. Proto exports the checked Gerber/BOM/CPL</a:t>
                      </a:r>
                      <a:endParaRPr lang="en-US" sz="10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r>
              <a:tr h="402336">
                <a:tc>
                  <a:txBody>
                    <a:bodyPr/>
                    <a:lstStyle/>
                    <a:p>
                      <a:pPr indent="0" marL="0">
                        <a:buNone/>
                      </a:pPr>
                      <a:r>
                        <a:rPr lang="en-US" sz="1050" dirty="0">
                          <a:solidFill>
                            <a:srgbClr val="1D2522"/>
                          </a:solidFill>
                          <a:latin typeface="Arial" pitchFamily="34" charset="0"/>
                          <a:ea typeface="Arial" pitchFamily="34" charset="-122"/>
                          <a:cs typeface="Arial" pitchFamily="34" charset="-120"/>
                        </a:rPr>
                        <a:t>1,00,000</a:t>
                      </a:r>
                      <a:endParaRPr lang="en-US" sz="10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c>
                  <a:txBody>
                    <a:bodyPr/>
                    <a:lstStyle/>
                    <a:p>
                      <a:pPr indent="0" marL="0">
                        <a:buNone/>
                      </a:pPr>
                      <a:r>
                        <a:rPr lang="en-US" sz="1050" dirty="0">
                          <a:solidFill>
                            <a:srgbClr val="1D2522"/>
                          </a:solidFill>
                          <a:latin typeface="Arial" pitchFamily="34" charset="0"/>
                          <a:ea typeface="Arial" pitchFamily="34" charset="-122"/>
                          <a:cs typeface="Arial" pitchFamily="34" charset="-120"/>
                        </a:rPr>
                        <a:t>134</a:t>
                      </a:r>
                      <a:endParaRPr lang="en-US" sz="10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c>
                  <a:txBody>
                    <a:bodyPr/>
                    <a:lstStyle/>
                    <a:p>
                      <a:pPr indent="0" marL="0">
                        <a:buNone/>
                      </a:pPr>
                      <a:r>
                        <a:rPr lang="en-US" sz="1050" b="1" dirty="0">
                          <a:solidFill>
                            <a:srgbClr val="C8793A"/>
                          </a:solidFill>
                          <a:latin typeface="Arial" pitchFamily="34" charset="0"/>
                          <a:ea typeface="Arial" pitchFamily="34" charset="-122"/>
                          <a:cs typeface="Arial" pitchFamily="34" charset="-120"/>
                        </a:rPr>
                        <a:t>Fab / EMS</a:t>
                      </a:r>
                      <a:endParaRPr lang="en-US" sz="10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c>
                  <a:txBody>
                    <a:bodyPr/>
                    <a:lstStyle/>
                    <a:p>
                      <a:pPr indent="0" marL="0">
                        <a:buNone/>
                      </a:pPr>
                      <a:r>
                        <a:rPr lang="en-US" sz="1050" dirty="0">
                          <a:solidFill>
                            <a:srgbClr val="1D2522"/>
                          </a:solidFill>
                          <a:latin typeface="Arial" pitchFamily="34" charset="0"/>
                          <a:ea typeface="Arial" pitchFamily="34" charset="-122"/>
                          <a:cs typeface="Arial" pitchFamily="34" charset="-120"/>
                        </a:rPr>
                        <a:t>Not what Baker is for, and we don't claim it</a:t>
                      </a:r>
                      <a:endParaRPr lang="en-US" sz="10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r>
            </a:tbl>
          </a:graphicData>
        </a:graphic>
      </p:graphicFrame>
      <p:sp>
        <p:nvSpPr>
          <p:cNvPr id="7" name="Shape 4"/>
          <p:cNvSpPr/>
          <p:nvPr/>
        </p:nvSpPr>
        <p:spPr>
          <a:xfrm>
            <a:off x="457200" y="3794760"/>
            <a:ext cx="8229600" cy="685800"/>
          </a:xfrm>
          <a:prstGeom prst="roundRect">
            <a:avLst>
              <a:gd name="adj" fmla="val 10667"/>
            </a:avLst>
          </a:prstGeom>
          <a:solidFill>
            <a:srgbClr val="F6E7D8"/>
          </a:solidFill>
          <a:ln w="12700">
            <a:solidFill>
              <a:srgbClr val="F6E7D8"/>
            </a:solidFill>
            <a:prstDash val="solid"/>
          </a:ln>
        </p:spPr>
      </p:sp>
      <p:sp>
        <p:nvSpPr>
          <p:cNvPr id="8" name="Text 5"/>
          <p:cNvSpPr txBox="1"/>
          <p:nvPr/>
        </p:nvSpPr>
        <p:spPr>
          <a:xfrm>
            <a:off x="640080" y="3840480"/>
            <a:ext cx="7863840" cy="594360"/>
          </a:xfrm>
          <a:prstGeom prst="rect">
            <a:avLst/>
          </a:prstGeom>
          <a:noFill/>
          <a:ln/>
        </p:spPr>
        <p:txBody>
          <a:bodyPr wrap="square" lIns="0" tIns="0" rIns="0" bIns="0" rtlCol="0" anchor="ctr"/>
          <a:lstStyle/>
          <a:p>
            <a:pPr indent="0" marL="0">
              <a:buNone/>
            </a:pPr>
            <a:r>
              <a:rPr lang="en-US" sz="1100" dirty="0">
                <a:solidFill>
                  <a:srgbClr val="1D2522"/>
                </a:solidFill>
                <a:latin typeface="Arial" pitchFamily="34" charset="0"/>
                <a:ea typeface="Arial" pitchFamily="34" charset="-122"/>
                <a:cs typeface="Arial" pitchFamily="34" charset="-120"/>
              </a:rPr>
              <a:t>Baker covers design iterations 1 to 10. For a frozen design, JLCPCB's $2-for-5 boards win on cost, and Proto sends them files that have already worked on a real board.</a:t>
            </a:r>
            <a:endParaRPr lang="en-US" sz="1100" dirty="0"/>
          </a:p>
        </p:txBody>
      </p:sp>
      <p:sp>
        <p:nvSpPr>
          <p:cNvPr id="9" name="Text 6"/>
          <p:cNvSpPr txBox="1"/>
          <p:nvPr/>
        </p:nvSpPr>
        <p:spPr>
          <a:xfrm>
            <a:off x="457200" y="4617720"/>
            <a:ext cx="8229600" cy="201168"/>
          </a:xfrm>
          <a:prstGeom prst="rect">
            <a:avLst/>
          </a:prstGeom>
          <a:noFill/>
          <a:ln/>
        </p:spPr>
        <p:txBody>
          <a:bodyPr wrap="square" lIns="0" tIns="0" rIns="0" bIns="0" rtlCol="0" anchor="t"/>
          <a:lstStyle/>
          <a:p>
            <a:pPr indent="0" marL="0">
              <a:buNone/>
            </a:pPr>
            <a:r>
              <a:rPr lang="en-US" sz="750" i="1" dirty="0">
                <a:solidFill>
                  <a:srgbClr val="5E6B66"/>
                </a:solidFill>
                <a:latin typeface="Arial" pitchFamily="34" charset="0"/>
                <a:ea typeface="Arial" pitchFamily="34" charset="-122"/>
                <a:cs typeface="Arial" pitchFamily="34" charset="-120"/>
              </a:rPr>
              <a:t>* One shift, slow-cycle target (750 boards per year per machine). Protopulse model, Throughput &amp; Scale sheet.</a:t>
            </a:r>
            <a:endParaRPr lang="en-US" sz="7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201168"/>
          </a:xfrm>
          <a:prstGeom prst="rect">
            <a:avLst/>
          </a:prstGeom>
          <a:noFill/>
          <a:ln/>
        </p:spPr>
        <p:txBody>
          <a:bodyPr wrap="square" lIns="0" tIns="0" rIns="0" bIns="0" rtlCol="0" anchor="t"/>
          <a:lstStyle/>
          <a:p>
            <a:pPr indent="0" marL="0">
              <a:buNone/>
            </a:pPr>
            <a:r>
              <a:rPr lang="en-US" sz="900" b="1" spc="200" kern="0" dirty="0">
                <a:solidFill>
                  <a:srgbClr val="C8793A"/>
                </a:solidFill>
                <a:latin typeface="Arial" pitchFamily="34" charset="0"/>
                <a:ea typeface="Arial" pitchFamily="34" charset="-122"/>
                <a:cs typeface="Arial" pitchFamily="34" charset="-120"/>
              </a:rPr>
              <a:t>MARKET MAP</a:t>
            </a:r>
            <a:endParaRPr lang="en-US" sz="900" dirty="0"/>
          </a:p>
        </p:txBody>
      </p:sp>
      <p:sp>
        <p:nvSpPr>
          <p:cNvPr id="3" name="Text 1"/>
          <p:cNvSpPr txBox="1"/>
          <p:nvPr/>
        </p:nvSpPr>
        <p:spPr>
          <a:xfrm>
            <a:off x="457200" y="457200"/>
            <a:ext cx="8229600" cy="566928"/>
          </a:xfrm>
          <a:prstGeom prst="rect">
            <a:avLst/>
          </a:prstGeom>
          <a:noFill/>
          <a:ln/>
        </p:spPr>
        <p:txBody>
          <a:bodyPr wrap="square" lIns="0" tIns="0" rIns="0" bIns="0" rtlCol="0" anchor="ctr">
            <a:normAutofit/>
          </a:bodyPr>
          <a:lstStyle/>
          <a:p>
            <a:pPr indent="0" marL="0">
              <a:buNone/>
            </a:pPr>
            <a:r>
              <a:rPr lang="en-US" sz="2200" b="1" dirty="0">
                <a:solidFill>
                  <a:srgbClr val="0F2A22"/>
                </a:solidFill>
                <a:latin typeface="Arial" pitchFamily="34" charset="0"/>
                <a:ea typeface="Arial" pitchFamily="34" charset="-122"/>
                <a:cs typeface="Arial" pitchFamily="34" charset="-120"/>
              </a:rPr>
              <a:t>Competition and their prices</a:t>
            </a:r>
            <a:endParaRPr lang="en-US" sz="2200" dirty="0"/>
          </a:p>
        </p:txBody>
      </p:sp>
      <p:sp>
        <p:nvSpPr>
          <p:cNvPr id="4" name="Text 2"/>
          <p:cNvSpPr txBox="1"/>
          <p:nvPr/>
        </p:nvSpPr>
        <p:spPr>
          <a:xfrm>
            <a:off x="8321040" y="4828032"/>
            <a:ext cx="365760" cy="182880"/>
          </a:xfrm>
          <a:prstGeom prst="rect">
            <a:avLst/>
          </a:prstGeom>
          <a:noFill/>
          <a:ln/>
        </p:spPr>
        <p:txBody>
          <a:bodyPr wrap="square" lIns="0" tIns="0" rIns="0" bIns="0" rtlCol="0" anchor="t"/>
          <a:lstStyle/>
          <a:p>
            <a:pPr algn="r" indent="0" marL="0">
              <a:buNone/>
            </a:pPr>
            <a:r>
              <a:rPr lang="en-US" sz="800" dirty="0">
                <a:solidFill>
                  <a:srgbClr val="5E6B66"/>
                </a:solidFill>
                <a:latin typeface="Arial" pitchFamily="34" charset="0"/>
                <a:ea typeface="Arial" pitchFamily="34" charset="-122"/>
                <a:cs typeface="Arial" pitchFamily="34" charset="-120"/>
              </a:rPr>
              <a:t>17</a:t>
            </a:r>
            <a:endParaRPr lang="en-US" sz="800" dirty="0"/>
          </a:p>
        </p:txBody>
      </p:sp>
      <p:sp>
        <p:nvSpPr>
          <p:cNvPr id="5" name="Text 3"/>
          <p:cNvSpPr txBox="1"/>
          <p:nvPr/>
        </p:nvSpPr>
        <p:spPr>
          <a:xfrm>
            <a:off x="457200" y="4828032"/>
            <a:ext cx="2743200" cy="182880"/>
          </a:xfrm>
          <a:prstGeom prst="rect">
            <a:avLst/>
          </a:prstGeom>
          <a:noFill/>
          <a:ln/>
        </p:spPr>
        <p:txBody>
          <a:bodyPr wrap="square" lIns="0" tIns="0" rIns="0" bIns="0" rtlCol="0" anchor="t"/>
          <a:lstStyle/>
          <a:p>
            <a:pPr indent="0" marL="0">
              <a:buNone/>
            </a:pPr>
            <a:r>
              <a:rPr lang="en-US" sz="800" dirty="0">
                <a:solidFill>
                  <a:srgbClr val="5E6B66"/>
                </a:solidFill>
                <a:latin typeface="Arial" pitchFamily="34" charset="0"/>
                <a:ea typeface="Arial" pitchFamily="34" charset="-122"/>
                <a:cs typeface="Arial" pitchFamily="34" charset="-120"/>
              </a:rPr>
              <a:t>Protopulse · pitch v2</a:t>
            </a:r>
            <a:endParaRPr lang="en-US" sz="8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1600200"/>
                <a:gridCol w="1234440"/>
                <a:gridCol w="2011680"/>
                <a:gridCol w="1325880"/>
                <a:gridCol w="2057400"/>
              </a:tblGrid>
              <a:tr h="265176">
                <a:tc>
                  <a:txBody>
                    <a:bodyPr/>
                    <a:lstStyle/>
                    <a:p>
                      <a:pPr indent="0" marL="0">
                        <a:buNone/>
                      </a:pPr>
                      <a:r>
                        <a:rPr lang="en-US" sz="800" b="1" dirty="0">
                          <a:solidFill>
                            <a:srgbClr val="FFFFFF"/>
                          </a:solidFill>
                          <a:latin typeface="Arial" pitchFamily="34" charset="0"/>
                          <a:ea typeface="Arial" pitchFamily="34" charset="-122"/>
                          <a:cs typeface="Arial" pitchFamily="34" charset="-120"/>
                        </a:rPr>
                        <a:t>Product</a:t>
                      </a:r>
                      <a:endParaRPr lang="en-US" sz="8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1B4D3E"/>
                    </a:solidFill>
                  </a:tcPr>
                </a:tc>
                <a:tc>
                  <a:txBody>
                    <a:bodyPr/>
                    <a:lstStyle/>
                    <a:p>
                      <a:pPr indent="0" marL="0">
                        <a:buNone/>
                      </a:pPr>
                      <a:r>
                        <a:rPr lang="en-US" sz="800" b="1" dirty="0">
                          <a:solidFill>
                            <a:srgbClr val="FFFFFF"/>
                          </a:solidFill>
                          <a:latin typeface="Arial" pitchFamily="34" charset="0"/>
                          <a:ea typeface="Arial" pitchFamily="34" charset="-122"/>
                          <a:cs typeface="Arial" pitchFamily="34" charset="-120"/>
                        </a:rPr>
                        <a:t>What it is</a:t>
                      </a:r>
                      <a:endParaRPr lang="en-US" sz="8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1B4D3E"/>
                    </a:solidFill>
                  </a:tcPr>
                </a:tc>
                <a:tc>
                  <a:txBody>
                    <a:bodyPr/>
                    <a:lstStyle/>
                    <a:p>
                      <a:pPr indent="0" marL="0">
                        <a:buNone/>
                      </a:pPr>
                      <a:r>
                        <a:rPr lang="en-US" sz="800" b="1" dirty="0">
                          <a:solidFill>
                            <a:srgbClr val="FFFFFF"/>
                          </a:solidFill>
                          <a:latin typeface="Arial" pitchFamily="34" charset="0"/>
                          <a:ea typeface="Arial" pitchFamily="34" charset="-122"/>
                          <a:cs typeface="Arial" pitchFamily="34" charset="-120"/>
                        </a:rPr>
                        <a:t>List price</a:t>
                      </a:r>
                      <a:endParaRPr lang="en-US" sz="8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1B4D3E"/>
                    </a:solidFill>
                  </a:tcPr>
                </a:tc>
                <a:tc>
                  <a:txBody>
                    <a:bodyPr/>
                    <a:lstStyle/>
                    <a:p>
                      <a:pPr indent="0" marL="0">
                        <a:buNone/>
                      </a:pPr>
                      <a:r>
                        <a:rPr lang="en-US" sz="800" b="1" dirty="0">
                          <a:solidFill>
                            <a:srgbClr val="FFFFFF"/>
                          </a:solidFill>
                          <a:latin typeface="Arial" pitchFamily="34" charset="0"/>
                          <a:ea typeface="Arial" pitchFamily="34" charset="-122"/>
                          <a:cs typeface="Arial" pitchFamily="34" charset="-120"/>
                        </a:rPr>
                        <a:t>≈₹ at ₹88/$</a:t>
                      </a:r>
                      <a:endParaRPr lang="en-US" sz="8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1B4D3E"/>
                    </a:solidFill>
                  </a:tcPr>
                </a:tc>
                <a:tc>
                  <a:txBody>
                    <a:bodyPr/>
                    <a:lstStyle/>
                    <a:p>
                      <a:pPr indent="0" marL="0">
                        <a:buNone/>
                      </a:pPr>
                      <a:r>
                        <a:rPr lang="en-US" sz="800" b="1" dirty="0">
                          <a:solidFill>
                            <a:srgbClr val="FFFFFF"/>
                          </a:solidFill>
                          <a:latin typeface="Arial" pitchFamily="34" charset="0"/>
                          <a:ea typeface="Arial" pitchFamily="34" charset="-122"/>
                          <a:cs typeface="Arial" pitchFamily="34" charset="-120"/>
                        </a:rPr>
                        <a:t>Gap vs Protopulse</a:t>
                      </a:r>
                      <a:endParaRPr lang="en-US" sz="8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1B4D3E"/>
                    </a:solidFill>
                  </a:tcPr>
                </a:tc>
              </a:tr>
              <a:tr h="265176">
                <a:tc>
                  <a:txBody>
                    <a:bodyPr/>
                    <a:lstStyle/>
                    <a:p>
                      <a:pPr indent="0" marL="0">
                        <a:buNone/>
                      </a:pPr>
                      <a:r>
                        <a:rPr lang="en-US" sz="800" b="1" dirty="0">
                          <a:solidFill>
                            <a:srgbClr val="1D2522"/>
                          </a:solidFill>
                          <a:latin typeface="Arial" pitchFamily="34" charset="0"/>
                          <a:ea typeface="Arial" pitchFamily="34" charset="-122"/>
                          <a:cs typeface="Arial" pitchFamily="34" charset="-120"/>
                        </a:rPr>
                        <a:t>LPKF ProtoMat S104 line</a:t>
                      </a:r>
                      <a:endParaRPr lang="en-US" sz="8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E8F1EC"/>
                    </a:solidFill>
                  </a:tcPr>
                </a:tc>
                <a:tc>
                  <a:txBody>
                    <a:bodyPr/>
                    <a:lstStyle/>
                    <a:p>
                      <a:pPr indent="0" marL="0">
                        <a:buNone/>
                      </a:pPr>
                      <a:r>
                        <a:rPr lang="en-US" sz="800" dirty="0">
                          <a:solidFill>
                            <a:srgbClr val="1D2522"/>
                          </a:solidFill>
                          <a:latin typeface="Arial" pitchFamily="34" charset="0"/>
                          <a:ea typeface="Arial" pitchFamily="34" charset="-122"/>
                          <a:cs typeface="Arial" pitchFamily="34" charset="-120"/>
                        </a:rPr>
                        <a:t>Pro in-house PCB</a:t>
                      </a:r>
                      <a:endParaRPr lang="en-US" sz="8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E8F1EC"/>
                    </a:solidFill>
                  </a:tcPr>
                </a:tc>
                <a:tc>
                  <a:txBody>
                    <a:bodyPr/>
                    <a:lstStyle/>
                    <a:p>
                      <a:pPr indent="0" marL="0">
                        <a:buNone/>
                      </a:pPr>
                      <a:r>
                        <a:rPr lang="en-US" sz="800" dirty="0">
                          <a:solidFill>
                            <a:srgbClr val="1D2522"/>
                          </a:solidFill>
                          <a:latin typeface="Arial" pitchFamily="34" charset="0"/>
                          <a:ea typeface="Arial" pitchFamily="34" charset="-122"/>
                          <a:cs typeface="Arial" pitchFamily="34" charset="-120"/>
                        </a:rPr>
                        <a:t>Quote-only; full line ≈$96k new (2019)</a:t>
                      </a:r>
                      <a:endParaRPr lang="en-US" sz="8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E8F1EC"/>
                    </a:solidFill>
                  </a:tcPr>
                </a:tc>
                <a:tc>
                  <a:txBody>
                    <a:bodyPr/>
                    <a:lstStyle/>
                    <a:p>
                      <a:pPr indent="0" marL="0">
                        <a:buNone/>
                      </a:pPr>
                      <a:r>
                        <a:rPr lang="en-US" sz="800" dirty="0">
                          <a:solidFill>
                            <a:srgbClr val="1D2522"/>
                          </a:solidFill>
                          <a:latin typeface="Arial" pitchFamily="34" charset="0"/>
                          <a:ea typeface="Arial" pitchFamily="34" charset="-122"/>
                          <a:cs typeface="Arial" pitchFamily="34" charset="-120"/>
                        </a:rPr>
                        <a:t>≈₹84 lakh</a:t>
                      </a:r>
                      <a:endParaRPr lang="en-US" sz="8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E8F1EC"/>
                    </a:solidFill>
                  </a:tcPr>
                </a:tc>
                <a:tc>
                  <a:txBody>
                    <a:bodyPr/>
                    <a:lstStyle/>
                    <a:p>
                      <a:pPr indent="0" marL="0">
                        <a:buNone/>
                      </a:pPr>
                      <a:r>
                        <a:rPr lang="en-US" sz="800" dirty="0">
                          <a:solidFill>
                            <a:srgbClr val="1D2522"/>
                          </a:solidFill>
                          <a:latin typeface="Arial" pitchFamily="34" charset="0"/>
                          <a:ea typeface="Arial" pitchFamily="34" charset="-122"/>
                          <a:cs typeface="Arial" pitchFamily="34" charset="-120"/>
                        </a:rPr>
                        <a:t>Several machines, trained operator, no AI or test</a:t>
                      </a:r>
                      <a:endParaRPr lang="en-US" sz="8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E8F1EC"/>
                    </a:solidFill>
                  </a:tcPr>
                </a:tc>
              </a:tr>
              <a:tr h="265176">
                <a:tc>
                  <a:txBody>
                    <a:bodyPr/>
                    <a:lstStyle/>
                    <a:p>
                      <a:pPr indent="0" marL="0">
                        <a:buNone/>
                      </a:pPr>
                      <a:r>
                        <a:rPr lang="en-US" sz="800" b="1" dirty="0">
                          <a:solidFill>
                            <a:srgbClr val="1D2522"/>
                          </a:solidFill>
                          <a:latin typeface="Arial" pitchFamily="34" charset="0"/>
                          <a:ea typeface="Arial" pitchFamily="34" charset="-122"/>
                          <a:cs typeface="Arial" pitchFamily="34" charset="-120"/>
                        </a:rPr>
                        <a:t>Voltera NOVA</a:t>
                      </a:r>
                      <a:endParaRPr lang="en-US" sz="8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800" dirty="0">
                          <a:solidFill>
                            <a:srgbClr val="1D2522"/>
                          </a:solidFill>
                          <a:latin typeface="Arial" pitchFamily="34" charset="0"/>
                          <a:ea typeface="Arial" pitchFamily="34" charset="-122"/>
                          <a:cs typeface="Arial" pitchFamily="34" charset="-120"/>
                        </a:rPr>
                        <a:t>Printed electronics</a:t>
                      </a:r>
                      <a:endParaRPr lang="en-US" sz="8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800" dirty="0">
                          <a:solidFill>
                            <a:srgbClr val="1D2522"/>
                          </a:solidFill>
                          <a:latin typeface="Arial" pitchFamily="34" charset="0"/>
                          <a:ea typeface="Arial" pitchFamily="34" charset="-122"/>
                          <a:cs typeface="Arial" pitchFamily="34" charset="-120"/>
                        </a:rPr>
                        <a:t>$45,974</a:t>
                      </a:r>
                      <a:endParaRPr lang="en-US" sz="8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800" dirty="0">
                          <a:solidFill>
                            <a:srgbClr val="1D2522"/>
                          </a:solidFill>
                          <a:latin typeface="Arial" pitchFamily="34" charset="0"/>
                          <a:ea typeface="Arial" pitchFamily="34" charset="-122"/>
                          <a:cs typeface="Arial" pitchFamily="34" charset="-120"/>
                        </a:rPr>
                        <a:t>≈₹40 lakh</a:t>
                      </a:r>
                      <a:endParaRPr lang="en-US" sz="8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800" dirty="0">
                          <a:solidFill>
                            <a:srgbClr val="1D2522"/>
                          </a:solidFill>
                          <a:latin typeface="Arial" pitchFamily="34" charset="0"/>
                          <a:ea typeface="Arial" pitchFamily="34" charset="-122"/>
                          <a:cs typeface="Arial" pitchFamily="34" charset="-120"/>
                        </a:rPr>
                        <a:t>Ink on flexible substrates; research tool</a:t>
                      </a:r>
                      <a:endParaRPr lang="en-US" sz="8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r h="265176">
                <a:tc>
                  <a:txBody>
                    <a:bodyPr/>
                    <a:lstStyle/>
                    <a:p>
                      <a:pPr indent="0" marL="0">
                        <a:buNone/>
                      </a:pPr>
                      <a:r>
                        <a:rPr lang="en-US" sz="800" b="1" dirty="0">
                          <a:solidFill>
                            <a:srgbClr val="1D2522"/>
                          </a:solidFill>
                          <a:latin typeface="Arial" pitchFamily="34" charset="0"/>
                          <a:ea typeface="Arial" pitchFamily="34" charset="-122"/>
                          <a:cs typeface="Arial" pitchFamily="34" charset="-120"/>
                        </a:rPr>
                        <a:t>Makera Carvera / Air</a:t>
                      </a:r>
                      <a:endParaRPr lang="en-US" sz="8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E8F1EC"/>
                    </a:solidFill>
                  </a:tcPr>
                </a:tc>
                <a:tc>
                  <a:txBody>
                    <a:bodyPr/>
                    <a:lstStyle/>
                    <a:p>
                      <a:pPr indent="0" marL="0">
                        <a:buNone/>
                      </a:pPr>
                      <a:r>
                        <a:rPr lang="en-US" sz="800" dirty="0">
                          <a:solidFill>
                            <a:srgbClr val="1D2522"/>
                          </a:solidFill>
                          <a:latin typeface="Arial" pitchFamily="34" charset="0"/>
                          <a:ea typeface="Arial" pitchFamily="34" charset="-122"/>
                          <a:cs typeface="Arial" pitchFamily="34" charset="-120"/>
                        </a:rPr>
                        <a:t>Desktop CNC</a:t>
                      </a:r>
                      <a:endParaRPr lang="en-US" sz="8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E8F1EC"/>
                    </a:solidFill>
                  </a:tcPr>
                </a:tc>
                <a:tc>
                  <a:txBody>
                    <a:bodyPr/>
                    <a:lstStyle/>
                    <a:p>
                      <a:pPr indent="0" marL="0">
                        <a:buNone/>
                      </a:pPr>
                      <a:r>
                        <a:rPr lang="en-US" sz="800" dirty="0">
                          <a:solidFill>
                            <a:srgbClr val="1D2522"/>
                          </a:solidFill>
                          <a:latin typeface="Arial" pitchFamily="34" charset="0"/>
                          <a:ea typeface="Arial" pitchFamily="34" charset="-122"/>
                          <a:cs typeface="Arial" pitchFamily="34" charset="-120"/>
                        </a:rPr>
                        <a:t>$5,799 / $2,699</a:t>
                      </a:r>
                      <a:endParaRPr lang="en-US" sz="8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E8F1EC"/>
                    </a:solidFill>
                  </a:tcPr>
                </a:tc>
                <a:tc>
                  <a:txBody>
                    <a:bodyPr/>
                    <a:lstStyle/>
                    <a:p>
                      <a:pPr indent="0" marL="0">
                        <a:buNone/>
                      </a:pPr>
                      <a:r>
                        <a:rPr lang="en-US" sz="800" dirty="0">
                          <a:solidFill>
                            <a:srgbClr val="1D2522"/>
                          </a:solidFill>
                          <a:latin typeface="Arial" pitchFamily="34" charset="0"/>
                          <a:ea typeface="Arial" pitchFamily="34" charset="-122"/>
                          <a:cs typeface="Arial" pitchFamily="34" charset="-120"/>
                        </a:rPr>
                        <a:t>₹5.1 / 2.4 lakh</a:t>
                      </a:r>
                      <a:endParaRPr lang="en-US" sz="8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E8F1EC"/>
                    </a:solidFill>
                  </a:tcPr>
                </a:tc>
                <a:tc>
                  <a:txBody>
                    <a:bodyPr/>
                    <a:lstStyle/>
                    <a:p>
                      <a:pPr indent="0" marL="0">
                        <a:buNone/>
                      </a:pPr>
                      <a:r>
                        <a:rPr lang="en-US" sz="800" dirty="0">
                          <a:solidFill>
                            <a:srgbClr val="1D2522"/>
                          </a:solidFill>
                          <a:latin typeface="Arial" pitchFamily="34" charset="0"/>
                          <a:ea typeface="Arial" pitchFamily="34" charset="-122"/>
                          <a:cs typeface="Arial" pitchFamily="34" charset="-120"/>
                        </a:rPr>
                        <a:t>Mills only: no mask, stencil, assembly, test</a:t>
                      </a:r>
                      <a:endParaRPr lang="en-US" sz="8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E8F1EC"/>
                    </a:solidFill>
                  </a:tcPr>
                </a:tc>
              </a:tr>
              <a:tr h="265176">
                <a:tc>
                  <a:txBody>
                    <a:bodyPr/>
                    <a:lstStyle/>
                    <a:p>
                      <a:pPr indent="0" marL="0">
                        <a:buNone/>
                      </a:pPr>
                      <a:r>
                        <a:rPr lang="en-US" sz="800" b="1" dirty="0">
                          <a:solidFill>
                            <a:srgbClr val="1D2522"/>
                          </a:solidFill>
                          <a:latin typeface="Arial" pitchFamily="34" charset="0"/>
                          <a:ea typeface="Arial" pitchFamily="34" charset="-122"/>
                          <a:cs typeface="Arial" pitchFamily="34" charset="-120"/>
                        </a:rPr>
                        <a:t>BotFactory Squink</a:t>
                      </a:r>
                      <a:endParaRPr lang="en-US" sz="8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800" dirty="0">
                          <a:solidFill>
                            <a:srgbClr val="1D2522"/>
                          </a:solidFill>
                          <a:latin typeface="Arial" pitchFamily="34" charset="0"/>
                          <a:ea typeface="Arial" pitchFamily="34" charset="-122"/>
                          <a:cs typeface="Arial" pitchFamily="34" charset="-120"/>
                        </a:rPr>
                        <a:t>Ink PCB + pick-and-place</a:t>
                      </a:r>
                      <a:endParaRPr lang="en-US" sz="8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800" dirty="0">
                          <a:solidFill>
                            <a:srgbClr val="1D2522"/>
                          </a:solidFill>
                          <a:latin typeface="Arial" pitchFamily="34" charset="0"/>
                          <a:ea typeface="Arial" pitchFamily="34" charset="-122"/>
                          <a:cs typeface="Arial" pitchFamily="34" charset="-120"/>
                        </a:rPr>
                        <a:t>$3,199–4,499</a:t>
                      </a:r>
                      <a:endParaRPr lang="en-US" sz="8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800" dirty="0">
                          <a:solidFill>
                            <a:srgbClr val="1D2522"/>
                          </a:solidFill>
                          <a:latin typeface="Arial" pitchFamily="34" charset="0"/>
                          <a:ea typeface="Arial" pitchFamily="34" charset="-122"/>
                          <a:cs typeface="Arial" pitchFamily="34" charset="-120"/>
                        </a:rPr>
                        <a:t>₹2.8–4.0 lakh</a:t>
                      </a:r>
                      <a:endParaRPr lang="en-US" sz="8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800" dirty="0">
                          <a:solidFill>
                            <a:srgbClr val="1D2522"/>
                          </a:solidFill>
                          <a:latin typeface="Arial" pitchFamily="34" charset="0"/>
                          <a:ea typeface="Arial" pitchFamily="34" charset="-122"/>
                          <a:cs typeface="Arial" pitchFamily="34" charset="-120"/>
                        </a:rPr>
                        <a:t>Conductive ink, not copper FR4</a:t>
                      </a:r>
                      <a:endParaRPr lang="en-US" sz="8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r h="265176">
                <a:tc>
                  <a:txBody>
                    <a:bodyPr/>
                    <a:lstStyle/>
                    <a:p>
                      <a:pPr indent="0" marL="0">
                        <a:buNone/>
                      </a:pPr>
                      <a:r>
                        <a:rPr lang="en-US" sz="800" b="1" dirty="0">
                          <a:solidFill>
                            <a:srgbClr val="1D2522"/>
                          </a:solidFill>
                          <a:latin typeface="Arial" pitchFamily="34" charset="0"/>
                          <a:ea typeface="Arial" pitchFamily="34" charset="-122"/>
                          <a:cs typeface="Arial" pitchFamily="34" charset="-120"/>
                        </a:rPr>
                        <a:t>Neoden YY1</a:t>
                      </a:r>
                      <a:endParaRPr lang="en-US" sz="8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E8F1EC"/>
                    </a:solidFill>
                  </a:tcPr>
                </a:tc>
                <a:tc>
                  <a:txBody>
                    <a:bodyPr/>
                    <a:lstStyle/>
                    <a:p>
                      <a:pPr indent="0" marL="0">
                        <a:buNone/>
                      </a:pPr>
                      <a:r>
                        <a:rPr lang="en-US" sz="800" dirty="0">
                          <a:solidFill>
                            <a:srgbClr val="1D2522"/>
                          </a:solidFill>
                          <a:latin typeface="Arial" pitchFamily="34" charset="0"/>
                          <a:ea typeface="Arial" pitchFamily="34" charset="-122"/>
                          <a:cs typeface="Arial" pitchFamily="34" charset="-120"/>
                        </a:rPr>
                        <a:t>Pick-and-place</a:t>
                      </a:r>
                      <a:endParaRPr lang="en-US" sz="8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E8F1EC"/>
                    </a:solidFill>
                  </a:tcPr>
                </a:tc>
                <a:tc>
                  <a:txBody>
                    <a:bodyPr/>
                    <a:lstStyle/>
                    <a:p>
                      <a:pPr indent="0" marL="0">
                        <a:buNone/>
                      </a:pPr>
                      <a:r>
                        <a:rPr lang="en-US" sz="800" dirty="0">
                          <a:solidFill>
                            <a:srgbClr val="1D2522"/>
                          </a:solidFill>
                          <a:latin typeface="Arial" pitchFamily="34" charset="0"/>
                          <a:ea typeface="Arial" pitchFamily="34" charset="-122"/>
                          <a:cs typeface="Arial" pitchFamily="34" charset="-120"/>
                        </a:rPr>
                        <a:t>&lt;$3,000</a:t>
                      </a:r>
                      <a:endParaRPr lang="en-US" sz="8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E8F1EC"/>
                    </a:solidFill>
                  </a:tcPr>
                </a:tc>
                <a:tc>
                  <a:txBody>
                    <a:bodyPr/>
                    <a:lstStyle/>
                    <a:p>
                      <a:pPr indent="0" marL="0">
                        <a:buNone/>
                      </a:pPr>
                      <a:r>
                        <a:rPr lang="en-US" sz="800" dirty="0">
                          <a:solidFill>
                            <a:srgbClr val="1D2522"/>
                          </a:solidFill>
                          <a:latin typeface="Arial" pitchFamily="34" charset="0"/>
                          <a:ea typeface="Arial" pitchFamily="34" charset="-122"/>
                          <a:cs typeface="Arial" pitchFamily="34" charset="-120"/>
                        </a:rPr>
                        <a:t>&lt;₹2.6 lakh</a:t>
                      </a:r>
                      <a:endParaRPr lang="en-US" sz="8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E8F1EC"/>
                    </a:solidFill>
                  </a:tcPr>
                </a:tc>
                <a:tc>
                  <a:txBody>
                    <a:bodyPr/>
                    <a:lstStyle/>
                    <a:p>
                      <a:pPr indent="0" marL="0">
                        <a:buNone/>
                      </a:pPr>
                      <a:r>
                        <a:rPr lang="en-US" sz="800" dirty="0">
                          <a:solidFill>
                            <a:srgbClr val="1D2522"/>
                          </a:solidFill>
                          <a:latin typeface="Arial" pitchFamily="34" charset="0"/>
                          <a:ea typeface="Arial" pitchFamily="34" charset="-122"/>
                          <a:cs typeface="Arial" pitchFamily="34" charset="-120"/>
                        </a:rPr>
                        <a:t>Places parts only</a:t>
                      </a:r>
                      <a:endParaRPr lang="en-US" sz="8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E8F1EC"/>
                    </a:solidFill>
                  </a:tcPr>
                </a:tc>
              </a:tr>
              <a:tr h="265176">
                <a:tc>
                  <a:txBody>
                    <a:bodyPr/>
                    <a:lstStyle/>
                    <a:p>
                      <a:pPr indent="0" marL="0">
                        <a:buNone/>
                      </a:pPr>
                      <a:r>
                        <a:rPr lang="en-US" sz="800" b="1" dirty="0">
                          <a:solidFill>
                            <a:srgbClr val="1D2522"/>
                          </a:solidFill>
                          <a:latin typeface="Arial" pitchFamily="34" charset="0"/>
                          <a:ea typeface="Arial" pitchFamily="34" charset="-122"/>
                          <a:cs typeface="Arial" pitchFamily="34" charset="-120"/>
                        </a:rPr>
                        <a:t>JLCPCB → India</a:t>
                      </a:r>
                      <a:endParaRPr lang="en-US" sz="8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800" dirty="0">
                          <a:solidFill>
                            <a:srgbClr val="1D2522"/>
                          </a:solidFill>
                          <a:latin typeface="Arial" pitchFamily="34" charset="0"/>
                          <a:ea typeface="Arial" pitchFamily="34" charset="-122"/>
                          <a:cs typeface="Arial" pitchFamily="34" charset="-120"/>
                        </a:rPr>
                        <a:t>Fab service</a:t>
                      </a:r>
                      <a:endParaRPr lang="en-US" sz="8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800" dirty="0">
                          <a:solidFill>
                            <a:srgbClr val="1D2522"/>
                          </a:solidFill>
                          <a:latin typeface="Arial" pitchFamily="34" charset="0"/>
                          <a:ea typeface="Arial" pitchFamily="34" charset="-122"/>
                          <a:cs typeface="Arial" pitchFamily="34" charset="-120"/>
                        </a:rPr>
                        <a:t>$2 / 5 boards + $8 PCBA setup</a:t>
                      </a:r>
                      <a:endParaRPr lang="en-US" sz="8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800" dirty="0">
                          <a:solidFill>
                            <a:srgbClr val="1D2522"/>
                          </a:solidFill>
                          <a:latin typeface="Arial" pitchFamily="34" charset="0"/>
                          <a:ea typeface="Arial" pitchFamily="34" charset="-122"/>
                          <a:cs typeface="Arial" pitchFamily="34" charset="-120"/>
                        </a:rPr>
                        <a:t>≈₹6,700 per iteration</a:t>
                      </a:r>
                      <a:endParaRPr lang="en-US" sz="8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800" dirty="0">
                          <a:solidFill>
                            <a:srgbClr val="1D2522"/>
                          </a:solidFill>
                          <a:latin typeface="Arial" pitchFamily="34" charset="0"/>
                          <a:ea typeface="Arial" pitchFamily="34" charset="-122"/>
                          <a:cs typeface="Arial" pitchFamily="34" charset="-120"/>
                        </a:rPr>
                        <a:t>7–20 days + customs; no testing</a:t>
                      </a:r>
                      <a:endParaRPr lang="en-US" sz="8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r h="265176">
                <a:tc>
                  <a:txBody>
                    <a:bodyPr/>
                    <a:lstStyle/>
                    <a:p>
                      <a:pPr indent="0" marL="0">
                        <a:buNone/>
                      </a:pPr>
                      <a:r>
                        <a:rPr lang="en-US" sz="800" b="1" dirty="0">
                          <a:solidFill>
                            <a:srgbClr val="1D2522"/>
                          </a:solidFill>
                          <a:latin typeface="Arial" pitchFamily="34" charset="0"/>
                          <a:ea typeface="Arial" pitchFamily="34" charset="-122"/>
                          <a:cs typeface="Arial" pitchFamily="34" charset="-120"/>
                        </a:rPr>
                        <a:t>Indian 24 h fab</a:t>
                      </a:r>
                      <a:endParaRPr lang="en-US" sz="8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E8F1EC"/>
                    </a:solidFill>
                  </a:tcPr>
                </a:tc>
                <a:tc>
                  <a:txBody>
                    <a:bodyPr/>
                    <a:lstStyle/>
                    <a:p>
                      <a:pPr indent="0" marL="0">
                        <a:buNone/>
                      </a:pPr>
                      <a:r>
                        <a:rPr lang="en-US" sz="800" dirty="0">
                          <a:solidFill>
                            <a:srgbClr val="1D2522"/>
                          </a:solidFill>
                          <a:latin typeface="Arial" pitchFamily="34" charset="0"/>
                          <a:ea typeface="Arial" pitchFamily="34" charset="-122"/>
                          <a:cs typeface="Arial" pitchFamily="34" charset="-120"/>
                        </a:rPr>
                        <a:t>Fab service</a:t>
                      </a:r>
                      <a:endParaRPr lang="en-US" sz="8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E8F1EC"/>
                    </a:solidFill>
                  </a:tcPr>
                </a:tc>
                <a:tc>
                  <a:txBody>
                    <a:bodyPr/>
                    <a:lstStyle/>
                    <a:p>
                      <a:pPr indent="0" marL="0">
                        <a:buNone/>
                      </a:pPr>
                      <a:r>
                        <a:rPr lang="en-US" sz="800" dirty="0">
                          <a:solidFill>
                            <a:srgbClr val="1D2522"/>
                          </a:solidFill>
                          <a:latin typeface="Arial" pitchFamily="34" charset="0"/>
                          <a:ea typeface="Arial" pitchFamily="34" charset="-122"/>
                          <a:cs typeface="Arial" pitchFamily="34" charset="-120"/>
                        </a:rPr>
                        <a:t>₹3,000–8,000 / 5 boards</a:t>
                      </a:r>
                      <a:endParaRPr lang="en-US" sz="8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E8F1EC"/>
                    </a:solidFill>
                  </a:tcPr>
                </a:tc>
                <a:tc>
                  <a:txBody>
                    <a:bodyPr/>
                    <a:lstStyle/>
                    <a:p>
                      <a:pPr indent="0" marL="0">
                        <a:buNone/>
                      </a:pPr>
                      <a:r>
                        <a:rPr lang="en-US" sz="800" dirty="0">
                          <a:solidFill>
                            <a:srgbClr val="1D2522"/>
                          </a:solidFill>
                          <a:latin typeface="Arial" pitchFamily="34" charset="0"/>
                          <a:ea typeface="Arial" pitchFamily="34" charset="-122"/>
                          <a:cs typeface="Arial" pitchFamily="34" charset="-120"/>
                        </a:rPr>
                        <a:t>same</a:t>
                      </a:r>
                      <a:endParaRPr lang="en-US" sz="8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E8F1EC"/>
                    </a:solidFill>
                  </a:tcPr>
                </a:tc>
                <a:tc>
                  <a:txBody>
                    <a:bodyPr/>
                    <a:lstStyle/>
                    <a:p>
                      <a:pPr indent="0" marL="0">
                        <a:buNone/>
                      </a:pPr>
                      <a:r>
                        <a:rPr lang="en-US" sz="800" dirty="0">
                          <a:solidFill>
                            <a:srgbClr val="1D2522"/>
                          </a:solidFill>
                          <a:latin typeface="Arial" pitchFamily="34" charset="0"/>
                          <a:ea typeface="Arial" pitchFamily="34" charset="-122"/>
                          <a:cs typeface="Arial" pitchFamily="34" charset="-120"/>
                        </a:rPr>
                        <a:t>Bare boards; assembly and test separate</a:t>
                      </a:r>
                      <a:endParaRPr lang="en-US" sz="8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E8F1EC"/>
                    </a:solidFill>
                  </a:tcPr>
                </a:tc>
              </a:tr>
              <a:tr h="265176">
                <a:tc>
                  <a:txBody>
                    <a:bodyPr/>
                    <a:lstStyle/>
                    <a:p>
                      <a:pPr indent="0" marL="0">
                        <a:buNone/>
                      </a:pPr>
                      <a:r>
                        <a:rPr lang="en-US" sz="800" b="1" dirty="0">
                          <a:solidFill>
                            <a:srgbClr val="1D2522"/>
                          </a:solidFill>
                          <a:latin typeface="Arial" pitchFamily="34" charset="0"/>
                          <a:ea typeface="Arial" pitchFamily="34" charset="-122"/>
                          <a:cs typeface="Arial" pitchFamily="34" charset="-120"/>
                        </a:rPr>
                        <a:t>Analog Discovery 3</a:t>
                      </a:r>
                      <a:endParaRPr lang="en-US" sz="8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800" dirty="0">
                          <a:solidFill>
                            <a:srgbClr val="1D2522"/>
                          </a:solidFill>
                          <a:latin typeface="Arial" pitchFamily="34" charset="0"/>
                          <a:ea typeface="Arial" pitchFamily="34" charset="-122"/>
                          <a:cs typeface="Arial" pitchFamily="34" charset="-120"/>
                        </a:rPr>
                        <a:t>USB instrument</a:t>
                      </a:r>
                      <a:endParaRPr lang="en-US" sz="8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800" dirty="0">
                          <a:solidFill>
                            <a:srgbClr val="1D2522"/>
                          </a:solidFill>
                          <a:latin typeface="Arial" pitchFamily="34" charset="0"/>
                          <a:ea typeface="Arial" pitchFamily="34" charset="-122"/>
                          <a:cs typeface="Arial" pitchFamily="34" charset="-120"/>
                        </a:rPr>
                        <a:t>$375–379</a:t>
                      </a:r>
                      <a:endParaRPr lang="en-US" sz="8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800" dirty="0">
                          <a:solidFill>
                            <a:srgbClr val="1D2522"/>
                          </a:solidFill>
                          <a:latin typeface="Arial" pitchFamily="34" charset="0"/>
                          <a:ea typeface="Arial" pitchFamily="34" charset="-122"/>
                          <a:cs typeface="Arial" pitchFamily="34" charset="-120"/>
                        </a:rPr>
                        <a:t>≈₹33,000</a:t>
                      </a:r>
                      <a:endParaRPr lang="en-US" sz="8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800" dirty="0">
                          <a:solidFill>
                            <a:srgbClr val="1D2522"/>
                          </a:solidFill>
                          <a:latin typeface="Arial" pitchFamily="34" charset="0"/>
                          <a:ea typeface="Arial" pitchFamily="34" charset="-122"/>
                          <a:cs typeface="Arial" pitchFamily="34" charset="-120"/>
                        </a:rPr>
                        <a:t>Person reads the screen</a:t>
                      </a:r>
                      <a:endParaRPr lang="en-US" sz="8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r h="265176">
                <a:tc>
                  <a:txBody>
                    <a:bodyPr/>
                    <a:lstStyle/>
                    <a:p>
                      <a:pPr indent="0" marL="0">
                        <a:buNone/>
                      </a:pPr>
                      <a:r>
                        <a:rPr lang="en-US" sz="800" b="1" dirty="0">
                          <a:solidFill>
                            <a:srgbClr val="1D2522"/>
                          </a:solidFill>
                          <a:latin typeface="Arial" pitchFamily="34" charset="0"/>
                          <a:ea typeface="Arial" pitchFamily="34" charset="-122"/>
                          <a:cs typeface="Arial" pitchFamily="34" charset="-120"/>
                        </a:rPr>
                        <a:t>ADALM2000 / Moku:Go</a:t>
                      </a:r>
                      <a:endParaRPr lang="en-US" sz="8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E8F1EC"/>
                    </a:solidFill>
                  </a:tcPr>
                </a:tc>
                <a:tc>
                  <a:txBody>
                    <a:bodyPr/>
                    <a:lstStyle/>
                    <a:p>
                      <a:pPr indent="0" marL="0">
                        <a:buNone/>
                      </a:pPr>
                      <a:r>
                        <a:rPr lang="en-US" sz="800" dirty="0">
                          <a:solidFill>
                            <a:srgbClr val="1D2522"/>
                          </a:solidFill>
                          <a:latin typeface="Arial" pitchFamily="34" charset="0"/>
                          <a:ea typeface="Arial" pitchFamily="34" charset="-122"/>
                          <a:cs typeface="Arial" pitchFamily="34" charset="-120"/>
                        </a:rPr>
                        <a:t>USB instrument</a:t>
                      </a:r>
                      <a:endParaRPr lang="en-US" sz="8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E8F1EC"/>
                    </a:solidFill>
                  </a:tcPr>
                </a:tc>
                <a:tc>
                  <a:txBody>
                    <a:bodyPr/>
                    <a:lstStyle/>
                    <a:p>
                      <a:pPr indent="0" marL="0">
                        <a:buNone/>
                      </a:pPr>
                      <a:r>
                        <a:rPr lang="en-US" sz="800" dirty="0">
                          <a:solidFill>
                            <a:srgbClr val="1D2522"/>
                          </a:solidFill>
                          <a:latin typeface="Arial" pitchFamily="34" charset="0"/>
                          <a:ea typeface="Arial" pitchFamily="34" charset="-122"/>
                          <a:cs typeface="Arial" pitchFamily="34" charset="-120"/>
                        </a:rPr>
                        <a:t>$237–262 / $599–799</a:t>
                      </a:r>
                      <a:endParaRPr lang="en-US" sz="8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E8F1EC"/>
                    </a:solidFill>
                  </a:tcPr>
                </a:tc>
                <a:tc>
                  <a:txBody>
                    <a:bodyPr/>
                    <a:lstStyle/>
                    <a:p>
                      <a:pPr indent="0" marL="0">
                        <a:buNone/>
                      </a:pPr>
                      <a:r>
                        <a:rPr lang="en-US" sz="800" dirty="0">
                          <a:solidFill>
                            <a:srgbClr val="1D2522"/>
                          </a:solidFill>
                          <a:latin typeface="Arial" pitchFamily="34" charset="0"/>
                          <a:ea typeface="Arial" pitchFamily="34" charset="-122"/>
                          <a:cs typeface="Arial" pitchFamily="34" charset="-120"/>
                        </a:rPr>
                        <a:t>₹21k / ₹53–70k</a:t>
                      </a:r>
                      <a:endParaRPr lang="en-US" sz="8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E8F1EC"/>
                    </a:solidFill>
                  </a:tcPr>
                </a:tc>
                <a:tc>
                  <a:txBody>
                    <a:bodyPr/>
                    <a:lstStyle/>
                    <a:p>
                      <a:pPr indent="0" marL="0">
                        <a:buNone/>
                      </a:pPr>
                      <a:r>
                        <a:rPr lang="en-US" sz="800" dirty="0">
                          <a:solidFill>
                            <a:srgbClr val="1D2522"/>
                          </a:solidFill>
                          <a:latin typeface="Arial" pitchFamily="34" charset="0"/>
                          <a:ea typeface="Arial" pitchFamily="34" charset="-122"/>
                          <a:cs typeface="Arial" pitchFamily="34" charset="-120"/>
                        </a:rPr>
                        <a:t>Same</a:t>
                      </a:r>
                      <a:endParaRPr lang="en-US" sz="8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E8F1EC"/>
                    </a:solidFill>
                  </a:tcPr>
                </a:tc>
              </a:tr>
              <a:tr h="265176">
                <a:tc>
                  <a:txBody>
                    <a:bodyPr/>
                    <a:lstStyle/>
                    <a:p>
                      <a:pPr indent="0" marL="0">
                        <a:buNone/>
                      </a:pPr>
                      <a:r>
                        <a:rPr lang="en-US" sz="800" b="1" dirty="0">
                          <a:solidFill>
                            <a:srgbClr val="1D2522"/>
                          </a:solidFill>
                          <a:latin typeface="Arial" pitchFamily="34" charset="0"/>
                          <a:ea typeface="Arial" pitchFamily="34" charset="-122"/>
                          <a:cs typeface="Arial" pitchFamily="34" charset="-120"/>
                        </a:rPr>
                        <a:t>Flux</a:t>
                      </a:r>
                      <a:endParaRPr lang="en-US" sz="8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800" dirty="0">
                          <a:solidFill>
                            <a:srgbClr val="1D2522"/>
                          </a:solidFill>
                          <a:latin typeface="Arial" pitchFamily="34" charset="0"/>
                          <a:ea typeface="Arial" pitchFamily="34" charset="-122"/>
                          <a:cs typeface="Arial" pitchFamily="34" charset="-120"/>
                        </a:rPr>
                        <a:t>AI PCB design</a:t>
                      </a:r>
                      <a:endParaRPr lang="en-US" sz="8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800" dirty="0">
                          <a:solidFill>
                            <a:srgbClr val="1D2522"/>
                          </a:solidFill>
                          <a:latin typeface="Arial" pitchFamily="34" charset="0"/>
                          <a:ea typeface="Arial" pitchFamily="34" charset="-122"/>
                          <a:cs typeface="Arial" pitchFamily="34" charset="-120"/>
                        </a:rPr>
                        <a:t>$15–49 per editor/month</a:t>
                      </a:r>
                      <a:endParaRPr lang="en-US" sz="8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800" dirty="0">
                          <a:solidFill>
                            <a:srgbClr val="1D2522"/>
                          </a:solidFill>
                          <a:latin typeface="Arial" pitchFamily="34" charset="0"/>
                          <a:ea typeface="Arial" pitchFamily="34" charset="-122"/>
                          <a:cs typeface="Arial" pitchFamily="34" charset="-120"/>
                        </a:rPr>
                        <a:t>₹1.3–4.3k/mo</a:t>
                      </a:r>
                      <a:endParaRPr lang="en-US" sz="8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800" dirty="0">
                          <a:solidFill>
                            <a:srgbClr val="1D2522"/>
                          </a:solidFill>
                          <a:latin typeface="Arial" pitchFamily="34" charset="0"/>
                          <a:ea typeface="Arial" pitchFamily="34" charset="-122"/>
                          <a:cs typeface="Arial" pitchFamily="34" charset="-120"/>
                        </a:rPr>
                        <a:t>Output stops at files</a:t>
                      </a:r>
                      <a:endParaRPr lang="en-US" sz="8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r h="265176">
                <a:tc>
                  <a:txBody>
                    <a:bodyPr/>
                    <a:lstStyle/>
                    <a:p>
                      <a:pPr indent="0" marL="0">
                        <a:buNone/>
                      </a:pPr>
                      <a:r>
                        <a:rPr lang="en-US" sz="800" b="1" dirty="0">
                          <a:solidFill>
                            <a:srgbClr val="1B4D3E"/>
                          </a:solidFill>
                          <a:latin typeface="Arial" pitchFamily="34" charset="0"/>
                          <a:ea typeface="Arial" pitchFamily="34" charset="-122"/>
                          <a:cs typeface="Arial" pitchFamily="34" charset="-120"/>
                        </a:rPr>
                        <a:t>Protopulse Baker + Mixer</a:t>
                      </a:r>
                      <a:endParaRPr lang="en-US" sz="8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6E7D8"/>
                    </a:solidFill>
                  </a:tcPr>
                </a:tc>
                <a:tc>
                  <a:txBody>
                    <a:bodyPr/>
                    <a:lstStyle/>
                    <a:p>
                      <a:pPr indent="0" marL="0">
                        <a:buNone/>
                      </a:pPr>
                      <a:r>
                        <a:rPr lang="en-US" sz="800" b="1" dirty="0">
                          <a:solidFill>
                            <a:srgbClr val="1B4D3E"/>
                          </a:solidFill>
                          <a:latin typeface="Arial" pitchFamily="34" charset="0"/>
                          <a:ea typeface="Arial" pitchFamily="34" charset="-122"/>
                          <a:cs typeface="Arial" pitchFamily="34" charset="-120"/>
                        </a:rPr>
                        <a:t>AI prototyping cell</a:t>
                      </a:r>
                      <a:endParaRPr lang="en-US" sz="8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6E7D8"/>
                    </a:solidFill>
                  </a:tcPr>
                </a:tc>
                <a:tc>
                  <a:txBody>
                    <a:bodyPr/>
                    <a:lstStyle/>
                    <a:p>
                      <a:pPr indent="0" marL="0">
                        <a:buNone/>
                      </a:pPr>
                      <a:r>
                        <a:rPr lang="en-US" sz="800" b="1" dirty="0">
                          <a:solidFill>
                            <a:srgbClr val="1B4D3E"/>
                          </a:solidFill>
                          <a:latin typeface="Arial" pitchFamily="34" charset="0"/>
                          <a:ea typeface="Arial" pitchFamily="34" charset="-122"/>
                          <a:cs typeface="Arial" pitchFamily="34" charset="-120"/>
                        </a:rPr>
                        <a:t>₹3,49,000 + ₹24,999 (proposed, ex-GST)</a:t>
                      </a:r>
                      <a:endParaRPr lang="en-US" sz="8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6E7D8"/>
                    </a:solidFill>
                  </a:tcPr>
                </a:tc>
                <a:tc>
                  <a:txBody>
                    <a:bodyPr/>
                    <a:lstStyle/>
                    <a:p>
                      <a:pPr indent="0" marL="0">
                        <a:buNone/>
                      </a:pPr>
                      <a:r>
                        <a:rPr lang="en-US" sz="800" b="1" dirty="0">
                          <a:solidFill>
                            <a:srgbClr val="1B4D3E"/>
                          </a:solidFill>
                          <a:latin typeface="Arial" pitchFamily="34" charset="0"/>
                          <a:ea typeface="Arial" pitchFamily="34" charset="-122"/>
                          <a:cs typeface="Arial" pitchFamily="34" charset="-120"/>
                        </a:rPr>
                        <a:t>₹3.74 lakh</a:t>
                      </a:r>
                      <a:endParaRPr lang="en-US" sz="8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6E7D8"/>
                    </a:solidFill>
                  </a:tcPr>
                </a:tc>
                <a:tc>
                  <a:txBody>
                    <a:bodyPr/>
                    <a:lstStyle/>
                    <a:p>
                      <a:pPr indent="0" marL="0">
                        <a:buNone/>
                      </a:pPr>
                      <a:r>
                        <a:rPr lang="en-US" sz="800" b="1" dirty="0">
                          <a:solidFill>
                            <a:srgbClr val="1B4D3E"/>
                          </a:solidFill>
                          <a:latin typeface="Arial" pitchFamily="34" charset="0"/>
                          <a:ea typeface="Arial" pitchFamily="34" charset="-122"/>
                          <a:cs typeface="Arial" pitchFamily="34" charset="-120"/>
                        </a:rPr>
                        <a:t>Board to tested board, driven by Proto</a:t>
                      </a:r>
                      <a:endParaRPr lang="en-US" sz="8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6E7D8"/>
                    </a:solidFill>
                  </a:tcPr>
                </a:tc>
              </a:tr>
            </a:tbl>
          </a:graphicData>
        </a:graphic>
      </p:graphicFrame>
      <p:sp>
        <p:nvSpPr>
          <p:cNvPr id="7" name="Text 4"/>
          <p:cNvSpPr txBox="1"/>
          <p:nvPr/>
        </p:nvSpPr>
        <p:spPr>
          <a:xfrm>
            <a:off x="457200" y="4617720"/>
            <a:ext cx="8229600" cy="201168"/>
          </a:xfrm>
          <a:prstGeom prst="rect">
            <a:avLst/>
          </a:prstGeom>
          <a:noFill/>
          <a:ln/>
        </p:spPr>
        <p:txBody>
          <a:bodyPr wrap="square" lIns="0" tIns="0" rIns="0" bIns="0" rtlCol="0" anchor="t"/>
          <a:lstStyle/>
          <a:p>
            <a:pPr indent="0" marL="0">
              <a:buNone/>
            </a:pPr>
            <a:r>
              <a:rPr lang="en-US" sz="750" i="1" dirty="0">
                <a:solidFill>
                  <a:srgbClr val="5E6B66"/>
                </a:solidFill>
                <a:latin typeface="Arial" pitchFamily="34" charset="0"/>
                <a:ea typeface="Arial" pitchFamily="34" charset="-122"/>
                <a:cs typeface="Arial" pitchFamily="34" charset="-120"/>
              </a:rPr>
              <a:t>Sources on slide 30. USD at ₹88 to match the cost report. Prices exclude Indian import duty and GST, so real landed prices are higher.</a:t>
            </a:r>
            <a:endParaRPr lang="en-US" sz="7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201168"/>
          </a:xfrm>
          <a:prstGeom prst="rect">
            <a:avLst/>
          </a:prstGeom>
          <a:noFill/>
          <a:ln/>
        </p:spPr>
        <p:txBody>
          <a:bodyPr wrap="square" lIns="0" tIns="0" rIns="0" bIns="0" rtlCol="0" anchor="t"/>
          <a:lstStyle/>
          <a:p>
            <a:pPr indent="0" marL="0">
              <a:buNone/>
            </a:pPr>
            <a:r>
              <a:rPr lang="en-US" sz="900" b="1" spc="200" kern="0" dirty="0">
                <a:solidFill>
                  <a:srgbClr val="C8793A"/>
                </a:solidFill>
                <a:latin typeface="Arial" pitchFamily="34" charset="0"/>
                <a:ea typeface="Arial" pitchFamily="34" charset="-122"/>
                <a:cs typeface="Arial" pitchFamily="34" charset="-120"/>
              </a:rPr>
              <a:t>PRATEEK: 'A ROUGH HISTORY'</a:t>
            </a:r>
            <a:endParaRPr lang="en-US" sz="900" dirty="0"/>
          </a:p>
        </p:txBody>
      </p:sp>
      <p:sp>
        <p:nvSpPr>
          <p:cNvPr id="3" name="Text 1"/>
          <p:cNvSpPr txBox="1"/>
          <p:nvPr/>
        </p:nvSpPr>
        <p:spPr>
          <a:xfrm>
            <a:off x="457200" y="457200"/>
            <a:ext cx="8229600" cy="566928"/>
          </a:xfrm>
          <a:prstGeom prst="rect">
            <a:avLst/>
          </a:prstGeom>
          <a:noFill/>
          <a:ln/>
        </p:spPr>
        <p:txBody>
          <a:bodyPr wrap="square" lIns="0" tIns="0" rIns="0" bIns="0" rtlCol="0" anchor="ctr">
            <a:normAutofit/>
          </a:bodyPr>
          <a:lstStyle/>
          <a:p>
            <a:pPr indent="0" marL="0">
              <a:buNone/>
            </a:pPr>
            <a:r>
              <a:rPr lang="en-US" sz="2200" b="1" dirty="0">
                <a:solidFill>
                  <a:srgbClr val="0F2A22"/>
                </a:solidFill>
                <a:latin typeface="Arial" pitchFamily="34" charset="0"/>
                <a:ea typeface="Arial" pitchFamily="34" charset="-122"/>
                <a:cs typeface="Arial" pitchFamily="34" charset="-120"/>
              </a:rPr>
              <a:t>Why desktop PCB machines struggled, and our answer</a:t>
            </a:r>
            <a:endParaRPr lang="en-US" sz="2200" dirty="0"/>
          </a:p>
        </p:txBody>
      </p:sp>
      <p:sp>
        <p:nvSpPr>
          <p:cNvPr id="4" name="Text 2"/>
          <p:cNvSpPr txBox="1"/>
          <p:nvPr/>
        </p:nvSpPr>
        <p:spPr>
          <a:xfrm>
            <a:off x="8321040" y="4828032"/>
            <a:ext cx="365760" cy="182880"/>
          </a:xfrm>
          <a:prstGeom prst="rect">
            <a:avLst/>
          </a:prstGeom>
          <a:noFill/>
          <a:ln/>
        </p:spPr>
        <p:txBody>
          <a:bodyPr wrap="square" lIns="0" tIns="0" rIns="0" bIns="0" rtlCol="0" anchor="t"/>
          <a:lstStyle/>
          <a:p>
            <a:pPr algn="r" indent="0" marL="0">
              <a:buNone/>
            </a:pPr>
            <a:r>
              <a:rPr lang="en-US" sz="800" dirty="0">
                <a:solidFill>
                  <a:srgbClr val="5E6B66"/>
                </a:solidFill>
                <a:latin typeface="Arial" pitchFamily="34" charset="0"/>
                <a:ea typeface="Arial" pitchFamily="34" charset="-122"/>
                <a:cs typeface="Arial" pitchFamily="34" charset="-120"/>
              </a:rPr>
              <a:t>18</a:t>
            </a:r>
            <a:endParaRPr lang="en-US" sz="800" dirty="0"/>
          </a:p>
        </p:txBody>
      </p:sp>
      <p:sp>
        <p:nvSpPr>
          <p:cNvPr id="5" name="Text 3"/>
          <p:cNvSpPr txBox="1"/>
          <p:nvPr/>
        </p:nvSpPr>
        <p:spPr>
          <a:xfrm>
            <a:off x="457200" y="4828032"/>
            <a:ext cx="2743200" cy="182880"/>
          </a:xfrm>
          <a:prstGeom prst="rect">
            <a:avLst/>
          </a:prstGeom>
          <a:noFill/>
          <a:ln/>
        </p:spPr>
        <p:txBody>
          <a:bodyPr wrap="square" lIns="0" tIns="0" rIns="0" bIns="0" rtlCol="0" anchor="t"/>
          <a:lstStyle/>
          <a:p>
            <a:pPr indent="0" marL="0">
              <a:buNone/>
            </a:pPr>
            <a:r>
              <a:rPr lang="en-US" sz="800" dirty="0">
                <a:solidFill>
                  <a:srgbClr val="5E6B66"/>
                </a:solidFill>
                <a:latin typeface="Arial" pitchFamily="34" charset="0"/>
                <a:ea typeface="Arial" pitchFamily="34" charset="-122"/>
                <a:cs typeface="Arial" pitchFamily="34" charset="-120"/>
              </a:rPr>
              <a:t>Protopulse · pitch v2</a:t>
            </a:r>
            <a:endParaRPr lang="en-US" sz="800" dirty="0"/>
          </a:p>
        </p:txBody>
      </p:sp>
      <p:sp>
        <p:nvSpPr>
          <p:cNvPr id="6" name="Shape 4"/>
          <p:cNvSpPr/>
          <p:nvPr/>
        </p:nvSpPr>
        <p:spPr>
          <a:xfrm>
            <a:off x="457200" y="1143000"/>
            <a:ext cx="4206240" cy="731520"/>
          </a:xfrm>
          <a:prstGeom prst="roundRect">
            <a:avLst>
              <a:gd name="adj" fmla="val 10000"/>
            </a:avLst>
          </a:prstGeom>
          <a:solidFill>
            <a:srgbClr val="E8F1EC"/>
          </a:solidFill>
          <a:ln w="12700">
            <a:solidFill>
              <a:srgbClr val="E8F1EC"/>
            </a:solidFill>
            <a:prstDash val="solid"/>
          </a:ln>
        </p:spPr>
      </p:sp>
      <p:sp>
        <p:nvSpPr>
          <p:cNvPr id="7" name="Text 5"/>
          <p:cNvSpPr txBox="1"/>
          <p:nvPr/>
        </p:nvSpPr>
        <p:spPr>
          <a:xfrm>
            <a:off x="594360" y="1197864"/>
            <a:ext cx="3931920" cy="256032"/>
          </a:xfrm>
          <a:prstGeom prst="rect">
            <a:avLst/>
          </a:prstGeom>
          <a:noFill/>
          <a:ln/>
        </p:spPr>
        <p:txBody>
          <a:bodyPr wrap="square" lIns="0" tIns="0" rIns="0" bIns="0" rtlCol="0" anchor="t"/>
          <a:lstStyle/>
          <a:p>
            <a:pPr indent="0" marL="0">
              <a:buNone/>
            </a:pPr>
            <a:r>
              <a:rPr lang="en-US" sz="1100" b="1" dirty="0">
                <a:solidFill>
                  <a:srgbClr val="1B4D3E"/>
                </a:solidFill>
                <a:latin typeface="Arial" pitchFamily="34" charset="0"/>
                <a:ea typeface="Arial" pitchFamily="34" charset="-122"/>
                <a:cs typeface="Arial" pitchFamily="34" charset="-120"/>
              </a:rPr>
              <a:t>Othermill → Bantam Tools</a:t>
            </a:r>
            <a:endParaRPr lang="en-US" sz="1100" dirty="0"/>
          </a:p>
        </p:txBody>
      </p:sp>
      <p:sp>
        <p:nvSpPr>
          <p:cNvPr id="8" name="Text 6"/>
          <p:cNvSpPr txBox="1"/>
          <p:nvPr/>
        </p:nvSpPr>
        <p:spPr>
          <a:xfrm>
            <a:off x="594360" y="1453896"/>
            <a:ext cx="3977640" cy="411480"/>
          </a:xfrm>
          <a:prstGeom prst="rect">
            <a:avLst/>
          </a:prstGeom>
          <a:noFill/>
          <a:ln/>
        </p:spPr>
        <p:txBody>
          <a:bodyPr wrap="square" lIns="0" tIns="0" rIns="0" bIns="0" rtlCol="0" anchor="t"/>
          <a:lstStyle/>
          <a:p>
            <a:pPr indent="0" marL="0">
              <a:buNone/>
            </a:pPr>
            <a:r>
              <a:rPr lang="en-US" sz="850" dirty="0">
                <a:solidFill>
                  <a:srgbClr val="1D2522"/>
                </a:solidFill>
                <a:latin typeface="Arial" pitchFamily="34" charset="0"/>
                <a:ea typeface="Arial" pitchFamily="34" charset="-122"/>
                <a:cs typeface="Arial" pitchFamily="34" charset="-120"/>
              </a:rPr>
              <a:t>Kickstarter 2013 ($300k+). Bought by Bre Pettis in 2017. PCB and CNC machines since dropped; the company now sells art machines</a:t>
            </a:r>
            <a:endParaRPr lang="en-US" sz="850" dirty="0"/>
          </a:p>
        </p:txBody>
      </p:sp>
      <p:sp>
        <p:nvSpPr>
          <p:cNvPr id="9" name="Shape 7"/>
          <p:cNvSpPr/>
          <p:nvPr/>
        </p:nvSpPr>
        <p:spPr>
          <a:xfrm>
            <a:off x="457200" y="1965960"/>
            <a:ext cx="4206240" cy="731520"/>
          </a:xfrm>
          <a:prstGeom prst="roundRect">
            <a:avLst>
              <a:gd name="adj" fmla="val 10000"/>
            </a:avLst>
          </a:prstGeom>
          <a:solidFill>
            <a:srgbClr val="E8F1EC"/>
          </a:solidFill>
          <a:ln w="12700">
            <a:solidFill>
              <a:srgbClr val="E8F1EC"/>
            </a:solidFill>
            <a:prstDash val="solid"/>
          </a:ln>
        </p:spPr>
      </p:sp>
      <p:sp>
        <p:nvSpPr>
          <p:cNvPr id="10" name="Text 8"/>
          <p:cNvSpPr txBox="1"/>
          <p:nvPr/>
        </p:nvSpPr>
        <p:spPr>
          <a:xfrm>
            <a:off x="594360" y="2020824"/>
            <a:ext cx="3931920" cy="256032"/>
          </a:xfrm>
          <a:prstGeom prst="rect">
            <a:avLst/>
          </a:prstGeom>
          <a:noFill/>
          <a:ln/>
        </p:spPr>
        <p:txBody>
          <a:bodyPr wrap="square" lIns="0" tIns="0" rIns="0" bIns="0" rtlCol="0" anchor="t"/>
          <a:lstStyle/>
          <a:p>
            <a:pPr indent="0" marL="0">
              <a:buNone/>
            </a:pPr>
            <a:r>
              <a:rPr lang="en-US" sz="1100" b="1" dirty="0">
                <a:solidFill>
                  <a:srgbClr val="1B4D3E"/>
                </a:solidFill>
                <a:latin typeface="Arial" pitchFamily="34" charset="0"/>
                <a:ea typeface="Arial" pitchFamily="34" charset="-122"/>
                <a:cs typeface="Arial" pitchFamily="34" charset="-120"/>
              </a:rPr>
              <a:t>Voltera V-One</a:t>
            </a:r>
            <a:endParaRPr lang="en-US" sz="1100" dirty="0"/>
          </a:p>
        </p:txBody>
      </p:sp>
      <p:sp>
        <p:nvSpPr>
          <p:cNvPr id="11" name="Text 9"/>
          <p:cNvSpPr txBox="1"/>
          <p:nvPr/>
        </p:nvSpPr>
        <p:spPr>
          <a:xfrm>
            <a:off x="594360" y="2276856"/>
            <a:ext cx="3977640" cy="411480"/>
          </a:xfrm>
          <a:prstGeom prst="rect">
            <a:avLst/>
          </a:prstGeom>
          <a:noFill/>
          <a:ln/>
        </p:spPr>
        <p:txBody>
          <a:bodyPr wrap="square" lIns="0" tIns="0" rIns="0" bIns="0" rtlCol="0" anchor="t"/>
          <a:lstStyle/>
          <a:p>
            <a:pPr indent="0" marL="0">
              <a:buNone/>
            </a:pPr>
            <a:r>
              <a:rPr lang="en-US" sz="850" dirty="0">
                <a:solidFill>
                  <a:srgbClr val="1D2522"/>
                </a:solidFill>
                <a:latin typeface="Arial" pitchFamily="34" charset="0"/>
                <a:ea typeface="Arial" pitchFamily="34" charset="-122"/>
                <a:cs typeface="Arial" pitchFamily="34" charset="-120"/>
              </a:rPr>
              <a:t>Ink PCB printer; out of stock at resellers. Voltera moved up to NOVA ($45,974) for flexible electronics</a:t>
            </a:r>
            <a:endParaRPr lang="en-US" sz="850" dirty="0"/>
          </a:p>
        </p:txBody>
      </p:sp>
      <p:sp>
        <p:nvSpPr>
          <p:cNvPr id="12" name="Shape 10"/>
          <p:cNvSpPr/>
          <p:nvPr/>
        </p:nvSpPr>
        <p:spPr>
          <a:xfrm>
            <a:off x="457200" y="2788920"/>
            <a:ext cx="4206240" cy="731520"/>
          </a:xfrm>
          <a:prstGeom prst="roundRect">
            <a:avLst>
              <a:gd name="adj" fmla="val 10000"/>
            </a:avLst>
          </a:prstGeom>
          <a:solidFill>
            <a:srgbClr val="E8F1EC"/>
          </a:solidFill>
          <a:ln w="12700">
            <a:solidFill>
              <a:srgbClr val="E8F1EC"/>
            </a:solidFill>
            <a:prstDash val="solid"/>
          </a:ln>
        </p:spPr>
      </p:sp>
      <p:sp>
        <p:nvSpPr>
          <p:cNvPr id="13" name="Text 11"/>
          <p:cNvSpPr txBox="1"/>
          <p:nvPr/>
        </p:nvSpPr>
        <p:spPr>
          <a:xfrm>
            <a:off x="594360" y="2843784"/>
            <a:ext cx="3931920" cy="256032"/>
          </a:xfrm>
          <a:prstGeom prst="rect">
            <a:avLst/>
          </a:prstGeom>
          <a:noFill/>
          <a:ln/>
        </p:spPr>
        <p:txBody>
          <a:bodyPr wrap="square" lIns="0" tIns="0" rIns="0" bIns="0" rtlCol="0" anchor="t"/>
          <a:lstStyle/>
          <a:p>
            <a:pPr indent="0" marL="0">
              <a:buNone/>
            </a:pPr>
            <a:r>
              <a:rPr lang="en-US" sz="1100" b="1" dirty="0">
                <a:solidFill>
                  <a:srgbClr val="1B4D3E"/>
                </a:solidFill>
                <a:latin typeface="Arial" pitchFamily="34" charset="0"/>
                <a:ea typeface="Arial" pitchFamily="34" charset="-122"/>
                <a:cs typeface="Arial" pitchFamily="34" charset="-120"/>
              </a:rPr>
              <a:t>BotFactory</a:t>
            </a:r>
            <a:endParaRPr lang="en-US" sz="1100" dirty="0"/>
          </a:p>
        </p:txBody>
      </p:sp>
      <p:sp>
        <p:nvSpPr>
          <p:cNvPr id="14" name="Text 12"/>
          <p:cNvSpPr txBox="1"/>
          <p:nvPr/>
        </p:nvSpPr>
        <p:spPr>
          <a:xfrm>
            <a:off x="594360" y="3099816"/>
            <a:ext cx="3977640" cy="411480"/>
          </a:xfrm>
          <a:prstGeom prst="rect">
            <a:avLst/>
          </a:prstGeom>
          <a:noFill/>
          <a:ln/>
        </p:spPr>
        <p:txBody>
          <a:bodyPr wrap="square" lIns="0" tIns="0" rIns="0" bIns="0" rtlCol="0" anchor="t"/>
          <a:lstStyle/>
          <a:p>
            <a:pPr indent="0" marL="0">
              <a:buNone/>
            </a:pPr>
            <a:r>
              <a:rPr lang="en-US" sz="850" dirty="0">
                <a:solidFill>
                  <a:srgbClr val="1D2522"/>
                </a:solidFill>
                <a:latin typeface="Arial" pitchFamily="34" charset="0"/>
                <a:ea typeface="Arial" pitchFamily="34" charset="-122"/>
                <a:cs typeface="Arial" pitchFamily="34" charset="-120"/>
              </a:rPr>
              <a:t>Squink at $3,199–4,499; SV2 is now price-on-request, a niche research tool</a:t>
            </a:r>
            <a:endParaRPr lang="en-US" sz="850" dirty="0"/>
          </a:p>
        </p:txBody>
      </p:sp>
      <p:sp>
        <p:nvSpPr>
          <p:cNvPr id="15" name="Shape 13"/>
          <p:cNvSpPr/>
          <p:nvPr/>
        </p:nvSpPr>
        <p:spPr>
          <a:xfrm>
            <a:off x="457200" y="3611880"/>
            <a:ext cx="4206240" cy="731520"/>
          </a:xfrm>
          <a:prstGeom prst="roundRect">
            <a:avLst>
              <a:gd name="adj" fmla="val 10000"/>
            </a:avLst>
          </a:prstGeom>
          <a:solidFill>
            <a:srgbClr val="E8F1EC"/>
          </a:solidFill>
          <a:ln w="12700">
            <a:solidFill>
              <a:srgbClr val="E8F1EC"/>
            </a:solidFill>
            <a:prstDash val="solid"/>
          </a:ln>
        </p:spPr>
      </p:sp>
      <p:sp>
        <p:nvSpPr>
          <p:cNvPr id="16" name="Text 14"/>
          <p:cNvSpPr txBox="1"/>
          <p:nvPr/>
        </p:nvSpPr>
        <p:spPr>
          <a:xfrm>
            <a:off x="594360" y="3666744"/>
            <a:ext cx="3931920" cy="256032"/>
          </a:xfrm>
          <a:prstGeom prst="rect">
            <a:avLst/>
          </a:prstGeom>
          <a:noFill/>
          <a:ln/>
        </p:spPr>
        <p:txBody>
          <a:bodyPr wrap="square" lIns="0" tIns="0" rIns="0" bIns="0" rtlCol="0" anchor="t"/>
          <a:lstStyle/>
          <a:p>
            <a:pPr indent="0" marL="0">
              <a:buNone/>
            </a:pPr>
            <a:r>
              <a:rPr lang="en-US" sz="1100" b="1" dirty="0">
                <a:solidFill>
                  <a:srgbClr val="1B4D3E"/>
                </a:solidFill>
                <a:latin typeface="Arial" pitchFamily="34" charset="0"/>
                <a:ea typeface="Arial" pitchFamily="34" charset="-122"/>
                <a:cs typeface="Arial" pitchFamily="34" charset="-120"/>
              </a:rPr>
              <a:t>Nano Dimension DragonFly</a:t>
            </a:r>
            <a:endParaRPr lang="en-US" sz="1100" dirty="0"/>
          </a:p>
        </p:txBody>
      </p:sp>
      <p:sp>
        <p:nvSpPr>
          <p:cNvPr id="17" name="Text 15"/>
          <p:cNvSpPr txBox="1"/>
          <p:nvPr/>
        </p:nvSpPr>
        <p:spPr>
          <a:xfrm>
            <a:off x="594360" y="3922776"/>
            <a:ext cx="3977640" cy="411480"/>
          </a:xfrm>
          <a:prstGeom prst="rect">
            <a:avLst/>
          </a:prstGeom>
          <a:noFill/>
          <a:ln/>
        </p:spPr>
        <p:txBody>
          <a:bodyPr wrap="square" lIns="0" tIns="0" rIns="0" bIns="0" rtlCol="0" anchor="t"/>
          <a:lstStyle/>
          <a:p>
            <a:pPr indent="0" marL="0">
              <a:buNone/>
            </a:pPr>
            <a:r>
              <a:rPr lang="en-US" sz="850" dirty="0">
                <a:solidFill>
                  <a:srgbClr val="1D2522"/>
                </a:solidFill>
                <a:latin typeface="Arial" pitchFamily="34" charset="0"/>
                <a:ea typeface="Arial" pitchFamily="34" charset="-122"/>
                <a:cs typeface="Arial" pitchFamily="34" charset="-120"/>
              </a:rPr>
              <a:t>Additive-electronics unit sold to Inspira in Apr 2026: $2M cash, up to $12.5M total</a:t>
            </a:r>
            <a:endParaRPr lang="en-US" sz="850" dirty="0"/>
          </a:p>
        </p:txBody>
      </p:sp>
      <p:sp>
        <p:nvSpPr>
          <p:cNvPr id="18" name="Text 16"/>
          <p:cNvSpPr txBox="1"/>
          <p:nvPr/>
        </p:nvSpPr>
        <p:spPr>
          <a:xfrm>
            <a:off x="4892040" y="1143000"/>
            <a:ext cx="3657600" cy="274320"/>
          </a:xfrm>
          <a:prstGeom prst="rect">
            <a:avLst/>
          </a:prstGeom>
          <a:noFill/>
          <a:ln/>
        </p:spPr>
        <p:txBody>
          <a:bodyPr wrap="square" lIns="0" tIns="0" rIns="0" bIns="0" rtlCol="0" anchor="t"/>
          <a:lstStyle/>
          <a:p>
            <a:pPr indent="0" marL="0">
              <a:buNone/>
            </a:pPr>
            <a:r>
              <a:rPr lang="en-US" sz="1200" b="1" dirty="0">
                <a:solidFill>
                  <a:srgbClr val="C8793A"/>
                </a:solidFill>
                <a:latin typeface="Arial" pitchFamily="34" charset="0"/>
                <a:ea typeface="Arial" pitchFamily="34" charset="-122"/>
                <a:cs typeface="Arial" pitchFamily="34" charset="-120"/>
              </a:rPr>
              <a:t>Lesson → our answer</a:t>
            </a:r>
            <a:endParaRPr lang="en-US" sz="1200" dirty="0"/>
          </a:p>
        </p:txBody>
      </p:sp>
      <p:sp>
        <p:nvSpPr>
          <p:cNvPr id="19" name="Text 17"/>
          <p:cNvSpPr txBox="1"/>
          <p:nvPr/>
        </p:nvSpPr>
        <p:spPr>
          <a:xfrm>
            <a:off x="4892040" y="1463040"/>
            <a:ext cx="3794760" cy="228600"/>
          </a:xfrm>
          <a:prstGeom prst="rect">
            <a:avLst/>
          </a:prstGeom>
          <a:noFill/>
          <a:ln/>
        </p:spPr>
        <p:txBody>
          <a:bodyPr wrap="square" lIns="0" tIns="0" rIns="0" bIns="0" rtlCol="0" anchor="t"/>
          <a:lstStyle/>
          <a:p>
            <a:pPr indent="0" marL="0">
              <a:buNone/>
            </a:pPr>
            <a:r>
              <a:rPr lang="en-US" sz="1000" b="1" dirty="0">
                <a:solidFill>
                  <a:srgbClr val="0F2A22"/>
                </a:solidFill>
                <a:latin typeface="Arial" pitchFamily="34" charset="0"/>
                <a:ea typeface="Arial" pitchFamily="34" charset="-122"/>
                <a:cs typeface="Arial" pitchFamily="34" charset="-120"/>
              </a:rPr>
              <a:t>They automated one step</a:t>
            </a:r>
            <a:endParaRPr lang="en-US" sz="1000" dirty="0"/>
          </a:p>
        </p:txBody>
      </p:sp>
      <p:sp>
        <p:nvSpPr>
          <p:cNvPr id="20" name="Text 18"/>
          <p:cNvSpPr txBox="1"/>
          <p:nvPr/>
        </p:nvSpPr>
        <p:spPr>
          <a:xfrm>
            <a:off x="4892040" y="1682496"/>
            <a:ext cx="3794760" cy="201168"/>
          </a:xfrm>
          <a:prstGeom prst="rect">
            <a:avLst/>
          </a:prstGeom>
          <a:noFill/>
          <a:ln/>
        </p:spPr>
        <p:txBody>
          <a:bodyPr wrap="square" lIns="0" tIns="0" rIns="0" bIns="0" rtlCol="0" anchor="t"/>
          <a:lstStyle/>
          <a:p>
            <a:pPr indent="0" marL="0">
              <a:buNone/>
            </a:pPr>
            <a:r>
              <a:rPr lang="en-US" sz="850" dirty="0">
                <a:solidFill>
                  <a:srgbClr val="5E6B66"/>
                </a:solidFill>
                <a:latin typeface="Arial" pitchFamily="34" charset="0"/>
                <a:ea typeface="Arial" pitchFamily="34" charset="-122"/>
                <a:cs typeface="Arial" pitchFamily="34" charset="-120"/>
              </a:rPr>
              <a:t>Users still needed a fab, and debugged by hand</a:t>
            </a:r>
            <a:endParaRPr lang="en-US" sz="850" dirty="0"/>
          </a:p>
        </p:txBody>
      </p:sp>
      <p:sp>
        <p:nvSpPr>
          <p:cNvPr id="21" name="Text 19"/>
          <p:cNvSpPr txBox="1"/>
          <p:nvPr/>
        </p:nvSpPr>
        <p:spPr>
          <a:xfrm>
            <a:off x="4892040" y="1883664"/>
            <a:ext cx="3794760" cy="274320"/>
          </a:xfrm>
          <a:prstGeom prst="rect">
            <a:avLst/>
          </a:prstGeom>
          <a:noFill/>
          <a:ln/>
        </p:spPr>
        <p:txBody>
          <a:bodyPr wrap="square" lIns="0" tIns="0" rIns="0" bIns="0" rtlCol="0" anchor="t"/>
          <a:lstStyle/>
          <a:p>
            <a:pPr indent="0" marL="0">
              <a:buNone/>
            </a:pPr>
            <a:r>
              <a:rPr lang="en-US" sz="900" b="1" dirty="0">
                <a:solidFill>
                  <a:srgbClr val="1B4D3E"/>
                </a:solidFill>
                <a:latin typeface="Arial" pitchFamily="34" charset="0"/>
                <a:ea typeface="Arial" pitchFamily="34" charset="-122"/>
                <a:cs typeface="Arial" pitchFamily="34" charset="-120"/>
              </a:rPr>
              <a:t>→ We cover mill → mask → stencil → paste → reflow → test</a:t>
            </a:r>
            <a:endParaRPr lang="en-US" sz="900" dirty="0"/>
          </a:p>
        </p:txBody>
      </p:sp>
      <p:sp>
        <p:nvSpPr>
          <p:cNvPr id="22" name="Text 20"/>
          <p:cNvSpPr txBox="1"/>
          <p:nvPr/>
        </p:nvSpPr>
        <p:spPr>
          <a:xfrm>
            <a:off x="4892040" y="2231136"/>
            <a:ext cx="3794760" cy="228600"/>
          </a:xfrm>
          <a:prstGeom prst="rect">
            <a:avLst/>
          </a:prstGeom>
          <a:noFill/>
          <a:ln/>
        </p:spPr>
        <p:txBody>
          <a:bodyPr wrap="square" lIns="0" tIns="0" rIns="0" bIns="0" rtlCol="0" anchor="t"/>
          <a:lstStyle/>
          <a:p>
            <a:pPr indent="0" marL="0">
              <a:buNone/>
            </a:pPr>
            <a:r>
              <a:rPr lang="en-US" sz="1000" b="1" dirty="0">
                <a:solidFill>
                  <a:srgbClr val="0F2A22"/>
                </a:solidFill>
                <a:latin typeface="Arial" pitchFamily="34" charset="0"/>
                <a:ea typeface="Arial" pitchFamily="34" charset="-122"/>
                <a:cs typeface="Arial" pitchFamily="34" charset="-120"/>
              </a:rPr>
              <a:t>They fought $2 fab boards on cost per board</a:t>
            </a:r>
            <a:endParaRPr lang="en-US" sz="1000" dirty="0"/>
          </a:p>
        </p:txBody>
      </p:sp>
      <p:sp>
        <p:nvSpPr>
          <p:cNvPr id="23" name="Text 21"/>
          <p:cNvSpPr txBox="1"/>
          <p:nvPr/>
        </p:nvSpPr>
        <p:spPr>
          <a:xfrm>
            <a:off x="4892040" y="2450592"/>
            <a:ext cx="3794760" cy="201168"/>
          </a:xfrm>
          <a:prstGeom prst="rect">
            <a:avLst/>
          </a:prstGeom>
          <a:noFill/>
          <a:ln/>
        </p:spPr>
        <p:txBody>
          <a:bodyPr wrap="square" lIns="0" tIns="0" rIns="0" bIns="0" rtlCol="0" anchor="t"/>
          <a:lstStyle/>
          <a:p>
            <a:pPr indent="0" marL="0">
              <a:buNone/>
            </a:pPr>
            <a:r>
              <a:rPr lang="en-US" sz="850" dirty="0">
                <a:solidFill>
                  <a:srgbClr val="5E6B66"/>
                </a:solidFill>
                <a:latin typeface="Arial" pitchFamily="34" charset="0"/>
                <a:ea typeface="Arial" pitchFamily="34" charset="-122"/>
                <a:cs typeface="Arial" pitchFamily="34" charset="-120"/>
              </a:rPr>
              <a:t>A price war they couldn't win</a:t>
            </a:r>
            <a:endParaRPr lang="en-US" sz="850" dirty="0"/>
          </a:p>
        </p:txBody>
      </p:sp>
      <p:sp>
        <p:nvSpPr>
          <p:cNvPr id="24" name="Text 22"/>
          <p:cNvSpPr txBox="1"/>
          <p:nvPr/>
        </p:nvSpPr>
        <p:spPr>
          <a:xfrm>
            <a:off x="4892040" y="2651760"/>
            <a:ext cx="3794760" cy="274320"/>
          </a:xfrm>
          <a:prstGeom prst="rect">
            <a:avLst/>
          </a:prstGeom>
          <a:noFill/>
          <a:ln/>
        </p:spPr>
        <p:txBody>
          <a:bodyPr wrap="square" lIns="0" tIns="0" rIns="0" bIns="0" rtlCol="0" anchor="t"/>
          <a:lstStyle/>
          <a:p>
            <a:pPr indent="0" marL="0">
              <a:buNone/>
            </a:pPr>
            <a:r>
              <a:rPr lang="en-US" sz="900" b="1" dirty="0">
                <a:solidFill>
                  <a:srgbClr val="1B4D3E"/>
                </a:solidFill>
                <a:latin typeface="Arial" pitchFamily="34" charset="0"/>
                <a:ea typeface="Arial" pitchFamily="34" charset="-122"/>
                <a:cs typeface="Arial" pitchFamily="34" charset="-120"/>
              </a:rPr>
              <a:t>→ We compete on hours per loop, not rupees per board</a:t>
            </a:r>
            <a:endParaRPr lang="en-US" sz="900" dirty="0"/>
          </a:p>
        </p:txBody>
      </p:sp>
      <p:sp>
        <p:nvSpPr>
          <p:cNvPr id="25" name="Text 23"/>
          <p:cNvSpPr txBox="1"/>
          <p:nvPr/>
        </p:nvSpPr>
        <p:spPr>
          <a:xfrm>
            <a:off x="4892040" y="2999232"/>
            <a:ext cx="3794760" cy="228600"/>
          </a:xfrm>
          <a:prstGeom prst="rect">
            <a:avLst/>
          </a:prstGeom>
          <a:noFill/>
          <a:ln/>
        </p:spPr>
        <p:txBody>
          <a:bodyPr wrap="square" lIns="0" tIns="0" rIns="0" bIns="0" rtlCol="0" anchor="t"/>
          <a:lstStyle/>
          <a:p>
            <a:pPr indent="0" marL="0">
              <a:buNone/>
            </a:pPr>
            <a:r>
              <a:rPr lang="en-US" sz="1000" b="1" dirty="0">
                <a:solidFill>
                  <a:srgbClr val="0F2A22"/>
                </a:solidFill>
                <a:latin typeface="Arial" pitchFamily="34" charset="0"/>
                <a:ea typeface="Arial" pitchFamily="34" charset="-122"/>
                <a:cs typeface="Arial" pitchFamily="34" charset="-120"/>
              </a:rPr>
              <a:t>They sold a tool to experts</a:t>
            </a:r>
            <a:endParaRPr lang="en-US" sz="1000" dirty="0"/>
          </a:p>
        </p:txBody>
      </p:sp>
      <p:sp>
        <p:nvSpPr>
          <p:cNvPr id="26" name="Text 24"/>
          <p:cNvSpPr txBox="1"/>
          <p:nvPr/>
        </p:nvSpPr>
        <p:spPr>
          <a:xfrm>
            <a:off x="4892040" y="3218688"/>
            <a:ext cx="3794760" cy="201168"/>
          </a:xfrm>
          <a:prstGeom prst="rect">
            <a:avLst/>
          </a:prstGeom>
          <a:noFill/>
          <a:ln/>
        </p:spPr>
        <p:txBody>
          <a:bodyPr wrap="square" lIns="0" tIns="0" rIns="0" bIns="0" rtlCol="0" anchor="t"/>
          <a:lstStyle/>
          <a:p>
            <a:pPr indent="0" marL="0">
              <a:buNone/>
            </a:pPr>
            <a:r>
              <a:rPr lang="en-US" sz="850" dirty="0">
                <a:solidFill>
                  <a:srgbClr val="5E6B66"/>
                </a:solidFill>
                <a:latin typeface="Arial" pitchFamily="34" charset="0"/>
                <a:ea typeface="Arial" pitchFamily="34" charset="-122"/>
                <a:cs typeface="Arial" pitchFamily="34" charset="-120"/>
              </a:rPr>
              <a:t>Small market, steep learning curve</a:t>
            </a:r>
            <a:endParaRPr lang="en-US" sz="850" dirty="0"/>
          </a:p>
        </p:txBody>
      </p:sp>
      <p:sp>
        <p:nvSpPr>
          <p:cNvPr id="27" name="Text 25"/>
          <p:cNvSpPr txBox="1"/>
          <p:nvPr/>
        </p:nvSpPr>
        <p:spPr>
          <a:xfrm>
            <a:off x="4892040" y="3419856"/>
            <a:ext cx="3794760" cy="274320"/>
          </a:xfrm>
          <a:prstGeom prst="rect">
            <a:avLst/>
          </a:prstGeom>
          <a:noFill/>
          <a:ln/>
        </p:spPr>
        <p:txBody>
          <a:bodyPr wrap="square" lIns="0" tIns="0" rIns="0" bIns="0" rtlCol="0" anchor="t"/>
          <a:lstStyle/>
          <a:p>
            <a:pPr indent="0" marL="0">
              <a:buNone/>
            </a:pPr>
            <a:r>
              <a:rPr lang="en-US" sz="900" b="1" dirty="0">
                <a:solidFill>
                  <a:srgbClr val="1B4D3E"/>
                </a:solidFill>
                <a:latin typeface="Arial" pitchFamily="34" charset="0"/>
                <a:ea typeface="Arial" pitchFamily="34" charset="-122"/>
                <a:cs typeface="Arial" pitchFamily="34" charset="-120"/>
              </a:rPr>
              <a:t>→ We sell an outcome to people who aren't experts yet</a:t>
            </a:r>
            <a:endParaRPr lang="en-US" sz="900" dirty="0"/>
          </a:p>
        </p:txBody>
      </p:sp>
      <p:sp>
        <p:nvSpPr>
          <p:cNvPr id="28" name="Text 26"/>
          <p:cNvSpPr txBox="1"/>
          <p:nvPr/>
        </p:nvSpPr>
        <p:spPr>
          <a:xfrm>
            <a:off x="4892040" y="3767328"/>
            <a:ext cx="3794760" cy="228600"/>
          </a:xfrm>
          <a:prstGeom prst="rect">
            <a:avLst/>
          </a:prstGeom>
          <a:noFill/>
          <a:ln/>
        </p:spPr>
        <p:txBody>
          <a:bodyPr wrap="square" lIns="0" tIns="0" rIns="0" bIns="0" rtlCol="0" anchor="t"/>
          <a:lstStyle/>
          <a:p>
            <a:pPr indent="0" marL="0">
              <a:buNone/>
            </a:pPr>
            <a:r>
              <a:rPr lang="en-US" sz="1000" b="1" dirty="0">
                <a:solidFill>
                  <a:srgbClr val="0F2A22"/>
                </a:solidFill>
                <a:latin typeface="Arial" pitchFamily="34" charset="0"/>
                <a:ea typeface="Arial" pitchFamily="34" charset="-122"/>
                <a:cs typeface="Arial" pitchFamily="34" charset="-120"/>
              </a:rPr>
              <a:t>No software moat</a:t>
            </a:r>
            <a:endParaRPr lang="en-US" sz="1000" dirty="0"/>
          </a:p>
        </p:txBody>
      </p:sp>
      <p:sp>
        <p:nvSpPr>
          <p:cNvPr id="29" name="Text 27"/>
          <p:cNvSpPr txBox="1"/>
          <p:nvPr/>
        </p:nvSpPr>
        <p:spPr>
          <a:xfrm>
            <a:off x="4892040" y="3986784"/>
            <a:ext cx="3794760" cy="201168"/>
          </a:xfrm>
          <a:prstGeom prst="rect">
            <a:avLst/>
          </a:prstGeom>
          <a:noFill/>
          <a:ln/>
        </p:spPr>
        <p:txBody>
          <a:bodyPr wrap="square" lIns="0" tIns="0" rIns="0" bIns="0" rtlCol="0" anchor="t"/>
          <a:lstStyle/>
          <a:p>
            <a:pPr indent="0" marL="0">
              <a:buNone/>
            </a:pPr>
            <a:r>
              <a:rPr lang="en-US" sz="850" dirty="0">
                <a:solidFill>
                  <a:srgbClr val="5E6B66"/>
                </a:solidFill>
                <a:latin typeface="Arial" pitchFamily="34" charset="0"/>
                <a:ea typeface="Arial" pitchFamily="34" charset="-122"/>
                <a:cs typeface="Arial" pitchFamily="34" charset="-120"/>
              </a:rPr>
              <a:t>Hardware copied, margins squeezed</a:t>
            </a:r>
            <a:endParaRPr lang="en-US" sz="850" dirty="0"/>
          </a:p>
        </p:txBody>
      </p:sp>
      <p:sp>
        <p:nvSpPr>
          <p:cNvPr id="30" name="Text 28"/>
          <p:cNvSpPr txBox="1"/>
          <p:nvPr/>
        </p:nvSpPr>
        <p:spPr>
          <a:xfrm>
            <a:off x="4892040" y="4187952"/>
            <a:ext cx="3794760" cy="274320"/>
          </a:xfrm>
          <a:prstGeom prst="rect">
            <a:avLst/>
          </a:prstGeom>
          <a:noFill/>
          <a:ln/>
        </p:spPr>
        <p:txBody>
          <a:bodyPr wrap="square" lIns="0" tIns="0" rIns="0" bIns="0" rtlCol="0" anchor="t"/>
          <a:lstStyle/>
          <a:p>
            <a:pPr indent="0" marL="0">
              <a:buNone/>
            </a:pPr>
            <a:r>
              <a:rPr lang="en-US" sz="900" b="1" dirty="0">
                <a:solidFill>
                  <a:srgbClr val="1B4D3E"/>
                </a:solidFill>
                <a:latin typeface="Arial" pitchFamily="34" charset="0"/>
                <a:ea typeface="Arial" pitchFamily="34" charset="-122"/>
                <a:cs typeface="Arial" pitchFamily="34" charset="-120"/>
              </a:rPr>
              <a:t>→ Proto + run data is the moat; the machine is how it acts</a:t>
            </a:r>
            <a:endParaRPr lang="en-US" sz="900" dirty="0"/>
          </a:p>
        </p:txBody>
      </p:sp>
      <p:sp>
        <p:nvSpPr>
          <p:cNvPr id="31" name="Text 29"/>
          <p:cNvSpPr txBox="1"/>
          <p:nvPr/>
        </p:nvSpPr>
        <p:spPr>
          <a:xfrm>
            <a:off x="457200" y="4617720"/>
            <a:ext cx="8229600" cy="201168"/>
          </a:xfrm>
          <a:prstGeom prst="rect">
            <a:avLst/>
          </a:prstGeom>
          <a:noFill/>
          <a:ln/>
        </p:spPr>
        <p:txBody>
          <a:bodyPr wrap="square" lIns="0" tIns="0" rIns="0" bIns="0" rtlCol="0" anchor="t"/>
          <a:lstStyle/>
          <a:p>
            <a:pPr indent="0" marL="0">
              <a:buNone/>
            </a:pPr>
            <a:r>
              <a:rPr lang="en-US" sz="750" i="1" dirty="0">
                <a:solidFill>
                  <a:srgbClr val="5E6B66"/>
                </a:solidFill>
                <a:latin typeface="Arial" pitchFamily="34" charset="0"/>
                <a:ea typeface="Arial" pitchFamily="34" charset="-122"/>
                <a:cs typeface="Arial" pitchFamily="34" charset="-120"/>
              </a:rPr>
              <a:t>Sources: Hackaday / Make (Othermill, Bantam); ToolGuyd (Bantam exit); Elektor, Aniwaa (V-One); TechCrunch (Squink); Evertiq 8 Apr 2026 (Nano Dimension).</a:t>
            </a:r>
            <a:endParaRPr lang="en-US" sz="7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201168"/>
          </a:xfrm>
          <a:prstGeom prst="rect">
            <a:avLst/>
          </a:prstGeom>
          <a:noFill/>
          <a:ln/>
        </p:spPr>
        <p:txBody>
          <a:bodyPr wrap="square" lIns="0" tIns="0" rIns="0" bIns="0" rtlCol="0" anchor="t"/>
          <a:lstStyle/>
          <a:p>
            <a:pPr indent="0" marL="0">
              <a:buNone/>
            </a:pPr>
            <a:r>
              <a:rPr lang="en-US" sz="900" b="1" spc="200" kern="0" dirty="0">
                <a:solidFill>
                  <a:srgbClr val="C8793A"/>
                </a:solidFill>
                <a:latin typeface="Arial" pitchFamily="34" charset="0"/>
                <a:ea typeface="Arial" pitchFamily="34" charset="-122"/>
                <a:cs typeface="Arial" pitchFamily="34" charset="-120"/>
              </a:rPr>
              <a:t>POSITIONING, BOTH WAYS</a:t>
            </a:r>
            <a:endParaRPr lang="en-US" sz="900" dirty="0"/>
          </a:p>
        </p:txBody>
      </p:sp>
      <p:sp>
        <p:nvSpPr>
          <p:cNvPr id="3" name="Text 1"/>
          <p:cNvSpPr txBox="1"/>
          <p:nvPr/>
        </p:nvSpPr>
        <p:spPr>
          <a:xfrm>
            <a:off x="457200" y="457200"/>
            <a:ext cx="8229600" cy="566928"/>
          </a:xfrm>
          <a:prstGeom prst="rect">
            <a:avLst/>
          </a:prstGeom>
          <a:noFill/>
          <a:ln/>
        </p:spPr>
        <p:txBody>
          <a:bodyPr wrap="square" lIns="0" tIns="0" rIns="0" bIns="0" rtlCol="0" anchor="ctr">
            <a:normAutofit/>
          </a:bodyPr>
          <a:lstStyle/>
          <a:p>
            <a:pPr indent="0" marL="0">
              <a:buNone/>
            </a:pPr>
            <a:r>
              <a:rPr lang="en-US" sz="2200" b="1" dirty="0">
                <a:solidFill>
                  <a:srgbClr val="0F2A22"/>
                </a:solidFill>
                <a:latin typeface="Arial" pitchFamily="34" charset="0"/>
                <a:ea typeface="Arial" pitchFamily="34" charset="-122"/>
                <a:cs typeface="Arial" pitchFamily="34" charset="-120"/>
              </a:rPr>
              <a:t>Where alternatives lose to us, and where they win</a:t>
            </a:r>
            <a:endParaRPr lang="en-US" sz="2200" dirty="0"/>
          </a:p>
        </p:txBody>
      </p:sp>
      <p:sp>
        <p:nvSpPr>
          <p:cNvPr id="4" name="Text 2"/>
          <p:cNvSpPr txBox="1"/>
          <p:nvPr/>
        </p:nvSpPr>
        <p:spPr>
          <a:xfrm>
            <a:off x="8321040" y="4828032"/>
            <a:ext cx="365760" cy="182880"/>
          </a:xfrm>
          <a:prstGeom prst="rect">
            <a:avLst/>
          </a:prstGeom>
          <a:noFill/>
          <a:ln/>
        </p:spPr>
        <p:txBody>
          <a:bodyPr wrap="square" lIns="0" tIns="0" rIns="0" bIns="0" rtlCol="0" anchor="t"/>
          <a:lstStyle/>
          <a:p>
            <a:pPr algn="r" indent="0" marL="0">
              <a:buNone/>
            </a:pPr>
            <a:r>
              <a:rPr lang="en-US" sz="800" dirty="0">
                <a:solidFill>
                  <a:srgbClr val="5E6B66"/>
                </a:solidFill>
                <a:latin typeface="Arial" pitchFamily="34" charset="0"/>
                <a:ea typeface="Arial" pitchFamily="34" charset="-122"/>
                <a:cs typeface="Arial" pitchFamily="34" charset="-120"/>
              </a:rPr>
              <a:t>19</a:t>
            </a:r>
            <a:endParaRPr lang="en-US" sz="800" dirty="0"/>
          </a:p>
        </p:txBody>
      </p:sp>
      <p:sp>
        <p:nvSpPr>
          <p:cNvPr id="5" name="Text 3"/>
          <p:cNvSpPr txBox="1"/>
          <p:nvPr/>
        </p:nvSpPr>
        <p:spPr>
          <a:xfrm>
            <a:off x="457200" y="4828032"/>
            <a:ext cx="2743200" cy="182880"/>
          </a:xfrm>
          <a:prstGeom prst="rect">
            <a:avLst/>
          </a:prstGeom>
          <a:noFill/>
          <a:ln/>
        </p:spPr>
        <p:txBody>
          <a:bodyPr wrap="square" lIns="0" tIns="0" rIns="0" bIns="0" rtlCol="0" anchor="t"/>
          <a:lstStyle/>
          <a:p>
            <a:pPr indent="0" marL="0">
              <a:buNone/>
            </a:pPr>
            <a:r>
              <a:rPr lang="en-US" sz="800" dirty="0">
                <a:solidFill>
                  <a:srgbClr val="5E6B66"/>
                </a:solidFill>
                <a:latin typeface="Arial" pitchFamily="34" charset="0"/>
                <a:ea typeface="Arial" pitchFamily="34" charset="-122"/>
                <a:cs typeface="Arial" pitchFamily="34" charset="-120"/>
              </a:rPr>
              <a:t>Protopulse · pitch v2</a:t>
            </a:r>
            <a:endParaRPr lang="en-US" sz="8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2377440"/>
                <a:gridCol w="3108960"/>
                <a:gridCol w="2743200"/>
              </a:tblGrid>
              <a:tr h="475488">
                <a:tc>
                  <a:txBody>
                    <a:bodyPr/>
                    <a:lstStyle/>
                    <a:p>
                      <a:pPr indent="0" marL="0">
                        <a:buNone/>
                      </a:pPr>
                      <a:r>
                        <a:rPr lang="en-US" sz="950" b="1" dirty="0">
                          <a:solidFill>
                            <a:srgbClr val="FFFFFF"/>
                          </a:solidFill>
                          <a:latin typeface="Arial" pitchFamily="34" charset="0"/>
                          <a:ea typeface="Arial" pitchFamily="34" charset="-122"/>
                          <a:cs typeface="Arial" pitchFamily="34" charset="-120"/>
                        </a:rPr>
                        <a:t>Alternative</a:t>
                      </a:r>
                      <a:endParaRPr lang="en-US" sz="9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1B4D3E"/>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We win on</a:t>
                      </a:r>
                      <a:endParaRPr lang="en-US" sz="9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1B4D3E"/>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They win on (we say so)</a:t>
                      </a:r>
                      <a:endParaRPr lang="en-US" sz="9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1B4D3E"/>
                    </a:solidFill>
                  </a:tcPr>
                </a:tc>
              </a:tr>
              <a:tr h="475488">
                <a:tc>
                  <a:txBody>
                    <a:bodyPr/>
                    <a:lstStyle/>
                    <a:p>
                      <a:pPr indent="0" marL="0">
                        <a:buNone/>
                      </a:pPr>
                      <a:r>
                        <a:rPr lang="en-US" sz="950" b="1" dirty="0">
                          <a:solidFill>
                            <a:srgbClr val="1D2522"/>
                          </a:solidFill>
                          <a:latin typeface="Arial" pitchFamily="34" charset="0"/>
                          <a:ea typeface="Arial" pitchFamily="34" charset="-122"/>
                          <a:cs typeface="Arial" pitchFamily="34" charset="-120"/>
                        </a:rPr>
                        <a:t>Fab services (JLCPCB, PCBWay, Indian fabs)</a:t>
                      </a:r>
                      <a:endParaRPr lang="en-US" sz="9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E8F1EC"/>
                    </a:solidFill>
                  </a:tcPr>
                </a:tc>
                <a:tc>
                  <a:txBody>
                    <a:bodyPr/>
                    <a:lstStyle/>
                    <a:p>
                      <a:pPr indent="0" marL="0">
                        <a:buNone/>
                      </a:pPr>
                      <a:r>
                        <a:rPr lang="en-US" sz="950" dirty="0">
                          <a:solidFill>
                            <a:srgbClr val="1D2522"/>
                          </a:solidFill>
                          <a:latin typeface="Arial" pitchFamily="34" charset="0"/>
                          <a:ea typeface="Arial" pitchFamily="34" charset="-122"/>
                          <a:cs typeface="Arial" pitchFamily="34" charset="-120"/>
                        </a:rPr>
                        <a:t>Hours not weeks; no customs; stencil and test included; tighter learning loop</a:t>
                      </a:r>
                      <a:endParaRPr lang="en-US" sz="9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E8F1EC"/>
                    </a:solidFill>
                  </a:tcPr>
                </a:tc>
                <a:tc>
                  <a:txBody>
                    <a:bodyPr/>
                    <a:lstStyle/>
                    <a:p>
                      <a:pPr indent="0" marL="0">
                        <a:buNone/>
                      </a:pPr>
                      <a:r>
                        <a:rPr lang="en-US" sz="950" dirty="0">
                          <a:solidFill>
                            <a:srgbClr val="1D2522"/>
                          </a:solidFill>
                          <a:latin typeface="Arial" pitchFamily="34" charset="0"/>
                          <a:ea typeface="Arial" pitchFamily="34" charset="-122"/>
                          <a:cs typeface="Arial" pitchFamily="34" charset="-120"/>
                        </a:rPr>
                        <a:t>Cost at quantity, multilayer, finish quality. We hand volume to them</a:t>
                      </a:r>
                      <a:endParaRPr lang="en-US" sz="9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E8F1EC"/>
                    </a:solidFill>
                  </a:tcPr>
                </a:tc>
              </a:tr>
              <a:tr h="475488">
                <a:tc>
                  <a:txBody>
                    <a:bodyPr/>
                    <a:lstStyle/>
                    <a:p>
                      <a:pPr indent="0" marL="0">
                        <a:buNone/>
                      </a:pPr>
                      <a:r>
                        <a:rPr lang="en-US" sz="950" b="1" dirty="0">
                          <a:solidFill>
                            <a:srgbClr val="1D2522"/>
                          </a:solidFill>
                          <a:latin typeface="Arial" pitchFamily="34" charset="0"/>
                          <a:ea typeface="Arial" pitchFamily="34" charset="-122"/>
                          <a:cs typeface="Arial" pitchFamily="34" charset="-120"/>
                        </a:rPr>
                        <a:t>Pro in-house lines (LPKF)</a:t>
                      </a:r>
                      <a:endParaRPr lang="en-US" sz="9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950" dirty="0">
                          <a:solidFill>
                            <a:srgbClr val="1D2522"/>
                          </a:solidFill>
                          <a:latin typeface="Arial" pitchFamily="34" charset="0"/>
                          <a:ea typeface="Arial" pitchFamily="34" charset="-122"/>
                          <a:cs typeface="Arial" pitchFamily="34" charset="-120"/>
                        </a:rPr>
                        <a:t>About 1/20th the price of a full line; one box; an agent runs it; no specialist operator</a:t>
                      </a:r>
                      <a:endParaRPr lang="en-US" sz="9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950" dirty="0">
                          <a:solidFill>
                            <a:srgbClr val="1D2522"/>
                          </a:solidFill>
                          <a:latin typeface="Arial" pitchFamily="34" charset="0"/>
                          <a:ea typeface="Arial" pitchFamily="34" charset="-122"/>
                          <a:cs typeface="Arial" pitchFamily="34" charset="-120"/>
                        </a:rPr>
                        <a:t>RF and multilayer capability, plating, decades of process</a:t>
                      </a:r>
                      <a:endParaRPr lang="en-US" sz="9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r h="475488">
                <a:tc>
                  <a:txBody>
                    <a:bodyPr/>
                    <a:lstStyle/>
                    <a:p>
                      <a:pPr indent="0" marL="0">
                        <a:buNone/>
                      </a:pPr>
                      <a:r>
                        <a:rPr lang="en-US" sz="950" b="1" dirty="0">
                          <a:solidFill>
                            <a:srgbClr val="1D2522"/>
                          </a:solidFill>
                          <a:latin typeface="Arial" pitchFamily="34" charset="0"/>
                          <a:ea typeface="Arial" pitchFamily="34" charset="-122"/>
                          <a:cs typeface="Arial" pitchFamily="34" charset="-120"/>
                        </a:rPr>
                        <a:t>Desktop CNC (Carvera)</a:t>
                      </a:r>
                      <a:endParaRPr lang="en-US" sz="9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E8F1EC"/>
                    </a:solidFill>
                  </a:tcPr>
                </a:tc>
                <a:tc>
                  <a:txBody>
                    <a:bodyPr/>
                    <a:lstStyle/>
                    <a:p>
                      <a:pPr indent="0" marL="0">
                        <a:buNone/>
                      </a:pPr>
                      <a:r>
                        <a:rPr lang="en-US" sz="950" dirty="0">
                          <a:solidFill>
                            <a:srgbClr val="1D2522"/>
                          </a:solidFill>
                          <a:latin typeface="Arial" pitchFamily="34" charset="0"/>
                          <a:ea typeface="Arial" pitchFamily="34" charset="-122"/>
                          <a:cs typeface="Arial" pitchFamily="34" charset="-120"/>
                        </a:rPr>
                        <a:t>Mask, stencil, paste, reflow, test; board-specific AI</a:t>
                      </a:r>
                      <a:endParaRPr lang="en-US" sz="9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E8F1EC"/>
                    </a:solidFill>
                  </a:tcPr>
                </a:tc>
                <a:tc>
                  <a:txBody>
                    <a:bodyPr/>
                    <a:lstStyle/>
                    <a:p>
                      <a:pPr indent="0" marL="0">
                        <a:buNone/>
                      </a:pPr>
                      <a:r>
                        <a:rPr lang="en-US" sz="950" dirty="0">
                          <a:solidFill>
                            <a:srgbClr val="1D2522"/>
                          </a:solidFill>
                          <a:latin typeface="Arial" pitchFamily="34" charset="0"/>
                          <a:ea typeface="Arial" pitchFamily="34" charset="-122"/>
                          <a:cs typeface="Arial" pitchFamily="34" charset="-120"/>
                        </a:rPr>
                        <a:t>Metal and wood machining; a general-purpose tool</a:t>
                      </a:r>
                      <a:endParaRPr lang="en-US" sz="9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E8F1EC"/>
                    </a:solidFill>
                  </a:tcPr>
                </a:tc>
              </a:tr>
              <a:tr h="475488">
                <a:tc>
                  <a:txBody>
                    <a:bodyPr/>
                    <a:lstStyle/>
                    <a:p>
                      <a:pPr indent="0" marL="0">
                        <a:buNone/>
                      </a:pPr>
                      <a:r>
                        <a:rPr lang="en-US" sz="950" b="1" dirty="0">
                          <a:solidFill>
                            <a:srgbClr val="1D2522"/>
                          </a:solidFill>
                          <a:latin typeface="Arial" pitchFamily="34" charset="0"/>
                          <a:ea typeface="Arial" pitchFamily="34" charset="-122"/>
                          <a:cs typeface="Arial" pitchFamily="34" charset="-120"/>
                        </a:rPr>
                        <a:t>Ink printers (Voltera, BotFactory)</a:t>
                      </a:r>
                      <a:endParaRPr lang="en-US" sz="9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950" dirty="0">
                          <a:solidFill>
                            <a:srgbClr val="1D2522"/>
                          </a:solidFill>
                          <a:latin typeface="Arial" pitchFamily="34" charset="0"/>
                          <a:ea typeface="Arial" pitchFamily="34" charset="-122"/>
                          <a:cs typeface="Arial" pitchFamily="34" charset="-120"/>
                        </a:rPr>
                        <a:t>Real copper FR4 that solders like a fab board</a:t>
                      </a:r>
                      <a:endParaRPr lang="en-US" sz="9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950" dirty="0">
                          <a:solidFill>
                            <a:srgbClr val="1D2522"/>
                          </a:solidFill>
                          <a:latin typeface="Arial" pitchFamily="34" charset="0"/>
                          <a:ea typeface="Arial" pitchFamily="34" charset="-122"/>
                          <a:cs typeface="Arial" pitchFamily="34" charset="-120"/>
                        </a:rPr>
                        <a:t>Flexible and stretchable substrates</a:t>
                      </a:r>
                      <a:endParaRPr lang="en-US" sz="9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r h="475488">
                <a:tc>
                  <a:txBody>
                    <a:bodyPr/>
                    <a:lstStyle/>
                    <a:p>
                      <a:pPr indent="0" marL="0">
                        <a:buNone/>
                      </a:pPr>
                      <a:r>
                        <a:rPr lang="en-US" sz="950" b="1" dirty="0">
                          <a:solidFill>
                            <a:srgbClr val="1D2522"/>
                          </a:solidFill>
                          <a:latin typeface="Arial" pitchFamily="34" charset="0"/>
                          <a:ea typeface="Arial" pitchFamily="34" charset="-122"/>
                          <a:cs typeface="Arial" pitchFamily="34" charset="-120"/>
                        </a:rPr>
                        <a:t>USB instruments (AD3, M2K, Moku)</a:t>
                      </a:r>
                      <a:endParaRPr lang="en-US" sz="9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E8F1EC"/>
                    </a:solidFill>
                  </a:tcPr>
                </a:tc>
                <a:tc>
                  <a:txBody>
                    <a:bodyPr/>
                    <a:lstStyle/>
                    <a:p>
                      <a:pPr indent="0" marL="0">
                        <a:buNone/>
                      </a:pPr>
                      <a:r>
                        <a:rPr lang="en-US" sz="950" dirty="0">
                          <a:solidFill>
                            <a:srgbClr val="1D2522"/>
                          </a:solidFill>
                          <a:latin typeface="Arial" pitchFamily="34" charset="0"/>
                          <a:ea typeface="Arial" pitchFamily="34" charset="-122"/>
                          <a:cs typeface="Arial" pitchFamily="34" charset="-120"/>
                        </a:rPr>
                        <a:t>Agent-driven test plan from the netlist; integrated supplies + 24-bit meter</a:t>
                      </a:r>
                      <a:endParaRPr lang="en-US" sz="9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E8F1EC"/>
                    </a:solidFill>
                  </a:tcPr>
                </a:tc>
                <a:tc>
                  <a:txBody>
                    <a:bodyPr/>
                    <a:lstStyle/>
                    <a:p>
                      <a:pPr indent="0" marL="0">
                        <a:buNone/>
                      </a:pPr>
                      <a:r>
                        <a:rPr lang="en-US" sz="950" dirty="0">
                          <a:solidFill>
                            <a:srgbClr val="1D2522"/>
                          </a:solidFill>
                          <a:latin typeface="Arial" pitchFamily="34" charset="0"/>
                          <a:ea typeface="Arial" pitchFamily="34" charset="-122"/>
                          <a:cs typeface="Arial" pitchFamily="34" charset="-120"/>
                        </a:rPr>
                        <a:t>Resolution and bandwidth (AD3: 14-bit)</a:t>
                      </a:r>
                      <a:endParaRPr lang="en-US" sz="9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E8F1EC"/>
                    </a:solidFill>
                  </a:tcPr>
                </a:tc>
              </a:tr>
              <a:tr h="475488">
                <a:tc>
                  <a:txBody>
                    <a:bodyPr/>
                    <a:lstStyle/>
                    <a:p>
                      <a:pPr indent="0" marL="0">
                        <a:buNone/>
                      </a:pPr>
                      <a:r>
                        <a:rPr lang="en-US" sz="950" b="1" dirty="0">
                          <a:solidFill>
                            <a:srgbClr val="1D2522"/>
                          </a:solidFill>
                          <a:latin typeface="Arial" pitchFamily="34" charset="0"/>
                          <a:ea typeface="Arial" pitchFamily="34" charset="-122"/>
                          <a:cs typeface="Arial" pitchFamily="34" charset="-120"/>
                        </a:rPr>
                        <a:t>AI design tools (Flux, Quilter, Diode)</a:t>
                      </a:r>
                      <a:endParaRPr lang="en-US" sz="9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950" dirty="0">
                          <a:solidFill>
                            <a:srgbClr val="1D2522"/>
                          </a:solidFill>
                          <a:latin typeface="Arial" pitchFamily="34" charset="0"/>
                          <a:ea typeface="Arial" pitchFamily="34" charset="-122"/>
                          <a:cs typeface="Arial" pitchFamily="34" charset="-120"/>
                        </a:rPr>
                        <a:t>Closed loop to a real, measured board; physical run data</a:t>
                      </a:r>
                      <a:endParaRPr lang="en-US" sz="9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950" dirty="0">
                          <a:solidFill>
                            <a:srgbClr val="1D2522"/>
                          </a:solidFill>
                          <a:latin typeface="Arial" pitchFamily="34" charset="0"/>
                          <a:ea typeface="Arial" pitchFamily="34" charset="-122"/>
                          <a:cs typeface="Arial" pitchFamily="34" charset="-120"/>
                        </a:rPr>
                        <a:t>Layout depth. We integrate with them rather than compete</a:t>
                      </a:r>
                      <a:endParaRPr lang="en-US" sz="95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201168"/>
          </a:xfrm>
          <a:prstGeom prst="rect">
            <a:avLst/>
          </a:prstGeom>
          <a:noFill/>
          <a:ln/>
        </p:spPr>
        <p:txBody>
          <a:bodyPr wrap="square" lIns="0" tIns="0" rIns="0" bIns="0" rtlCol="0" anchor="t"/>
          <a:lstStyle/>
          <a:p>
            <a:pPr indent="0" marL="0">
              <a:buNone/>
            </a:pPr>
            <a:r>
              <a:rPr lang="en-US" sz="900" b="1" spc="200" kern="0" dirty="0">
                <a:solidFill>
                  <a:srgbClr val="C8793A"/>
                </a:solidFill>
                <a:latin typeface="Arial" pitchFamily="34" charset="0"/>
                <a:ea typeface="Arial" pitchFamily="34" charset="-122"/>
                <a:cs typeface="Arial" pitchFamily="34" charset="-120"/>
              </a:rPr>
              <a:t>PRATEEK: 'HOW MUCH IS THIS MACHINE GOING TO COST?'</a:t>
            </a:r>
            <a:endParaRPr lang="en-US" sz="900" dirty="0"/>
          </a:p>
        </p:txBody>
      </p:sp>
      <p:sp>
        <p:nvSpPr>
          <p:cNvPr id="3" name="Text 1"/>
          <p:cNvSpPr txBox="1"/>
          <p:nvPr/>
        </p:nvSpPr>
        <p:spPr>
          <a:xfrm>
            <a:off x="457200" y="457200"/>
            <a:ext cx="8229600" cy="566928"/>
          </a:xfrm>
          <a:prstGeom prst="rect">
            <a:avLst/>
          </a:prstGeom>
          <a:noFill/>
          <a:ln/>
        </p:spPr>
        <p:txBody>
          <a:bodyPr wrap="square" lIns="0" tIns="0" rIns="0" bIns="0" rtlCol="0" anchor="ctr">
            <a:normAutofit/>
          </a:bodyPr>
          <a:lstStyle/>
          <a:p>
            <a:pPr indent="0" marL="0">
              <a:buNone/>
            </a:pPr>
            <a:r>
              <a:rPr lang="en-US" sz="2200" b="1" dirty="0">
                <a:solidFill>
                  <a:srgbClr val="0F2A22"/>
                </a:solidFill>
                <a:latin typeface="Arial" pitchFamily="34" charset="0"/>
                <a:ea typeface="Arial" pitchFamily="34" charset="-122"/>
                <a:cs typeface="Arial" pitchFamily="34" charset="-120"/>
              </a:rPr>
              <a:t>What the machine costs to build, and what we sell it for</a:t>
            </a:r>
            <a:endParaRPr lang="en-US" sz="2200" dirty="0"/>
          </a:p>
        </p:txBody>
      </p:sp>
      <p:sp>
        <p:nvSpPr>
          <p:cNvPr id="4" name="Text 2"/>
          <p:cNvSpPr txBox="1"/>
          <p:nvPr/>
        </p:nvSpPr>
        <p:spPr>
          <a:xfrm>
            <a:off x="8321040" y="4828032"/>
            <a:ext cx="365760" cy="182880"/>
          </a:xfrm>
          <a:prstGeom prst="rect">
            <a:avLst/>
          </a:prstGeom>
          <a:noFill/>
          <a:ln/>
        </p:spPr>
        <p:txBody>
          <a:bodyPr wrap="square" lIns="0" tIns="0" rIns="0" bIns="0" rtlCol="0" anchor="t"/>
          <a:lstStyle/>
          <a:p>
            <a:pPr algn="r" indent="0" marL="0">
              <a:buNone/>
            </a:pPr>
            <a:r>
              <a:rPr lang="en-US" sz="800" dirty="0">
                <a:solidFill>
                  <a:srgbClr val="5E6B66"/>
                </a:solidFill>
                <a:latin typeface="Arial" pitchFamily="34" charset="0"/>
                <a:ea typeface="Arial" pitchFamily="34" charset="-122"/>
                <a:cs typeface="Arial" pitchFamily="34" charset="-120"/>
              </a:rPr>
              <a:t>20</a:t>
            </a:r>
            <a:endParaRPr lang="en-US" sz="800" dirty="0"/>
          </a:p>
        </p:txBody>
      </p:sp>
      <p:sp>
        <p:nvSpPr>
          <p:cNvPr id="5" name="Text 3"/>
          <p:cNvSpPr txBox="1"/>
          <p:nvPr/>
        </p:nvSpPr>
        <p:spPr>
          <a:xfrm>
            <a:off x="457200" y="4828032"/>
            <a:ext cx="2743200" cy="182880"/>
          </a:xfrm>
          <a:prstGeom prst="rect">
            <a:avLst/>
          </a:prstGeom>
          <a:noFill/>
          <a:ln/>
        </p:spPr>
        <p:txBody>
          <a:bodyPr wrap="square" lIns="0" tIns="0" rIns="0" bIns="0" rtlCol="0" anchor="t"/>
          <a:lstStyle/>
          <a:p>
            <a:pPr indent="0" marL="0">
              <a:buNone/>
            </a:pPr>
            <a:r>
              <a:rPr lang="en-US" sz="800" dirty="0">
                <a:solidFill>
                  <a:srgbClr val="5E6B66"/>
                </a:solidFill>
                <a:latin typeface="Arial" pitchFamily="34" charset="0"/>
                <a:ea typeface="Arial" pitchFamily="34" charset="-122"/>
                <a:cs typeface="Arial" pitchFamily="34" charset="-120"/>
              </a:rPr>
              <a:t>Protopulse · pitch v2</a:t>
            </a:r>
            <a:endParaRPr lang="en-US" sz="800" dirty="0"/>
          </a:p>
        </p:txBody>
      </p:sp>
      <p:graphicFrame>
        <p:nvGraphicFramePr>
          <p:cNvPr id="6" name="Chart 0" descr=""/>
          <p:cNvGraphicFramePr/>
          <p:nvPr/>
        </p:nvGraphicFramePr>
        <p:xfrm>
          <a:off x="365760" y="1097280"/>
          <a:ext cx="4937760" cy="3474720"/>
        </p:xfrm>
        <a:graphic xmlns:a="http://schemas.openxmlformats.org/drawingml/2006/main">
          <a:graphicData uri="http://schemas.openxmlformats.org/drawingml/2006/chart">
            <c:chart xmlns:c="http://schemas.openxmlformats.org/drawingml/2006/chart" r:id="rId1"/>
          </a:graphicData>
        </a:graphic>
      </p:graphicFrame>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0" y="1188720"/>
          <a:ext cx="3200400" cy="914400"/>
        </p:xfrm>
        <a:graphic>
          <a:graphicData uri="http://schemas.openxmlformats.org/drawingml/2006/table">
            <a:tbl>
              <a:tblPr/>
              <a:tblGrid>
                <a:gridCol w="1280160"/>
                <a:gridCol w="960120"/>
                <a:gridCol w="960120"/>
              </a:tblGrid>
              <a:tr h="329184">
                <a:tc>
                  <a:txBody>
                    <a:bodyPr/>
                    <a:lstStyle/>
                    <a:p>
                      <a:pPr indent="0" marL="0">
                        <a:buNone/>
                      </a:pPr>
                      <a:endParaRPr lang="en-US" sz="10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1B4D3E"/>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Baker</a:t>
                      </a:r>
                      <a:endParaRPr lang="en-US" sz="10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1B4D3E"/>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Mixer</a:t>
                      </a:r>
                      <a:endParaRPr lang="en-US" sz="10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1B4D3E"/>
                    </a:solidFill>
                  </a:tcPr>
                </a:tc>
              </a:tr>
              <a:tr h="329184">
                <a:tc>
                  <a:txBody>
                    <a:bodyPr/>
                    <a:lstStyle/>
                    <a:p>
                      <a:pPr indent="0" marL="0">
                        <a:buNone/>
                      </a:pPr>
                      <a:r>
                        <a:rPr lang="en-US" sz="1000" b="1" dirty="0">
                          <a:solidFill>
                            <a:srgbClr val="1D2522"/>
                          </a:solidFill>
                          <a:latin typeface="Arial" pitchFamily="34" charset="0"/>
                          <a:ea typeface="Arial" pitchFamily="34" charset="-122"/>
                          <a:cs typeface="Arial" pitchFamily="34" charset="-120"/>
                        </a:rPr>
                        <a:t>Prototype build</a:t>
                      </a:r>
                      <a:endParaRPr lang="en-US" sz="10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c>
                  <a:txBody>
                    <a:bodyPr/>
                    <a:lstStyle/>
                    <a:p>
                      <a:pPr indent="0" marL="0">
                        <a:buNone/>
                      </a:pPr>
                      <a:r>
                        <a:rPr lang="en-US" sz="1000" dirty="0">
                          <a:solidFill>
                            <a:srgbClr val="1D2522"/>
                          </a:solidFill>
                          <a:latin typeface="Arial" pitchFamily="34" charset="0"/>
                          <a:ea typeface="Arial" pitchFamily="34" charset="-122"/>
                          <a:cs typeface="Arial" pitchFamily="34" charset="-120"/>
                        </a:rPr>
                        <a:t>₹3,73,418</a:t>
                      </a:r>
                      <a:endParaRPr lang="en-US" sz="10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c>
                  <a:txBody>
                    <a:bodyPr/>
                    <a:lstStyle/>
                    <a:p>
                      <a:pPr indent="0" marL="0">
                        <a:buNone/>
                      </a:pPr>
                      <a:r>
                        <a:rPr lang="en-US" sz="1000" dirty="0">
                          <a:solidFill>
                            <a:srgbClr val="1D2522"/>
                          </a:solidFill>
                          <a:latin typeface="Arial" pitchFamily="34" charset="0"/>
                          <a:ea typeface="Arial" pitchFamily="34" charset="-122"/>
                          <a:cs typeface="Arial" pitchFamily="34" charset="-120"/>
                        </a:rPr>
                        <a:t>₹74,847</a:t>
                      </a:r>
                      <a:endParaRPr lang="en-US" sz="10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r>
              <a:tr h="329184">
                <a:tc>
                  <a:txBody>
                    <a:bodyPr/>
                    <a:lstStyle/>
                    <a:p>
                      <a:pPr indent="0" marL="0">
                        <a:buNone/>
                      </a:pPr>
                      <a:r>
                        <a:rPr lang="en-US" sz="1000" b="1" dirty="0">
                          <a:solidFill>
                            <a:srgbClr val="1D2522"/>
                          </a:solidFill>
                          <a:latin typeface="Arial" pitchFamily="34" charset="0"/>
                          <a:ea typeface="Arial" pitchFamily="34" charset="-122"/>
                          <a:cs typeface="Arial" pitchFamily="34" charset="-120"/>
                        </a:rPr>
                        <a:t>Production unit</a:t>
                      </a:r>
                      <a:endParaRPr lang="en-US" sz="10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c>
                  <a:txBody>
                    <a:bodyPr/>
                    <a:lstStyle/>
                    <a:p>
                      <a:pPr indent="0" marL="0">
                        <a:buNone/>
                      </a:pPr>
                      <a:r>
                        <a:rPr lang="en-US" sz="1000" dirty="0">
                          <a:solidFill>
                            <a:srgbClr val="1D2522"/>
                          </a:solidFill>
                          <a:latin typeface="Arial" pitchFamily="34" charset="0"/>
                          <a:ea typeface="Arial" pitchFamily="34" charset="-122"/>
                          <a:cs typeface="Arial" pitchFamily="34" charset="-120"/>
                        </a:rPr>
                        <a:t>₹1,44,842</a:t>
                      </a:r>
                      <a:endParaRPr lang="en-US" sz="10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c>
                  <a:txBody>
                    <a:bodyPr/>
                    <a:lstStyle/>
                    <a:p>
                      <a:pPr indent="0" marL="0">
                        <a:buNone/>
                      </a:pPr>
                      <a:r>
                        <a:rPr lang="en-US" sz="1000" dirty="0">
                          <a:solidFill>
                            <a:srgbClr val="1D2522"/>
                          </a:solidFill>
                          <a:latin typeface="Arial" pitchFamily="34" charset="0"/>
                          <a:ea typeface="Arial" pitchFamily="34" charset="-122"/>
                          <a:cs typeface="Arial" pitchFamily="34" charset="-120"/>
                        </a:rPr>
                        <a:t>₹13,740</a:t>
                      </a:r>
                      <a:endParaRPr lang="en-US" sz="10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r>
              <a:tr h="329184">
                <a:tc>
                  <a:txBody>
                    <a:bodyPr/>
                    <a:lstStyle/>
                    <a:p>
                      <a:pPr indent="0" marL="0">
                        <a:buNone/>
                      </a:pPr>
                      <a:r>
                        <a:rPr lang="en-US" sz="1000" b="1" dirty="0">
                          <a:solidFill>
                            <a:srgbClr val="1D2522"/>
                          </a:solidFill>
                          <a:latin typeface="Arial" pitchFamily="34" charset="0"/>
                          <a:ea typeface="Arial" pitchFamily="34" charset="-122"/>
                          <a:cs typeface="Arial" pitchFamily="34" charset="-120"/>
                        </a:rPr>
                        <a:t>Proposed price</a:t>
                      </a:r>
                      <a:endParaRPr lang="en-US" sz="10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c>
                  <a:txBody>
                    <a:bodyPr/>
                    <a:lstStyle/>
                    <a:p>
                      <a:pPr indent="0" marL="0">
                        <a:buNone/>
                      </a:pPr>
                      <a:r>
                        <a:rPr lang="en-US" sz="1000" dirty="0">
                          <a:solidFill>
                            <a:srgbClr val="1D2522"/>
                          </a:solidFill>
                          <a:latin typeface="Arial" pitchFamily="34" charset="0"/>
                          <a:ea typeface="Arial" pitchFamily="34" charset="-122"/>
                          <a:cs typeface="Arial" pitchFamily="34" charset="-120"/>
                        </a:rPr>
                        <a:t>₹3,49,000</a:t>
                      </a:r>
                      <a:endParaRPr lang="en-US" sz="10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c>
                  <a:txBody>
                    <a:bodyPr/>
                    <a:lstStyle/>
                    <a:p>
                      <a:pPr indent="0" marL="0">
                        <a:buNone/>
                      </a:pPr>
                      <a:r>
                        <a:rPr lang="en-US" sz="1000" dirty="0">
                          <a:solidFill>
                            <a:srgbClr val="1D2522"/>
                          </a:solidFill>
                          <a:latin typeface="Arial" pitchFamily="34" charset="0"/>
                          <a:ea typeface="Arial" pitchFamily="34" charset="-122"/>
                          <a:cs typeface="Arial" pitchFamily="34" charset="-120"/>
                        </a:rPr>
                        <a:t>₹24,999</a:t>
                      </a:r>
                      <a:endParaRPr lang="en-US" sz="10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r>
              <a:tr h="329184">
                <a:tc>
                  <a:txBody>
                    <a:bodyPr/>
                    <a:lstStyle/>
                    <a:p>
                      <a:pPr indent="0" marL="0">
                        <a:buNone/>
                      </a:pPr>
                      <a:r>
                        <a:rPr lang="en-US" sz="1000" b="1" dirty="0">
                          <a:solidFill>
                            <a:srgbClr val="1D2522"/>
                          </a:solidFill>
                          <a:latin typeface="Arial" pitchFamily="34" charset="0"/>
                          <a:ea typeface="Arial" pitchFamily="34" charset="-122"/>
                          <a:cs typeface="Arial" pitchFamily="34" charset="-120"/>
                        </a:rPr>
                        <a:t>Gross margin</a:t>
                      </a:r>
                      <a:endParaRPr lang="en-US" sz="10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c>
                  <a:txBody>
                    <a:bodyPr/>
                    <a:lstStyle/>
                    <a:p>
                      <a:pPr indent="0" marL="0">
                        <a:buNone/>
                      </a:pPr>
                      <a:r>
                        <a:rPr lang="en-US" sz="1000" b="1" dirty="0">
                          <a:solidFill>
                            <a:srgbClr val="1B4D3E"/>
                          </a:solidFill>
                          <a:latin typeface="Arial" pitchFamily="34" charset="0"/>
                          <a:ea typeface="Arial" pitchFamily="34" charset="-122"/>
                          <a:cs typeface="Arial" pitchFamily="34" charset="-120"/>
                        </a:rPr>
                        <a:t>58.5%</a:t>
                      </a:r>
                      <a:endParaRPr lang="en-US" sz="10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c>
                  <a:txBody>
                    <a:bodyPr/>
                    <a:lstStyle/>
                    <a:p>
                      <a:pPr indent="0" marL="0">
                        <a:buNone/>
                      </a:pPr>
                      <a:r>
                        <a:rPr lang="en-US" sz="1000" b="1" dirty="0">
                          <a:solidFill>
                            <a:srgbClr val="1B4D3E"/>
                          </a:solidFill>
                          <a:latin typeface="Arial" pitchFamily="34" charset="0"/>
                          <a:ea typeface="Arial" pitchFamily="34" charset="-122"/>
                          <a:cs typeface="Arial" pitchFamily="34" charset="-120"/>
                        </a:rPr>
                        <a:t>45.0%</a:t>
                      </a:r>
                      <a:endParaRPr lang="en-US" sz="10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r>
            </a:tbl>
          </a:graphicData>
        </a:graphic>
      </p:graphicFrame>
      <p:sp>
        <p:nvSpPr>
          <p:cNvPr id="8" name="Text 4"/>
          <p:cNvSpPr txBox="1"/>
          <p:nvPr/>
        </p:nvSpPr>
        <p:spPr>
          <a:xfrm>
            <a:off x="5486400" y="3017520"/>
            <a:ext cx="3200400" cy="1463040"/>
          </a:xfrm>
          <a:prstGeom prst="rect">
            <a:avLst/>
          </a:prstGeom>
          <a:noFill/>
          <a:ln/>
        </p:spPr>
        <p:txBody>
          <a:bodyPr wrap="square" lIns="0" tIns="0" rIns="0" bIns="0" rtlCol="0" anchor="t"/>
          <a:lstStyle/>
          <a:p>
            <a:pPr marL="152400" indent="-152400">
              <a:spcAft>
                <a:spcPts val="400"/>
              </a:spcAft>
              <a:buSzPct val="100000"/>
              <a:buChar char="•"/>
            </a:pPr>
            <a:r>
              <a:rPr lang="en-US" sz="900" dirty="0">
                <a:solidFill>
                  <a:srgbClr val="1D2522"/>
                </a:solidFill>
                <a:latin typeface="Arial" pitchFamily="34" charset="0"/>
                <a:ea typeface="Arial" pitchFamily="34" charset="-122"/>
                <a:cs typeface="Arial" pitchFamily="34" charset="-120"/>
              </a:rPr>
              <a:t>Prototype includes 35% duty/courier on imports + 15% contingency</a:t>
            </a:r>
            <a:endParaRPr lang="en-US" sz="900" dirty="0"/>
          </a:p>
          <a:p>
            <a:pPr marL="152400" indent="-152400">
              <a:spcAft>
                <a:spcPts val="400"/>
              </a:spcAft>
              <a:buSzPct val="100000"/>
              <a:buChar char="•"/>
            </a:pPr>
            <a:r>
              <a:rPr lang="en-US" sz="900" dirty="0">
                <a:solidFill>
                  <a:srgbClr val="1D2522"/>
                </a:solidFill>
                <a:latin typeface="Arial" pitchFamily="34" charset="0"/>
                <a:ea typeface="Arial" pitchFamily="34" charset="-122"/>
                <a:cs typeface="Arial" pitchFamily="34" charset="-120"/>
              </a:rPr>
              <a:t>Production: 100-unit batch, China parts, Delhi assembly + QC (₹12,000)</a:t>
            </a:r>
            <a:endParaRPr lang="en-US" sz="900" dirty="0"/>
          </a:p>
          <a:p>
            <a:pPr marL="152400" indent="-152400">
              <a:spcAft>
                <a:spcPts val="400"/>
              </a:spcAft>
              <a:buSzPct val="100000"/>
              <a:buChar char="•"/>
            </a:pPr>
            <a:r>
              <a:rPr lang="en-US" sz="900" dirty="0">
                <a:solidFill>
                  <a:srgbClr val="1D2522"/>
                </a:solidFill>
                <a:latin typeface="Arial" pitchFamily="34" charset="0"/>
                <a:ea typeface="Arial" pitchFamily="34" charset="-122"/>
                <a:cs typeface="Arial" pitchFamily="34" charset="-120"/>
              </a:rPr>
              <a:t>China turnkey quotes are pending (RFQ at 5–5,000 units)</a:t>
            </a:r>
            <a:endParaRPr lang="en-US" sz="900" dirty="0"/>
          </a:p>
        </p:txBody>
      </p:sp>
      <p:sp>
        <p:nvSpPr>
          <p:cNvPr id="9" name="Text 5"/>
          <p:cNvSpPr txBox="1"/>
          <p:nvPr/>
        </p:nvSpPr>
        <p:spPr>
          <a:xfrm>
            <a:off x="457200" y="4617720"/>
            <a:ext cx="8229600" cy="201168"/>
          </a:xfrm>
          <a:prstGeom prst="rect">
            <a:avLst/>
          </a:prstGeom>
          <a:noFill/>
          <a:ln/>
        </p:spPr>
        <p:txBody>
          <a:bodyPr wrap="square" lIns="0" tIns="0" rIns="0" bIns="0" rtlCol="0" anchor="t"/>
          <a:lstStyle/>
          <a:p>
            <a:pPr indent="0" marL="0">
              <a:buNone/>
            </a:pPr>
            <a:r>
              <a:rPr lang="en-US" sz="750" i="1" dirty="0">
                <a:solidFill>
                  <a:srgbClr val="5E6B66"/>
                </a:solidFill>
                <a:latin typeface="Arial" pitchFamily="34" charset="0"/>
                <a:ea typeface="Arial" pitchFamily="34" charset="-122"/>
                <a:cs typeface="Arial" pitchFamily="34" charset="-120"/>
              </a:rPr>
              <a:t>Source: Protopus cost report 29 Sep 2026 (81 of 96 lines from live listings). Prices are proposals to test in pilots.</a:t>
            </a:r>
            <a:endParaRPr lang="en-US" sz="7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201168"/>
          </a:xfrm>
          <a:prstGeom prst="rect">
            <a:avLst/>
          </a:prstGeom>
          <a:noFill/>
          <a:ln/>
        </p:spPr>
        <p:txBody>
          <a:bodyPr wrap="square" lIns="0" tIns="0" rIns="0" bIns="0" rtlCol="0" anchor="t"/>
          <a:lstStyle/>
          <a:p>
            <a:pPr indent="0" marL="0">
              <a:buNone/>
            </a:pPr>
            <a:r>
              <a:rPr lang="en-US" sz="900" b="1" spc="200" kern="0" dirty="0">
                <a:solidFill>
                  <a:srgbClr val="C8793A"/>
                </a:solidFill>
                <a:latin typeface="Arial" pitchFamily="34" charset="0"/>
                <a:ea typeface="Arial" pitchFamily="34" charset="-122"/>
                <a:cs typeface="Arial" pitchFamily="34" charset="-120"/>
              </a:rPr>
              <a:t>PRATEEK: 'SAY X LAKH... DOES IT CANCEL MY COST?'</a:t>
            </a:r>
            <a:endParaRPr lang="en-US" sz="900" dirty="0"/>
          </a:p>
        </p:txBody>
      </p:sp>
      <p:sp>
        <p:nvSpPr>
          <p:cNvPr id="3" name="Text 1"/>
          <p:cNvSpPr txBox="1"/>
          <p:nvPr/>
        </p:nvSpPr>
        <p:spPr>
          <a:xfrm>
            <a:off x="457200" y="457200"/>
            <a:ext cx="8229600" cy="566928"/>
          </a:xfrm>
          <a:prstGeom prst="rect">
            <a:avLst/>
          </a:prstGeom>
          <a:noFill/>
          <a:ln/>
        </p:spPr>
        <p:txBody>
          <a:bodyPr wrap="square" lIns="0" tIns="0" rIns="0" bIns="0" rtlCol="0" anchor="ctr">
            <a:normAutofit/>
          </a:bodyPr>
          <a:lstStyle/>
          <a:p>
            <a:pPr indent="0" marL="0">
              <a:buNone/>
            </a:pPr>
            <a:r>
              <a:rPr lang="en-US" sz="2200" b="1" dirty="0">
                <a:solidFill>
                  <a:srgbClr val="0F2A22"/>
                </a:solidFill>
                <a:latin typeface="Arial" pitchFamily="34" charset="0"/>
                <a:ea typeface="Arial" pitchFamily="34" charset="-122"/>
                <a:cs typeface="Arial" pitchFamily="34" charset="-120"/>
              </a:rPr>
              <a:t>Does it pay for itself? After about 59 boards</a:t>
            </a:r>
            <a:endParaRPr lang="en-US" sz="2200" dirty="0"/>
          </a:p>
        </p:txBody>
      </p:sp>
      <p:sp>
        <p:nvSpPr>
          <p:cNvPr id="4" name="Text 2"/>
          <p:cNvSpPr txBox="1"/>
          <p:nvPr/>
        </p:nvSpPr>
        <p:spPr>
          <a:xfrm>
            <a:off x="8321040" y="4828032"/>
            <a:ext cx="365760" cy="182880"/>
          </a:xfrm>
          <a:prstGeom prst="rect">
            <a:avLst/>
          </a:prstGeom>
          <a:noFill/>
          <a:ln/>
        </p:spPr>
        <p:txBody>
          <a:bodyPr wrap="square" lIns="0" tIns="0" rIns="0" bIns="0" rtlCol="0" anchor="t"/>
          <a:lstStyle/>
          <a:p>
            <a:pPr algn="r" indent="0" marL="0">
              <a:buNone/>
            </a:pPr>
            <a:r>
              <a:rPr lang="en-US" sz="800" dirty="0">
                <a:solidFill>
                  <a:srgbClr val="5E6B66"/>
                </a:solidFill>
                <a:latin typeface="Arial" pitchFamily="34" charset="0"/>
                <a:ea typeface="Arial" pitchFamily="34" charset="-122"/>
                <a:cs typeface="Arial" pitchFamily="34" charset="-120"/>
              </a:rPr>
              <a:t>21</a:t>
            </a:r>
            <a:endParaRPr lang="en-US" sz="800" dirty="0"/>
          </a:p>
        </p:txBody>
      </p:sp>
      <p:sp>
        <p:nvSpPr>
          <p:cNvPr id="5" name="Text 3"/>
          <p:cNvSpPr txBox="1"/>
          <p:nvPr/>
        </p:nvSpPr>
        <p:spPr>
          <a:xfrm>
            <a:off x="457200" y="4828032"/>
            <a:ext cx="2743200" cy="182880"/>
          </a:xfrm>
          <a:prstGeom prst="rect">
            <a:avLst/>
          </a:prstGeom>
          <a:noFill/>
          <a:ln/>
        </p:spPr>
        <p:txBody>
          <a:bodyPr wrap="square" lIns="0" tIns="0" rIns="0" bIns="0" rtlCol="0" anchor="t"/>
          <a:lstStyle/>
          <a:p>
            <a:pPr indent="0" marL="0">
              <a:buNone/>
            </a:pPr>
            <a:r>
              <a:rPr lang="en-US" sz="800" dirty="0">
                <a:solidFill>
                  <a:srgbClr val="5E6B66"/>
                </a:solidFill>
                <a:latin typeface="Arial" pitchFamily="34" charset="0"/>
                <a:ea typeface="Arial" pitchFamily="34" charset="-122"/>
                <a:cs typeface="Arial" pitchFamily="34" charset="-120"/>
              </a:rPr>
              <a:t>Protopulse · pitch v2</a:t>
            </a:r>
            <a:endParaRPr lang="en-US" sz="800" dirty="0"/>
          </a:p>
        </p:txBody>
      </p:sp>
      <p:sp>
        <p:nvSpPr>
          <p:cNvPr id="6" name="Shape 4"/>
          <p:cNvSpPr/>
          <p:nvPr/>
        </p:nvSpPr>
        <p:spPr>
          <a:xfrm>
            <a:off x="457200" y="1188720"/>
            <a:ext cx="2606040" cy="1188720"/>
          </a:xfrm>
          <a:prstGeom prst="roundRect">
            <a:avLst>
              <a:gd name="adj" fmla="val 6154"/>
            </a:avLst>
          </a:prstGeom>
          <a:solidFill>
            <a:srgbClr val="E8F1EC"/>
          </a:solidFill>
          <a:ln w="12700">
            <a:solidFill>
              <a:srgbClr val="E8F1EC"/>
            </a:solidFill>
            <a:prstDash val="solid"/>
          </a:ln>
        </p:spPr>
      </p:sp>
      <p:sp>
        <p:nvSpPr>
          <p:cNvPr id="7" name="Text 5"/>
          <p:cNvSpPr txBox="1"/>
          <p:nvPr/>
        </p:nvSpPr>
        <p:spPr>
          <a:xfrm>
            <a:off x="640080" y="1261872"/>
            <a:ext cx="2286000" cy="594360"/>
          </a:xfrm>
          <a:prstGeom prst="rect">
            <a:avLst/>
          </a:prstGeom>
          <a:noFill/>
          <a:ln/>
        </p:spPr>
        <p:txBody>
          <a:bodyPr wrap="square" lIns="0" tIns="0" rIns="0" bIns="0" rtlCol="0" anchor="t"/>
          <a:lstStyle/>
          <a:p>
            <a:pPr indent="0" marL="0">
              <a:buNone/>
            </a:pPr>
            <a:r>
              <a:rPr lang="en-US" sz="3000" b="1" dirty="0">
                <a:solidFill>
                  <a:srgbClr val="C8793A"/>
                </a:solidFill>
                <a:latin typeface="Arial" pitchFamily="34" charset="0"/>
                <a:ea typeface="Arial" pitchFamily="34" charset="-122"/>
                <a:cs typeface="Arial" pitchFamily="34" charset="-120"/>
              </a:rPr>
              <a:t>₹334</a:t>
            </a:r>
            <a:endParaRPr lang="en-US" sz="3000" dirty="0"/>
          </a:p>
        </p:txBody>
      </p:sp>
      <p:sp>
        <p:nvSpPr>
          <p:cNvPr id="8" name="Text 6"/>
          <p:cNvSpPr txBox="1"/>
          <p:nvPr/>
        </p:nvSpPr>
        <p:spPr>
          <a:xfrm>
            <a:off x="640080" y="1874520"/>
            <a:ext cx="2286000" cy="411480"/>
          </a:xfrm>
          <a:prstGeom prst="rect">
            <a:avLst/>
          </a:prstGeom>
          <a:noFill/>
          <a:ln/>
        </p:spPr>
        <p:txBody>
          <a:bodyPr wrap="square" lIns="0" tIns="0" rIns="0" bIns="0" rtlCol="0" anchor="t"/>
          <a:lstStyle/>
          <a:p>
            <a:pPr indent="0" marL="0">
              <a:buNone/>
            </a:pPr>
            <a:r>
              <a:rPr lang="en-US" sz="1000" dirty="0">
                <a:solidFill>
                  <a:srgbClr val="1D2522"/>
                </a:solidFill>
                <a:latin typeface="Arial" pitchFamily="34" charset="0"/>
                <a:ea typeface="Arial" pitchFamily="34" charset="-122"/>
                <a:cs typeface="Arial" pitchFamily="34" charset="-120"/>
              </a:rPr>
              <a:t>Baker consumables per board</a:t>
            </a:r>
            <a:endParaRPr lang="en-US" sz="1000" dirty="0"/>
          </a:p>
        </p:txBody>
      </p:sp>
      <p:sp>
        <p:nvSpPr>
          <p:cNvPr id="9" name="Shape 7"/>
          <p:cNvSpPr/>
          <p:nvPr/>
        </p:nvSpPr>
        <p:spPr>
          <a:xfrm>
            <a:off x="3246120" y="1188720"/>
            <a:ext cx="2606040" cy="1188720"/>
          </a:xfrm>
          <a:prstGeom prst="roundRect">
            <a:avLst>
              <a:gd name="adj" fmla="val 6154"/>
            </a:avLst>
          </a:prstGeom>
          <a:solidFill>
            <a:srgbClr val="F6E7D8"/>
          </a:solidFill>
          <a:ln w="12700">
            <a:solidFill>
              <a:srgbClr val="F6E7D8"/>
            </a:solidFill>
            <a:prstDash val="solid"/>
          </a:ln>
        </p:spPr>
      </p:sp>
      <p:sp>
        <p:nvSpPr>
          <p:cNvPr id="10" name="Text 8"/>
          <p:cNvSpPr txBox="1"/>
          <p:nvPr/>
        </p:nvSpPr>
        <p:spPr>
          <a:xfrm>
            <a:off x="3429000" y="1261872"/>
            <a:ext cx="2286000" cy="594360"/>
          </a:xfrm>
          <a:prstGeom prst="rect">
            <a:avLst/>
          </a:prstGeom>
          <a:noFill/>
          <a:ln/>
        </p:spPr>
        <p:txBody>
          <a:bodyPr wrap="square" lIns="0" tIns="0" rIns="0" bIns="0" rtlCol="0" anchor="t"/>
          <a:lstStyle/>
          <a:p>
            <a:pPr indent="0" marL="0">
              <a:buNone/>
            </a:pPr>
            <a:r>
              <a:rPr lang="en-US" sz="3000" b="1" dirty="0">
                <a:solidFill>
                  <a:srgbClr val="C8793A"/>
                </a:solidFill>
                <a:latin typeface="Arial" pitchFamily="34" charset="0"/>
                <a:ea typeface="Arial" pitchFamily="34" charset="-122"/>
                <a:cs typeface="Arial" pitchFamily="34" charset="-120"/>
              </a:rPr>
              <a:t>₹6,721</a:t>
            </a:r>
            <a:endParaRPr lang="en-US" sz="3000" dirty="0"/>
          </a:p>
        </p:txBody>
      </p:sp>
      <p:sp>
        <p:nvSpPr>
          <p:cNvPr id="11" name="Text 9"/>
          <p:cNvSpPr txBox="1"/>
          <p:nvPr/>
        </p:nvSpPr>
        <p:spPr>
          <a:xfrm>
            <a:off x="3429000" y="1874520"/>
            <a:ext cx="2286000" cy="411480"/>
          </a:xfrm>
          <a:prstGeom prst="rect">
            <a:avLst/>
          </a:prstGeom>
          <a:noFill/>
          <a:ln/>
        </p:spPr>
        <p:txBody>
          <a:bodyPr wrap="square" lIns="0" tIns="0" rIns="0" bIns="0" rtlCol="0" anchor="t"/>
          <a:lstStyle/>
          <a:p>
            <a:pPr indent="0" marL="0">
              <a:buNone/>
            </a:pPr>
            <a:r>
              <a:rPr lang="en-US" sz="1000" dirty="0">
                <a:solidFill>
                  <a:srgbClr val="1D2522"/>
                </a:solidFill>
                <a:latin typeface="Arial" pitchFamily="34" charset="0"/>
                <a:ea typeface="Arial" pitchFamily="34" charset="-122"/>
                <a:cs typeface="Arial" pitchFamily="34" charset="-120"/>
              </a:rPr>
              <a:t>Same board from JLCPCB, landed in India</a:t>
            </a:r>
            <a:endParaRPr lang="en-US" sz="1000" dirty="0"/>
          </a:p>
        </p:txBody>
      </p:sp>
      <p:sp>
        <p:nvSpPr>
          <p:cNvPr id="12" name="Shape 10"/>
          <p:cNvSpPr/>
          <p:nvPr/>
        </p:nvSpPr>
        <p:spPr>
          <a:xfrm>
            <a:off x="6035040" y="1188720"/>
            <a:ext cx="2606040" cy="1188720"/>
          </a:xfrm>
          <a:prstGeom prst="roundRect">
            <a:avLst>
              <a:gd name="adj" fmla="val 6154"/>
            </a:avLst>
          </a:prstGeom>
          <a:solidFill>
            <a:srgbClr val="0F2A22"/>
          </a:solidFill>
          <a:ln w="12700">
            <a:solidFill>
              <a:srgbClr val="0F2A22"/>
            </a:solidFill>
            <a:prstDash val="solid"/>
          </a:ln>
        </p:spPr>
      </p:sp>
      <p:sp>
        <p:nvSpPr>
          <p:cNvPr id="13" name="Text 11"/>
          <p:cNvSpPr txBox="1"/>
          <p:nvPr/>
        </p:nvSpPr>
        <p:spPr>
          <a:xfrm>
            <a:off x="6217920" y="1261872"/>
            <a:ext cx="2286000" cy="594360"/>
          </a:xfrm>
          <a:prstGeom prst="rect">
            <a:avLst/>
          </a:prstGeom>
          <a:noFill/>
          <a:ln/>
        </p:spPr>
        <p:txBody>
          <a:bodyPr wrap="square" lIns="0" tIns="0" rIns="0" bIns="0" rtlCol="0" anchor="t"/>
          <a:lstStyle/>
          <a:p>
            <a:pPr indent="0" marL="0">
              <a:buNone/>
            </a:pPr>
            <a:r>
              <a:rPr lang="en-US" sz="3000" b="1" dirty="0">
                <a:solidFill>
                  <a:srgbClr val="C8793A"/>
                </a:solidFill>
                <a:latin typeface="Arial" pitchFamily="34" charset="0"/>
                <a:ea typeface="Arial" pitchFamily="34" charset="-122"/>
                <a:cs typeface="Arial" pitchFamily="34" charset="-120"/>
              </a:rPr>
              <a:t>59</a:t>
            </a:r>
            <a:endParaRPr lang="en-US" sz="3000" dirty="0"/>
          </a:p>
        </p:txBody>
      </p:sp>
      <p:sp>
        <p:nvSpPr>
          <p:cNvPr id="14" name="Text 12"/>
          <p:cNvSpPr txBox="1"/>
          <p:nvPr/>
        </p:nvSpPr>
        <p:spPr>
          <a:xfrm>
            <a:off x="6217920" y="1874520"/>
            <a:ext cx="2286000" cy="411480"/>
          </a:xfrm>
          <a:prstGeom prst="rect">
            <a:avLst/>
          </a:prstGeom>
          <a:noFill/>
          <a:ln/>
        </p:spPr>
        <p:txBody>
          <a:bodyPr wrap="square" lIns="0" tIns="0" rIns="0" bIns="0" rtlCol="0" anchor="t"/>
          <a:lstStyle/>
          <a:p>
            <a:pPr indent="0" marL="0">
              <a:buNone/>
            </a:pPr>
            <a:r>
              <a:rPr lang="en-US" sz="1000" dirty="0">
                <a:solidFill>
                  <a:srgbClr val="FFFFFF"/>
                </a:solidFill>
                <a:latin typeface="Arial" pitchFamily="34" charset="0"/>
                <a:ea typeface="Arial" pitchFamily="34" charset="-122"/>
                <a:cs typeface="Arial" pitchFamily="34" charset="-120"/>
              </a:rPr>
              <a:t>boards to recover ₹3.74 lakh</a:t>
            </a:r>
            <a:endParaRPr lang="en-US" sz="10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457200" y="2606040"/>
          <a:ext cx="8229600" cy="914400"/>
        </p:xfrm>
        <a:graphic>
          <a:graphicData uri="http://schemas.openxmlformats.org/drawingml/2006/table">
            <a:tbl>
              <a:tblPr/>
              <a:tblGrid>
                <a:gridCol w="1828800"/>
                <a:gridCol w="1280160"/>
                <a:gridCol w="2011680"/>
                <a:gridCol w="1554480"/>
                <a:gridCol w="1554480"/>
              </a:tblGrid>
              <a:tr h="329184">
                <a:tc>
                  <a:txBody>
                    <a:bodyPr/>
                    <a:lstStyle/>
                    <a:p>
                      <a:pPr indent="0" marL="0">
                        <a:buNone/>
                      </a:pPr>
                      <a:r>
                        <a:rPr lang="en-US" sz="1000" b="1" dirty="0">
                          <a:solidFill>
                            <a:srgbClr val="FFFFFF"/>
                          </a:solidFill>
                          <a:latin typeface="Arial" pitchFamily="34" charset="0"/>
                          <a:ea typeface="Arial" pitchFamily="34" charset="-122"/>
                          <a:cs typeface="Arial" pitchFamily="34" charset="-120"/>
                        </a:rPr>
                        <a:t>Baker price (ex-GST)</a:t>
                      </a:r>
                      <a:endParaRPr lang="en-US" sz="10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1B4D3E"/>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Gross margin</a:t>
                      </a:r>
                      <a:endParaRPr lang="en-US" sz="10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1B4D3E"/>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Boards to break even vs JLCPCB</a:t>
                      </a:r>
                      <a:endParaRPr lang="en-US" sz="10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1B4D3E"/>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Startup, 2 boards/wk</a:t>
                      </a:r>
                      <a:endParaRPr lang="en-US" sz="10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1B4D3E"/>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Lab, 1 board/wk</a:t>
                      </a:r>
                      <a:endParaRPr lang="en-US" sz="10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1B4D3E"/>
                    </a:solidFill>
                  </a:tcPr>
                </a:tc>
              </a:tr>
              <a:tr h="329184">
                <a:tc>
                  <a:txBody>
                    <a:bodyPr/>
                    <a:lstStyle/>
                    <a:p>
                      <a:pPr indent="0" marL="0">
                        <a:buNone/>
                      </a:pPr>
                      <a:r>
                        <a:rPr lang="en-US" sz="1000" dirty="0">
                          <a:solidFill>
                            <a:srgbClr val="1D2522"/>
                          </a:solidFill>
                          <a:latin typeface="Arial" pitchFamily="34" charset="0"/>
                          <a:ea typeface="Arial" pitchFamily="34" charset="-122"/>
                          <a:cs typeface="Arial" pitchFamily="34" charset="-120"/>
                        </a:rPr>
                        <a:t>₹2,99,000</a:t>
                      </a:r>
                      <a:endParaRPr lang="en-US" sz="10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c>
                  <a:txBody>
                    <a:bodyPr/>
                    <a:lstStyle/>
                    <a:p>
                      <a:pPr indent="0" marL="0">
                        <a:buNone/>
                      </a:pPr>
                      <a:r>
                        <a:rPr lang="en-US" sz="1000" dirty="0">
                          <a:solidFill>
                            <a:srgbClr val="1D2522"/>
                          </a:solidFill>
                          <a:latin typeface="Arial" pitchFamily="34" charset="0"/>
                          <a:ea typeface="Arial" pitchFamily="34" charset="-122"/>
                          <a:cs typeface="Arial" pitchFamily="34" charset="-120"/>
                        </a:rPr>
                        <a:t>51.6%</a:t>
                      </a:r>
                      <a:endParaRPr lang="en-US" sz="10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c>
                  <a:txBody>
                    <a:bodyPr/>
                    <a:lstStyle/>
                    <a:p>
                      <a:pPr indent="0" marL="0">
                        <a:buNone/>
                      </a:pPr>
                      <a:r>
                        <a:rPr lang="en-US" sz="1000" dirty="0">
                          <a:solidFill>
                            <a:srgbClr val="1D2522"/>
                          </a:solidFill>
                          <a:latin typeface="Arial" pitchFamily="34" charset="0"/>
                          <a:ea typeface="Arial" pitchFamily="34" charset="-122"/>
                          <a:cs typeface="Arial" pitchFamily="34" charset="-120"/>
                        </a:rPr>
                        <a:t>51</a:t>
                      </a:r>
                      <a:endParaRPr lang="en-US" sz="10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c>
                  <a:txBody>
                    <a:bodyPr/>
                    <a:lstStyle/>
                    <a:p>
                      <a:pPr indent="0" marL="0">
                        <a:buNone/>
                      </a:pPr>
                      <a:r>
                        <a:rPr lang="en-US" sz="1000" dirty="0">
                          <a:solidFill>
                            <a:srgbClr val="1D2522"/>
                          </a:solidFill>
                          <a:latin typeface="Arial" pitchFamily="34" charset="0"/>
                          <a:ea typeface="Arial" pitchFamily="34" charset="-122"/>
                          <a:cs typeface="Arial" pitchFamily="34" charset="-120"/>
                        </a:rPr>
                        <a:t>6.4 months</a:t>
                      </a:r>
                      <a:endParaRPr lang="en-US" sz="10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c>
                  <a:txBody>
                    <a:bodyPr/>
                    <a:lstStyle/>
                    <a:p>
                      <a:pPr indent="0" marL="0">
                        <a:buNone/>
                      </a:pPr>
                      <a:r>
                        <a:rPr lang="en-US" sz="1000" dirty="0">
                          <a:solidFill>
                            <a:srgbClr val="1D2522"/>
                          </a:solidFill>
                          <a:latin typeface="Arial" pitchFamily="34" charset="0"/>
                          <a:ea typeface="Arial" pitchFamily="34" charset="-122"/>
                          <a:cs typeface="Arial" pitchFamily="34" charset="-120"/>
                        </a:rPr>
                        <a:t>12.8 months</a:t>
                      </a:r>
                      <a:endParaRPr lang="en-US" sz="10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r>
              <a:tr h="329184">
                <a:tc>
                  <a:txBody>
                    <a:bodyPr/>
                    <a:lstStyle/>
                    <a:p>
                      <a:pPr indent="0" marL="0">
                        <a:buNone/>
                      </a:pPr>
                      <a:r>
                        <a:rPr lang="en-US" sz="1000" b="1" dirty="0">
                          <a:solidFill>
                            <a:srgbClr val="1D2522"/>
                          </a:solidFill>
                          <a:latin typeface="Arial" pitchFamily="34" charset="0"/>
                          <a:ea typeface="Arial" pitchFamily="34" charset="-122"/>
                          <a:cs typeface="Arial" pitchFamily="34" charset="-120"/>
                        </a:rPr>
                        <a:t>₹3,49,000 (proposed)</a:t>
                      </a:r>
                      <a:endParaRPr lang="en-US" sz="10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c>
                  <a:txBody>
                    <a:bodyPr/>
                    <a:lstStyle/>
                    <a:p>
                      <a:pPr indent="0" marL="0">
                        <a:buNone/>
                      </a:pPr>
                      <a:r>
                        <a:rPr lang="en-US" sz="1000" b="1" dirty="0">
                          <a:solidFill>
                            <a:srgbClr val="1D2522"/>
                          </a:solidFill>
                          <a:latin typeface="Arial" pitchFamily="34" charset="0"/>
                          <a:ea typeface="Arial" pitchFamily="34" charset="-122"/>
                          <a:cs typeface="Arial" pitchFamily="34" charset="-120"/>
                        </a:rPr>
                        <a:t>58.5%</a:t>
                      </a:r>
                      <a:endParaRPr lang="en-US" sz="10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c>
                  <a:txBody>
                    <a:bodyPr/>
                    <a:lstStyle/>
                    <a:p>
                      <a:pPr indent="0" marL="0">
                        <a:buNone/>
                      </a:pPr>
                      <a:r>
                        <a:rPr lang="en-US" sz="1000" b="1" dirty="0">
                          <a:solidFill>
                            <a:srgbClr val="1D2522"/>
                          </a:solidFill>
                          <a:latin typeface="Arial" pitchFamily="34" charset="0"/>
                          <a:ea typeface="Arial" pitchFamily="34" charset="-122"/>
                          <a:cs typeface="Arial" pitchFamily="34" charset="-120"/>
                        </a:rPr>
                        <a:t>59</a:t>
                      </a:r>
                      <a:endParaRPr lang="en-US" sz="10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c>
                  <a:txBody>
                    <a:bodyPr/>
                    <a:lstStyle/>
                    <a:p>
                      <a:pPr indent="0" marL="0">
                        <a:buNone/>
                      </a:pPr>
                      <a:r>
                        <a:rPr lang="en-US" sz="1000" b="1" dirty="0">
                          <a:solidFill>
                            <a:srgbClr val="1D2522"/>
                          </a:solidFill>
                          <a:latin typeface="Arial" pitchFamily="34" charset="0"/>
                          <a:ea typeface="Arial" pitchFamily="34" charset="-122"/>
                          <a:cs typeface="Arial" pitchFamily="34" charset="-120"/>
                        </a:rPr>
                        <a:t>7.4 months</a:t>
                      </a:r>
                      <a:endParaRPr lang="en-US" sz="10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c>
                  <a:txBody>
                    <a:bodyPr/>
                    <a:lstStyle/>
                    <a:p>
                      <a:pPr indent="0" marL="0">
                        <a:buNone/>
                      </a:pPr>
                      <a:r>
                        <a:rPr lang="en-US" sz="1000" b="1" dirty="0">
                          <a:solidFill>
                            <a:srgbClr val="1D2522"/>
                          </a:solidFill>
                          <a:latin typeface="Arial" pitchFamily="34" charset="0"/>
                          <a:ea typeface="Arial" pitchFamily="34" charset="-122"/>
                          <a:cs typeface="Arial" pitchFamily="34" charset="-120"/>
                        </a:rPr>
                        <a:t>14.8 months</a:t>
                      </a:r>
                      <a:endParaRPr lang="en-US" sz="10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r>
              <a:tr h="329184">
                <a:tc>
                  <a:txBody>
                    <a:bodyPr/>
                    <a:lstStyle/>
                    <a:p>
                      <a:pPr indent="0" marL="0">
                        <a:buNone/>
                      </a:pPr>
                      <a:r>
                        <a:rPr lang="en-US" sz="1000" dirty="0">
                          <a:solidFill>
                            <a:srgbClr val="1D2522"/>
                          </a:solidFill>
                          <a:latin typeface="Arial" pitchFamily="34" charset="0"/>
                          <a:ea typeface="Arial" pitchFamily="34" charset="-122"/>
                          <a:cs typeface="Arial" pitchFamily="34" charset="-120"/>
                        </a:rPr>
                        <a:t>₹3,99,000</a:t>
                      </a:r>
                      <a:endParaRPr lang="en-US" sz="10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c>
                  <a:txBody>
                    <a:bodyPr/>
                    <a:lstStyle/>
                    <a:p>
                      <a:pPr indent="0" marL="0">
                        <a:buNone/>
                      </a:pPr>
                      <a:r>
                        <a:rPr lang="en-US" sz="1000" dirty="0">
                          <a:solidFill>
                            <a:srgbClr val="1D2522"/>
                          </a:solidFill>
                          <a:latin typeface="Arial" pitchFamily="34" charset="0"/>
                          <a:ea typeface="Arial" pitchFamily="34" charset="-122"/>
                          <a:cs typeface="Arial" pitchFamily="34" charset="-120"/>
                        </a:rPr>
                        <a:t>63.7%</a:t>
                      </a:r>
                      <a:endParaRPr lang="en-US" sz="10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c>
                  <a:txBody>
                    <a:bodyPr/>
                    <a:lstStyle/>
                    <a:p>
                      <a:pPr indent="0" marL="0">
                        <a:buNone/>
                      </a:pPr>
                      <a:r>
                        <a:rPr lang="en-US" sz="1000" dirty="0">
                          <a:solidFill>
                            <a:srgbClr val="1D2522"/>
                          </a:solidFill>
                          <a:latin typeface="Arial" pitchFamily="34" charset="0"/>
                          <a:ea typeface="Arial" pitchFamily="34" charset="-122"/>
                          <a:cs typeface="Arial" pitchFamily="34" charset="-120"/>
                        </a:rPr>
                        <a:t>67</a:t>
                      </a:r>
                      <a:endParaRPr lang="en-US" sz="10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c>
                  <a:txBody>
                    <a:bodyPr/>
                    <a:lstStyle/>
                    <a:p>
                      <a:pPr indent="0" marL="0">
                        <a:buNone/>
                      </a:pPr>
                      <a:r>
                        <a:rPr lang="en-US" sz="1000" dirty="0">
                          <a:solidFill>
                            <a:srgbClr val="1D2522"/>
                          </a:solidFill>
                          <a:latin typeface="Arial" pitchFamily="34" charset="0"/>
                          <a:ea typeface="Arial" pitchFamily="34" charset="-122"/>
                          <a:cs typeface="Arial" pitchFamily="34" charset="-120"/>
                        </a:rPr>
                        <a:t>8.4 months</a:t>
                      </a:r>
                      <a:endParaRPr lang="en-US" sz="10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c>
                  <a:txBody>
                    <a:bodyPr/>
                    <a:lstStyle/>
                    <a:p>
                      <a:pPr indent="0" marL="0">
                        <a:buNone/>
                      </a:pPr>
                      <a:r>
                        <a:rPr lang="en-US" sz="1000" dirty="0">
                          <a:solidFill>
                            <a:srgbClr val="1D2522"/>
                          </a:solidFill>
                          <a:latin typeface="Arial" pitchFamily="34" charset="0"/>
                          <a:ea typeface="Arial" pitchFamily="34" charset="-122"/>
                          <a:cs typeface="Arial" pitchFamily="34" charset="-120"/>
                        </a:rPr>
                        <a:t>16.8 months</a:t>
                      </a:r>
                      <a:endParaRPr lang="en-US" sz="10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r>
            </a:tbl>
          </a:graphicData>
        </a:graphic>
      </p:graphicFrame>
      <p:sp>
        <p:nvSpPr>
          <p:cNvPr id="16" name="Text 13"/>
          <p:cNvSpPr txBox="1"/>
          <p:nvPr/>
        </p:nvSpPr>
        <p:spPr>
          <a:xfrm>
            <a:off x="457200" y="3977640"/>
            <a:ext cx="8229600" cy="640080"/>
          </a:xfrm>
          <a:prstGeom prst="rect">
            <a:avLst/>
          </a:prstGeom>
          <a:noFill/>
          <a:ln/>
        </p:spPr>
        <p:txBody>
          <a:bodyPr wrap="square" lIns="0" tIns="0" rIns="0" bIns="0" rtlCol="0" anchor="t"/>
          <a:lstStyle/>
          <a:p>
            <a:pPr marL="152400" indent="-152400">
              <a:spcAft>
                <a:spcPts val="400"/>
              </a:spcAft>
              <a:buSzPct val="100000"/>
              <a:buChar char="•"/>
            </a:pPr>
            <a:r>
              <a:rPr lang="en-US" sz="900" dirty="0">
                <a:solidFill>
                  <a:srgbClr val="1D2522"/>
                </a:solidFill>
                <a:latin typeface="Arial" pitchFamily="34" charset="0"/>
                <a:ea typeface="Arial" pitchFamily="34" charset="-122"/>
                <a:cs typeface="Arial" pitchFamily="34" charset="-120"/>
              </a:rPr>
              <a:t>Direct cash only. Waiting time (7–20 days per loop) and engineer hours aren't counted, and they're the bigger saving</a:t>
            </a:r>
            <a:endParaRPr lang="en-US" sz="900" dirty="0"/>
          </a:p>
          <a:p>
            <a:pPr marL="152400" indent="-152400">
              <a:spcAft>
                <a:spcPts val="400"/>
              </a:spcAft>
              <a:buSzPct val="100000"/>
              <a:buChar char="•"/>
            </a:pPr>
            <a:r>
              <a:rPr lang="en-US" sz="900" dirty="0">
                <a:solidFill>
                  <a:srgbClr val="1D2522"/>
                </a:solidFill>
                <a:latin typeface="Arial" pitchFamily="34" charset="0"/>
                <a:ea typeface="Arial" pitchFamily="34" charset="-122"/>
                <a:cs typeface="Arial" pitchFamily="34" charset="-120"/>
              </a:rPr>
              <a:t>Against an Indian 24-hour fab (bare boards only): 73 boards</a:t>
            </a:r>
            <a:endParaRPr lang="en-US" sz="900" dirty="0"/>
          </a:p>
          <a:p>
            <a:pPr marL="152400" indent="-152400">
              <a:spcAft>
                <a:spcPts val="400"/>
              </a:spcAft>
              <a:buSzPct val="100000"/>
              <a:buChar char="•"/>
            </a:pPr>
            <a:r>
              <a:rPr lang="en-US" sz="900" dirty="0">
                <a:solidFill>
                  <a:srgbClr val="1D2522"/>
                </a:solidFill>
                <a:latin typeface="Arial" pitchFamily="34" charset="0"/>
                <a:ea typeface="Arial" pitchFamily="34" charset="-122"/>
                <a:cs typeface="Arial" pitchFamily="34" charset="-120"/>
              </a:rPr>
              <a:t>Components are excluded on both sides: you buy the parts either way</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201168"/>
          </a:xfrm>
          <a:prstGeom prst="rect">
            <a:avLst/>
          </a:prstGeom>
          <a:noFill/>
          <a:ln/>
        </p:spPr>
        <p:txBody>
          <a:bodyPr wrap="square" lIns="0" tIns="0" rIns="0" bIns="0" rtlCol="0" anchor="t"/>
          <a:lstStyle/>
          <a:p>
            <a:pPr indent="0" marL="0">
              <a:buNone/>
            </a:pPr>
            <a:r>
              <a:rPr lang="en-US" sz="900" b="1" spc="200" kern="0" dirty="0">
                <a:solidFill>
                  <a:srgbClr val="C8793A"/>
                </a:solidFill>
                <a:latin typeface="Arial" pitchFamily="34" charset="0"/>
                <a:ea typeface="Arial" pitchFamily="34" charset="-122"/>
                <a:cs typeface="Arial" pitchFamily="34" charset="-120"/>
              </a:rPr>
              <a:t>BOTTOM-UP SIZING</a:t>
            </a:r>
            <a:endParaRPr lang="en-US" sz="900" dirty="0"/>
          </a:p>
        </p:txBody>
      </p:sp>
      <p:sp>
        <p:nvSpPr>
          <p:cNvPr id="3" name="Text 1"/>
          <p:cNvSpPr txBox="1"/>
          <p:nvPr/>
        </p:nvSpPr>
        <p:spPr>
          <a:xfrm>
            <a:off x="457200" y="457200"/>
            <a:ext cx="8229600" cy="566928"/>
          </a:xfrm>
          <a:prstGeom prst="rect">
            <a:avLst/>
          </a:prstGeom>
          <a:noFill/>
          <a:ln/>
        </p:spPr>
        <p:txBody>
          <a:bodyPr wrap="square" lIns="0" tIns="0" rIns="0" bIns="0" rtlCol="0" anchor="ctr">
            <a:normAutofit/>
          </a:bodyPr>
          <a:lstStyle/>
          <a:p>
            <a:pPr indent="0" marL="0">
              <a:buNone/>
            </a:pPr>
            <a:r>
              <a:rPr lang="en-US" sz="2200" b="1" dirty="0">
                <a:solidFill>
                  <a:srgbClr val="0F2A22"/>
                </a:solidFill>
                <a:latin typeface="Arial" pitchFamily="34" charset="0"/>
                <a:ea typeface="Arial" pitchFamily="34" charset="-122"/>
                <a:cs typeface="Arial" pitchFamily="34" charset="-120"/>
              </a:rPr>
              <a:t>Market: start in India's labs, then go global</a:t>
            </a:r>
            <a:endParaRPr lang="en-US" sz="2200" dirty="0"/>
          </a:p>
        </p:txBody>
      </p:sp>
      <p:sp>
        <p:nvSpPr>
          <p:cNvPr id="4" name="Text 2"/>
          <p:cNvSpPr txBox="1"/>
          <p:nvPr/>
        </p:nvSpPr>
        <p:spPr>
          <a:xfrm>
            <a:off x="8321040" y="4828032"/>
            <a:ext cx="365760" cy="182880"/>
          </a:xfrm>
          <a:prstGeom prst="rect">
            <a:avLst/>
          </a:prstGeom>
          <a:noFill/>
          <a:ln/>
        </p:spPr>
        <p:txBody>
          <a:bodyPr wrap="square" lIns="0" tIns="0" rIns="0" bIns="0" rtlCol="0" anchor="t"/>
          <a:lstStyle/>
          <a:p>
            <a:pPr algn="r" indent="0" marL="0">
              <a:buNone/>
            </a:pPr>
            <a:r>
              <a:rPr lang="en-US" sz="800" dirty="0">
                <a:solidFill>
                  <a:srgbClr val="5E6B66"/>
                </a:solidFill>
                <a:latin typeface="Arial" pitchFamily="34" charset="0"/>
                <a:ea typeface="Arial" pitchFamily="34" charset="-122"/>
                <a:cs typeface="Arial" pitchFamily="34" charset="-120"/>
              </a:rPr>
              <a:t>22</a:t>
            </a:r>
            <a:endParaRPr lang="en-US" sz="800" dirty="0"/>
          </a:p>
        </p:txBody>
      </p:sp>
      <p:sp>
        <p:nvSpPr>
          <p:cNvPr id="5" name="Text 3"/>
          <p:cNvSpPr txBox="1"/>
          <p:nvPr/>
        </p:nvSpPr>
        <p:spPr>
          <a:xfrm>
            <a:off x="457200" y="4828032"/>
            <a:ext cx="2743200" cy="182880"/>
          </a:xfrm>
          <a:prstGeom prst="rect">
            <a:avLst/>
          </a:prstGeom>
          <a:noFill/>
          <a:ln/>
        </p:spPr>
        <p:txBody>
          <a:bodyPr wrap="square" lIns="0" tIns="0" rIns="0" bIns="0" rtlCol="0" anchor="t"/>
          <a:lstStyle/>
          <a:p>
            <a:pPr indent="0" marL="0">
              <a:buNone/>
            </a:pPr>
            <a:r>
              <a:rPr lang="en-US" sz="800" dirty="0">
                <a:solidFill>
                  <a:srgbClr val="5E6B66"/>
                </a:solidFill>
                <a:latin typeface="Arial" pitchFamily="34" charset="0"/>
                <a:ea typeface="Arial" pitchFamily="34" charset="-122"/>
                <a:cs typeface="Arial" pitchFamily="34" charset="-120"/>
              </a:rPr>
              <a:t>Protopulse · pitch v2</a:t>
            </a:r>
            <a:endParaRPr lang="en-US" sz="800" dirty="0"/>
          </a:p>
        </p:txBody>
      </p:sp>
      <p:sp>
        <p:nvSpPr>
          <p:cNvPr id="6" name="Shape 4"/>
          <p:cNvSpPr/>
          <p:nvPr/>
        </p:nvSpPr>
        <p:spPr>
          <a:xfrm>
            <a:off x="457200" y="1280160"/>
            <a:ext cx="457200" cy="457200"/>
          </a:xfrm>
          <a:prstGeom prst="ellipse">
            <a:avLst/>
          </a:prstGeom>
          <a:solidFill>
            <a:srgbClr val="F6E7D8"/>
          </a:solidFill>
          <a:ln w="15875">
            <a:solidFill>
              <a:srgbClr val="C8793A"/>
            </a:solidFill>
            <a:prstDash val="solid"/>
          </a:ln>
        </p:spPr>
      </p:sp>
      <p:pic>
        <p:nvPicPr>
          <p:cNvPr id="7" name="Image 0" descr="preencoded.png">    </p:cNvPr>
          <p:cNvPicPr>
            <a:picLocks noChangeAspect="1"/>
          </p:cNvPicPr>
          <p:nvPr/>
        </p:nvPicPr>
        <p:blipFill>
          <a:blip r:embed="rId1"/>
          <a:stretch>
            <a:fillRect/>
          </a:stretch>
        </p:blipFill>
        <p:spPr>
          <a:xfrm>
            <a:off x="566928" y="1389888"/>
            <a:ext cx="237744" cy="237744"/>
          </a:xfrm>
          <a:prstGeom prst="rect">
            <a:avLst/>
          </a:prstGeom>
        </p:spPr>
      </p:pic>
      <p:sp>
        <p:nvSpPr>
          <p:cNvPr id="8" name="Text 5"/>
          <p:cNvSpPr txBox="1"/>
          <p:nvPr/>
        </p:nvSpPr>
        <p:spPr>
          <a:xfrm>
            <a:off x="1051560" y="1188720"/>
            <a:ext cx="2011680" cy="411480"/>
          </a:xfrm>
          <a:prstGeom prst="rect">
            <a:avLst/>
          </a:prstGeom>
          <a:noFill/>
          <a:ln/>
        </p:spPr>
        <p:txBody>
          <a:bodyPr wrap="square" lIns="0" tIns="0" rIns="0" bIns="0" rtlCol="0" anchor="t"/>
          <a:lstStyle/>
          <a:p>
            <a:pPr indent="0" marL="0">
              <a:buNone/>
            </a:pPr>
            <a:r>
              <a:rPr lang="en-US" sz="2000" b="1" dirty="0">
                <a:solidFill>
                  <a:srgbClr val="0F2A22"/>
                </a:solidFill>
                <a:latin typeface="Arial" pitchFamily="34" charset="0"/>
                <a:ea typeface="Arial" pitchFamily="34" charset="-122"/>
                <a:cs typeface="Arial" pitchFamily="34" charset="-120"/>
              </a:rPr>
              <a:t>5,868</a:t>
            </a:r>
            <a:endParaRPr lang="en-US" sz="2000" dirty="0"/>
          </a:p>
        </p:txBody>
      </p:sp>
      <p:sp>
        <p:nvSpPr>
          <p:cNvPr id="9" name="Text 6"/>
          <p:cNvSpPr txBox="1"/>
          <p:nvPr/>
        </p:nvSpPr>
        <p:spPr>
          <a:xfrm>
            <a:off x="1051560" y="1600200"/>
            <a:ext cx="3017520" cy="320040"/>
          </a:xfrm>
          <a:prstGeom prst="rect">
            <a:avLst/>
          </a:prstGeom>
          <a:noFill/>
          <a:ln/>
        </p:spPr>
        <p:txBody>
          <a:bodyPr wrap="square" lIns="0" tIns="0" rIns="0" bIns="0" rtlCol="0" anchor="t"/>
          <a:lstStyle/>
          <a:p>
            <a:pPr indent="0" marL="0">
              <a:buNone/>
            </a:pPr>
            <a:r>
              <a:rPr lang="en-US" sz="950" dirty="0">
                <a:solidFill>
                  <a:srgbClr val="5E6B66"/>
                </a:solidFill>
                <a:latin typeface="Arial" pitchFamily="34" charset="0"/>
                <a:ea typeface="Arial" pitchFamily="34" charset="-122"/>
                <a:cs typeface="Arial" pitchFamily="34" charset="-120"/>
              </a:rPr>
              <a:t>AICTE-approved engineering colleges</a:t>
            </a:r>
            <a:endParaRPr lang="en-US" sz="950" dirty="0"/>
          </a:p>
        </p:txBody>
      </p:sp>
      <p:sp>
        <p:nvSpPr>
          <p:cNvPr id="10" name="Shape 7"/>
          <p:cNvSpPr/>
          <p:nvPr/>
        </p:nvSpPr>
        <p:spPr>
          <a:xfrm>
            <a:off x="457200" y="2084832"/>
            <a:ext cx="457200" cy="457200"/>
          </a:xfrm>
          <a:prstGeom prst="ellipse">
            <a:avLst/>
          </a:prstGeom>
          <a:solidFill>
            <a:srgbClr val="F6E7D8"/>
          </a:solidFill>
          <a:ln w="15875">
            <a:solidFill>
              <a:srgbClr val="C8793A"/>
            </a:solidFill>
            <a:prstDash val="solid"/>
          </a:ln>
        </p:spPr>
      </p:sp>
      <p:pic>
        <p:nvPicPr>
          <p:cNvPr id="11" name="Image 1" descr="preencoded.png">    </p:cNvPr>
          <p:cNvPicPr>
            <a:picLocks noChangeAspect="1"/>
          </p:cNvPicPr>
          <p:nvPr/>
        </p:nvPicPr>
        <p:blipFill>
          <a:blip r:embed="rId2"/>
          <a:stretch>
            <a:fillRect/>
          </a:stretch>
        </p:blipFill>
        <p:spPr>
          <a:xfrm>
            <a:off x="566928" y="2194560"/>
            <a:ext cx="237744" cy="237744"/>
          </a:xfrm>
          <a:prstGeom prst="rect">
            <a:avLst/>
          </a:prstGeom>
        </p:spPr>
      </p:pic>
      <p:sp>
        <p:nvSpPr>
          <p:cNvPr id="12" name="Text 8"/>
          <p:cNvSpPr txBox="1"/>
          <p:nvPr/>
        </p:nvSpPr>
        <p:spPr>
          <a:xfrm>
            <a:off x="1051560" y="1993392"/>
            <a:ext cx="2011680" cy="411480"/>
          </a:xfrm>
          <a:prstGeom prst="rect">
            <a:avLst/>
          </a:prstGeom>
          <a:noFill/>
          <a:ln/>
        </p:spPr>
        <p:txBody>
          <a:bodyPr wrap="square" lIns="0" tIns="0" rIns="0" bIns="0" rtlCol="0" anchor="t"/>
          <a:lstStyle/>
          <a:p>
            <a:pPr indent="0" marL="0">
              <a:buNone/>
            </a:pPr>
            <a:r>
              <a:rPr lang="en-US" sz="2000" b="1" dirty="0">
                <a:solidFill>
                  <a:srgbClr val="0F2A22"/>
                </a:solidFill>
                <a:latin typeface="Arial" pitchFamily="34" charset="0"/>
                <a:ea typeface="Arial" pitchFamily="34" charset="-122"/>
                <a:cs typeface="Arial" pitchFamily="34" charset="-120"/>
              </a:rPr>
              <a:t>23.2 lakh</a:t>
            </a:r>
            <a:endParaRPr lang="en-US" sz="2000" dirty="0"/>
          </a:p>
        </p:txBody>
      </p:sp>
      <p:sp>
        <p:nvSpPr>
          <p:cNvPr id="13" name="Text 9"/>
          <p:cNvSpPr txBox="1"/>
          <p:nvPr/>
        </p:nvSpPr>
        <p:spPr>
          <a:xfrm>
            <a:off x="1051560" y="2404872"/>
            <a:ext cx="3017520" cy="320040"/>
          </a:xfrm>
          <a:prstGeom prst="rect">
            <a:avLst/>
          </a:prstGeom>
          <a:noFill/>
          <a:ln/>
        </p:spPr>
        <p:txBody>
          <a:bodyPr wrap="square" lIns="0" tIns="0" rIns="0" bIns="0" rtlCol="0" anchor="t"/>
          <a:lstStyle/>
          <a:p>
            <a:pPr indent="0" marL="0">
              <a:buNone/>
            </a:pPr>
            <a:r>
              <a:rPr lang="en-US" sz="950" dirty="0">
                <a:solidFill>
                  <a:srgbClr val="5E6B66"/>
                </a:solidFill>
                <a:latin typeface="Arial" pitchFamily="34" charset="0"/>
                <a:ea typeface="Arial" pitchFamily="34" charset="-122"/>
                <a:cs typeface="Arial" pitchFamily="34" charset="-120"/>
              </a:rPr>
              <a:t>B.Tech students enrolled</a:t>
            </a:r>
            <a:endParaRPr lang="en-US" sz="950" dirty="0"/>
          </a:p>
        </p:txBody>
      </p:sp>
      <p:sp>
        <p:nvSpPr>
          <p:cNvPr id="14" name="Shape 10"/>
          <p:cNvSpPr/>
          <p:nvPr/>
        </p:nvSpPr>
        <p:spPr>
          <a:xfrm>
            <a:off x="457200" y="2889504"/>
            <a:ext cx="457200" cy="457200"/>
          </a:xfrm>
          <a:prstGeom prst="ellipse">
            <a:avLst/>
          </a:prstGeom>
          <a:solidFill>
            <a:srgbClr val="F6E7D8"/>
          </a:solidFill>
          <a:ln w="15875">
            <a:solidFill>
              <a:srgbClr val="C8793A"/>
            </a:solidFill>
            <a:prstDash val="solid"/>
          </a:ln>
        </p:spPr>
      </p:sp>
      <p:pic>
        <p:nvPicPr>
          <p:cNvPr id="15" name="Image 2" descr="preencoded.png">    </p:cNvPr>
          <p:cNvPicPr>
            <a:picLocks noChangeAspect="1"/>
          </p:cNvPicPr>
          <p:nvPr/>
        </p:nvPicPr>
        <p:blipFill>
          <a:blip r:embed="rId3"/>
          <a:stretch>
            <a:fillRect/>
          </a:stretch>
        </p:blipFill>
        <p:spPr>
          <a:xfrm>
            <a:off x="566928" y="2999232"/>
            <a:ext cx="237744" cy="237744"/>
          </a:xfrm>
          <a:prstGeom prst="rect">
            <a:avLst/>
          </a:prstGeom>
        </p:spPr>
      </p:pic>
      <p:sp>
        <p:nvSpPr>
          <p:cNvPr id="16" name="Text 11"/>
          <p:cNvSpPr txBox="1"/>
          <p:nvPr/>
        </p:nvSpPr>
        <p:spPr>
          <a:xfrm>
            <a:off x="1051560" y="2798064"/>
            <a:ext cx="2011680" cy="411480"/>
          </a:xfrm>
          <a:prstGeom prst="rect">
            <a:avLst/>
          </a:prstGeom>
          <a:noFill/>
          <a:ln/>
        </p:spPr>
        <p:txBody>
          <a:bodyPr wrap="square" lIns="0" tIns="0" rIns="0" bIns="0" rtlCol="0" anchor="t"/>
          <a:lstStyle/>
          <a:p>
            <a:pPr indent="0" marL="0">
              <a:buNone/>
            </a:pPr>
            <a:r>
              <a:rPr lang="en-US" sz="2000" b="1" dirty="0">
                <a:solidFill>
                  <a:srgbClr val="0F2A22"/>
                </a:solidFill>
                <a:latin typeface="Arial" pitchFamily="34" charset="0"/>
                <a:ea typeface="Arial" pitchFamily="34" charset="-122"/>
                <a:cs typeface="Arial" pitchFamily="34" charset="-120"/>
              </a:rPr>
              <a:t>10,000</a:t>
            </a:r>
            <a:endParaRPr lang="en-US" sz="2000" dirty="0"/>
          </a:p>
        </p:txBody>
      </p:sp>
      <p:sp>
        <p:nvSpPr>
          <p:cNvPr id="17" name="Text 12"/>
          <p:cNvSpPr txBox="1"/>
          <p:nvPr/>
        </p:nvSpPr>
        <p:spPr>
          <a:xfrm>
            <a:off x="1051560" y="3209544"/>
            <a:ext cx="3017520" cy="320040"/>
          </a:xfrm>
          <a:prstGeom prst="rect">
            <a:avLst/>
          </a:prstGeom>
          <a:noFill/>
          <a:ln/>
        </p:spPr>
        <p:txBody>
          <a:bodyPr wrap="square" lIns="0" tIns="0" rIns="0" bIns="0" rtlCol="0" anchor="t"/>
          <a:lstStyle/>
          <a:p>
            <a:pPr indent="0" marL="0">
              <a:buNone/>
            </a:pPr>
            <a:r>
              <a:rPr lang="en-US" sz="950" dirty="0">
                <a:solidFill>
                  <a:srgbClr val="5E6B66"/>
                </a:solidFill>
                <a:latin typeface="Arial" pitchFamily="34" charset="0"/>
                <a:ea typeface="Arial" pitchFamily="34" charset="-122"/>
                <a:cs typeface="Arial" pitchFamily="34" charset="-120"/>
              </a:rPr>
              <a:t>Atal Tinkering Labs set up, +50,000 over 5 years</a:t>
            </a:r>
            <a:endParaRPr lang="en-US" sz="950" dirty="0"/>
          </a:p>
        </p:txBody>
      </p:sp>
      <p:sp>
        <p:nvSpPr>
          <p:cNvPr id="18" name="Shape 13"/>
          <p:cNvSpPr/>
          <p:nvPr/>
        </p:nvSpPr>
        <p:spPr>
          <a:xfrm>
            <a:off x="457200" y="3694176"/>
            <a:ext cx="457200" cy="457200"/>
          </a:xfrm>
          <a:prstGeom prst="ellipse">
            <a:avLst/>
          </a:prstGeom>
          <a:solidFill>
            <a:srgbClr val="F6E7D8"/>
          </a:solidFill>
          <a:ln w="15875">
            <a:solidFill>
              <a:srgbClr val="C8793A"/>
            </a:solidFill>
            <a:prstDash val="solid"/>
          </a:ln>
        </p:spPr>
      </p:sp>
      <p:pic>
        <p:nvPicPr>
          <p:cNvPr id="19" name="Image 3" descr="preencoded.png">    </p:cNvPr>
          <p:cNvPicPr>
            <a:picLocks noChangeAspect="1"/>
          </p:cNvPicPr>
          <p:nvPr/>
        </p:nvPicPr>
        <p:blipFill>
          <a:blip r:embed="rId4"/>
          <a:stretch>
            <a:fillRect/>
          </a:stretch>
        </p:blipFill>
        <p:spPr>
          <a:xfrm>
            <a:off x="566928" y="3803904"/>
            <a:ext cx="237744" cy="237744"/>
          </a:xfrm>
          <a:prstGeom prst="rect">
            <a:avLst/>
          </a:prstGeom>
        </p:spPr>
      </p:pic>
      <p:sp>
        <p:nvSpPr>
          <p:cNvPr id="20" name="Text 14"/>
          <p:cNvSpPr txBox="1"/>
          <p:nvPr/>
        </p:nvSpPr>
        <p:spPr>
          <a:xfrm>
            <a:off x="1051560" y="3602736"/>
            <a:ext cx="2011680" cy="411480"/>
          </a:xfrm>
          <a:prstGeom prst="rect">
            <a:avLst/>
          </a:prstGeom>
          <a:noFill/>
          <a:ln/>
        </p:spPr>
        <p:txBody>
          <a:bodyPr wrap="square" lIns="0" tIns="0" rIns="0" bIns="0" rtlCol="0" anchor="t"/>
          <a:lstStyle/>
          <a:p>
            <a:pPr indent="0" marL="0">
              <a:buNone/>
            </a:pPr>
            <a:r>
              <a:rPr lang="en-US" sz="2000" b="1" dirty="0">
                <a:solidFill>
                  <a:srgbClr val="0F2A22"/>
                </a:solidFill>
                <a:latin typeface="Arial" pitchFamily="34" charset="0"/>
                <a:ea typeface="Arial" pitchFamily="34" charset="-122"/>
                <a:cs typeface="Arial" pitchFamily="34" charset="-120"/>
              </a:rPr>
              <a:t>2.25 lakh</a:t>
            </a:r>
            <a:endParaRPr lang="en-US" sz="2000" dirty="0"/>
          </a:p>
        </p:txBody>
      </p:sp>
      <p:sp>
        <p:nvSpPr>
          <p:cNvPr id="21" name="Text 15"/>
          <p:cNvSpPr txBox="1"/>
          <p:nvPr/>
        </p:nvSpPr>
        <p:spPr>
          <a:xfrm>
            <a:off x="1051560" y="4014216"/>
            <a:ext cx="3017520" cy="320040"/>
          </a:xfrm>
          <a:prstGeom prst="rect">
            <a:avLst/>
          </a:prstGeom>
          <a:noFill/>
          <a:ln/>
        </p:spPr>
        <p:txBody>
          <a:bodyPr wrap="square" lIns="0" tIns="0" rIns="0" bIns="0" rtlCol="0" anchor="t"/>
          <a:lstStyle/>
          <a:p>
            <a:pPr indent="0" marL="0">
              <a:buNone/>
            </a:pPr>
            <a:r>
              <a:rPr lang="en-US" sz="950" dirty="0">
                <a:solidFill>
                  <a:srgbClr val="5E6B66"/>
                </a:solidFill>
                <a:latin typeface="Arial" pitchFamily="34" charset="0"/>
                <a:ea typeface="Arial" pitchFamily="34" charset="-122"/>
                <a:cs typeface="Arial" pitchFamily="34" charset="-120"/>
              </a:rPr>
              <a:t>DPIIT-recognised startups</a:t>
            </a:r>
            <a:endParaRPr lang="en-US" sz="950" dirty="0"/>
          </a:p>
        </p:txBody>
      </p:sp>
      <p:sp>
        <p:nvSpPr>
          <p:cNvPr id="22" name="Shape 16"/>
          <p:cNvSpPr/>
          <p:nvPr/>
        </p:nvSpPr>
        <p:spPr>
          <a:xfrm>
            <a:off x="4389120" y="1188720"/>
            <a:ext cx="4297680" cy="2011680"/>
          </a:xfrm>
          <a:prstGeom prst="roundRect">
            <a:avLst>
              <a:gd name="adj" fmla="val 3636"/>
            </a:avLst>
          </a:prstGeom>
          <a:solidFill>
            <a:srgbClr val="0F2A22"/>
          </a:solidFill>
          <a:ln w="12700">
            <a:solidFill>
              <a:srgbClr val="0F2A22"/>
            </a:solidFill>
            <a:prstDash val="solid"/>
          </a:ln>
        </p:spPr>
      </p:sp>
      <p:sp>
        <p:nvSpPr>
          <p:cNvPr id="23" name="Text 17"/>
          <p:cNvSpPr txBox="1"/>
          <p:nvPr/>
        </p:nvSpPr>
        <p:spPr>
          <a:xfrm>
            <a:off x="4572000" y="1298448"/>
            <a:ext cx="3931920" cy="274320"/>
          </a:xfrm>
          <a:prstGeom prst="rect">
            <a:avLst/>
          </a:prstGeom>
          <a:noFill/>
          <a:ln/>
        </p:spPr>
        <p:txBody>
          <a:bodyPr wrap="square" lIns="0" tIns="0" rIns="0" bIns="0" rtlCol="0" anchor="t"/>
          <a:lstStyle/>
          <a:p>
            <a:pPr indent="0" marL="0">
              <a:buNone/>
            </a:pPr>
            <a:r>
              <a:rPr lang="en-US" sz="1100" b="1" dirty="0">
                <a:solidFill>
                  <a:srgbClr val="C8793A"/>
                </a:solidFill>
                <a:latin typeface="Arial" pitchFamily="34" charset="0"/>
                <a:ea typeface="Arial" pitchFamily="34" charset="-122"/>
                <a:cs typeface="Arial" pitchFamily="34" charset="-120"/>
              </a:rPr>
              <a:t>India hardware pool (upper bound)</a:t>
            </a:r>
            <a:endParaRPr lang="en-US" sz="1100" dirty="0"/>
          </a:p>
        </p:txBody>
      </p:sp>
      <p:sp>
        <p:nvSpPr>
          <p:cNvPr id="24" name="Text 18"/>
          <p:cNvSpPr txBox="1"/>
          <p:nvPr/>
        </p:nvSpPr>
        <p:spPr>
          <a:xfrm>
            <a:off x="4572000" y="1645920"/>
            <a:ext cx="2834640" cy="320040"/>
          </a:xfrm>
          <a:prstGeom prst="rect">
            <a:avLst/>
          </a:prstGeom>
          <a:noFill/>
          <a:ln/>
        </p:spPr>
        <p:txBody>
          <a:bodyPr wrap="square" lIns="0" tIns="0" rIns="0" bIns="0" rtlCol="0" anchor="t"/>
          <a:lstStyle/>
          <a:p>
            <a:pPr indent="0" marL="0">
              <a:buNone/>
            </a:pPr>
            <a:r>
              <a:rPr lang="en-US" sz="950" dirty="0">
                <a:solidFill>
                  <a:srgbClr val="FFFFFF"/>
                </a:solidFill>
                <a:latin typeface="Arial" pitchFamily="34" charset="0"/>
                <a:ea typeface="Arial" pitchFamily="34" charset="-122"/>
                <a:cs typeface="Arial" pitchFamily="34" charset="-120"/>
              </a:rPr>
              <a:t>Colleges: 5,868 × ₹3.74 lakh</a:t>
            </a:r>
            <a:endParaRPr lang="en-US" sz="950" dirty="0"/>
          </a:p>
        </p:txBody>
      </p:sp>
      <p:sp>
        <p:nvSpPr>
          <p:cNvPr id="25" name="Text 19"/>
          <p:cNvSpPr txBox="1"/>
          <p:nvPr/>
        </p:nvSpPr>
        <p:spPr>
          <a:xfrm>
            <a:off x="7406640" y="1645920"/>
            <a:ext cx="1143000" cy="320040"/>
          </a:xfrm>
          <a:prstGeom prst="rect">
            <a:avLst/>
          </a:prstGeom>
          <a:noFill/>
          <a:ln/>
        </p:spPr>
        <p:txBody>
          <a:bodyPr wrap="square" lIns="0" tIns="0" rIns="0" bIns="0" rtlCol="0" anchor="t"/>
          <a:lstStyle/>
          <a:p>
            <a:pPr algn="r" indent="0" marL="0">
              <a:buNone/>
            </a:pPr>
            <a:r>
              <a:rPr lang="en-US" sz="1050" b="1" dirty="0">
                <a:solidFill>
                  <a:srgbClr val="C8793A"/>
                </a:solidFill>
                <a:latin typeface="Arial" pitchFamily="34" charset="0"/>
                <a:ea typeface="Arial" pitchFamily="34" charset="-122"/>
                <a:cs typeface="Arial" pitchFamily="34" charset="-120"/>
              </a:rPr>
              <a:t>₹219.5 Cr</a:t>
            </a:r>
            <a:endParaRPr lang="en-US" sz="1050" dirty="0"/>
          </a:p>
        </p:txBody>
      </p:sp>
      <p:sp>
        <p:nvSpPr>
          <p:cNvPr id="26" name="Text 20"/>
          <p:cNvSpPr txBox="1"/>
          <p:nvPr/>
        </p:nvSpPr>
        <p:spPr>
          <a:xfrm>
            <a:off x="4572000" y="2011680"/>
            <a:ext cx="2834640" cy="320040"/>
          </a:xfrm>
          <a:prstGeom prst="rect">
            <a:avLst/>
          </a:prstGeom>
          <a:noFill/>
          <a:ln/>
        </p:spPr>
        <p:txBody>
          <a:bodyPr wrap="square" lIns="0" tIns="0" rIns="0" bIns="0" rtlCol="0" anchor="t"/>
          <a:lstStyle/>
          <a:p>
            <a:pPr indent="0" marL="0">
              <a:buNone/>
            </a:pPr>
            <a:r>
              <a:rPr lang="en-US" sz="950" dirty="0">
                <a:solidFill>
                  <a:srgbClr val="FFFFFF"/>
                </a:solidFill>
                <a:latin typeface="Arial" pitchFamily="34" charset="0"/>
                <a:ea typeface="Arial" pitchFamily="34" charset="-122"/>
                <a:cs typeface="Arial" pitchFamily="34" charset="-120"/>
              </a:rPr>
              <a:t>Startups: 1% of 2.25 lakh × ₹3.74 lakh</a:t>
            </a:r>
            <a:endParaRPr lang="en-US" sz="950" dirty="0"/>
          </a:p>
        </p:txBody>
      </p:sp>
      <p:sp>
        <p:nvSpPr>
          <p:cNvPr id="27" name="Text 21"/>
          <p:cNvSpPr txBox="1"/>
          <p:nvPr/>
        </p:nvSpPr>
        <p:spPr>
          <a:xfrm>
            <a:off x="7406640" y="2011680"/>
            <a:ext cx="1143000" cy="320040"/>
          </a:xfrm>
          <a:prstGeom prst="rect">
            <a:avLst/>
          </a:prstGeom>
          <a:noFill/>
          <a:ln/>
        </p:spPr>
        <p:txBody>
          <a:bodyPr wrap="square" lIns="0" tIns="0" rIns="0" bIns="0" rtlCol="0" anchor="t"/>
          <a:lstStyle/>
          <a:p>
            <a:pPr algn="r" indent="0" marL="0">
              <a:buNone/>
            </a:pPr>
            <a:r>
              <a:rPr lang="en-US" sz="1050" b="1" dirty="0">
                <a:solidFill>
                  <a:srgbClr val="C8793A"/>
                </a:solidFill>
                <a:latin typeface="Arial" pitchFamily="34" charset="0"/>
                <a:ea typeface="Arial" pitchFamily="34" charset="-122"/>
                <a:cs typeface="Arial" pitchFamily="34" charset="-120"/>
              </a:rPr>
              <a:t>₹84.1 Cr</a:t>
            </a:r>
            <a:endParaRPr lang="en-US" sz="1050" dirty="0"/>
          </a:p>
        </p:txBody>
      </p:sp>
      <p:sp>
        <p:nvSpPr>
          <p:cNvPr id="28" name="Text 22"/>
          <p:cNvSpPr txBox="1"/>
          <p:nvPr/>
        </p:nvSpPr>
        <p:spPr>
          <a:xfrm>
            <a:off x="4572000" y="2377440"/>
            <a:ext cx="2834640" cy="320040"/>
          </a:xfrm>
          <a:prstGeom prst="rect">
            <a:avLst/>
          </a:prstGeom>
          <a:noFill/>
          <a:ln/>
        </p:spPr>
        <p:txBody>
          <a:bodyPr wrap="square" lIns="0" tIns="0" rIns="0" bIns="0" rtlCol="0" anchor="t"/>
          <a:lstStyle/>
          <a:p>
            <a:pPr indent="0" marL="0">
              <a:buNone/>
            </a:pPr>
            <a:r>
              <a:rPr lang="en-US" sz="950" b="1" dirty="0">
                <a:solidFill>
                  <a:srgbClr val="FFFFFF"/>
                </a:solidFill>
                <a:latin typeface="Arial" pitchFamily="34" charset="0"/>
                <a:ea typeface="Arial" pitchFamily="34" charset="-122"/>
                <a:cs typeface="Arial" pitchFamily="34" charset="-120"/>
              </a:rPr>
              <a:t>One-time hardware</a:t>
            </a:r>
            <a:endParaRPr lang="en-US" sz="950" dirty="0"/>
          </a:p>
        </p:txBody>
      </p:sp>
      <p:sp>
        <p:nvSpPr>
          <p:cNvPr id="29" name="Text 23"/>
          <p:cNvSpPr txBox="1"/>
          <p:nvPr/>
        </p:nvSpPr>
        <p:spPr>
          <a:xfrm>
            <a:off x="7406640" y="2377440"/>
            <a:ext cx="1143000" cy="320040"/>
          </a:xfrm>
          <a:prstGeom prst="rect">
            <a:avLst/>
          </a:prstGeom>
          <a:noFill/>
          <a:ln/>
        </p:spPr>
        <p:txBody>
          <a:bodyPr wrap="square" lIns="0" tIns="0" rIns="0" bIns="0" rtlCol="0" anchor="t"/>
          <a:lstStyle/>
          <a:p>
            <a:pPr algn="r" indent="0" marL="0">
              <a:buNone/>
            </a:pPr>
            <a:r>
              <a:rPr lang="en-US" sz="1050" b="1" dirty="0">
                <a:solidFill>
                  <a:srgbClr val="C8793A"/>
                </a:solidFill>
                <a:latin typeface="Arial" pitchFamily="34" charset="0"/>
                <a:ea typeface="Arial" pitchFamily="34" charset="-122"/>
                <a:cs typeface="Arial" pitchFamily="34" charset="-120"/>
              </a:rPr>
              <a:t>₹303.6 Cr</a:t>
            </a:r>
            <a:endParaRPr lang="en-US" sz="1050" dirty="0"/>
          </a:p>
        </p:txBody>
      </p:sp>
      <p:sp>
        <p:nvSpPr>
          <p:cNvPr id="30" name="Text 24"/>
          <p:cNvSpPr txBox="1"/>
          <p:nvPr/>
        </p:nvSpPr>
        <p:spPr>
          <a:xfrm>
            <a:off x="4572000" y="2743200"/>
            <a:ext cx="2834640" cy="320040"/>
          </a:xfrm>
          <a:prstGeom prst="rect">
            <a:avLst/>
          </a:prstGeom>
          <a:noFill/>
          <a:ln/>
        </p:spPr>
        <p:txBody>
          <a:bodyPr wrap="square" lIns="0" tIns="0" rIns="0" bIns="0" rtlCol="0" anchor="t"/>
          <a:lstStyle/>
          <a:p>
            <a:pPr indent="0" marL="0">
              <a:buNone/>
            </a:pPr>
            <a:r>
              <a:rPr lang="en-US" sz="950" dirty="0">
                <a:solidFill>
                  <a:srgbClr val="FFFFFF"/>
                </a:solidFill>
                <a:latin typeface="Arial" pitchFamily="34" charset="0"/>
                <a:ea typeface="Arial" pitchFamily="34" charset="-122"/>
                <a:cs typeface="Arial" pitchFamily="34" charset="-120"/>
              </a:rPr>
              <a:t>Proto subscriptions / year</a:t>
            </a:r>
            <a:endParaRPr lang="en-US" sz="950" dirty="0"/>
          </a:p>
        </p:txBody>
      </p:sp>
      <p:sp>
        <p:nvSpPr>
          <p:cNvPr id="31" name="Text 25"/>
          <p:cNvSpPr txBox="1"/>
          <p:nvPr/>
        </p:nvSpPr>
        <p:spPr>
          <a:xfrm>
            <a:off x="7406640" y="2743200"/>
            <a:ext cx="1143000" cy="320040"/>
          </a:xfrm>
          <a:prstGeom prst="rect">
            <a:avLst/>
          </a:prstGeom>
          <a:noFill/>
          <a:ln/>
        </p:spPr>
        <p:txBody>
          <a:bodyPr wrap="square" lIns="0" tIns="0" rIns="0" bIns="0" rtlCol="0" anchor="t"/>
          <a:lstStyle/>
          <a:p>
            <a:pPr algn="r" indent="0" marL="0">
              <a:buNone/>
            </a:pPr>
            <a:r>
              <a:rPr lang="en-US" sz="1050" b="1" dirty="0">
                <a:solidFill>
                  <a:srgbClr val="C8793A"/>
                </a:solidFill>
                <a:latin typeface="Arial" pitchFamily="34" charset="0"/>
                <a:ea typeface="Arial" pitchFamily="34" charset="-122"/>
                <a:cs typeface="Arial" pitchFamily="34" charset="-120"/>
              </a:rPr>
              <a:t>₹48.7 Cr</a:t>
            </a:r>
            <a:endParaRPr lang="en-US" sz="1050" dirty="0"/>
          </a:p>
        </p:txBody>
      </p:sp>
      <p:sp>
        <p:nvSpPr>
          <p:cNvPr id="32" name="Shape 26"/>
          <p:cNvSpPr/>
          <p:nvPr/>
        </p:nvSpPr>
        <p:spPr>
          <a:xfrm>
            <a:off x="4389120" y="3337560"/>
            <a:ext cx="4297680" cy="1188720"/>
          </a:xfrm>
          <a:prstGeom prst="roundRect">
            <a:avLst>
              <a:gd name="adj" fmla="val 6154"/>
            </a:avLst>
          </a:prstGeom>
          <a:solidFill>
            <a:srgbClr val="E8F1EC"/>
          </a:solidFill>
          <a:ln w="12700">
            <a:solidFill>
              <a:srgbClr val="E8F1EC"/>
            </a:solidFill>
            <a:prstDash val="solid"/>
          </a:ln>
        </p:spPr>
      </p:sp>
      <p:sp>
        <p:nvSpPr>
          <p:cNvPr id="33" name="Text 27"/>
          <p:cNvSpPr txBox="1"/>
          <p:nvPr/>
        </p:nvSpPr>
        <p:spPr>
          <a:xfrm>
            <a:off x="4572000" y="3429000"/>
            <a:ext cx="3931920" cy="274320"/>
          </a:xfrm>
          <a:prstGeom prst="rect">
            <a:avLst/>
          </a:prstGeom>
          <a:noFill/>
          <a:ln/>
        </p:spPr>
        <p:txBody>
          <a:bodyPr wrap="square" lIns="0" tIns="0" rIns="0" bIns="0" rtlCol="0" anchor="t"/>
          <a:lstStyle/>
          <a:p>
            <a:pPr indent="0" marL="0">
              <a:buNone/>
            </a:pPr>
            <a:r>
              <a:rPr lang="en-US" sz="1100" b="1" dirty="0">
                <a:solidFill>
                  <a:srgbClr val="1B4D3E"/>
                </a:solidFill>
                <a:latin typeface="Arial" pitchFamily="34" charset="0"/>
                <a:ea typeface="Arial" pitchFamily="34" charset="-122"/>
                <a:cs typeface="Arial" pitchFamily="34" charset="-120"/>
              </a:rPr>
              <a:t>Global, after India</a:t>
            </a:r>
            <a:endParaRPr lang="en-US" sz="1100" dirty="0"/>
          </a:p>
        </p:txBody>
      </p:sp>
      <p:sp>
        <p:nvSpPr>
          <p:cNvPr id="34" name="Text 28"/>
          <p:cNvSpPr txBox="1"/>
          <p:nvPr/>
        </p:nvSpPr>
        <p:spPr>
          <a:xfrm>
            <a:off x="4572000" y="3721608"/>
            <a:ext cx="4023360" cy="777240"/>
          </a:xfrm>
          <a:prstGeom prst="rect">
            <a:avLst/>
          </a:prstGeom>
          <a:noFill/>
          <a:ln/>
        </p:spPr>
        <p:txBody>
          <a:bodyPr wrap="square" lIns="0" tIns="0" rIns="0" bIns="0" rtlCol="0" anchor="t"/>
          <a:lstStyle/>
          <a:p>
            <a:pPr marL="152400" indent="-152400">
              <a:spcAft>
                <a:spcPts val="400"/>
              </a:spcAft>
              <a:buSzPct val="100000"/>
              <a:buChar char="•"/>
            </a:pPr>
            <a:r>
              <a:rPr lang="en-US" sz="900" dirty="0">
                <a:solidFill>
                  <a:srgbClr val="1D2522"/>
                </a:solidFill>
                <a:latin typeface="Arial" pitchFamily="34" charset="0"/>
                <a:ea typeface="Arial" pitchFamily="34" charset="-122"/>
                <a:cs typeface="Arial" pitchFamily="34" charset="-120"/>
              </a:rPr>
              <a:t>2,300+ Fab Labs in 120+ countries</a:t>
            </a:r>
            <a:endParaRPr lang="en-US" sz="900" dirty="0"/>
          </a:p>
          <a:p>
            <a:pPr marL="152400" indent="-152400">
              <a:spcAft>
                <a:spcPts val="400"/>
              </a:spcAft>
              <a:buSzPct val="100000"/>
              <a:buChar char="•"/>
            </a:pPr>
            <a:r>
              <a:rPr lang="en-US" sz="900" dirty="0">
                <a:solidFill>
                  <a:srgbClr val="1D2522"/>
                </a:solidFill>
                <a:latin typeface="Arial" pitchFamily="34" charset="0"/>
                <a:ea typeface="Arial" pitchFamily="34" charset="-122"/>
                <a:cs typeface="Arial" pitchFamily="34" charset="-120"/>
              </a:rPr>
              <a:t>Oscilloscopes: ≈$2.6–2.9B market in 2025</a:t>
            </a:r>
            <a:endParaRPr lang="en-US" sz="900" dirty="0"/>
          </a:p>
          <a:p>
            <a:pPr marL="152400" indent="-152400">
              <a:spcAft>
                <a:spcPts val="400"/>
              </a:spcAft>
              <a:buSzPct val="100000"/>
              <a:buChar char="•"/>
            </a:pPr>
            <a:r>
              <a:rPr lang="en-US" sz="900" dirty="0">
                <a:solidFill>
                  <a:srgbClr val="1D2522"/>
                </a:solidFill>
                <a:latin typeface="Arial" pitchFamily="34" charset="0"/>
                <a:ea typeface="Arial" pitchFamily="34" charset="-122"/>
                <a:cs typeface="Arial" pitchFamily="34" charset="-120"/>
              </a:rPr>
              <a:t>Smart desktop CNC mills: $1.0B (2024) → $1.4B (2031)</a:t>
            </a:r>
            <a:endParaRPr lang="en-US" sz="900" dirty="0"/>
          </a:p>
        </p:txBody>
      </p:sp>
      <p:sp>
        <p:nvSpPr>
          <p:cNvPr id="35" name="Text 29"/>
          <p:cNvSpPr txBox="1"/>
          <p:nvPr/>
        </p:nvSpPr>
        <p:spPr>
          <a:xfrm>
            <a:off x="457200" y="4617720"/>
            <a:ext cx="8229600" cy="201168"/>
          </a:xfrm>
          <a:prstGeom prst="rect">
            <a:avLst/>
          </a:prstGeom>
          <a:noFill/>
          <a:ln/>
        </p:spPr>
        <p:txBody>
          <a:bodyPr wrap="square" lIns="0" tIns="0" rIns="0" bIns="0" rtlCol="0" anchor="t"/>
          <a:lstStyle/>
          <a:p>
            <a:pPr indent="0" marL="0">
              <a:buNone/>
            </a:pPr>
            <a:r>
              <a:rPr lang="en-US" sz="750" i="1" dirty="0">
                <a:solidFill>
                  <a:srgbClr val="5E6B66"/>
                </a:solidFill>
                <a:latin typeface="Arial" pitchFamily="34" charset="0"/>
                <a:ea typeface="Arial" pitchFamily="34" charset="-122"/>
                <a:cs typeface="Arial" pitchFamily="34" charset="-120"/>
              </a:rPr>
              <a:t>Sources: AICTE, AISHE, AIM/PIB, Budget 2025-26, DPIIT, Fab Foundation, Fortune BI, QYResearch (slide 30). 1% startup share is our assumption.</a:t>
            </a:r>
            <a:endParaRPr lang="en-US" sz="7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201168"/>
          </a:xfrm>
          <a:prstGeom prst="rect">
            <a:avLst/>
          </a:prstGeom>
          <a:noFill/>
          <a:ln/>
        </p:spPr>
        <p:txBody>
          <a:bodyPr wrap="square" lIns="0" tIns="0" rIns="0" bIns="0" rtlCol="0" anchor="t"/>
          <a:lstStyle/>
          <a:p>
            <a:pPr indent="0" marL="0">
              <a:buNone/>
            </a:pPr>
            <a:r>
              <a:rPr lang="en-US" sz="900" b="1" spc="200" kern="0" dirty="0">
                <a:solidFill>
                  <a:srgbClr val="C8793A"/>
                </a:solidFill>
                <a:latin typeface="Arial" pitchFamily="34" charset="0"/>
                <a:ea typeface="Arial" pitchFamily="34" charset="-122"/>
                <a:cs typeface="Arial" pitchFamily="34" charset="-120"/>
              </a:rPr>
              <a:t>HOW WE MAKE MONEY</a:t>
            </a:r>
            <a:endParaRPr lang="en-US" sz="900" dirty="0"/>
          </a:p>
        </p:txBody>
      </p:sp>
      <p:sp>
        <p:nvSpPr>
          <p:cNvPr id="3" name="Text 1"/>
          <p:cNvSpPr txBox="1"/>
          <p:nvPr/>
        </p:nvSpPr>
        <p:spPr>
          <a:xfrm>
            <a:off x="457200" y="457200"/>
            <a:ext cx="8229600" cy="566928"/>
          </a:xfrm>
          <a:prstGeom prst="rect">
            <a:avLst/>
          </a:prstGeom>
          <a:noFill/>
          <a:ln/>
        </p:spPr>
        <p:txBody>
          <a:bodyPr wrap="square" lIns="0" tIns="0" rIns="0" bIns="0" rtlCol="0" anchor="ctr">
            <a:normAutofit/>
          </a:bodyPr>
          <a:lstStyle/>
          <a:p>
            <a:pPr indent="0" marL="0">
              <a:buNone/>
            </a:pPr>
            <a:r>
              <a:rPr lang="en-US" sz="2200" b="1" dirty="0">
                <a:solidFill>
                  <a:srgbClr val="0F2A22"/>
                </a:solidFill>
                <a:latin typeface="Arial" pitchFamily="34" charset="0"/>
                <a:ea typeface="Arial" pitchFamily="34" charset="-122"/>
                <a:cs typeface="Arial" pitchFamily="34" charset="-120"/>
              </a:rPr>
              <a:t>Business model: machine once, Proto every year</a:t>
            </a:r>
            <a:endParaRPr lang="en-US" sz="2200" dirty="0"/>
          </a:p>
        </p:txBody>
      </p:sp>
      <p:sp>
        <p:nvSpPr>
          <p:cNvPr id="4" name="Text 2"/>
          <p:cNvSpPr txBox="1"/>
          <p:nvPr/>
        </p:nvSpPr>
        <p:spPr>
          <a:xfrm>
            <a:off x="8321040" y="4828032"/>
            <a:ext cx="365760" cy="182880"/>
          </a:xfrm>
          <a:prstGeom prst="rect">
            <a:avLst/>
          </a:prstGeom>
          <a:noFill/>
          <a:ln/>
        </p:spPr>
        <p:txBody>
          <a:bodyPr wrap="square" lIns="0" tIns="0" rIns="0" bIns="0" rtlCol="0" anchor="t"/>
          <a:lstStyle/>
          <a:p>
            <a:pPr algn="r" indent="0" marL="0">
              <a:buNone/>
            </a:pPr>
            <a:r>
              <a:rPr lang="en-US" sz="800" dirty="0">
                <a:solidFill>
                  <a:srgbClr val="5E6B66"/>
                </a:solidFill>
                <a:latin typeface="Arial" pitchFamily="34" charset="0"/>
                <a:ea typeface="Arial" pitchFamily="34" charset="-122"/>
                <a:cs typeface="Arial" pitchFamily="34" charset="-120"/>
              </a:rPr>
              <a:t>23</a:t>
            </a:r>
            <a:endParaRPr lang="en-US" sz="800" dirty="0"/>
          </a:p>
        </p:txBody>
      </p:sp>
      <p:sp>
        <p:nvSpPr>
          <p:cNvPr id="5" name="Text 3"/>
          <p:cNvSpPr txBox="1"/>
          <p:nvPr/>
        </p:nvSpPr>
        <p:spPr>
          <a:xfrm>
            <a:off x="457200" y="4828032"/>
            <a:ext cx="2743200" cy="182880"/>
          </a:xfrm>
          <a:prstGeom prst="rect">
            <a:avLst/>
          </a:prstGeom>
          <a:noFill/>
          <a:ln/>
        </p:spPr>
        <p:txBody>
          <a:bodyPr wrap="square" lIns="0" tIns="0" rIns="0" bIns="0" rtlCol="0" anchor="t"/>
          <a:lstStyle/>
          <a:p>
            <a:pPr indent="0" marL="0">
              <a:buNone/>
            </a:pPr>
            <a:r>
              <a:rPr lang="en-US" sz="800" dirty="0">
                <a:solidFill>
                  <a:srgbClr val="5E6B66"/>
                </a:solidFill>
                <a:latin typeface="Arial" pitchFamily="34" charset="0"/>
                <a:ea typeface="Arial" pitchFamily="34" charset="-122"/>
                <a:cs typeface="Arial" pitchFamily="34" charset="-120"/>
              </a:rPr>
              <a:t>Protopulse · pitch v2</a:t>
            </a:r>
            <a:endParaRPr lang="en-US" sz="800" dirty="0"/>
          </a:p>
        </p:txBody>
      </p:sp>
      <p:sp>
        <p:nvSpPr>
          <p:cNvPr id="6" name="Shape 4"/>
          <p:cNvSpPr/>
          <p:nvPr/>
        </p:nvSpPr>
        <p:spPr>
          <a:xfrm>
            <a:off x="457200" y="1188720"/>
            <a:ext cx="5212080" cy="566928"/>
          </a:xfrm>
          <a:prstGeom prst="roundRect">
            <a:avLst>
              <a:gd name="adj" fmla="val 12903"/>
            </a:avLst>
          </a:prstGeom>
          <a:solidFill>
            <a:srgbClr val="E8F1EC"/>
          </a:solidFill>
          <a:ln w="12700">
            <a:solidFill>
              <a:srgbClr val="E8F1EC"/>
            </a:solidFill>
            <a:prstDash val="solid"/>
          </a:ln>
        </p:spPr>
      </p:sp>
      <p:sp>
        <p:nvSpPr>
          <p:cNvPr id="7" name="Shape 5"/>
          <p:cNvSpPr/>
          <p:nvPr/>
        </p:nvSpPr>
        <p:spPr>
          <a:xfrm>
            <a:off x="566928" y="1271016"/>
            <a:ext cx="402336" cy="402336"/>
          </a:xfrm>
          <a:prstGeom prst="ellipse">
            <a:avLst/>
          </a:prstGeom>
          <a:solidFill>
            <a:srgbClr val="F6E7D8"/>
          </a:solidFill>
          <a:ln w="15875">
            <a:solidFill>
              <a:srgbClr val="C8793A"/>
            </a:solidFill>
            <a:prstDash val="solid"/>
          </a:ln>
        </p:spPr>
      </p:sp>
      <p:pic>
        <p:nvPicPr>
          <p:cNvPr id="8" name="Image 0" descr="preencoded.png">    </p:cNvPr>
          <p:cNvPicPr>
            <a:picLocks noChangeAspect="1"/>
          </p:cNvPicPr>
          <p:nvPr/>
        </p:nvPicPr>
        <p:blipFill>
          <a:blip r:embed="rId1"/>
          <a:stretch>
            <a:fillRect/>
          </a:stretch>
        </p:blipFill>
        <p:spPr>
          <a:xfrm>
            <a:off x="663489" y="1367577"/>
            <a:ext cx="209215" cy="209215"/>
          </a:xfrm>
          <a:prstGeom prst="rect">
            <a:avLst/>
          </a:prstGeom>
        </p:spPr>
      </p:pic>
      <p:sp>
        <p:nvSpPr>
          <p:cNvPr id="9" name="Text 6"/>
          <p:cNvSpPr txBox="1"/>
          <p:nvPr/>
        </p:nvSpPr>
        <p:spPr>
          <a:xfrm>
            <a:off x="1097280" y="1234440"/>
            <a:ext cx="1737360" cy="475488"/>
          </a:xfrm>
          <a:prstGeom prst="rect">
            <a:avLst/>
          </a:prstGeom>
          <a:noFill/>
          <a:ln/>
        </p:spPr>
        <p:txBody>
          <a:bodyPr wrap="square" lIns="0" tIns="0" rIns="0" bIns="0" rtlCol="0" anchor="ctr"/>
          <a:lstStyle/>
          <a:p>
            <a:pPr indent="0" marL="0">
              <a:buNone/>
            </a:pPr>
            <a:r>
              <a:rPr lang="en-US" sz="1150" b="1" dirty="0">
                <a:solidFill>
                  <a:srgbClr val="1B4D3E"/>
                </a:solidFill>
                <a:latin typeface="Arial" pitchFamily="34" charset="0"/>
                <a:ea typeface="Arial" pitchFamily="34" charset="-122"/>
                <a:cs typeface="Arial" pitchFamily="34" charset="-120"/>
              </a:rPr>
              <a:t>Hardware</a:t>
            </a:r>
            <a:endParaRPr lang="en-US" sz="1150" dirty="0"/>
          </a:p>
        </p:txBody>
      </p:sp>
      <p:sp>
        <p:nvSpPr>
          <p:cNvPr id="10" name="Text 7"/>
          <p:cNvSpPr txBox="1"/>
          <p:nvPr/>
        </p:nvSpPr>
        <p:spPr>
          <a:xfrm>
            <a:off x="2788920" y="1234440"/>
            <a:ext cx="2834640" cy="274320"/>
          </a:xfrm>
          <a:prstGeom prst="rect">
            <a:avLst/>
          </a:prstGeom>
          <a:noFill/>
          <a:ln/>
        </p:spPr>
        <p:txBody>
          <a:bodyPr wrap="square" lIns="0" tIns="0" rIns="0" bIns="0" rtlCol="0" anchor="t"/>
          <a:lstStyle/>
          <a:p>
            <a:pPr indent="0" marL="0">
              <a:buNone/>
            </a:pPr>
            <a:r>
              <a:rPr lang="en-US" sz="900" dirty="0">
                <a:solidFill>
                  <a:srgbClr val="1D2522"/>
                </a:solidFill>
                <a:latin typeface="Arial" pitchFamily="34" charset="0"/>
                <a:ea typeface="Arial" pitchFamily="34" charset="-122"/>
                <a:cs typeface="Arial" pitchFamily="34" charset="-120"/>
              </a:rPr>
              <a:t>Baker ₹3,49,000 · Mixer ₹24,999 (ex-GST)</a:t>
            </a:r>
            <a:endParaRPr lang="en-US" sz="900" dirty="0"/>
          </a:p>
        </p:txBody>
      </p:sp>
      <p:sp>
        <p:nvSpPr>
          <p:cNvPr id="11" name="Text 8"/>
          <p:cNvSpPr txBox="1"/>
          <p:nvPr/>
        </p:nvSpPr>
        <p:spPr>
          <a:xfrm>
            <a:off x="2788920" y="1490472"/>
            <a:ext cx="2834640" cy="228600"/>
          </a:xfrm>
          <a:prstGeom prst="rect">
            <a:avLst/>
          </a:prstGeom>
          <a:noFill/>
          <a:ln/>
        </p:spPr>
        <p:txBody>
          <a:bodyPr wrap="square" lIns="0" tIns="0" rIns="0" bIns="0" rtlCol="0" anchor="t"/>
          <a:lstStyle/>
          <a:p>
            <a:pPr indent="0" marL="0">
              <a:buNone/>
            </a:pPr>
            <a:r>
              <a:rPr lang="en-US" sz="850" b="1" dirty="0">
                <a:solidFill>
                  <a:srgbClr val="C8793A"/>
                </a:solidFill>
                <a:latin typeface="Arial" pitchFamily="34" charset="0"/>
                <a:ea typeface="Arial" pitchFamily="34" charset="-122"/>
                <a:cs typeface="Arial" pitchFamily="34" charset="-120"/>
              </a:rPr>
              <a:t>58.5% / 45.0% gross margin</a:t>
            </a:r>
            <a:endParaRPr lang="en-US" sz="850" dirty="0"/>
          </a:p>
        </p:txBody>
      </p:sp>
      <p:sp>
        <p:nvSpPr>
          <p:cNvPr id="12" name="Shape 9"/>
          <p:cNvSpPr/>
          <p:nvPr/>
        </p:nvSpPr>
        <p:spPr>
          <a:xfrm>
            <a:off x="457200" y="1847088"/>
            <a:ext cx="5212080" cy="566928"/>
          </a:xfrm>
          <a:prstGeom prst="roundRect">
            <a:avLst>
              <a:gd name="adj" fmla="val 12903"/>
            </a:avLst>
          </a:prstGeom>
          <a:solidFill>
            <a:srgbClr val="E8F1EC"/>
          </a:solidFill>
          <a:ln w="12700">
            <a:solidFill>
              <a:srgbClr val="E8F1EC"/>
            </a:solidFill>
            <a:prstDash val="solid"/>
          </a:ln>
        </p:spPr>
      </p:sp>
      <p:sp>
        <p:nvSpPr>
          <p:cNvPr id="13" name="Shape 10"/>
          <p:cNvSpPr/>
          <p:nvPr/>
        </p:nvSpPr>
        <p:spPr>
          <a:xfrm>
            <a:off x="566928" y="1929384"/>
            <a:ext cx="402336" cy="402336"/>
          </a:xfrm>
          <a:prstGeom prst="ellipse">
            <a:avLst/>
          </a:prstGeom>
          <a:solidFill>
            <a:srgbClr val="F6E7D8"/>
          </a:solidFill>
          <a:ln w="15875">
            <a:solidFill>
              <a:srgbClr val="C8793A"/>
            </a:solidFill>
            <a:prstDash val="solid"/>
          </a:ln>
        </p:spPr>
      </p:sp>
      <p:pic>
        <p:nvPicPr>
          <p:cNvPr id="14" name="Image 1" descr="preencoded.png">    </p:cNvPr>
          <p:cNvPicPr>
            <a:picLocks noChangeAspect="1"/>
          </p:cNvPicPr>
          <p:nvPr/>
        </p:nvPicPr>
        <p:blipFill>
          <a:blip r:embed="rId2"/>
          <a:stretch>
            <a:fillRect/>
          </a:stretch>
        </p:blipFill>
        <p:spPr>
          <a:xfrm>
            <a:off x="663489" y="2025945"/>
            <a:ext cx="209215" cy="209215"/>
          </a:xfrm>
          <a:prstGeom prst="rect">
            <a:avLst/>
          </a:prstGeom>
        </p:spPr>
      </p:pic>
      <p:sp>
        <p:nvSpPr>
          <p:cNvPr id="15" name="Text 11"/>
          <p:cNvSpPr txBox="1"/>
          <p:nvPr/>
        </p:nvSpPr>
        <p:spPr>
          <a:xfrm>
            <a:off x="1097280" y="1892808"/>
            <a:ext cx="1737360" cy="475488"/>
          </a:xfrm>
          <a:prstGeom prst="rect">
            <a:avLst/>
          </a:prstGeom>
          <a:noFill/>
          <a:ln/>
        </p:spPr>
        <p:txBody>
          <a:bodyPr wrap="square" lIns="0" tIns="0" rIns="0" bIns="0" rtlCol="0" anchor="ctr"/>
          <a:lstStyle/>
          <a:p>
            <a:pPr indent="0" marL="0">
              <a:buNone/>
            </a:pPr>
            <a:r>
              <a:rPr lang="en-US" sz="1150" b="1" dirty="0">
                <a:solidFill>
                  <a:srgbClr val="1B4D3E"/>
                </a:solidFill>
                <a:latin typeface="Arial" pitchFamily="34" charset="0"/>
                <a:ea typeface="Arial" pitchFamily="34" charset="-122"/>
                <a:cs typeface="Arial" pitchFamily="34" charset="-120"/>
              </a:rPr>
              <a:t>Proto subscription</a:t>
            </a:r>
            <a:endParaRPr lang="en-US" sz="1150" dirty="0"/>
          </a:p>
        </p:txBody>
      </p:sp>
      <p:sp>
        <p:nvSpPr>
          <p:cNvPr id="16" name="Text 12"/>
          <p:cNvSpPr txBox="1"/>
          <p:nvPr/>
        </p:nvSpPr>
        <p:spPr>
          <a:xfrm>
            <a:off x="2788920" y="1892808"/>
            <a:ext cx="2834640" cy="274320"/>
          </a:xfrm>
          <a:prstGeom prst="rect">
            <a:avLst/>
          </a:prstGeom>
          <a:noFill/>
          <a:ln/>
        </p:spPr>
        <p:txBody>
          <a:bodyPr wrap="square" lIns="0" tIns="0" rIns="0" bIns="0" rtlCol="0" anchor="t"/>
          <a:lstStyle/>
          <a:p>
            <a:pPr indent="0" marL="0">
              <a:buNone/>
            </a:pPr>
            <a:r>
              <a:rPr lang="en-US" sz="900" dirty="0">
                <a:solidFill>
                  <a:srgbClr val="1D2522"/>
                </a:solidFill>
                <a:latin typeface="Arial" pitchFamily="34" charset="0"/>
                <a:ea typeface="Arial" pitchFamily="34" charset="-122"/>
                <a:cs typeface="Arial" pitchFamily="34" charset="-120"/>
              </a:rPr>
              <a:t>₹4,999/month per lab after year 1 (year 1 free)</a:t>
            </a:r>
            <a:endParaRPr lang="en-US" sz="900" dirty="0"/>
          </a:p>
        </p:txBody>
      </p:sp>
      <p:sp>
        <p:nvSpPr>
          <p:cNvPr id="17" name="Text 13"/>
          <p:cNvSpPr txBox="1"/>
          <p:nvPr/>
        </p:nvSpPr>
        <p:spPr>
          <a:xfrm>
            <a:off x="2788920" y="2148840"/>
            <a:ext cx="2834640" cy="228600"/>
          </a:xfrm>
          <a:prstGeom prst="rect">
            <a:avLst/>
          </a:prstGeom>
          <a:noFill/>
          <a:ln/>
        </p:spPr>
        <p:txBody>
          <a:bodyPr wrap="square" lIns="0" tIns="0" rIns="0" bIns="0" rtlCol="0" anchor="t"/>
          <a:lstStyle/>
          <a:p>
            <a:pPr indent="0" marL="0">
              <a:buNone/>
            </a:pPr>
            <a:r>
              <a:rPr lang="en-US" sz="850" b="1" dirty="0">
                <a:solidFill>
                  <a:srgbClr val="C8793A"/>
                </a:solidFill>
                <a:latin typeface="Arial" pitchFamily="34" charset="0"/>
                <a:ea typeface="Arial" pitchFamily="34" charset="-122"/>
                <a:cs typeface="Arial" pitchFamily="34" charset="-120"/>
              </a:rPr>
              <a:t>Software margin; cloud cost to be measured</a:t>
            </a:r>
            <a:endParaRPr lang="en-US" sz="850" dirty="0"/>
          </a:p>
        </p:txBody>
      </p:sp>
      <p:sp>
        <p:nvSpPr>
          <p:cNvPr id="18" name="Shape 14"/>
          <p:cNvSpPr/>
          <p:nvPr/>
        </p:nvSpPr>
        <p:spPr>
          <a:xfrm>
            <a:off x="457200" y="2505456"/>
            <a:ext cx="5212080" cy="566928"/>
          </a:xfrm>
          <a:prstGeom prst="roundRect">
            <a:avLst>
              <a:gd name="adj" fmla="val 12903"/>
            </a:avLst>
          </a:prstGeom>
          <a:solidFill>
            <a:srgbClr val="E8F1EC"/>
          </a:solidFill>
          <a:ln w="12700">
            <a:solidFill>
              <a:srgbClr val="E8F1EC"/>
            </a:solidFill>
            <a:prstDash val="solid"/>
          </a:ln>
        </p:spPr>
      </p:sp>
      <p:sp>
        <p:nvSpPr>
          <p:cNvPr id="19" name="Shape 15"/>
          <p:cNvSpPr/>
          <p:nvPr/>
        </p:nvSpPr>
        <p:spPr>
          <a:xfrm>
            <a:off x="566928" y="2587752"/>
            <a:ext cx="402336" cy="402336"/>
          </a:xfrm>
          <a:prstGeom prst="ellipse">
            <a:avLst/>
          </a:prstGeom>
          <a:solidFill>
            <a:srgbClr val="F6E7D8"/>
          </a:solidFill>
          <a:ln w="15875">
            <a:solidFill>
              <a:srgbClr val="C8793A"/>
            </a:solidFill>
            <a:prstDash val="solid"/>
          </a:ln>
        </p:spPr>
      </p:sp>
      <p:pic>
        <p:nvPicPr>
          <p:cNvPr id="20" name="Image 2" descr="preencoded.png">    </p:cNvPr>
          <p:cNvPicPr>
            <a:picLocks noChangeAspect="1"/>
          </p:cNvPicPr>
          <p:nvPr/>
        </p:nvPicPr>
        <p:blipFill>
          <a:blip r:embed="rId3"/>
          <a:stretch>
            <a:fillRect/>
          </a:stretch>
        </p:blipFill>
        <p:spPr>
          <a:xfrm>
            <a:off x="663489" y="2684313"/>
            <a:ext cx="209215" cy="209215"/>
          </a:xfrm>
          <a:prstGeom prst="rect">
            <a:avLst/>
          </a:prstGeom>
        </p:spPr>
      </p:pic>
      <p:sp>
        <p:nvSpPr>
          <p:cNvPr id="21" name="Text 16"/>
          <p:cNvSpPr txBox="1"/>
          <p:nvPr/>
        </p:nvSpPr>
        <p:spPr>
          <a:xfrm>
            <a:off x="1097280" y="2551176"/>
            <a:ext cx="1737360" cy="475488"/>
          </a:xfrm>
          <a:prstGeom prst="rect">
            <a:avLst/>
          </a:prstGeom>
          <a:noFill/>
          <a:ln/>
        </p:spPr>
        <p:txBody>
          <a:bodyPr wrap="square" lIns="0" tIns="0" rIns="0" bIns="0" rtlCol="0" anchor="ctr"/>
          <a:lstStyle/>
          <a:p>
            <a:pPr indent="0" marL="0">
              <a:buNone/>
            </a:pPr>
            <a:r>
              <a:rPr lang="en-US" sz="1150" b="1" dirty="0">
                <a:solidFill>
                  <a:srgbClr val="1B4D3E"/>
                </a:solidFill>
                <a:latin typeface="Arial" pitchFamily="34" charset="0"/>
                <a:ea typeface="Arial" pitchFamily="34" charset="-122"/>
                <a:cs typeface="Arial" pitchFamily="34" charset="-120"/>
              </a:rPr>
              <a:t>Consumable kits</a:t>
            </a:r>
            <a:endParaRPr lang="en-US" sz="1150" dirty="0"/>
          </a:p>
        </p:txBody>
      </p:sp>
      <p:sp>
        <p:nvSpPr>
          <p:cNvPr id="22" name="Text 17"/>
          <p:cNvSpPr txBox="1"/>
          <p:nvPr/>
        </p:nvSpPr>
        <p:spPr>
          <a:xfrm>
            <a:off x="2788920" y="2551176"/>
            <a:ext cx="2834640" cy="274320"/>
          </a:xfrm>
          <a:prstGeom prst="rect">
            <a:avLst/>
          </a:prstGeom>
          <a:noFill/>
          <a:ln/>
        </p:spPr>
        <p:txBody>
          <a:bodyPr wrap="square" lIns="0" tIns="0" rIns="0" bIns="0" rtlCol="0" anchor="t"/>
          <a:lstStyle/>
          <a:p>
            <a:pPr indent="0" marL="0">
              <a:buNone/>
            </a:pPr>
            <a:r>
              <a:rPr lang="en-US" sz="900" dirty="0">
                <a:solidFill>
                  <a:srgbClr val="1D2522"/>
                </a:solidFill>
                <a:latin typeface="Arial" pitchFamily="34" charset="0"/>
                <a:ea typeface="Arial" pitchFamily="34" charset="-122"/>
                <a:cs typeface="Arial" pitchFamily="34" charset="-120"/>
              </a:rPr>
              <a:t>₹699 per board: FR4, mask, paste, film, jig resin</a:t>
            </a:r>
            <a:endParaRPr lang="en-US" sz="900" dirty="0"/>
          </a:p>
        </p:txBody>
      </p:sp>
      <p:sp>
        <p:nvSpPr>
          <p:cNvPr id="23" name="Text 18"/>
          <p:cNvSpPr txBox="1"/>
          <p:nvPr/>
        </p:nvSpPr>
        <p:spPr>
          <a:xfrm>
            <a:off x="2788920" y="2807208"/>
            <a:ext cx="2834640" cy="228600"/>
          </a:xfrm>
          <a:prstGeom prst="rect">
            <a:avLst/>
          </a:prstGeom>
          <a:noFill/>
          <a:ln/>
        </p:spPr>
        <p:txBody>
          <a:bodyPr wrap="square" lIns="0" tIns="0" rIns="0" bIns="0" rtlCol="0" anchor="t"/>
          <a:lstStyle/>
          <a:p>
            <a:pPr indent="0" marL="0">
              <a:buNone/>
            </a:pPr>
            <a:r>
              <a:rPr lang="en-US" sz="850" b="1" dirty="0">
                <a:solidFill>
                  <a:srgbClr val="C8793A"/>
                </a:solidFill>
                <a:latin typeface="Arial" pitchFamily="34" charset="0"/>
                <a:ea typeface="Arial" pitchFamily="34" charset="-122"/>
                <a:cs typeface="Arial" pitchFamily="34" charset="-120"/>
              </a:rPr>
              <a:t>Cost ₹334 → 52% margin</a:t>
            </a:r>
            <a:endParaRPr lang="en-US" sz="850" dirty="0"/>
          </a:p>
        </p:txBody>
      </p:sp>
      <p:sp>
        <p:nvSpPr>
          <p:cNvPr id="24" name="Shape 19"/>
          <p:cNvSpPr/>
          <p:nvPr/>
        </p:nvSpPr>
        <p:spPr>
          <a:xfrm>
            <a:off x="457200" y="3163824"/>
            <a:ext cx="5212080" cy="566928"/>
          </a:xfrm>
          <a:prstGeom prst="roundRect">
            <a:avLst>
              <a:gd name="adj" fmla="val 12903"/>
            </a:avLst>
          </a:prstGeom>
          <a:solidFill>
            <a:srgbClr val="E8F1EC"/>
          </a:solidFill>
          <a:ln w="12700">
            <a:solidFill>
              <a:srgbClr val="E8F1EC"/>
            </a:solidFill>
            <a:prstDash val="solid"/>
          </a:ln>
        </p:spPr>
      </p:sp>
      <p:sp>
        <p:nvSpPr>
          <p:cNvPr id="25" name="Shape 20"/>
          <p:cNvSpPr/>
          <p:nvPr/>
        </p:nvSpPr>
        <p:spPr>
          <a:xfrm>
            <a:off x="566928" y="3246120"/>
            <a:ext cx="402336" cy="402336"/>
          </a:xfrm>
          <a:prstGeom prst="ellipse">
            <a:avLst/>
          </a:prstGeom>
          <a:solidFill>
            <a:srgbClr val="F6E7D8"/>
          </a:solidFill>
          <a:ln w="15875">
            <a:solidFill>
              <a:srgbClr val="C8793A"/>
            </a:solidFill>
            <a:prstDash val="solid"/>
          </a:ln>
        </p:spPr>
      </p:sp>
      <p:pic>
        <p:nvPicPr>
          <p:cNvPr id="26" name="Image 3" descr="preencoded.png">    </p:cNvPr>
          <p:cNvPicPr>
            <a:picLocks noChangeAspect="1"/>
          </p:cNvPicPr>
          <p:nvPr/>
        </p:nvPicPr>
        <p:blipFill>
          <a:blip r:embed="rId4"/>
          <a:stretch>
            <a:fillRect/>
          </a:stretch>
        </p:blipFill>
        <p:spPr>
          <a:xfrm>
            <a:off x="663489" y="3342681"/>
            <a:ext cx="209215" cy="209215"/>
          </a:xfrm>
          <a:prstGeom prst="rect">
            <a:avLst/>
          </a:prstGeom>
        </p:spPr>
      </p:pic>
      <p:sp>
        <p:nvSpPr>
          <p:cNvPr id="27" name="Text 21"/>
          <p:cNvSpPr txBox="1"/>
          <p:nvPr/>
        </p:nvSpPr>
        <p:spPr>
          <a:xfrm>
            <a:off x="1097280" y="3209544"/>
            <a:ext cx="1737360" cy="475488"/>
          </a:xfrm>
          <a:prstGeom prst="rect">
            <a:avLst/>
          </a:prstGeom>
          <a:noFill/>
          <a:ln/>
        </p:spPr>
        <p:txBody>
          <a:bodyPr wrap="square" lIns="0" tIns="0" rIns="0" bIns="0" rtlCol="0" anchor="ctr"/>
          <a:lstStyle/>
          <a:p>
            <a:pPr indent="0" marL="0">
              <a:buNone/>
            </a:pPr>
            <a:r>
              <a:rPr lang="en-US" sz="1150" b="1" dirty="0">
                <a:solidFill>
                  <a:srgbClr val="1B4D3E"/>
                </a:solidFill>
                <a:latin typeface="Arial" pitchFamily="34" charset="0"/>
                <a:ea typeface="Arial" pitchFamily="34" charset="-122"/>
                <a:cs typeface="Arial" pitchFamily="34" charset="-120"/>
              </a:rPr>
              <a:t>Fab hand-off (later)</a:t>
            </a:r>
            <a:endParaRPr lang="en-US" sz="1150" dirty="0"/>
          </a:p>
        </p:txBody>
      </p:sp>
      <p:sp>
        <p:nvSpPr>
          <p:cNvPr id="28" name="Text 22"/>
          <p:cNvSpPr txBox="1"/>
          <p:nvPr/>
        </p:nvSpPr>
        <p:spPr>
          <a:xfrm>
            <a:off x="2788920" y="3209544"/>
            <a:ext cx="2834640" cy="274320"/>
          </a:xfrm>
          <a:prstGeom prst="rect">
            <a:avLst/>
          </a:prstGeom>
          <a:noFill/>
          <a:ln/>
        </p:spPr>
        <p:txBody>
          <a:bodyPr wrap="square" lIns="0" tIns="0" rIns="0" bIns="0" rtlCol="0" anchor="t"/>
          <a:lstStyle/>
          <a:p>
            <a:pPr indent="0" marL="0">
              <a:buNone/>
            </a:pPr>
            <a:r>
              <a:rPr lang="en-US" sz="900" dirty="0">
                <a:solidFill>
                  <a:srgbClr val="1D2522"/>
                </a:solidFill>
                <a:latin typeface="Arial" pitchFamily="34" charset="0"/>
                <a:ea typeface="Arial" pitchFamily="34" charset="-122"/>
                <a:cs typeface="Arial" pitchFamily="34" charset="-120"/>
              </a:rPr>
              <a:t>Checked files sent to partner fabs for 100+ units</a:t>
            </a:r>
            <a:endParaRPr lang="en-US" sz="900" dirty="0"/>
          </a:p>
        </p:txBody>
      </p:sp>
      <p:sp>
        <p:nvSpPr>
          <p:cNvPr id="29" name="Text 23"/>
          <p:cNvSpPr txBox="1"/>
          <p:nvPr/>
        </p:nvSpPr>
        <p:spPr>
          <a:xfrm>
            <a:off x="2788920" y="3465576"/>
            <a:ext cx="2834640" cy="228600"/>
          </a:xfrm>
          <a:prstGeom prst="rect">
            <a:avLst/>
          </a:prstGeom>
          <a:noFill/>
          <a:ln/>
        </p:spPr>
        <p:txBody>
          <a:bodyPr wrap="square" lIns="0" tIns="0" rIns="0" bIns="0" rtlCol="0" anchor="t"/>
          <a:lstStyle/>
          <a:p>
            <a:pPr indent="0" marL="0">
              <a:buNone/>
            </a:pPr>
            <a:r>
              <a:rPr lang="en-US" sz="850" b="1" dirty="0">
                <a:solidFill>
                  <a:srgbClr val="C8793A"/>
                </a:solidFill>
                <a:latin typeface="Arial" pitchFamily="34" charset="0"/>
                <a:ea typeface="Arial" pitchFamily="34" charset="-122"/>
                <a:cs typeface="Arial" pitchFamily="34" charset="-120"/>
              </a:rPr>
              <a:t>Referral revenue; no inventory</a:t>
            </a:r>
            <a:endParaRPr lang="en-US" sz="850" dirty="0"/>
          </a:p>
        </p:txBody>
      </p:sp>
      <p:sp>
        <p:nvSpPr>
          <p:cNvPr id="30" name="Shape 24"/>
          <p:cNvSpPr/>
          <p:nvPr/>
        </p:nvSpPr>
        <p:spPr>
          <a:xfrm>
            <a:off x="5897880" y="1188720"/>
            <a:ext cx="2788920" cy="2560320"/>
          </a:xfrm>
          <a:prstGeom prst="roundRect">
            <a:avLst>
              <a:gd name="adj" fmla="val 2857"/>
            </a:avLst>
          </a:prstGeom>
          <a:solidFill>
            <a:srgbClr val="0F2A22"/>
          </a:solidFill>
          <a:ln w="12700">
            <a:solidFill>
              <a:srgbClr val="0F2A22"/>
            </a:solidFill>
            <a:prstDash val="solid"/>
          </a:ln>
        </p:spPr>
      </p:sp>
      <p:sp>
        <p:nvSpPr>
          <p:cNvPr id="31" name="Text 25"/>
          <p:cNvSpPr txBox="1"/>
          <p:nvPr/>
        </p:nvSpPr>
        <p:spPr>
          <a:xfrm>
            <a:off x="6035040" y="1298448"/>
            <a:ext cx="2560320" cy="457200"/>
          </a:xfrm>
          <a:prstGeom prst="rect">
            <a:avLst/>
          </a:prstGeom>
          <a:noFill/>
          <a:ln/>
        </p:spPr>
        <p:txBody>
          <a:bodyPr wrap="square" lIns="0" tIns="0" rIns="0" bIns="0" rtlCol="0" anchor="t"/>
          <a:lstStyle/>
          <a:p>
            <a:pPr indent="0" marL="0">
              <a:buNone/>
            </a:pPr>
            <a:r>
              <a:rPr lang="en-US" sz="1050" b="1" dirty="0">
                <a:solidFill>
                  <a:srgbClr val="C8793A"/>
                </a:solidFill>
                <a:latin typeface="Arial" pitchFamily="34" charset="0"/>
                <a:ea typeface="Arial" pitchFamily="34" charset="-122"/>
                <a:cs typeface="Arial" pitchFamily="34" charset="-120"/>
              </a:rPr>
              <a:t>Per installed Baker, per year after year 1</a:t>
            </a:r>
            <a:endParaRPr lang="en-US" sz="1050" dirty="0"/>
          </a:p>
        </p:txBody>
      </p:sp>
      <p:sp>
        <p:nvSpPr>
          <p:cNvPr id="32" name="Text 26"/>
          <p:cNvSpPr txBox="1"/>
          <p:nvPr/>
        </p:nvSpPr>
        <p:spPr>
          <a:xfrm>
            <a:off x="6035040" y="1783080"/>
            <a:ext cx="2560320" cy="502920"/>
          </a:xfrm>
          <a:prstGeom prst="rect">
            <a:avLst/>
          </a:prstGeom>
          <a:noFill/>
          <a:ln/>
        </p:spPr>
        <p:txBody>
          <a:bodyPr wrap="square" lIns="0" tIns="0" rIns="0" bIns="0" rtlCol="0" anchor="t"/>
          <a:lstStyle/>
          <a:p>
            <a:pPr indent="0" marL="0">
              <a:buNone/>
            </a:pPr>
            <a:r>
              <a:rPr lang="en-US" sz="2600" b="1" dirty="0">
                <a:solidFill>
                  <a:srgbClr val="FFFFFF"/>
                </a:solidFill>
                <a:latin typeface="Arial" pitchFamily="34" charset="0"/>
                <a:ea typeface="Arial" pitchFamily="34" charset="-122"/>
                <a:cs typeface="Arial" pitchFamily="34" charset="-120"/>
              </a:rPr>
              <a:t>₹1,64,838</a:t>
            </a:r>
            <a:endParaRPr lang="en-US" sz="2600" dirty="0"/>
          </a:p>
        </p:txBody>
      </p:sp>
      <p:sp>
        <p:nvSpPr>
          <p:cNvPr id="33" name="Text 27"/>
          <p:cNvSpPr txBox="1"/>
          <p:nvPr/>
        </p:nvSpPr>
        <p:spPr>
          <a:xfrm>
            <a:off x="6035040" y="2286000"/>
            <a:ext cx="2560320" cy="274320"/>
          </a:xfrm>
          <a:prstGeom prst="rect">
            <a:avLst/>
          </a:prstGeom>
          <a:noFill/>
          <a:ln/>
        </p:spPr>
        <p:txBody>
          <a:bodyPr wrap="square" lIns="0" tIns="0" rIns="0" bIns="0" rtlCol="0" anchor="t"/>
          <a:lstStyle/>
          <a:p>
            <a:pPr indent="0" marL="0">
              <a:buNone/>
            </a:pPr>
            <a:r>
              <a:rPr lang="en-US" sz="950" dirty="0">
                <a:solidFill>
                  <a:srgbClr val="D3E5DB"/>
                </a:solidFill>
                <a:latin typeface="Arial" pitchFamily="34" charset="0"/>
                <a:ea typeface="Arial" pitchFamily="34" charset="-122"/>
                <a:cs typeface="Arial" pitchFamily="34" charset="-120"/>
              </a:rPr>
              <a:t>recurring revenue</a:t>
            </a:r>
            <a:endParaRPr lang="en-US" sz="950" dirty="0"/>
          </a:p>
        </p:txBody>
      </p:sp>
      <p:sp>
        <p:nvSpPr>
          <p:cNvPr id="34" name="Text 28"/>
          <p:cNvSpPr txBox="1"/>
          <p:nvPr/>
        </p:nvSpPr>
        <p:spPr>
          <a:xfrm>
            <a:off x="6035040" y="2606040"/>
            <a:ext cx="2560320" cy="457200"/>
          </a:xfrm>
          <a:prstGeom prst="rect">
            <a:avLst/>
          </a:prstGeom>
          <a:noFill/>
          <a:ln/>
        </p:spPr>
        <p:txBody>
          <a:bodyPr wrap="square" lIns="0" tIns="0" rIns="0" bIns="0" rtlCol="0" anchor="t"/>
          <a:lstStyle/>
          <a:p>
            <a:pPr indent="0" marL="0">
              <a:buNone/>
            </a:pPr>
            <a:r>
              <a:rPr lang="en-US" sz="2000" b="1" dirty="0">
                <a:solidFill>
                  <a:srgbClr val="C8793A"/>
                </a:solidFill>
                <a:latin typeface="Arial" pitchFamily="34" charset="0"/>
                <a:ea typeface="Arial" pitchFamily="34" charset="-122"/>
                <a:cs typeface="Arial" pitchFamily="34" charset="-120"/>
              </a:rPr>
              <a:t>₹1,14,810</a:t>
            </a:r>
            <a:endParaRPr lang="en-US" sz="2000" dirty="0"/>
          </a:p>
        </p:txBody>
      </p:sp>
      <p:sp>
        <p:nvSpPr>
          <p:cNvPr id="35" name="Text 29"/>
          <p:cNvSpPr txBox="1"/>
          <p:nvPr/>
        </p:nvSpPr>
        <p:spPr>
          <a:xfrm>
            <a:off x="6035040" y="3063240"/>
            <a:ext cx="2560320" cy="457200"/>
          </a:xfrm>
          <a:prstGeom prst="rect">
            <a:avLst/>
          </a:prstGeom>
          <a:noFill/>
          <a:ln/>
        </p:spPr>
        <p:txBody>
          <a:bodyPr wrap="square" lIns="0" tIns="0" rIns="0" bIns="0" rtlCol="0" anchor="t"/>
          <a:lstStyle/>
          <a:p>
            <a:pPr indent="0" marL="0">
              <a:buNone/>
            </a:pPr>
            <a:r>
              <a:rPr lang="en-US" sz="950" dirty="0">
                <a:solidFill>
                  <a:srgbClr val="D3E5DB"/>
                </a:solidFill>
                <a:latin typeface="Arial" pitchFamily="34" charset="0"/>
                <a:ea typeface="Arial" pitchFamily="34" charset="-122"/>
                <a:cs typeface="Arial" pitchFamily="34" charset="-120"/>
              </a:rPr>
              <a:t>gross profit, at 150 boards a year</a:t>
            </a:r>
            <a:endParaRPr lang="en-US" sz="950" dirty="0"/>
          </a:p>
        </p:txBody>
      </p:sp>
      <p:sp>
        <p:nvSpPr>
          <p:cNvPr id="36" name="Text 30"/>
          <p:cNvSpPr txBox="1"/>
          <p:nvPr/>
        </p:nvSpPr>
        <p:spPr>
          <a:xfrm>
            <a:off x="457200" y="3931920"/>
            <a:ext cx="8229600" cy="457200"/>
          </a:xfrm>
          <a:prstGeom prst="rect">
            <a:avLst/>
          </a:prstGeom>
          <a:noFill/>
          <a:ln/>
        </p:spPr>
        <p:txBody>
          <a:bodyPr wrap="square" lIns="0" tIns="0" rIns="0" bIns="0" rtlCol="0" anchor="t"/>
          <a:lstStyle/>
          <a:p>
            <a:pPr indent="0" marL="0">
              <a:buNone/>
            </a:pPr>
            <a:r>
              <a:rPr lang="en-US" sz="900" i="1" dirty="0">
                <a:solidFill>
                  <a:srgbClr val="5E6B66"/>
                </a:solidFill>
                <a:latin typeface="Arial" pitchFamily="34" charset="0"/>
                <a:ea typeface="Arial" pitchFamily="34" charset="-122"/>
                <a:cs typeface="Arial" pitchFamily="34" charset="-120"/>
              </a:rPr>
              <a:t>All prices are proposals that the Phase 1 pilots will test. Usage of 150 boards per year (about 3 a week) is an assumption.</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201168"/>
          </a:xfrm>
          <a:prstGeom prst="rect">
            <a:avLst/>
          </a:prstGeom>
          <a:noFill/>
          <a:ln/>
        </p:spPr>
        <p:txBody>
          <a:bodyPr wrap="square" lIns="0" tIns="0" rIns="0" bIns="0" rtlCol="0" anchor="t"/>
          <a:lstStyle/>
          <a:p>
            <a:pPr indent="0" marL="0">
              <a:buNone/>
            </a:pPr>
            <a:r>
              <a:rPr lang="en-US" sz="900" b="1" spc="200" kern="0" dirty="0">
                <a:solidFill>
                  <a:srgbClr val="C8793A"/>
                </a:solidFill>
                <a:latin typeface="Arial" pitchFamily="34" charset="0"/>
                <a:ea typeface="Arial" pitchFamily="34" charset="-122"/>
                <a:cs typeface="Arial" pitchFamily="34" charset="-120"/>
              </a:rPr>
              <a:t>OPERATIONS</a:t>
            </a:r>
            <a:endParaRPr lang="en-US" sz="900" dirty="0"/>
          </a:p>
        </p:txBody>
      </p:sp>
      <p:sp>
        <p:nvSpPr>
          <p:cNvPr id="3" name="Text 1"/>
          <p:cNvSpPr txBox="1"/>
          <p:nvPr/>
        </p:nvSpPr>
        <p:spPr>
          <a:xfrm>
            <a:off x="457200" y="457200"/>
            <a:ext cx="8229600" cy="566928"/>
          </a:xfrm>
          <a:prstGeom prst="rect">
            <a:avLst/>
          </a:prstGeom>
          <a:noFill/>
          <a:ln/>
        </p:spPr>
        <p:txBody>
          <a:bodyPr wrap="square" lIns="0" tIns="0" rIns="0" bIns="0" rtlCol="0" anchor="ctr">
            <a:normAutofit/>
          </a:bodyPr>
          <a:lstStyle/>
          <a:p>
            <a:pPr indent="0" marL="0">
              <a:buNone/>
            </a:pPr>
            <a:r>
              <a:rPr lang="en-US" sz="2200" b="1" dirty="0">
                <a:solidFill>
                  <a:srgbClr val="0F2A22"/>
                </a:solidFill>
                <a:latin typeface="Arial" pitchFamily="34" charset="0"/>
                <a:ea typeface="Arial" pitchFamily="34" charset="-122"/>
                <a:cs typeface="Arial" pitchFamily="34" charset="-120"/>
              </a:rPr>
              <a:t>Manufacturing: China turnkey, India test and ship</a:t>
            </a:r>
            <a:endParaRPr lang="en-US" sz="2200" dirty="0"/>
          </a:p>
        </p:txBody>
      </p:sp>
      <p:sp>
        <p:nvSpPr>
          <p:cNvPr id="4" name="Text 2"/>
          <p:cNvSpPr txBox="1"/>
          <p:nvPr/>
        </p:nvSpPr>
        <p:spPr>
          <a:xfrm>
            <a:off x="8321040" y="4828032"/>
            <a:ext cx="365760" cy="182880"/>
          </a:xfrm>
          <a:prstGeom prst="rect">
            <a:avLst/>
          </a:prstGeom>
          <a:noFill/>
          <a:ln/>
        </p:spPr>
        <p:txBody>
          <a:bodyPr wrap="square" lIns="0" tIns="0" rIns="0" bIns="0" rtlCol="0" anchor="t"/>
          <a:lstStyle/>
          <a:p>
            <a:pPr algn="r" indent="0" marL="0">
              <a:buNone/>
            </a:pPr>
            <a:r>
              <a:rPr lang="en-US" sz="800" dirty="0">
                <a:solidFill>
                  <a:srgbClr val="5E6B66"/>
                </a:solidFill>
                <a:latin typeface="Arial" pitchFamily="34" charset="0"/>
                <a:ea typeface="Arial" pitchFamily="34" charset="-122"/>
                <a:cs typeface="Arial" pitchFamily="34" charset="-120"/>
              </a:rPr>
              <a:t>24</a:t>
            </a:r>
            <a:endParaRPr lang="en-US" sz="800" dirty="0"/>
          </a:p>
        </p:txBody>
      </p:sp>
      <p:sp>
        <p:nvSpPr>
          <p:cNvPr id="5" name="Text 3"/>
          <p:cNvSpPr txBox="1"/>
          <p:nvPr/>
        </p:nvSpPr>
        <p:spPr>
          <a:xfrm>
            <a:off x="457200" y="4828032"/>
            <a:ext cx="2743200" cy="182880"/>
          </a:xfrm>
          <a:prstGeom prst="rect">
            <a:avLst/>
          </a:prstGeom>
          <a:noFill/>
          <a:ln/>
        </p:spPr>
        <p:txBody>
          <a:bodyPr wrap="square" lIns="0" tIns="0" rIns="0" bIns="0" rtlCol="0" anchor="t"/>
          <a:lstStyle/>
          <a:p>
            <a:pPr indent="0" marL="0">
              <a:buNone/>
            </a:pPr>
            <a:r>
              <a:rPr lang="en-US" sz="800" dirty="0">
                <a:solidFill>
                  <a:srgbClr val="5E6B66"/>
                </a:solidFill>
                <a:latin typeface="Arial" pitchFamily="34" charset="0"/>
                <a:ea typeface="Arial" pitchFamily="34" charset="-122"/>
                <a:cs typeface="Arial" pitchFamily="34" charset="-120"/>
              </a:rPr>
              <a:t>Protopulse · pitch v2</a:t>
            </a:r>
            <a:endParaRPr lang="en-US" sz="800" dirty="0"/>
          </a:p>
        </p:txBody>
      </p:sp>
      <p:sp>
        <p:nvSpPr>
          <p:cNvPr id="6" name="Shape 4"/>
          <p:cNvSpPr/>
          <p:nvPr/>
        </p:nvSpPr>
        <p:spPr>
          <a:xfrm>
            <a:off x="457200" y="1188720"/>
            <a:ext cx="1517904" cy="731520"/>
          </a:xfrm>
          <a:prstGeom prst="roundRect">
            <a:avLst>
              <a:gd name="adj" fmla="val 7500"/>
            </a:avLst>
          </a:prstGeom>
          <a:solidFill>
            <a:srgbClr val="F6E7D8"/>
          </a:solidFill>
          <a:ln w="12700">
            <a:solidFill>
              <a:srgbClr val="F6E7D8"/>
            </a:solidFill>
            <a:prstDash val="solid"/>
          </a:ln>
        </p:spPr>
      </p:sp>
      <p:sp>
        <p:nvSpPr>
          <p:cNvPr id="7" name="Text 5"/>
          <p:cNvSpPr txBox="1"/>
          <p:nvPr/>
        </p:nvSpPr>
        <p:spPr>
          <a:xfrm>
            <a:off x="530352" y="1188720"/>
            <a:ext cx="1371600" cy="731520"/>
          </a:xfrm>
          <a:prstGeom prst="rect">
            <a:avLst/>
          </a:prstGeom>
          <a:noFill/>
          <a:ln/>
        </p:spPr>
        <p:txBody>
          <a:bodyPr wrap="square" lIns="0" tIns="0" rIns="0" bIns="0" rtlCol="0" anchor="ctr"/>
          <a:lstStyle/>
          <a:p>
            <a:pPr algn="ctr" indent="0" marL="0">
              <a:buNone/>
            </a:pPr>
            <a:r>
              <a:rPr lang="en-US" sz="900" b="1" dirty="0">
                <a:solidFill>
                  <a:srgbClr val="0F2A22"/>
                </a:solidFill>
                <a:latin typeface="Arial" pitchFamily="34" charset="0"/>
                <a:ea typeface="Arial" pitchFamily="34" charset="-122"/>
                <a:cs typeface="Arial" pitchFamily="34" charset="-120"/>
              </a:rPr>
              <a:t>China: parts, PCBA, frame, assembly</a:t>
            </a:r>
            <a:endParaRPr lang="en-US" sz="900" dirty="0"/>
          </a:p>
        </p:txBody>
      </p:sp>
      <p:sp>
        <p:nvSpPr>
          <p:cNvPr id="8" name="Shape 6"/>
          <p:cNvSpPr/>
          <p:nvPr/>
        </p:nvSpPr>
        <p:spPr>
          <a:xfrm>
            <a:off x="1975104" y="1554480"/>
            <a:ext cx="146304" cy="0"/>
          </a:xfrm>
          <a:prstGeom prst="line">
            <a:avLst/>
          </a:prstGeom>
          <a:noFill/>
          <a:ln w="19050">
            <a:solidFill>
              <a:srgbClr val="C8793A"/>
            </a:solidFill>
            <a:prstDash val="solid"/>
            <a:tailEnd type="triangle"/>
          </a:ln>
        </p:spPr>
      </p:sp>
      <p:sp>
        <p:nvSpPr>
          <p:cNvPr id="9" name="Shape 7"/>
          <p:cNvSpPr/>
          <p:nvPr/>
        </p:nvSpPr>
        <p:spPr>
          <a:xfrm>
            <a:off x="2121408" y="1188720"/>
            <a:ext cx="1517904" cy="731520"/>
          </a:xfrm>
          <a:prstGeom prst="roundRect">
            <a:avLst>
              <a:gd name="adj" fmla="val 7500"/>
            </a:avLst>
          </a:prstGeom>
          <a:solidFill>
            <a:srgbClr val="F6E7D8"/>
          </a:solidFill>
          <a:ln w="12700">
            <a:solidFill>
              <a:srgbClr val="F6E7D8"/>
            </a:solidFill>
            <a:prstDash val="solid"/>
          </a:ln>
        </p:spPr>
      </p:sp>
      <p:sp>
        <p:nvSpPr>
          <p:cNvPr id="10" name="Text 8"/>
          <p:cNvSpPr txBox="1"/>
          <p:nvPr/>
        </p:nvSpPr>
        <p:spPr>
          <a:xfrm>
            <a:off x="2194560" y="1188720"/>
            <a:ext cx="1371600" cy="731520"/>
          </a:xfrm>
          <a:prstGeom prst="rect">
            <a:avLst/>
          </a:prstGeom>
          <a:noFill/>
          <a:ln/>
        </p:spPr>
        <p:txBody>
          <a:bodyPr wrap="square" lIns="0" tIns="0" rIns="0" bIns="0" rtlCol="0" anchor="ctr"/>
          <a:lstStyle/>
          <a:p>
            <a:pPr algn="ctr" indent="0" marL="0">
              <a:buNone/>
            </a:pPr>
            <a:r>
              <a:rPr lang="en-US" sz="900" b="1" dirty="0">
                <a:solidFill>
                  <a:srgbClr val="0F2A22"/>
                </a:solidFill>
                <a:latin typeface="Arial" pitchFamily="34" charset="0"/>
                <a:ea typeface="Arial" pitchFamily="34" charset="-122"/>
                <a:cs typeface="Arial" pitchFamily="34" charset="-120"/>
              </a:rPr>
              <a:t>China: firmware, Mixer-based test, pack</a:t>
            </a:r>
            <a:endParaRPr lang="en-US" sz="900" dirty="0"/>
          </a:p>
        </p:txBody>
      </p:sp>
      <p:sp>
        <p:nvSpPr>
          <p:cNvPr id="11" name="Shape 9"/>
          <p:cNvSpPr/>
          <p:nvPr/>
        </p:nvSpPr>
        <p:spPr>
          <a:xfrm>
            <a:off x="3639312" y="1554480"/>
            <a:ext cx="146304" cy="0"/>
          </a:xfrm>
          <a:prstGeom prst="line">
            <a:avLst/>
          </a:prstGeom>
          <a:noFill/>
          <a:ln w="19050">
            <a:solidFill>
              <a:srgbClr val="C8793A"/>
            </a:solidFill>
            <a:prstDash val="solid"/>
            <a:tailEnd type="triangle"/>
          </a:ln>
        </p:spPr>
      </p:sp>
      <p:sp>
        <p:nvSpPr>
          <p:cNvPr id="12" name="Shape 10"/>
          <p:cNvSpPr/>
          <p:nvPr/>
        </p:nvSpPr>
        <p:spPr>
          <a:xfrm>
            <a:off x="3785616" y="1188720"/>
            <a:ext cx="1517904" cy="731520"/>
          </a:xfrm>
          <a:prstGeom prst="roundRect">
            <a:avLst>
              <a:gd name="adj" fmla="val 7500"/>
            </a:avLst>
          </a:prstGeom>
          <a:solidFill>
            <a:srgbClr val="E8F1EC"/>
          </a:solidFill>
          <a:ln w="12700">
            <a:solidFill>
              <a:srgbClr val="E8F1EC"/>
            </a:solidFill>
            <a:prstDash val="solid"/>
          </a:ln>
        </p:spPr>
      </p:sp>
      <p:sp>
        <p:nvSpPr>
          <p:cNvPr id="13" name="Text 11"/>
          <p:cNvSpPr txBox="1"/>
          <p:nvPr/>
        </p:nvSpPr>
        <p:spPr>
          <a:xfrm>
            <a:off x="3858768" y="1188720"/>
            <a:ext cx="1371600" cy="731520"/>
          </a:xfrm>
          <a:prstGeom prst="rect">
            <a:avLst/>
          </a:prstGeom>
          <a:noFill/>
          <a:ln/>
        </p:spPr>
        <p:txBody>
          <a:bodyPr wrap="square" lIns="0" tIns="0" rIns="0" bIns="0" rtlCol="0" anchor="ctr"/>
          <a:lstStyle/>
          <a:p>
            <a:pPr algn="ctr" indent="0" marL="0">
              <a:buNone/>
            </a:pPr>
            <a:r>
              <a:rPr lang="en-US" sz="900" b="1" dirty="0">
                <a:solidFill>
                  <a:srgbClr val="0F2A22"/>
                </a:solidFill>
                <a:latin typeface="Arial" pitchFamily="34" charset="0"/>
                <a:ea typeface="Arial" pitchFamily="34" charset="-122"/>
                <a:cs typeface="Arial" pitchFamily="34" charset="-120"/>
              </a:rPr>
              <a:t>India: incoming QC + minimal assembly</a:t>
            </a:r>
            <a:endParaRPr lang="en-US" sz="900" dirty="0"/>
          </a:p>
        </p:txBody>
      </p:sp>
      <p:sp>
        <p:nvSpPr>
          <p:cNvPr id="14" name="Shape 12"/>
          <p:cNvSpPr/>
          <p:nvPr/>
        </p:nvSpPr>
        <p:spPr>
          <a:xfrm>
            <a:off x="5303520" y="1554480"/>
            <a:ext cx="146304" cy="0"/>
          </a:xfrm>
          <a:prstGeom prst="line">
            <a:avLst/>
          </a:prstGeom>
          <a:noFill/>
          <a:ln w="19050">
            <a:solidFill>
              <a:srgbClr val="C8793A"/>
            </a:solidFill>
            <a:prstDash val="solid"/>
            <a:tailEnd type="triangle"/>
          </a:ln>
        </p:spPr>
      </p:sp>
      <p:sp>
        <p:nvSpPr>
          <p:cNvPr id="15" name="Shape 13"/>
          <p:cNvSpPr/>
          <p:nvPr/>
        </p:nvSpPr>
        <p:spPr>
          <a:xfrm>
            <a:off x="5449824" y="1188720"/>
            <a:ext cx="1517904" cy="731520"/>
          </a:xfrm>
          <a:prstGeom prst="roundRect">
            <a:avLst>
              <a:gd name="adj" fmla="val 7500"/>
            </a:avLst>
          </a:prstGeom>
          <a:solidFill>
            <a:srgbClr val="E8F1EC"/>
          </a:solidFill>
          <a:ln w="12700">
            <a:solidFill>
              <a:srgbClr val="E8F1EC"/>
            </a:solidFill>
            <a:prstDash val="solid"/>
          </a:ln>
        </p:spPr>
      </p:sp>
      <p:sp>
        <p:nvSpPr>
          <p:cNvPr id="16" name="Text 14"/>
          <p:cNvSpPr txBox="1"/>
          <p:nvPr/>
        </p:nvSpPr>
        <p:spPr>
          <a:xfrm>
            <a:off x="5522976" y="1188720"/>
            <a:ext cx="1371600" cy="731520"/>
          </a:xfrm>
          <a:prstGeom prst="rect">
            <a:avLst/>
          </a:prstGeom>
          <a:noFill/>
          <a:ln/>
        </p:spPr>
        <p:txBody>
          <a:bodyPr wrap="square" lIns="0" tIns="0" rIns="0" bIns="0" rtlCol="0" anchor="ctr"/>
          <a:lstStyle/>
          <a:p>
            <a:pPr algn="ctr" indent="0" marL="0">
              <a:buNone/>
            </a:pPr>
            <a:r>
              <a:rPr lang="en-US" sz="900" b="1" dirty="0">
                <a:solidFill>
                  <a:srgbClr val="0F2A22"/>
                </a:solidFill>
                <a:latin typeface="Arial" pitchFamily="34" charset="0"/>
                <a:ea typeface="Arial" pitchFamily="34" charset="-122"/>
                <a:cs typeface="Arial" pitchFamily="34" charset="-120"/>
              </a:rPr>
              <a:t>India: final test + serial number</a:t>
            </a:r>
            <a:endParaRPr lang="en-US" sz="900" dirty="0"/>
          </a:p>
        </p:txBody>
      </p:sp>
      <p:sp>
        <p:nvSpPr>
          <p:cNvPr id="17" name="Shape 15"/>
          <p:cNvSpPr/>
          <p:nvPr/>
        </p:nvSpPr>
        <p:spPr>
          <a:xfrm>
            <a:off x="6967728" y="1554480"/>
            <a:ext cx="146304" cy="0"/>
          </a:xfrm>
          <a:prstGeom prst="line">
            <a:avLst/>
          </a:prstGeom>
          <a:noFill/>
          <a:ln w="19050">
            <a:solidFill>
              <a:srgbClr val="C8793A"/>
            </a:solidFill>
            <a:prstDash val="solid"/>
            <a:tailEnd type="triangle"/>
          </a:ln>
        </p:spPr>
      </p:sp>
      <p:sp>
        <p:nvSpPr>
          <p:cNvPr id="18" name="Shape 16"/>
          <p:cNvSpPr/>
          <p:nvPr/>
        </p:nvSpPr>
        <p:spPr>
          <a:xfrm>
            <a:off x="7114032" y="1188720"/>
            <a:ext cx="1517904" cy="731520"/>
          </a:xfrm>
          <a:prstGeom prst="roundRect">
            <a:avLst>
              <a:gd name="adj" fmla="val 7500"/>
            </a:avLst>
          </a:prstGeom>
          <a:solidFill>
            <a:srgbClr val="0F2A22"/>
          </a:solidFill>
          <a:ln w="12700">
            <a:solidFill>
              <a:srgbClr val="0F2A22"/>
            </a:solidFill>
            <a:prstDash val="solid"/>
          </a:ln>
        </p:spPr>
      </p:sp>
      <p:sp>
        <p:nvSpPr>
          <p:cNvPr id="19" name="Text 17"/>
          <p:cNvSpPr txBox="1"/>
          <p:nvPr/>
        </p:nvSpPr>
        <p:spPr>
          <a:xfrm>
            <a:off x="7187184" y="1188720"/>
            <a:ext cx="1371600" cy="731520"/>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Ship: India first, then global</a:t>
            </a:r>
            <a:endParaRPr lang="en-US" sz="9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457200" y="2148840"/>
          <a:ext cx="4206240" cy="914400"/>
        </p:xfrm>
        <a:graphic>
          <a:graphicData uri="http://schemas.openxmlformats.org/drawingml/2006/table">
            <a:tbl>
              <a:tblPr/>
              <a:tblGrid>
                <a:gridCol w="1234440"/>
                <a:gridCol w="1051560"/>
                <a:gridCol w="1920240"/>
              </a:tblGrid>
              <a:tr h="310896">
                <a:tc>
                  <a:txBody>
                    <a:bodyPr/>
                    <a:lstStyle/>
                    <a:p>
                      <a:pPr indent="0" marL="0">
                        <a:buNone/>
                      </a:pPr>
                      <a:r>
                        <a:rPr lang="en-US" sz="900" b="1" dirty="0">
                          <a:solidFill>
                            <a:srgbClr val="FFFFFF"/>
                          </a:solidFill>
                          <a:latin typeface="Arial" pitchFamily="34" charset="0"/>
                          <a:ea typeface="Arial" pitchFamily="34" charset="-122"/>
                          <a:cs typeface="Arial" pitchFamily="34" charset="-120"/>
                        </a:rPr>
                        <a:t>Gate</a:t>
                      </a:r>
                      <a:endParaRPr lang="en-US" sz="9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1B4D3E"/>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Units</a:t>
                      </a:r>
                      <a:endParaRPr lang="en-US" sz="9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1B4D3E"/>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Exit criterion</a:t>
                      </a:r>
                      <a:endParaRPr lang="en-US" sz="9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1B4D3E"/>
                    </a:solidFill>
                  </a:tcPr>
                </a:tc>
              </a:tr>
              <a:tr h="310896">
                <a:tc>
                  <a:txBody>
                    <a:bodyPr/>
                    <a:lstStyle/>
                    <a:p>
                      <a:pPr indent="0" marL="0">
                        <a:buNone/>
                      </a:pPr>
                      <a:r>
                        <a:rPr lang="en-US" sz="900" dirty="0">
                          <a:solidFill>
                            <a:srgbClr val="1D2522"/>
                          </a:solidFill>
                          <a:latin typeface="Arial" pitchFamily="34" charset="0"/>
                          <a:ea typeface="Arial" pitchFamily="34" charset="-122"/>
                          <a:cs typeface="Arial" pitchFamily="34" charset="-120"/>
                        </a:rPr>
                        <a:t>DFM / RFQ</a:t>
                      </a:r>
                      <a:endParaRPr lang="en-US" sz="9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c>
                  <a:txBody>
                    <a:bodyPr/>
                    <a:lstStyle/>
                    <a:p>
                      <a:pPr indent="0" marL="0">
                        <a:buNone/>
                      </a:pPr>
                      <a:r>
                        <a:rPr lang="en-US" sz="900" dirty="0">
                          <a:solidFill>
                            <a:srgbClr val="1D2522"/>
                          </a:solidFill>
                          <a:latin typeface="Arial" pitchFamily="34" charset="0"/>
                          <a:ea typeface="Arial" pitchFamily="34" charset="-122"/>
                          <a:cs typeface="Arial" pitchFamily="34" charset="-120"/>
                        </a:rPr>
                        <a:t>–</a:t>
                      </a:r>
                      <a:endParaRPr lang="en-US" sz="9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c>
                  <a:txBody>
                    <a:bodyPr/>
                    <a:lstStyle/>
                    <a:p>
                      <a:pPr indent="0" marL="0">
                        <a:buNone/>
                      </a:pPr>
                      <a:r>
                        <a:rPr lang="en-US" sz="900" dirty="0">
                          <a:solidFill>
                            <a:srgbClr val="1D2522"/>
                          </a:solidFill>
                          <a:latin typeface="Arial" pitchFamily="34" charset="0"/>
                          <a:ea typeface="Arial" pitchFamily="34" charset="-122"/>
                          <a:cs typeface="Arial" pitchFamily="34" charset="-120"/>
                        </a:rPr>
                        <a:t>Technical + commercial shortlist</a:t>
                      </a:r>
                      <a:endParaRPr lang="en-US" sz="9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r>
              <a:tr h="310896">
                <a:tc>
                  <a:txBody>
                    <a:bodyPr/>
                    <a:lstStyle/>
                    <a:p>
                      <a:pPr indent="0" marL="0">
                        <a:buNone/>
                      </a:pPr>
                      <a:r>
                        <a:rPr lang="en-US" sz="900" dirty="0">
                          <a:solidFill>
                            <a:srgbClr val="1D2522"/>
                          </a:solidFill>
                          <a:latin typeface="Arial" pitchFamily="34" charset="0"/>
                          <a:ea typeface="Arial" pitchFamily="34" charset="-122"/>
                          <a:cs typeface="Arial" pitchFamily="34" charset="-120"/>
                        </a:rPr>
                        <a:t>EVT-1 / EVT-2</a:t>
                      </a:r>
                      <a:endParaRPr lang="en-US" sz="9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c>
                  <a:txBody>
                    <a:bodyPr/>
                    <a:lstStyle/>
                    <a:p>
                      <a:pPr indent="0" marL="0">
                        <a:buNone/>
                      </a:pPr>
                      <a:r>
                        <a:rPr lang="en-US" sz="900" dirty="0">
                          <a:solidFill>
                            <a:srgbClr val="1D2522"/>
                          </a:solidFill>
                          <a:latin typeface="Arial" pitchFamily="34" charset="0"/>
                          <a:ea typeface="Arial" pitchFamily="34" charset="-122"/>
                          <a:cs typeface="Arial" pitchFamily="34" charset="-120"/>
                        </a:rPr>
                        <a:t>5–20 / 10–30</a:t>
                      </a:r>
                      <a:endParaRPr lang="en-US" sz="9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c>
                  <a:txBody>
                    <a:bodyPr/>
                    <a:lstStyle/>
                    <a:p>
                      <a:pPr indent="0" marL="0">
                        <a:buNone/>
                      </a:pPr>
                      <a:r>
                        <a:rPr lang="en-US" sz="900" dirty="0">
                          <a:solidFill>
                            <a:srgbClr val="1D2522"/>
                          </a:solidFill>
                          <a:latin typeface="Arial" pitchFamily="34" charset="0"/>
                          <a:ea typeface="Arial" pitchFamily="34" charset="-122"/>
                          <a:cs typeface="Arial" pitchFamily="34" charset="-120"/>
                        </a:rPr>
                        <a:t>Repeatable build; critical issues closed</a:t>
                      </a:r>
                      <a:endParaRPr lang="en-US" sz="9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r>
              <a:tr h="310896">
                <a:tc>
                  <a:txBody>
                    <a:bodyPr/>
                    <a:lstStyle/>
                    <a:p>
                      <a:pPr indent="0" marL="0">
                        <a:buNone/>
                      </a:pPr>
                      <a:r>
                        <a:rPr lang="en-US" sz="900" dirty="0">
                          <a:solidFill>
                            <a:srgbClr val="1D2522"/>
                          </a:solidFill>
                          <a:latin typeface="Arial" pitchFamily="34" charset="0"/>
                          <a:ea typeface="Arial" pitchFamily="34" charset="-122"/>
                          <a:cs typeface="Arial" pitchFamily="34" charset="-120"/>
                        </a:rPr>
                        <a:t>DVT</a:t>
                      </a:r>
                      <a:endParaRPr lang="en-US" sz="9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c>
                  <a:txBody>
                    <a:bodyPr/>
                    <a:lstStyle/>
                    <a:p>
                      <a:pPr indent="0" marL="0">
                        <a:buNone/>
                      </a:pPr>
                      <a:r>
                        <a:rPr lang="en-US" sz="900" dirty="0">
                          <a:solidFill>
                            <a:srgbClr val="1D2522"/>
                          </a:solidFill>
                          <a:latin typeface="Arial" pitchFamily="34" charset="0"/>
                          <a:ea typeface="Arial" pitchFamily="34" charset="-122"/>
                          <a:cs typeface="Arial" pitchFamily="34" charset="-120"/>
                        </a:rPr>
                        <a:t>20–100</a:t>
                      </a:r>
                      <a:endParaRPr lang="en-US" sz="9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c>
                  <a:txBody>
                    <a:bodyPr/>
                    <a:lstStyle/>
                    <a:p>
                      <a:pPr indent="0" marL="0">
                        <a:buNone/>
                      </a:pPr>
                      <a:r>
                        <a:rPr lang="en-US" sz="900" dirty="0">
                          <a:solidFill>
                            <a:srgbClr val="1D2522"/>
                          </a:solidFill>
                          <a:latin typeface="Arial" pitchFamily="34" charset="0"/>
                          <a:ea typeface="Arial" pitchFamily="34" charset="-122"/>
                          <a:cs typeface="Arial" pitchFamily="34" charset="-120"/>
                        </a:rPr>
                        <a:t>Design frozen</a:t>
                      </a:r>
                      <a:endParaRPr lang="en-US" sz="9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r>
              <a:tr h="310896">
                <a:tc>
                  <a:txBody>
                    <a:bodyPr/>
                    <a:lstStyle/>
                    <a:p>
                      <a:pPr indent="0" marL="0">
                        <a:buNone/>
                      </a:pPr>
                      <a:r>
                        <a:rPr lang="en-US" sz="900" dirty="0">
                          <a:solidFill>
                            <a:srgbClr val="1D2522"/>
                          </a:solidFill>
                          <a:latin typeface="Arial" pitchFamily="34" charset="0"/>
                          <a:ea typeface="Arial" pitchFamily="34" charset="-122"/>
                          <a:cs typeface="Arial" pitchFamily="34" charset="-120"/>
                        </a:rPr>
                        <a:t>PVT</a:t>
                      </a:r>
                      <a:endParaRPr lang="en-US" sz="9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c>
                  <a:txBody>
                    <a:bodyPr/>
                    <a:lstStyle/>
                    <a:p>
                      <a:pPr indent="0" marL="0">
                        <a:buNone/>
                      </a:pPr>
                      <a:r>
                        <a:rPr lang="en-US" sz="900" dirty="0">
                          <a:solidFill>
                            <a:srgbClr val="1D2522"/>
                          </a:solidFill>
                          <a:latin typeface="Arial" pitchFamily="34" charset="0"/>
                          <a:ea typeface="Arial" pitchFamily="34" charset="-122"/>
                          <a:cs typeface="Arial" pitchFamily="34" charset="-120"/>
                        </a:rPr>
                        <a:t>100–500</a:t>
                      </a:r>
                      <a:endParaRPr lang="en-US" sz="9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c>
                  <a:txBody>
                    <a:bodyPr/>
                    <a:lstStyle/>
                    <a:p>
                      <a:pPr indent="0" marL="0">
                        <a:buNone/>
                      </a:pPr>
                      <a:r>
                        <a:rPr lang="en-US" sz="900" dirty="0">
                          <a:solidFill>
                            <a:srgbClr val="1D2522"/>
                          </a:solidFill>
                          <a:latin typeface="Arial" pitchFamily="34" charset="0"/>
                          <a:ea typeface="Arial" pitchFamily="34" charset="-122"/>
                          <a:cs typeface="Arial" pitchFamily="34" charset="-120"/>
                        </a:rPr>
                        <a:t>Signed production authorisation</a:t>
                      </a:r>
                      <a:endParaRPr lang="en-US" sz="9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r>
              <a:tr h="310896">
                <a:tc>
                  <a:txBody>
                    <a:bodyPr/>
                    <a:lstStyle/>
                    <a:p>
                      <a:pPr indent="0" marL="0">
                        <a:buNone/>
                      </a:pPr>
                      <a:r>
                        <a:rPr lang="en-US" sz="900" dirty="0">
                          <a:solidFill>
                            <a:srgbClr val="1D2522"/>
                          </a:solidFill>
                          <a:latin typeface="Arial" pitchFamily="34" charset="0"/>
                          <a:ea typeface="Arial" pitchFamily="34" charset="-122"/>
                          <a:cs typeface="Arial" pitchFamily="34" charset="-120"/>
                        </a:rPr>
                        <a:t>Mass production</a:t>
                      </a:r>
                      <a:endParaRPr lang="en-US" sz="9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c>
                  <a:txBody>
                    <a:bodyPr/>
                    <a:lstStyle/>
                    <a:p>
                      <a:pPr indent="0" marL="0">
                        <a:buNone/>
                      </a:pPr>
                      <a:r>
                        <a:rPr lang="en-US" sz="900" dirty="0">
                          <a:solidFill>
                            <a:srgbClr val="1D2522"/>
                          </a:solidFill>
                          <a:latin typeface="Arial" pitchFamily="34" charset="0"/>
                          <a:ea typeface="Arial" pitchFamily="34" charset="-122"/>
                          <a:cs typeface="Arial" pitchFamily="34" charset="-120"/>
                        </a:rPr>
                        <a:t>Volume</a:t>
                      </a:r>
                      <a:endParaRPr lang="en-US" sz="9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c>
                  <a:txBody>
                    <a:bodyPr/>
                    <a:lstStyle/>
                    <a:p>
                      <a:pPr indent="0" marL="0">
                        <a:buNone/>
                      </a:pPr>
                      <a:r>
                        <a:rPr lang="en-US" sz="900" dirty="0">
                          <a:solidFill>
                            <a:srgbClr val="1D2522"/>
                          </a:solidFill>
                          <a:latin typeface="Arial" pitchFamily="34" charset="0"/>
                          <a:ea typeface="Arial" pitchFamily="34" charset="-122"/>
                          <a:cs typeface="Arial" pitchFamily="34" charset="-120"/>
                        </a:rPr>
                        <a:t>100% functional test</a:t>
                      </a:r>
                      <a:endParaRPr lang="en-US" sz="9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tcPr>
                </a:tc>
              </a:tr>
            </a:tbl>
          </a:graphicData>
        </a:graphic>
      </p:graphicFrame>
      <p:sp>
        <p:nvSpPr>
          <p:cNvPr id="21" name="Shape 18"/>
          <p:cNvSpPr/>
          <p:nvPr/>
        </p:nvSpPr>
        <p:spPr>
          <a:xfrm>
            <a:off x="4892040" y="2148840"/>
            <a:ext cx="3794760" cy="2377440"/>
          </a:xfrm>
          <a:prstGeom prst="roundRect">
            <a:avLst>
              <a:gd name="adj" fmla="val 3077"/>
            </a:avLst>
          </a:prstGeom>
          <a:solidFill>
            <a:srgbClr val="E8F1EC"/>
          </a:solidFill>
          <a:ln w="12700">
            <a:solidFill>
              <a:srgbClr val="E8F1EC"/>
            </a:solidFill>
            <a:prstDash val="solid"/>
          </a:ln>
        </p:spPr>
      </p:sp>
      <p:sp>
        <p:nvSpPr>
          <p:cNvPr id="22" name="Text 19"/>
          <p:cNvSpPr txBox="1"/>
          <p:nvPr/>
        </p:nvSpPr>
        <p:spPr>
          <a:xfrm>
            <a:off x="5029200" y="2240280"/>
            <a:ext cx="3566160" cy="274320"/>
          </a:xfrm>
          <a:prstGeom prst="rect">
            <a:avLst/>
          </a:prstGeom>
          <a:noFill/>
          <a:ln/>
        </p:spPr>
        <p:txBody>
          <a:bodyPr wrap="square" lIns="0" tIns="0" rIns="0" bIns="0" rtlCol="0" anchor="t"/>
          <a:lstStyle/>
          <a:p>
            <a:pPr indent="0" marL="0">
              <a:buNone/>
            </a:pPr>
            <a:r>
              <a:rPr lang="en-US" sz="1050" b="1" dirty="0">
                <a:solidFill>
                  <a:srgbClr val="1B4D3E"/>
                </a:solidFill>
                <a:latin typeface="Arial" pitchFamily="34" charset="0"/>
                <a:ea typeface="Arial" pitchFamily="34" charset="-122"/>
                <a:cs typeface="Arial" pitchFamily="34" charset="-120"/>
              </a:rPr>
              <a:t>RFQ shortlist (to qualify, not endorsements)</a:t>
            </a:r>
            <a:endParaRPr lang="en-US" sz="1050" dirty="0"/>
          </a:p>
        </p:txBody>
      </p:sp>
      <p:sp>
        <p:nvSpPr>
          <p:cNvPr id="23" name="Text 20"/>
          <p:cNvSpPr txBox="1"/>
          <p:nvPr/>
        </p:nvSpPr>
        <p:spPr>
          <a:xfrm>
            <a:off x="5029200" y="2560320"/>
            <a:ext cx="3566160" cy="1920240"/>
          </a:xfrm>
          <a:prstGeom prst="rect">
            <a:avLst/>
          </a:prstGeom>
          <a:noFill/>
          <a:ln/>
        </p:spPr>
        <p:txBody>
          <a:bodyPr wrap="square" lIns="0" tIns="0" rIns="0" bIns="0" rtlCol="0" anchor="t"/>
          <a:lstStyle/>
          <a:p>
            <a:pPr marL="152400" indent="-152400">
              <a:spcAft>
                <a:spcPts val="400"/>
              </a:spcAft>
              <a:buSzPct val="100000"/>
              <a:buChar char="•"/>
            </a:pPr>
            <a:r>
              <a:rPr lang="en-US" sz="900" dirty="0">
                <a:solidFill>
                  <a:srgbClr val="1D2522"/>
                </a:solidFill>
                <a:latin typeface="Arial" pitchFamily="34" charset="0"/>
                <a:ea typeface="Arial" pitchFamily="34" charset="-122"/>
                <a:cs typeface="Arial" pitchFamily="34" charset="-120"/>
              </a:rPr>
              <a:t>Primary: PCBWay, Seeed Fusion, Peakingtech, Shenzhen MHC</a:t>
            </a:r>
            <a:endParaRPr lang="en-US" sz="900" dirty="0"/>
          </a:p>
          <a:p>
            <a:pPr marL="152400" indent="-152400">
              <a:spcAft>
                <a:spcPts val="400"/>
              </a:spcAft>
              <a:buSzPct val="100000"/>
              <a:buChar char="•"/>
            </a:pPr>
            <a:r>
              <a:rPr lang="en-US" sz="900" dirty="0">
                <a:solidFill>
                  <a:srgbClr val="1D2522"/>
                </a:solidFill>
                <a:latin typeface="Arial" pitchFamily="34" charset="0"/>
                <a:ea typeface="Arial" pitchFamily="34" charset="-122"/>
                <a:cs typeface="Arial" pitchFamily="34" charset="-120"/>
              </a:rPr>
              <a:t>Scale option: Kaifa. Secondary: Grandtop, PCBONLINE, Shenze</a:t>
            </a:r>
            <a:endParaRPr lang="en-US" sz="900" dirty="0"/>
          </a:p>
          <a:p>
            <a:pPr marL="152400" indent="-152400">
              <a:spcAft>
                <a:spcPts val="400"/>
              </a:spcAft>
              <a:buSzPct val="100000"/>
              <a:buChar char="•"/>
            </a:pPr>
            <a:r>
              <a:rPr lang="en-US" sz="900" dirty="0">
                <a:solidFill>
                  <a:srgbClr val="1D2522"/>
                </a:solidFill>
                <a:latin typeface="Arial" pitchFamily="34" charset="0"/>
                <a:ea typeface="Arial" pitchFamily="34" charset="-122"/>
                <a:cs typeface="Arial" pitchFamily="34" charset="-120"/>
              </a:rPr>
              <a:t>We keep: test system, firmware releases, ECN/AVL approval, final acceptance</a:t>
            </a:r>
            <a:endParaRPr lang="en-US" sz="900" dirty="0"/>
          </a:p>
          <a:p>
            <a:pPr marL="152400" indent="-152400">
              <a:spcAft>
                <a:spcPts val="400"/>
              </a:spcAft>
              <a:buSzPct val="100000"/>
              <a:buChar char="•"/>
            </a:pPr>
            <a:r>
              <a:rPr lang="en-US" sz="900" dirty="0">
                <a:solidFill>
                  <a:srgbClr val="1D2522"/>
                </a:solidFill>
                <a:latin typeface="Arial" pitchFamily="34" charset="0"/>
                <a:ea typeface="Arial" pitchFamily="34" charset="-122"/>
                <a:cs typeface="Arial" pitchFamily="34" charset="-120"/>
              </a:rPr>
              <a:t>Contracts: NNN, tooling ownership, no overrun, no silent substitutions</a:t>
            </a:r>
            <a:endParaRPr lang="en-US" sz="900" dirty="0"/>
          </a:p>
        </p:txBody>
      </p:sp>
      <p:sp>
        <p:nvSpPr>
          <p:cNvPr id="24" name="Text 21"/>
          <p:cNvSpPr txBox="1"/>
          <p:nvPr/>
        </p:nvSpPr>
        <p:spPr>
          <a:xfrm>
            <a:off x="457200" y="4617720"/>
            <a:ext cx="8229600" cy="201168"/>
          </a:xfrm>
          <a:prstGeom prst="rect">
            <a:avLst/>
          </a:prstGeom>
          <a:noFill/>
          <a:ln/>
        </p:spPr>
        <p:txBody>
          <a:bodyPr wrap="square" lIns="0" tIns="0" rIns="0" bIns="0" rtlCol="0" anchor="t"/>
          <a:lstStyle/>
          <a:p>
            <a:pPr indent="0" marL="0">
              <a:buNone/>
            </a:pPr>
            <a:r>
              <a:rPr lang="en-US" sz="750" i="1" dirty="0">
                <a:solidFill>
                  <a:srgbClr val="5E6B66"/>
                </a:solidFill>
                <a:latin typeface="Arial" pitchFamily="34" charset="0"/>
                <a:ea typeface="Arial" pitchFamily="34" charset="-122"/>
                <a:cs typeface="Arial" pitchFamily="34" charset="-120"/>
              </a:rPr>
              <a:t>Source: Protopulse Baker China manufacturing package (29 Sep 2026). RFQ quantities 5 / 10 / 25 / 50 / 100 / 250 / 500 / 1,000 / 5,000.</a:t>
            </a:r>
            <a:endParaRPr lang="en-US" sz="7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201168"/>
          </a:xfrm>
          <a:prstGeom prst="rect">
            <a:avLst/>
          </a:prstGeom>
          <a:noFill/>
          <a:ln/>
        </p:spPr>
        <p:txBody>
          <a:bodyPr wrap="square" lIns="0" tIns="0" rIns="0" bIns="0" rtlCol="0" anchor="t"/>
          <a:lstStyle/>
          <a:p>
            <a:pPr indent="0" marL="0">
              <a:buNone/>
            </a:pPr>
            <a:r>
              <a:rPr lang="en-US" sz="900" b="1" spc="200" kern="0" dirty="0">
                <a:solidFill>
                  <a:srgbClr val="C8793A"/>
                </a:solidFill>
                <a:latin typeface="Arial" pitchFamily="34" charset="0"/>
                <a:ea typeface="Arial" pitchFamily="34" charset="-122"/>
                <a:cs typeface="Arial" pitchFamily="34" charset="-120"/>
              </a:rPr>
              <a:t>PRATEEK: 'START WITH BAKER FIRST?' WE AGREE.</a:t>
            </a:r>
            <a:endParaRPr lang="en-US" sz="900" dirty="0"/>
          </a:p>
        </p:txBody>
      </p:sp>
      <p:sp>
        <p:nvSpPr>
          <p:cNvPr id="3" name="Text 1"/>
          <p:cNvSpPr txBox="1"/>
          <p:nvPr/>
        </p:nvSpPr>
        <p:spPr>
          <a:xfrm>
            <a:off x="457200" y="457200"/>
            <a:ext cx="8229600" cy="566928"/>
          </a:xfrm>
          <a:prstGeom prst="rect">
            <a:avLst/>
          </a:prstGeom>
          <a:noFill/>
          <a:ln/>
        </p:spPr>
        <p:txBody>
          <a:bodyPr wrap="square" lIns="0" tIns="0" rIns="0" bIns="0" rtlCol="0" anchor="ctr">
            <a:normAutofit/>
          </a:bodyPr>
          <a:lstStyle/>
          <a:p>
            <a:pPr indent="0" marL="0">
              <a:buNone/>
            </a:pPr>
            <a:r>
              <a:rPr lang="en-US" sz="2200" b="1" dirty="0">
                <a:solidFill>
                  <a:srgbClr val="0F2A22"/>
                </a:solidFill>
                <a:latin typeface="Arial" pitchFamily="34" charset="0"/>
                <a:ea typeface="Arial" pitchFamily="34" charset="-122"/>
                <a:cs typeface="Arial" pitchFamily="34" charset="-120"/>
              </a:rPr>
              <a:t>Step by step: Proto + Baker first</a:t>
            </a:r>
            <a:endParaRPr lang="en-US" sz="2200" dirty="0"/>
          </a:p>
        </p:txBody>
      </p:sp>
      <p:sp>
        <p:nvSpPr>
          <p:cNvPr id="4" name="Text 2"/>
          <p:cNvSpPr txBox="1"/>
          <p:nvPr/>
        </p:nvSpPr>
        <p:spPr>
          <a:xfrm>
            <a:off x="8321040" y="4828032"/>
            <a:ext cx="365760" cy="182880"/>
          </a:xfrm>
          <a:prstGeom prst="rect">
            <a:avLst/>
          </a:prstGeom>
          <a:noFill/>
          <a:ln/>
        </p:spPr>
        <p:txBody>
          <a:bodyPr wrap="square" lIns="0" tIns="0" rIns="0" bIns="0" rtlCol="0" anchor="t"/>
          <a:lstStyle/>
          <a:p>
            <a:pPr algn="r" indent="0" marL="0">
              <a:buNone/>
            </a:pPr>
            <a:r>
              <a:rPr lang="en-US" sz="800" dirty="0">
                <a:solidFill>
                  <a:srgbClr val="5E6B66"/>
                </a:solidFill>
                <a:latin typeface="Arial" pitchFamily="34" charset="0"/>
                <a:ea typeface="Arial" pitchFamily="34" charset="-122"/>
                <a:cs typeface="Arial" pitchFamily="34" charset="-120"/>
              </a:rPr>
              <a:t>25</a:t>
            </a:r>
            <a:endParaRPr lang="en-US" sz="800" dirty="0"/>
          </a:p>
        </p:txBody>
      </p:sp>
      <p:sp>
        <p:nvSpPr>
          <p:cNvPr id="5" name="Text 3"/>
          <p:cNvSpPr txBox="1"/>
          <p:nvPr/>
        </p:nvSpPr>
        <p:spPr>
          <a:xfrm>
            <a:off x="457200" y="4828032"/>
            <a:ext cx="2743200" cy="182880"/>
          </a:xfrm>
          <a:prstGeom prst="rect">
            <a:avLst/>
          </a:prstGeom>
          <a:noFill/>
          <a:ln/>
        </p:spPr>
        <p:txBody>
          <a:bodyPr wrap="square" lIns="0" tIns="0" rIns="0" bIns="0" rtlCol="0" anchor="t"/>
          <a:lstStyle/>
          <a:p>
            <a:pPr indent="0" marL="0">
              <a:buNone/>
            </a:pPr>
            <a:r>
              <a:rPr lang="en-US" sz="800" dirty="0">
                <a:solidFill>
                  <a:srgbClr val="5E6B66"/>
                </a:solidFill>
                <a:latin typeface="Arial" pitchFamily="34" charset="0"/>
                <a:ea typeface="Arial" pitchFamily="34" charset="-122"/>
                <a:cs typeface="Arial" pitchFamily="34" charset="-120"/>
              </a:rPr>
              <a:t>Protopulse · pitch v2</a:t>
            </a:r>
            <a:endParaRPr lang="en-US" sz="800" dirty="0"/>
          </a:p>
        </p:txBody>
      </p:sp>
      <p:sp>
        <p:nvSpPr>
          <p:cNvPr id="6" name="Shape 4"/>
          <p:cNvSpPr/>
          <p:nvPr/>
        </p:nvSpPr>
        <p:spPr>
          <a:xfrm>
            <a:off x="457200" y="1188720"/>
            <a:ext cx="2606040" cy="3291840"/>
          </a:xfrm>
          <a:prstGeom prst="roundRect">
            <a:avLst>
              <a:gd name="adj" fmla="val 2807"/>
            </a:avLst>
          </a:prstGeom>
          <a:solidFill>
            <a:srgbClr val="0F2A22"/>
          </a:solidFill>
          <a:ln w="12700">
            <a:solidFill>
              <a:srgbClr val="0F2A22"/>
            </a:solidFill>
            <a:prstDash val="solid"/>
          </a:ln>
        </p:spPr>
      </p:sp>
      <p:sp>
        <p:nvSpPr>
          <p:cNvPr id="7" name="Text 5"/>
          <p:cNvSpPr txBox="1"/>
          <p:nvPr/>
        </p:nvSpPr>
        <p:spPr>
          <a:xfrm>
            <a:off x="621792" y="1298448"/>
            <a:ext cx="2286000" cy="274320"/>
          </a:xfrm>
          <a:prstGeom prst="rect">
            <a:avLst/>
          </a:prstGeom>
          <a:noFill/>
          <a:ln/>
        </p:spPr>
        <p:txBody>
          <a:bodyPr wrap="square" lIns="0" tIns="0" rIns="0" bIns="0" rtlCol="0" anchor="t"/>
          <a:lstStyle/>
          <a:p>
            <a:pPr indent="0" marL="0">
              <a:buNone/>
            </a:pPr>
            <a:r>
              <a:rPr lang="en-US" sz="1200" b="1" dirty="0">
                <a:solidFill>
                  <a:srgbClr val="C8793A"/>
                </a:solidFill>
                <a:latin typeface="Arial" pitchFamily="34" charset="0"/>
                <a:ea typeface="Arial" pitchFamily="34" charset="-122"/>
                <a:cs typeface="Arial" pitchFamily="34" charset="-120"/>
              </a:rPr>
              <a:t>Phase 1 · now · ₹10 lakh</a:t>
            </a:r>
            <a:endParaRPr lang="en-US" sz="1200" dirty="0"/>
          </a:p>
        </p:txBody>
      </p:sp>
      <p:sp>
        <p:nvSpPr>
          <p:cNvPr id="8" name="Text 6"/>
          <p:cNvSpPr txBox="1"/>
          <p:nvPr/>
        </p:nvSpPr>
        <p:spPr>
          <a:xfrm>
            <a:off x="621792" y="1600200"/>
            <a:ext cx="2286000" cy="228600"/>
          </a:xfrm>
          <a:prstGeom prst="rect">
            <a:avLst/>
          </a:prstGeom>
          <a:noFill/>
          <a:ln/>
        </p:spPr>
        <p:txBody>
          <a:bodyPr wrap="square" lIns="0" tIns="0" rIns="0" bIns="0" rtlCol="0" anchor="t"/>
          <a:lstStyle/>
          <a:p>
            <a:pPr indent="0" marL="0">
              <a:buNone/>
            </a:pPr>
            <a:r>
              <a:rPr lang="en-US" sz="950" dirty="0">
                <a:solidFill>
                  <a:srgbClr val="D3E5DB"/>
                </a:solidFill>
                <a:latin typeface="Arial" pitchFamily="34" charset="0"/>
                <a:ea typeface="Arial" pitchFamily="34" charset="-122"/>
                <a:cs typeface="Arial" pitchFamily="34" charset="-120"/>
              </a:rPr>
              <a:t>0–9 months</a:t>
            </a:r>
            <a:endParaRPr lang="en-US" sz="950" dirty="0"/>
          </a:p>
        </p:txBody>
      </p:sp>
      <p:sp>
        <p:nvSpPr>
          <p:cNvPr id="9" name="Text 7"/>
          <p:cNvSpPr txBox="1"/>
          <p:nvPr/>
        </p:nvSpPr>
        <p:spPr>
          <a:xfrm>
            <a:off x="621792" y="1920240"/>
            <a:ext cx="2331720" cy="1828800"/>
          </a:xfrm>
          <a:prstGeom prst="rect">
            <a:avLst/>
          </a:prstGeom>
          <a:noFill/>
          <a:ln/>
        </p:spPr>
        <p:txBody>
          <a:bodyPr wrap="square" lIns="0" tIns="0" rIns="0" bIns="0" rtlCol="0" anchor="t"/>
          <a:lstStyle/>
          <a:p>
            <a:pPr marL="152400" indent="-152400">
              <a:spcAft>
                <a:spcPts val="400"/>
              </a:spcAft>
              <a:buSzPct val="100000"/>
              <a:buChar char="•"/>
            </a:pPr>
            <a:r>
              <a:rPr lang="en-US" sz="950" dirty="0">
                <a:solidFill>
                  <a:srgbClr val="FFFFFF"/>
                </a:solidFill>
                <a:latin typeface="Arial" pitchFamily="34" charset="0"/>
                <a:ea typeface="Arial" pitchFamily="34" charset="-122"/>
                <a:cs typeface="Arial" pitchFamily="34" charset="-120"/>
              </a:rPr>
              <a:t>Proto alpha: 3 reference designs from prompt to tested board</a:t>
            </a:r>
            <a:endParaRPr lang="en-US" sz="950" dirty="0"/>
          </a:p>
          <a:p>
            <a:pPr marL="152400" indent="-152400">
              <a:spcAft>
                <a:spcPts val="400"/>
              </a:spcAft>
              <a:buSzPct val="100000"/>
              <a:buChar char="•"/>
            </a:pPr>
            <a:r>
              <a:rPr lang="en-US" sz="950" dirty="0">
                <a:solidFill>
                  <a:srgbClr val="FFFFFF"/>
                </a:solidFill>
                <a:latin typeface="Arial" pitchFamily="34" charset="0"/>
                <a:ea typeface="Arial" pitchFamily="34" charset="-122"/>
                <a:cs typeface="Arial" pitchFamily="34" charset="-120"/>
              </a:rPr>
              <a:t>Baker prototype: full 15-step flow</a:t>
            </a:r>
            <a:endParaRPr lang="en-US" sz="950" dirty="0"/>
          </a:p>
          <a:p>
            <a:pPr marL="152400" indent="-152400">
              <a:spcAft>
                <a:spcPts val="400"/>
              </a:spcAft>
              <a:buSzPct val="100000"/>
              <a:buChar char="•"/>
            </a:pPr>
            <a:r>
              <a:rPr lang="en-US" sz="950" dirty="0">
                <a:solidFill>
                  <a:srgbClr val="FFFFFF"/>
                </a:solidFill>
                <a:latin typeface="Arial" pitchFamily="34" charset="0"/>
                <a:ea typeface="Arial" pitchFamily="34" charset="-122"/>
                <a:cs typeface="Arial" pitchFamily="34" charset="-120"/>
              </a:rPr>
              <a:t>Mixer built as Baker's test head, not launched on its own</a:t>
            </a:r>
            <a:endParaRPr lang="en-US" sz="950" dirty="0"/>
          </a:p>
          <a:p>
            <a:pPr marL="152400" indent="-152400">
              <a:spcAft>
                <a:spcPts val="400"/>
              </a:spcAft>
              <a:buSzPct val="100000"/>
              <a:buChar char="•"/>
            </a:pPr>
            <a:r>
              <a:rPr lang="en-US" sz="950" dirty="0">
                <a:solidFill>
                  <a:srgbClr val="FFFFFF"/>
                </a:solidFill>
                <a:latin typeface="Arial" pitchFamily="34" charset="0"/>
                <a:ea typeface="Arial" pitchFamily="34" charset="-122"/>
                <a:cs typeface="Arial" pitchFamily="34" charset="-120"/>
              </a:rPr>
              <a:t>Close the 4 open points with data</a:t>
            </a:r>
            <a:endParaRPr lang="en-US" sz="950" dirty="0"/>
          </a:p>
          <a:p>
            <a:pPr marL="152400" indent="-152400">
              <a:spcAft>
                <a:spcPts val="400"/>
              </a:spcAft>
              <a:buSzPct val="100000"/>
              <a:buChar char="•"/>
            </a:pPr>
            <a:r>
              <a:rPr lang="en-US" sz="950" dirty="0">
                <a:solidFill>
                  <a:srgbClr val="FFFFFF"/>
                </a:solidFill>
                <a:latin typeface="Arial" pitchFamily="34" charset="0"/>
                <a:ea typeface="Arial" pitchFamily="34" charset="-122"/>
                <a:cs typeface="Arial" pitchFamily="34" charset="-120"/>
              </a:rPr>
              <a:t>3 pilot sites, 50 boards, measured cycle time</a:t>
            </a:r>
            <a:endParaRPr lang="en-US" sz="950" dirty="0"/>
          </a:p>
        </p:txBody>
      </p:sp>
      <p:sp>
        <p:nvSpPr>
          <p:cNvPr id="10" name="Text 8"/>
          <p:cNvSpPr txBox="1"/>
          <p:nvPr/>
        </p:nvSpPr>
        <p:spPr>
          <a:xfrm>
            <a:off x="621792" y="3730752"/>
            <a:ext cx="2286000" cy="201168"/>
          </a:xfrm>
          <a:prstGeom prst="rect">
            <a:avLst/>
          </a:prstGeom>
          <a:noFill/>
          <a:ln/>
        </p:spPr>
        <p:txBody>
          <a:bodyPr wrap="square" lIns="0" tIns="0" rIns="0" bIns="0" rtlCol="0" anchor="t"/>
          <a:lstStyle/>
          <a:p>
            <a:pPr indent="0" marL="0">
              <a:buNone/>
            </a:pPr>
            <a:r>
              <a:rPr lang="en-US" sz="900" b="1" dirty="0">
                <a:solidFill>
                  <a:srgbClr val="C8793A"/>
                </a:solidFill>
                <a:latin typeface="Arial" pitchFamily="34" charset="0"/>
                <a:ea typeface="Arial" pitchFamily="34" charset="-122"/>
                <a:cs typeface="Arial" pitchFamily="34" charset="-120"/>
              </a:rPr>
              <a:t>Exit test</a:t>
            </a:r>
            <a:endParaRPr lang="en-US" sz="900" dirty="0"/>
          </a:p>
        </p:txBody>
      </p:sp>
      <p:sp>
        <p:nvSpPr>
          <p:cNvPr id="11" name="Text 9"/>
          <p:cNvSpPr txBox="1"/>
          <p:nvPr/>
        </p:nvSpPr>
        <p:spPr>
          <a:xfrm>
            <a:off x="621792" y="3931920"/>
            <a:ext cx="2286000" cy="457200"/>
          </a:xfrm>
          <a:prstGeom prst="rect">
            <a:avLst/>
          </a:prstGeom>
          <a:noFill/>
          <a:ln/>
        </p:spPr>
        <p:txBody>
          <a:bodyPr wrap="square" lIns="0" tIns="0" rIns="0" bIns="0" rtlCol="0" anchor="t"/>
          <a:lstStyle/>
          <a:p>
            <a:pPr indent="0" marL="0">
              <a:buNone/>
            </a:pPr>
            <a:r>
              <a:rPr lang="en-US" sz="900" dirty="0">
                <a:solidFill>
                  <a:srgbClr val="FFFFFF"/>
                </a:solidFill>
                <a:latin typeface="Arial" pitchFamily="34" charset="0"/>
                <a:ea typeface="Arial" pitchFamily="34" charset="-122"/>
                <a:cs typeface="Arial" pitchFamily="34" charset="-120"/>
              </a:rPr>
              <a:t>Prompt → tested board on 3 designs; 4 open points closed</a:t>
            </a:r>
            <a:endParaRPr lang="en-US" sz="900" dirty="0"/>
          </a:p>
        </p:txBody>
      </p:sp>
      <p:sp>
        <p:nvSpPr>
          <p:cNvPr id="12" name="Shape 10"/>
          <p:cNvSpPr/>
          <p:nvPr/>
        </p:nvSpPr>
        <p:spPr>
          <a:xfrm>
            <a:off x="3246120" y="1188720"/>
            <a:ext cx="2606040" cy="3291840"/>
          </a:xfrm>
          <a:prstGeom prst="roundRect">
            <a:avLst>
              <a:gd name="adj" fmla="val 2807"/>
            </a:avLst>
          </a:prstGeom>
          <a:solidFill>
            <a:srgbClr val="E8F1EC"/>
          </a:solidFill>
          <a:ln w="12700">
            <a:solidFill>
              <a:srgbClr val="E8F1EC"/>
            </a:solidFill>
            <a:prstDash val="solid"/>
          </a:ln>
        </p:spPr>
      </p:sp>
      <p:sp>
        <p:nvSpPr>
          <p:cNvPr id="13" name="Text 11"/>
          <p:cNvSpPr txBox="1"/>
          <p:nvPr/>
        </p:nvSpPr>
        <p:spPr>
          <a:xfrm>
            <a:off x="3410712" y="1298448"/>
            <a:ext cx="2286000" cy="274320"/>
          </a:xfrm>
          <a:prstGeom prst="rect">
            <a:avLst/>
          </a:prstGeom>
          <a:noFill/>
          <a:ln/>
        </p:spPr>
        <p:txBody>
          <a:bodyPr wrap="square" lIns="0" tIns="0" rIns="0" bIns="0" rtlCol="0" anchor="t"/>
          <a:lstStyle/>
          <a:p>
            <a:pPr indent="0" marL="0">
              <a:buNone/>
            </a:pPr>
            <a:r>
              <a:rPr lang="en-US" sz="1200" b="1" dirty="0">
                <a:solidFill>
                  <a:srgbClr val="1B4D3E"/>
                </a:solidFill>
                <a:latin typeface="Arial" pitchFamily="34" charset="0"/>
                <a:ea typeface="Arial" pitchFamily="34" charset="-122"/>
                <a:cs typeface="Arial" pitchFamily="34" charset="-120"/>
              </a:rPr>
              <a:t>Phase 2 · seed</a:t>
            </a:r>
            <a:endParaRPr lang="en-US" sz="1200" dirty="0"/>
          </a:p>
        </p:txBody>
      </p:sp>
      <p:sp>
        <p:nvSpPr>
          <p:cNvPr id="14" name="Text 12"/>
          <p:cNvSpPr txBox="1"/>
          <p:nvPr/>
        </p:nvSpPr>
        <p:spPr>
          <a:xfrm>
            <a:off x="3410712" y="1600200"/>
            <a:ext cx="2286000" cy="228600"/>
          </a:xfrm>
          <a:prstGeom prst="rect">
            <a:avLst/>
          </a:prstGeom>
          <a:noFill/>
          <a:ln/>
        </p:spPr>
        <p:txBody>
          <a:bodyPr wrap="square" lIns="0" tIns="0" rIns="0" bIns="0" rtlCol="0" anchor="t"/>
          <a:lstStyle/>
          <a:p>
            <a:pPr indent="0" marL="0">
              <a:buNone/>
            </a:pPr>
            <a:r>
              <a:rPr lang="en-US" sz="950" dirty="0">
                <a:solidFill>
                  <a:srgbClr val="5E6B66"/>
                </a:solidFill>
                <a:latin typeface="Arial" pitchFamily="34" charset="0"/>
                <a:ea typeface="Arial" pitchFamily="34" charset="-122"/>
                <a:cs typeface="Arial" pitchFamily="34" charset="-120"/>
              </a:rPr>
              <a:t>9–18 months</a:t>
            </a:r>
            <a:endParaRPr lang="en-US" sz="950" dirty="0"/>
          </a:p>
        </p:txBody>
      </p:sp>
      <p:sp>
        <p:nvSpPr>
          <p:cNvPr id="15" name="Text 13"/>
          <p:cNvSpPr txBox="1"/>
          <p:nvPr/>
        </p:nvSpPr>
        <p:spPr>
          <a:xfrm>
            <a:off x="3410712" y="1920240"/>
            <a:ext cx="2331720" cy="1828800"/>
          </a:xfrm>
          <a:prstGeom prst="rect">
            <a:avLst/>
          </a:prstGeom>
          <a:noFill/>
          <a:ln/>
        </p:spPr>
        <p:txBody>
          <a:bodyPr wrap="square" lIns="0" tIns="0" rIns="0" bIns="0" rtlCol="0" anchor="t"/>
          <a:lstStyle/>
          <a:p>
            <a:pPr marL="152400" indent="-152400">
              <a:spcAft>
                <a:spcPts val="400"/>
              </a:spcAft>
              <a:buSzPct val="100000"/>
              <a:buChar char="•"/>
            </a:pPr>
            <a:r>
              <a:rPr lang="en-US" sz="950" dirty="0">
                <a:solidFill>
                  <a:srgbClr val="1D2522"/>
                </a:solidFill>
                <a:latin typeface="Arial" pitchFamily="34" charset="0"/>
                <a:ea typeface="Arial" pitchFamily="34" charset="-122"/>
                <a:cs typeface="Arial" pitchFamily="34" charset="-120"/>
              </a:rPr>
              <a:t>EVT/DVT units through a China partner (5–30)</a:t>
            </a:r>
            <a:endParaRPr lang="en-US" sz="950" dirty="0"/>
          </a:p>
          <a:p>
            <a:pPr marL="152400" indent="-152400">
              <a:spcAft>
                <a:spcPts val="400"/>
              </a:spcAft>
              <a:buSzPct val="100000"/>
              <a:buChar char="•"/>
            </a:pPr>
            <a:r>
              <a:rPr lang="en-US" sz="950" dirty="0">
                <a:solidFill>
                  <a:srgbClr val="1D2522"/>
                </a:solidFill>
                <a:latin typeface="Arial" pitchFamily="34" charset="0"/>
                <a:ea typeface="Arial" pitchFamily="34" charset="-122"/>
                <a:cs typeface="Arial" pitchFamily="34" charset="-120"/>
              </a:rPr>
              <a:t>First paid customers: colleges + startups</a:t>
            </a:r>
            <a:endParaRPr lang="en-US" sz="950" dirty="0"/>
          </a:p>
          <a:p>
            <a:pPr marL="152400" indent="-152400">
              <a:spcAft>
                <a:spcPts val="400"/>
              </a:spcAft>
              <a:buSzPct val="100000"/>
              <a:buChar char="•"/>
            </a:pPr>
            <a:r>
              <a:rPr lang="en-US" sz="950" dirty="0">
                <a:solidFill>
                  <a:srgbClr val="1D2522"/>
                </a:solidFill>
                <a:latin typeface="Arial" pitchFamily="34" charset="0"/>
                <a:ea typeface="Arial" pitchFamily="34" charset="-122"/>
                <a:cs typeface="Arial" pitchFamily="34" charset="-120"/>
              </a:rPr>
              <a:t>Mixer launched commercially</a:t>
            </a:r>
            <a:endParaRPr lang="en-US" sz="950" dirty="0"/>
          </a:p>
          <a:p>
            <a:pPr marL="152400" indent="-152400">
              <a:spcAft>
                <a:spcPts val="400"/>
              </a:spcAft>
              <a:buSzPct val="100000"/>
              <a:buChar char="•"/>
            </a:pPr>
            <a:r>
              <a:rPr lang="en-US" sz="950" dirty="0">
                <a:solidFill>
                  <a:srgbClr val="1D2522"/>
                </a:solidFill>
                <a:latin typeface="Arial" pitchFamily="34" charset="0"/>
                <a:ea typeface="Arial" pitchFamily="34" charset="-122"/>
                <a:cs typeface="Arial" pitchFamily="34" charset="-120"/>
              </a:rPr>
              <a:t>Proto subscriptions start</a:t>
            </a:r>
            <a:endParaRPr lang="en-US" sz="950" dirty="0"/>
          </a:p>
        </p:txBody>
      </p:sp>
      <p:sp>
        <p:nvSpPr>
          <p:cNvPr id="16" name="Text 14"/>
          <p:cNvSpPr txBox="1"/>
          <p:nvPr/>
        </p:nvSpPr>
        <p:spPr>
          <a:xfrm>
            <a:off x="3410712" y="3730752"/>
            <a:ext cx="2286000" cy="201168"/>
          </a:xfrm>
          <a:prstGeom prst="rect">
            <a:avLst/>
          </a:prstGeom>
          <a:noFill/>
          <a:ln/>
        </p:spPr>
        <p:txBody>
          <a:bodyPr wrap="square" lIns="0" tIns="0" rIns="0" bIns="0" rtlCol="0" anchor="t"/>
          <a:lstStyle/>
          <a:p>
            <a:pPr indent="0" marL="0">
              <a:buNone/>
            </a:pPr>
            <a:r>
              <a:rPr lang="en-US" sz="900" b="1" dirty="0">
                <a:solidFill>
                  <a:srgbClr val="C8793A"/>
                </a:solidFill>
                <a:latin typeface="Arial" pitchFamily="34" charset="0"/>
                <a:ea typeface="Arial" pitchFamily="34" charset="-122"/>
                <a:cs typeface="Arial" pitchFamily="34" charset="-120"/>
              </a:rPr>
              <a:t>Exit test</a:t>
            </a:r>
            <a:endParaRPr lang="en-US" sz="900" dirty="0"/>
          </a:p>
        </p:txBody>
      </p:sp>
      <p:sp>
        <p:nvSpPr>
          <p:cNvPr id="17" name="Text 15"/>
          <p:cNvSpPr txBox="1"/>
          <p:nvPr/>
        </p:nvSpPr>
        <p:spPr>
          <a:xfrm>
            <a:off x="3410712" y="3931920"/>
            <a:ext cx="2286000" cy="457200"/>
          </a:xfrm>
          <a:prstGeom prst="rect">
            <a:avLst/>
          </a:prstGeom>
          <a:noFill/>
          <a:ln/>
        </p:spPr>
        <p:txBody>
          <a:bodyPr wrap="square" lIns="0" tIns="0" rIns="0" bIns="0" rtlCol="0" anchor="t"/>
          <a:lstStyle/>
          <a:p>
            <a:pPr indent="0" marL="0">
              <a:buNone/>
            </a:pPr>
            <a:r>
              <a:rPr lang="en-US" sz="900" dirty="0">
                <a:solidFill>
                  <a:srgbClr val="1D2522"/>
                </a:solidFill>
                <a:latin typeface="Arial" pitchFamily="34" charset="0"/>
                <a:ea typeface="Arial" pitchFamily="34" charset="-122"/>
                <a:cs typeface="Arial" pitchFamily="34" charset="-120"/>
              </a:rPr>
              <a:t>10+ paid units; EVT/DVT passed at a China partner</a:t>
            </a:r>
            <a:endParaRPr lang="en-US" sz="900" dirty="0"/>
          </a:p>
        </p:txBody>
      </p:sp>
      <p:sp>
        <p:nvSpPr>
          <p:cNvPr id="18" name="Shape 16"/>
          <p:cNvSpPr/>
          <p:nvPr/>
        </p:nvSpPr>
        <p:spPr>
          <a:xfrm>
            <a:off x="6035040" y="1188720"/>
            <a:ext cx="2606040" cy="3291840"/>
          </a:xfrm>
          <a:prstGeom prst="roundRect">
            <a:avLst>
              <a:gd name="adj" fmla="val 2807"/>
            </a:avLst>
          </a:prstGeom>
          <a:solidFill>
            <a:srgbClr val="E8F1EC"/>
          </a:solidFill>
          <a:ln w="12700">
            <a:solidFill>
              <a:srgbClr val="E8F1EC"/>
            </a:solidFill>
            <a:prstDash val="solid"/>
          </a:ln>
        </p:spPr>
      </p:sp>
      <p:sp>
        <p:nvSpPr>
          <p:cNvPr id="19" name="Text 17"/>
          <p:cNvSpPr txBox="1"/>
          <p:nvPr/>
        </p:nvSpPr>
        <p:spPr>
          <a:xfrm>
            <a:off x="6199632" y="1298448"/>
            <a:ext cx="2286000" cy="274320"/>
          </a:xfrm>
          <a:prstGeom prst="rect">
            <a:avLst/>
          </a:prstGeom>
          <a:noFill/>
          <a:ln/>
        </p:spPr>
        <p:txBody>
          <a:bodyPr wrap="square" lIns="0" tIns="0" rIns="0" bIns="0" rtlCol="0" anchor="t"/>
          <a:lstStyle/>
          <a:p>
            <a:pPr indent="0" marL="0">
              <a:buNone/>
            </a:pPr>
            <a:r>
              <a:rPr lang="en-US" sz="1200" b="1" dirty="0">
                <a:solidFill>
                  <a:srgbClr val="1B4D3E"/>
                </a:solidFill>
                <a:latin typeface="Arial" pitchFamily="34" charset="0"/>
                <a:ea typeface="Arial" pitchFamily="34" charset="-122"/>
                <a:cs typeface="Arial" pitchFamily="34" charset="-120"/>
              </a:rPr>
              <a:t>Phase 3 · scale</a:t>
            </a:r>
            <a:endParaRPr lang="en-US" sz="1200" dirty="0"/>
          </a:p>
        </p:txBody>
      </p:sp>
      <p:sp>
        <p:nvSpPr>
          <p:cNvPr id="20" name="Text 18"/>
          <p:cNvSpPr txBox="1"/>
          <p:nvPr/>
        </p:nvSpPr>
        <p:spPr>
          <a:xfrm>
            <a:off x="6199632" y="1600200"/>
            <a:ext cx="2286000" cy="228600"/>
          </a:xfrm>
          <a:prstGeom prst="rect">
            <a:avLst/>
          </a:prstGeom>
          <a:noFill/>
          <a:ln/>
        </p:spPr>
        <p:txBody>
          <a:bodyPr wrap="square" lIns="0" tIns="0" rIns="0" bIns="0" rtlCol="0" anchor="t"/>
          <a:lstStyle/>
          <a:p>
            <a:pPr indent="0" marL="0">
              <a:buNone/>
            </a:pPr>
            <a:r>
              <a:rPr lang="en-US" sz="950" dirty="0">
                <a:solidFill>
                  <a:srgbClr val="5E6B66"/>
                </a:solidFill>
                <a:latin typeface="Arial" pitchFamily="34" charset="0"/>
                <a:ea typeface="Arial" pitchFamily="34" charset="-122"/>
                <a:cs typeface="Arial" pitchFamily="34" charset="-120"/>
              </a:rPr>
              <a:t>18–36 months</a:t>
            </a:r>
            <a:endParaRPr lang="en-US" sz="950" dirty="0"/>
          </a:p>
        </p:txBody>
      </p:sp>
      <p:sp>
        <p:nvSpPr>
          <p:cNvPr id="21" name="Text 19"/>
          <p:cNvSpPr txBox="1"/>
          <p:nvPr/>
        </p:nvSpPr>
        <p:spPr>
          <a:xfrm>
            <a:off x="6199632" y="1920240"/>
            <a:ext cx="2331720" cy="1828800"/>
          </a:xfrm>
          <a:prstGeom prst="rect">
            <a:avLst/>
          </a:prstGeom>
          <a:noFill/>
          <a:ln/>
        </p:spPr>
        <p:txBody>
          <a:bodyPr wrap="square" lIns="0" tIns="0" rIns="0" bIns="0" rtlCol="0" anchor="t"/>
          <a:lstStyle/>
          <a:p>
            <a:pPr marL="152400" indent="-152400">
              <a:spcAft>
                <a:spcPts val="400"/>
              </a:spcAft>
              <a:buSzPct val="100000"/>
              <a:buChar char="•"/>
            </a:pPr>
            <a:r>
              <a:rPr lang="en-US" sz="950" dirty="0">
                <a:solidFill>
                  <a:srgbClr val="1D2522"/>
                </a:solidFill>
                <a:latin typeface="Arial" pitchFamily="34" charset="0"/>
                <a:ea typeface="Arial" pitchFamily="34" charset="-122"/>
                <a:cs typeface="Arial" pitchFamily="34" charset="-120"/>
              </a:rPr>
              <a:t>PVT and 100-unit batch</a:t>
            </a:r>
            <a:endParaRPr lang="en-US" sz="950" dirty="0"/>
          </a:p>
          <a:p>
            <a:pPr marL="152400" indent="-152400">
              <a:spcAft>
                <a:spcPts val="400"/>
              </a:spcAft>
              <a:buSzPct val="100000"/>
              <a:buChar char="•"/>
            </a:pPr>
            <a:r>
              <a:rPr lang="en-US" sz="950" dirty="0">
                <a:solidFill>
                  <a:srgbClr val="1D2522"/>
                </a:solidFill>
                <a:latin typeface="Arial" pitchFamily="34" charset="0"/>
                <a:ea typeface="Arial" pitchFamily="34" charset="-122"/>
                <a:cs typeface="Arial" pitchFamily="34" charset="-120"/>
              </a:rPr>
              <a:t>3D printer and more accessories under Proto</a:t>
            </a:r>
            <a:endParaRPr lang="en-US" sz="950" dirty="0"/>
          </a:p>
          <a:p>
            <a:pPr marL="152400" indent="-152400">
              <a:spcAft>
                <a:spcPts val="400"/>
              </a:spcAft>
              <a:buSzPct val="100000"/>
              <a:buChar char="•"/>
            </a:pPr>
            <a:r>
              <a:rPr lang="en-US" sz="950" dirty="0">
                <a:solidFill>
                  <a:srgbClr val="1D2522"/>
                </a:solidFill>
                <a:latin typeface="Arial" pitchFamily="34" charset="0"/>
                <a:ea typeface="Arial" pitchFamily="34" charset="-122"/>
                <a:cs typeface="Arial" pitchFamily="34" charset="-120"/>
              </a:rPr>
              <a:t>Fab hand-off partnerships</a:t>
            </a:r>
            <a:endParaRPr lang="en-US" sz="950" dirty="0"/>
          </a:p>
          <a:p>
            <a:pPr marL="152400" indent="-152400">
              <a:spcAft>
                <a:spcPts val="400"/>
              </a:spcAft>
              <a:buSzPct val="100000"/>
              <a:buChar char="•"/>
            </a:pPr>
            <a:r>
              <a:rPr lang="en-US" sz="950" dirty="0">
                <a:solidFill>
                  <a:srgbClr val="1D2522"/>
                </a:solidFill>
                <a:latin typeface="Arial" pitchFamily="34" charset="0"/>
                <a:ea typeface="Arial" pitchFamily="34" charset="-122"/>
                <a:cs typeface="Arial" pitchFamily="34" charset="-120"/>
              </a:rPr>
              <a:t>First markets outside India</a:t>
            </a:r>
            <a:endParaRPr lang="en-US" sz="950" dirty="0"/>
          </a:p>
        </p:txBody>
      </p:sp>
      <p:sp>
        <p:nvSpPr>
          <p:cNvPr id="22" name="Text 20"/>
          <p:cNvSpPr txBox="1"/>
          <p:nvPr/>
        </p:nvSpPr>
        <p:spPr>
          <a:xfrm>
            <a:off x="6199632" y="3730752"/>
            <a:ext cx="2286000" cy="201168"/>
          </a:xfrm>
          <a:prstGeom prst="rect">
            <a:avLst/>
          </a:prstGeom>
          <a:noFill/>
          <a:ln/>
        </p:spPr>
        <p:txBody>
          <a:bodyPr wrap="square" lIns="0" tIns="0" rIns="0" bIns="0" rtlCol="0" anchor="t"/>
          <a:lstStyle/>
          <a:p>
            <a:pPr indent="0" marL="0">
              <a:buNone/>
            </a:pPr>
            <a:r>
              <a:rPr lang="en-US" sz="900" b="1" dirty="0">
                <a:solidFill>
                  <a:srgbClr val="C8793A"/>
                </a:solidFill>
                <a:latin typeface="Arial" pitchFamily="34" charset="0"/>
                <a:ea typeface="Arial" pitchFamily="34" charset="-122"/>
                <a:cs typeface="Arial" pitchFamily="34" charset="-120"/>
              </a:rPr>
              <a:t>Exit test</a:t>
            </a:r>
            <a:endParaRPr lang="en-US" sz="900" dirty="0"/>
          </a:p>
        </p:txBody>
      </p:sp>
      <p:sp>
        <p:nvSpPr>
          <p:cNvPr id="23" name="Text 21"/>
          <p:cNvSpPr txBox="1"/>
          <p:nvPr/>
        </p:nvSpPr>
        <p:spPr>
          <a:xfrm>
            <a:off x="6199632" y="3931920"/>
            <a:ext cx="2286000" cy="457200"/>
          </a:xfrm>
          <a:prstGeom prst="rect">
            <a:avLst/>
          </a:prstGeom>
          <a:noFill/>
          <a:ln/>
        </p:spPr>
        <p:txBody>
          <a:bodyPr wrap="square" lIns="0" tIns="0" rIns="0" bIns="0" rtlCol="0" anchor="t"/>
          <a:lstStyle/>
          <a:p>
            <a:pPr indent="0" marL="0">
              <a:buNone/>
            </a:pPr>
            <a:r>
              <a:rPr lang="en-US" sz="900" dirty="0">
                <a:solidFill>
                  <a:srgbClr val="1D2522"/>
                </a:solidFill>
                <a:latin typeface="Arial" pitchFamily="34" charset="0"/>
                <a:ea typeface="Arial" pitchFamily="34" charset="-122"/>
                <a:cs typeface="Arial" pitchFamily="34" charset="-120"/>
              </a:rPr>
              <a:t>PVT yield signed off; 100 units shipped</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201168"/>
          </a:xfrm>
          <a:prstGeom prst="rect">
            <a:avLst/>
          </a:prstGeom>
          <a:noFill/>
          <a:ln/>
        </p:spPr>
        <p:txBody>
          <a:bodyPr wrap="square" lIns="0" tIns="0" rIns="0" bIns="0" rtlCol="0" anchor="t"/>
          <a:lstStyle/>
          <a:p>
            <a:pPr indent="0" marL="0">
              <a:buNone/>
            </a:pPr>
            <a:r>
              <a:rPr lang="en-US" sz="900" b="1" spc="200" kern="0" dirty="0">
                <a:solidFill>
                  <a:srgbClr val="C8793A"/>
                </a:solidFill>
                <a:latin typeface="Arial" pitchFamily="34" charset="0"/>
                <a:ea typeface="Arial" pitchFamily="34" charset="-122"/>
                <a:cs typeface="Arial" pitchFamily="34" charset="-120"/>
              </a:rPr>
              <a:t>PHASE 1 BUDGET</a:t>
            </a:r>
            <a:endParaRPr lang="en-US" sz="900" dirty="0"/>
          </a:p>
        </p:txBody>
      </p:sp>
      <p:sp>
        <p:nvSpPr>
          <p:cNvPr id="3" name="Text 1"/>
          <p:cNvSpPr txBox="1"/>
          <p:nvPr/>
        </p:nvSpPr>
        <p:spPr>
          <a:xfrm>
            <a:off x="457200" y="457200"/>
            <a:ext cx="8229600" cy="566928"/>
          </a:xfrm>
          <a:prstGeom prst="rect">
            <a:avLst/>
          </a:prstGeom>
          <a:noFill/>
          <a:ln/>
        </p:spPr>
        <p:txBody>
          <a:bodyPr wrap="square" lIns="0" tIns="0" rIns="0" bIns="0" rtlCol="0" anchor="ctr">
            <a:normAutofit/>
          </a:bodyPr>
          <a:lstStyle/>
          <a:p>
            <a:pPr indent="0" marL="0">
              <a:buNone/>
            </a:pPr>
            <a:r>
              <a:rPr lang="en-US" sz="2200" b="1" dirty="0">
                <a:solidFill>
                  <a:srgbClr val="0F2A22"/>
                </a:solidFill>
                <a:latin typeface="Arial" pitchFamily="34" charset="0"/>
                <a:ea typeface="Arial" pitchFamily="34" charset="-122"/>
                <a:cs typeface="Arial" pitchFamily="34" charset="-120"/>
              </a:rPr>
              <a:t>Use of the ₹10 lakh</a:t>
            </a:r>
            <a:endParaRPr lang="en-US" sz="2200" dirty="0"/>
          </a:p>
        </p:txBody>
      </p:sp>
      <p:sp>
        <p:nvSpPr>
          <p:cNvPr id="4" name="Text 2"/>
          <p:cNvSpPr txBox="1"/>
          <p:nvPr/>
        </p:nvSpPr>
        <p:spPr>
          <a:xfrm>
            <a:off x="8321040" y="4828032"/>
            <a:ext cx="365760" cy="182880"/>
          </a:xfrm>
          <a:prstGeom prst="rect">
            <a:avLst/>
          </a:prstGeom>
          <a:noFill/>
          <a:ln/>
        </p:spPr>
        <p:txBody>
          <a:bodyPr wrap="square" lIns="0" tIns="0" rIns="0" bIns="0" rtlCol="0" anchor="t"/>
          <a:lstStyle/>
          <a:p>
            <a:pPr algn="r" indent="0" marL="0">
              <a:buNone/>
            </a:pPr>
            <a:r>
              <a:rPr lang="en-US" sz="800" dirty="0">
                <a:solidFill>
                  <a:srgbClr val="5E6B66"/>
                </a:solidFill>
                <a:latin typeface="Arial" pitchFamily="34" charset="0"/>
                <a:ea typeface="Arial" pitchFamily="34" charset="-122"/>
                <a:cs typeface="Arial" pitchFamily="34" charset="-120"/>
              </a:rPr>
              <a:t>26</a:t>
            </a:r>
            <a:endParaRPr lang="en-US" sz="800" dirty="0"/>
          </a:p>
        </p:txBody>
      </p:sp>
      <p:sp>
        <p:nvSpPr>
          <p:cNvPr id="5" name="Text 3"/>
          <p:cNvSpPr txBox="1"/>
          <p:nvPr/>
        </p:nvSpPr>
        <p:spPr>
          <a:xfrm>
            <a:off x="457200" y="4828032"/>
            <a:ext cx="2743200" cy="182880"/>
          </a:xfrm>
          <a:prstGeom prst="rect">
            <a:avLst/>
          </a:prstGeom>
          <a:noFill/>
          <a:ln/>
        </p:spPr>
        <p:txBody>
          <a:bodyPr wrap="square" lIns="0" tIns="0" rIns="0" bIns="0" rtlCol="0" anchor="t"/>
          <a:lstStyle/>
          <a:p>
            <a:pPr indent="0" marL="0">
              <a:buNone/>
            </a:pPr>
            <a:r>
              <a:rPr lang="en-US" sz="800" dirty="0">
                <a:solidFill>
                  <a:srgbClr val="5E6B66"/>
                </a:solidFill>
                <a:latin typeface="Arial" pitchFamily="34" charset="0"/>
                <a:ea typeface="Arial" pitchFamily="34" charset="-122"/>
                <a:cs typeface="Arial" pitchFamily="34" charset="-120"/>
              </a:rPr>
              <a:t>Protopulse · pitch v2</a:t>
            </a:r>
            <a:endParaRPr lang="en-US" sz="800" dirty="0"/>
          </a:p>
        </p:txBody>
      </p:sp>
      <p:graphicFrame>
        <p:nvGraphicFramePr>
          <p:cNvPr id="6" name="Chart 0" descr=""/>
          <p:cNvGraphicFramePr/>
          <p:nvPr/>
        </p:nvGraphicFramePr>
        <p:xfrm>
          <a:off x="365760" y="1097280"/>
          <a:ext cx="5029200" cy="347472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5623560" y="1188720"/>
            <a:ext cx="3063240" cy="3291840"/>
          </a:xfrm>
          <a:prstGeom prst="roundRect">
            <a:avLst>
              <a:gd name="adj" fmla="val 2388"/>
            </a:avLst>
          </a:prstGeom>
          <a:solidFill>
            <a:srgbClr val="E8F1EC"/>
          </a:solidFill>
          <a:ln w="12700">
            <a:solidFill>
              <a:srgbClr val="E8F1EC"/>
            </a:solidFill>
            <a:prstDash val="solid"/>
          </a:ln>
        </p:spPr>
      </p:sp>
      <p:sp>
        <p:nvSpPr>
          <p:cNvPr id="8" name="Text 5"/>
          <p:cNvSpPr txBox="1"/>
          <p:nvPr/>
        </p:nvSpPr>
        <p:spPr>
          <a:xfrm>
            <a:off x="5760720" y="1298448"/>
            <a:ext cx="2834640" cy="274320"/>
          </a:xfrm>
          <a:prstGeom prst="rect">
            <a:avLst/>
          </a:prstGeom>
          <a:noFill/>
          <a:ln/>
        </p:spPr>
        <p:txBody>
          <a:bodyPr wrap="square" lIns="0" tIns="0" rIns="0" bIns="0" rtlCol="0" anchor="t"/>
          <a:lstStyle/>
          <a:p>
            <a:pPr indent="0" marL="0">
              <a:buNone/>
            </a:pPr>
            <a:r>
              <a:rPr lang="en-US" sz="1150" b="1" dirty="0">
                <a:solidFill>
                  <a:srgbClr val="1B4D3E"/>
                </a:solidFill>
                <a:latin typeface="Arial" pitchFamily="34" charset="0"/>
                <a:ea typeface="Arial" pitchFamily="34" charset="-122"/>
                <a:cs typeface="Arial" pitchFamily="34" charset="-120"/>
              </a:rPr>
              <a:t>Milestones the money buys</a:t>
            </a:r>
            <a:endParaRPr lang="en-US" sz="1150" dirty="0"/>
          </a:p>
        </p:txBody>
      </p:sp>
      <p:sp>
        <p:nvSpPr>
          <p:cNvPr id="9" name="Text 6"/>
          <p:cNvSpPr txBox="1"/>
          <p:nvPr/>
        </p:nvSpPr>
        <p:spPr>
          <a:xfrm>
            <a:off x="5760720" y="1645920"/>
            <a:ext cx="2834640" cy="1828800"/>
          </a:xfrm>
          <a:prstGeom prst="rect">
            <a:avLst/>
          </a:prstGeom>
          <a:noFill/>
          <a:ln/>
        </p:spPr>
        <p:txBody>
          <a:bodyPr wrap="square" lIns="0" tIns="0" rIns="0" bIns="0" rtlCol="0" anchor="t"/>
          <a:lstStyle/>
          <a:p>
            <a:pPr marL="152400" indent="-152400">
              <a:spcAft>
                <a:spcPts val="400"/>
              </a:spcAft>
              <a:buSzPct val="100000"/>
              <a:buChar char="•"/>
            </a:pPr>
            <a:r>
              <a:rPr lang="en-US" sz="950" dirty="0">
                <a:solidFill>
                  <a:srgbClr val="1D2522"/>
                </a:solidFill>
                <a:latin typeface="Arial" pitchFamily="34" charset="0"/>
                <a:ea typeface="Arial" pitchFamily="34" charset="-122"/>
                <a:cs typeface="Arial" pitchFamily="34" charset="-120"/>
              </a:rPr>
              <a:t>M3: Baker assembled; Zone A mills and drills</a:t>
            </a:r>
            <a:endParaRPr lang="en-US" sz="950" dirty="0"/>
          </a:p>
          <a:p>
            <a:pPr marL="152400" indent="-152400">
              <a:spcAft>
                <a:spcPts val="400"/>
              </a:spcAft>
              <a:buSzPct val="100000"/>
              <a:buChar char="•"/>
            </a:pPr>
            <a:r>
              <a:rPr lang="en-US" sz="950" dirty="0">
                <a:solidFill>
                  <a:srgbClr val="1D2522"/>
                </a:solidFill>
                <a:latin typeface="Arial" pitchFamily="34" charset="0"/>
                <a:ea typeface="Arial" pitchFamily="34" charset="-122"/>
                <a:cs typeface="Arial" pitchFamily="34" charset="-120"/>
              </a:rPr>
              <a:t>M5: first board through all 15 steps</a:t>
            </a:r>
            <a:endParaRPr lang="en-US" sz="950" dirty="0"/>
          </a:p>
          <a:p>
            <a:pPr marL="152400" indent="-152400">
              <a:spcAft>
                <a:spcPts val="400"/>
              </a:spcAft>
              <a:buSzPct val="100000"/>
              <a:buChar char="•"/>
            </a:pPr>
            <a:r>
              <a:rPr lang="en-US" sz="950" dirty="0">
                <a:solidFill>
                  <a:srgbClr val="1D2522"/>
                </a:solidFill>
                <a:latin typeface="Arial" pitchFamily="34" charset="0"/>
                <a:ea typeface="Arial" pitchFamily="34" charset="-122"/>
                <a:cs typeface="Arial" pitchFamily="34" charset="-120"/>
              </a:rPr>
              <a:t>M6: 4 open points closed with data</a:t>
            </a:r>
            <a:endParaRPr lang="en-US" sz="950" dirty="0"/>
          </a:p>
          <a:p>
            <a:pPr marL="152400" indent="-152400">
              <a:spcAft>
                <a:spcPts val="400"/>
              </a:spcAft>
              <a:buSzPct val="100000"/>
              <a:buChar char="•"/>
            </a:pPr>
            <a:r>
              <a:rPr lang="en-US" sz="950" dirty="0">
                <a:solidFill>
                  <a:srgbClr val="1D2522"/>
                </a:solidFill>
                <a:latin typeface="Arial" pitchFamily="34" charset="0"/>
                <a:ea typeface="Arial" pitchFamily="34" charset="-122"/>
                <a:cs typeface="Arial" pitchFamily="34" charset="-120"/>
              </a:rPr>
              <a:t>M7: Proto takes a prompt to a tested board on 3 reference designs</a:t>
            </a:r>
            <a:endParaRPr lang="en-US" sz="950" dirty="0"/>
          </a:p>
          <a:p>
            <a:pPr marL="152400" indent="-152400">
              <a:spcAft>
                <a:spcPts val="400"/>
              </a:spcAft>
              <a:buSzPct val="100000"/>
              <a:buChar char="•"/>
            </a:pPr>
            <a:r>
              <a:rPr lang="en-US" sz="950" dirty="0">
                <a:solidFill>
                  <a:srgbClr val="1D2522"/>
                </a:solidFill>
                <a:latin typeface="Arial" pitchFamily="34" charset="0"/>
                <a:ea typeface="Arial" pitchFamily="34" charset="-122"/>
                <a:cs typeface="Arial" pitchFamily="34" charset="-120"/>
              </a:rPr>
              <a:t>M9: 3 pilot sites, 50 boards, measured cycle time, letters of intent</a:t>
            </a:r>
            <a:endParaRPr lang="en-US" sz="950" dirty="0"/>
          </a:p>
        </p:txBody>
      </p:sp>
      <p:sp>
        <p:nvSpPr>
          <p:cNvPr id="10" name="Text 7"/>
          <p:cNvSpPr txBox="1"/>
          <p:nvPr/>
        </p:nvSpPr>
        <p:spPr>
          <a:xfrm>
            <a:off x="5760720" y="3429000"/>
            <a:ext cx="2834640" cy="457200"/>
          </a:xfrm>
          <a:prstGeom prst="rect">
            <a:avLst/>
          </a:prstGeom>
          <a:noFill/>
          <a:ln/>
        </p:spPr>
        <p:txBody>
          <a:bodyPr wrap="square" lIns="0" tIns="0" rIns="0" bIns="0" rtlCol="0" anchor="t"/>
          <a:lstStyle/>
          <a:p>
            <a:pPr indent="0" marL="0">
              <a:buNone/>
            </a:pPr>
            <a:r>
              <a:rPr lang="en-US" sz="2600" b="1" dirty="0">
                <a:solidFill>
                  <a:srgbClr val="C8793A"/>
                </a:solidFill>
                <a:latin typeface="Arial" pitchFamily="34" charset="0"/>
                <a:ea typeface="Arial" pitchFamily="34" charset="-122"/>
                <a:cs typeface="Arial" pitchFamily="34" charset="-120"/>
              </a:rPr>
              <a:t>45%</a:t>
            </a:r>
            <a:endParaRPr lang="en-US" sz="2600" dirty="0"/>
          </a:p>
        </p:txBody>
      </p:sp>
      <p:sp>
        <p:nvSpPr>
          <p:cNvPr id="11" name="Text 8"/>
          <p:cNvSpPr txBox="1"/>
          <p:nvPr/>
        </p:nvSpPr>
        <p:spPr>
          <a:xfrm>
            <a:off x="5760720" y="3886200"/>
            <a:ext cx="2834640" cy="457200"/>
          </a:xfrm>
          <a:prstGeom prst="rect">
            <a:avLst/>
          </a:prstGeom>
          <a:noFill/>
          <a:ln/>
        </p:spPr>
        <p:txBody>
          <a:bodyPr wrap="square" lIns="0" tIns="0" rIns="0" bIns="0" rtlCol="0" anchor="t"/>
          <a:lstStyle/>
          <a:p>
            <a:pPr indent="0" marL="0">
              <a:buNone/>
            </a:pPr>
            <a:r>
              <a:rPr lang="en-US" sz="950" dirty="0">
                <a:solidFill>
                  <a:srgbClr val="1D2522"/>
                </a:solidFill>
                <a:latin typeface="Arial" pitchFamily="34" charset="0"/>
                <a:ea typeface="Arial" pitchFamily="34" charset="-122"/>
                <a:cs typeface="Arial" pitchFamily="34" charset="-120"/>
              </a:rPr>
              <a:t>of the raise buys the two prototypes, costed line by line (₹4,48,265)</a:t>
            </a:r>
            <a:endParaRPr lang="en-US" sz="950" dirty="0"/>
          </a:p>
        </p:txBody>
      </p:sp>
      <p:sp>
        <p:nvSpPr>
          <p:cNvPr id="12" name="Text 9"/>
          <p:cNvSpPr txBox="1"/>
          <p:nvPr/>
        </p:nvSpPr>
        <p:spPr>
          <a:xfrm>
            <a:off x="457200" y="4617720"/>
            <a:ext cx="8229600" cy="201168"/>
          </a:xfrm>
          <a:prstGeom prst="rect">
            <a:avLst/>
          </a:prstGeom>
          <a:noFill/>
          <a:ln/>
        </p:spPr>
        <p:txBody>
          <a:bodyPr wrap="square" lIns="0" tIns="0" rIns="0" bIns="0" rtlCol="0" anchor="t"/>
          <a:lstStyle/>
          <a:p>
            <a:pPr indent="0" marL="0">
              <a:buNone/>
            </a:pPr>
            <a:r>
              <a:rPr lang="en-US" sz="750" i="1" dirty="0">
                <a:solidFill>
                  <a:srgbClr val="5E6B66"/>
                </a:solidFill>
                <a:latin typeface="Arial" pitchFamily="34" charset="0"/>
                <a:ea typeface="Arial" pitchFamily="34" charset="-122"/>
                <a:cs typeface="Arial" pitchFamily="34" charset="-120"/>
              </a:rPr>
              <a:t>Total ₹10,00,000. Hardware lines from the 29 Sep cost report; other lines are plan allocations. Founder salaries not included.</a:t>
            </a:r>
            <a:endParaRPr lang="en-US" sz="7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201168"/>
          </a:xfrm>
          <a:prstGeom prst="rect">
            <a:avLst/>
          </a:prstGeom>
          <a:noFill/>
          <a:ln/>
        </p:spPr>
        <p:txBody>
          <a:bodyPr wrap="square" lIns="0" tIns="0" rIns="0" bIns="0" rtlCol="0" anchor="t"/>
          <a:lstStyle/>
          <a:p>
            <a:pPr indent="0" marL="0">
              <a:buNone/>
            </a:pPr>
            <a:r>
              <a:rPr lang="en-US" sz="900" b="1" spc="200" kern="0" dirty="0">
                <a:solidFill>
                  <a:srgbClr val="C8793A"/>
                </a:solidFill>
                <a:latin typeface="Arial" pitchFamily="34" charset="0"/>
                <a:ea typeface="Arial" pitchFamily="34" charset="-122"/>
                <a:cs typeface="Arial" pitchFamily="34" charset="-120"/>
              </a:rPr>
              <a:t>DEFENSIBILITY</a:t>
            </a:r>
            <a:endParaRPr lang="en-US" sz="900" dirty="0"/>
          </a:p>
        </p:txBody>
      </p:sp>
      <p:sp>
        <p:nvSpPr>
          <p:cNvPr id="3" name="Text 1"/>
          <p:cNvSpPr txBox="1"/>
          <p:nvPr/>
        </p:nvSpPr>
        <p:spPr>
          <a:xfrm>
            <a:off x="457200" y="457200"/>
            <a:ext cx="8229600" cy="566928"/>
          </a:xfrm>
          <a:prstGeom prst="rect">
            <a:avLst/>
          </a:prstGeom>
          <a:noFill/>
          <a:ln/>
        </p:spPr>
        <p:txBody>
          <a:bodyPr wrap="square" lIns="0" tIns="0" rIns="0" bIns="0" rtlCol="0" anchor="ctr">
            <a:normAutofit/>
          </a:bodyPr>
          <a:lstStyle/>
          <a:p>
            <a:pPr indent="0" marL="0">
              <a:buNone/>
            </a:pPr>
            <a:r>
              <a:rPr lang="en-US" sz="2200" b="1" dirty="0">
                <a:solidFill>
                  <a:srgbClr val="0F2A22"/>
                </a:solidFill>
                <a:latin typeface="Arial" pitchFamily="34" charset="0"/>
                <a:ea typeface="Arial" pitchFamily="34" charset="-122"/>
                <a:cs typeface="Arial" pitchFamily="34" charset="-120"/>
              </a:rPr>
              <a:t>The moat is the loop, not the machine</a:t>
            </a:r>
            <a:endParaRPr lang="en-US" sz="2200" dirty="0"/>
          </a:p>
        </p:txBody>
      </p:sp>
      <p:sp>
        <p:nvSpPr>
          <p:cNvPr id="4" name="Text 2"/>
          <p:cNvSpPr txBox="1"/>
          <p:nvPr/>
        </p:nvSpPr>
        <p:spPr>
          <a:xfrm>
            <a:off x="8321040" y="4828032"/>
            <a:ext cx="365760" cy="182880"/>
          </a:xfrm>
          <a:prstGeom prst="rect">
            <a:avLst/>
          </a:prstGeom>
          <a:noFill/>
          <a:ln/>
        </p:spPr>
        <p:txBody>
          <a:bodyPr wrap="square" lIns="0" tIns="0" rIns="0" bIns="0" rtlCol="0" anchor="t"/>
          <a:lstStyle/>
          <a:p>
            <a:pPr algn="r" indent="0" marL="0">
              <a:buNone/>
            </a:pPr>
            <a:r>
              <a:rPr lang="en-US" sz="800" dirty="0">
                <a:solidFill>
                  <a:srgbClr val="5E6B66"/>
                </a:solidFill>
                <a:latin typeface="Arial" pitchFamily="34" charset="0"/>
                <a:ea typeface="Arial" pitchFamily="34" charset="-122"/>
                <a:cs typeface="Arial" pitchFamily="34" charset="-120"/>
              </a:rPr>
              <a:t>27</a:t>
            </a:r>
            <a:endParaRPr lang="en-US" sz="800" dirty="0"/>
          </a:p>
        </p:txBody>
      </p:sp>
      <p:sp>
        <p:nvSpPr>
          <p:cNvPr id="5" name="Text 3"/>
          <p:cNvSpPr txBox="1"/>
          <p:nvPr/>
        </p:nvSpPr>
        <p:spPr>
          <a:xfrm>
            <a:off x="457200" y="4828032"/>
            <a:ext cx="2743200" cy="182880"/>
          </a:xfrm>
          <a:prstGeom prst="rect">
            <a:avLst/>
          </a:prstGeom>
          <a:noFill/>
          <a:ln/>
        </p:spPr>
        <p:txBody>
          <a:bodyPr wrap="square" lIns="0" tIns="0" rIns="0" bIns="0" rtlCol="0" anchor="t"/>
          <a:lstStyle/>
          <a:p>
            <a:pPr indent="0" marL="0">
              <a:buNone/>
            </a:pPr>
            <a:r>
              <a:rPr lang="en-US" sz="800" dirty="0">
                <a:solidFill>
                  <a:srgbClr val="5E6B66"/>
                </a:solidFill>
                <a:latin typeface="Arial" pitchFamily="34" charset="0"/>
                <a:ea typeface="Arial" pitchFamily="34" charset="-122"/>
                <a:cs typeface="Arial" pitchFamily="34" charset="-120"/>
              </a:rPr>
              <a:t>Protopulse · pitch v2</a:t>
            </a:r>
            <a:endParaRPr lang="en-US" sz="800" dirty="0"/>
          </a:p>
        </p:txBody>
      </p:sp>
      <p:sp>
        <p:nvSpPr>
          <p:cNvPr id="6" name="Shape 4"/>
          <p:cNvSpPr/>
          <p:nvPr/>
        </p:nvSpPr>
        <p:spPr>
          <a:xfrm>
            <a:off x="457200" y="1188720"/>
            <a:ext cx="4023360" cy="960120"/>
          </a:xfrm>
          <a:prstGeom prst="roundRect">
            <a:avLst>
              <a:gd name="adj" fmla="val 7619"/>
            </a:avLst>
          </a:prstGeom>
          <a:solidFill>
            <a:srgbClr val="E8F1EC"/>
          </a:solidFill>
          <a:ln w="12700">
            <a:solidFill>
              <a:srgbClr val="E8F1EC"/>
            </a:solidFill>
            <a:prstDash val="solid"/>
          </a:ln>
        </p:spPr>
      </p:sp>
      <p:sp>
        <p:nvSpPr>
          <p:cNvPr id="7" name="Shape 5"/>
          <p:cNvSpPr/>
          <p:nvPr/>
        </p:nvSpPr>
        <p:spPr>
          <a:xfrm>
            <a:off x="594360" y="1444752"/>
            <a:ext cx="438912" cy="438912"/>
          </a:xfrm>
          <a:prstGeom prst="ellipse">
            <a:avLst/>
          </a:prstGeom>
          <a:solidFill>
            <a:srgbClr val="C8793A"/>
          </a:solidFill>
          <a:ln w="15875">
            <a:solidFill>
              <a:srgbClr val="C8793A"/>
            </a:solidFill>
            <a:prstDash val="solid"/>
          </a:ln>
        </p:spPr>
      </p:sp>
      <p:pic>
        <p:nvPicPr>
          <p:cNvPr id="8" name="Image 0" descr="preencoded.png">    </p:cNvPr>
          <p:cNvPicPr>
            <a:picLocks noChangeAspect="1"/>
          </p:cNvPicPr>
          <p:nvPr/>
        </p:nvPicPr>
        <p:blipFill>
          <a:blip r:embed="rId1"/>
          <a:stretch>
            <a:fillRect/>
          </a:stretch>
        </p:blipFill>
        <p:spPr>
          <a:xfrm>
            <a:off x="699699" y="1550091"/>
            <a:ext cx="228234" cy="228234"/>
          </a:xfrm>
          <a:prstGeom prst="rect">
            <a:avLst/>
          </a:prstGeom>
        </p:spPr>
      </p:pic>
      <p:sp>
        <p:nvSpPr>
          <p:cNvPr id="9" name="Text 6"/>
          <p:cNvSpPr txBox="1"/>
          <p:nvPr/>
        </p:nvSpPr>
        <p:spPr>
          <a:xfrm>
            <a:off x="1188720" y="1298448"/>
            <a:ext cx="3108960" cy="274320"/>
          </a:xfrm>
          <a:prstGeom prst="rect">
            <a:avLst/>
          </a:prstGeom>
          <a:noFill/>
          <a:ln/>
        </p:spPr>
        <p:txBody>
          <a:bodyPr wrap="square" lIns="0" tIns="0" rIns="0" bIns="0" rtlCol="0" anchor="t"/>
          <a:lstStyle/>
          <a:p>
            <a:pPr indent="0" marL="0">
              <a:buNone/>
            </a:pPr>
            <a:r>
              <a:rPr lang="en-US" sz="1200" b="1" dirty="0">
                <a:solidFill>
                  <a:srgbClr val="1B4D3E"/>
                </a:solidFill>
                <a:latin typeface="Arial" pitchFamily="34" charset="0"/>
                <a:ea typeface="Arial" pitchFamily="34" charset="-122"/>
                <a:cs typeface="Arial" pitchFamily="34" charset="-120"/>
              </a:rPr>
              <a:t>Closed-loop run data</a:t>
            </a:r>
            <a:endParaRPr lang="en-US" sz="1200" dirty="0"/>
          </a:p>
        </p:txBody>
      </p:sp>
      <p:sp>
        <p:nvSpPr>
          <p:cNvPr id="10" name="Text 7"/>
          <p:cNvSpPr txBox="1"/>
          <p:nvPr/>
        </p:nvSpPr>
        <p:spPr>
          <a:xfrm>
            <a:off x="1188720" y="1591056"/>
            <a:ext cx="3108960" cy="502920"/>
          </a:xfrm>
          <a:prstGeom prst="rect">
            <a:avLst/>
          </a:prstGeom>
          <a:noFill/>
          <a:ln/>
        </p:spPr>
        <p:txBody>
          <a:bodyPr wrap="square" lIns="0" tIns="0" rIns="0" bIns="0" rtlCol="0" anchor="t"/>
          <a:lstStyle/>
          <a:p>
            <a:pPr indent="0" marL="0">
              <a:buNone/>
            </a:pPr>
            <a:r>
              <a:rPr lang="en-US" sz="950" dirty="0">
                <a:solidFill>
                  <a:srgbClr val="1D2522"/>
                </a:solidFill>
                <a:latin typeface="Arial" pitchFamily="34" charset="0"/>
                <a:ea typeface="Arial" pitchFamily="34" charset="-122"/>
                <a:cs typeface="Arial" pitchFamily="34" charset="-120"/>
              </a:rPr>
              <a:t>Every run links design → process settings → measured result. File-only AI tools can't collect it</a:t>
            </a:r>
            <a:endParaRPr lang="en-US" sz="950" dirty="0"/>
          </a:p>
        </p:txBody>
      </p:sp>
      <p:sp>
        <p:nvSpPr>
          <p:cNvPr id="11" name="Shape 8"/>
          <p:cNvSpPr/>
          <p:nvPr/>
        </p:nvSpPr>
        <p:spPr>
          <a:xfrm>
            <a:off x="4663440" y="1188720"/>
            <a:ext cx="4023360" cy="960120"/>
          </a:xfrm>
          <a:prstGeom prst="roundRect">
            <a:avLst>
              <a:gd name="adj" fmla="val 7619"/>
            </a:avLst>
          </a:prstGeom>
          <a:solidFill>
            <a:srgbClr val="E8F1EC"/>
          </a:solidFill>
          <a:ln w="12700">
            <a:solidFill>
              <a:srgbClr val="E8F1EC"/>
            </a:solidFill>
            <a:prstDash val="solid"/>
          </a:ln>
        </p:spPr>
      </p:sp>
      <p:sp>
        <p:nvSpPr>
          <p:cNvPr id="12" name="Shape 9"/>
          <p:cNvSpPr/>
          <p:nvPr/>
        </p:nvSpPr>
        <p:spPr>
          <a:xfrm>
            <a:off x="4800600" y="1444752"/>
            <a:ext cx="438912" cy="438912"/>
          </a:xfrm>
          <a:prstGeom prst="ellipse">
            <a:avLst/>
          </a:prstGeom>
          <a:solidFill>
            <a:srgbClr val="F6E7D8"/>
          </a:solidFill>
          <a:ln w="15875">
            <a:solidFill>
              <a:srgbClr val="C8793A"/>
            </a:solidFill>
            <a:prstDash val="solid"/>
          </a:ln>
        </p:spPr>
      </p:sp>
      <p:pic>
        <p:nvPicPr>
          <p:cNvPr id="13" name="Image 1" descr="preencoded.png">    </p:cNvPr>
          <p:cNvPicPr>
            <a:picLocks noChangeAspect="1"/>
          </p:cNvPicPr>
          <p:nvPr/>
        </p:nvPicPr>
        <p:blipFill>
          <a:blip r:embed="rId2"/>
          <a:stretch>
            <a:fillRect/>
          </a:stretch>
        </p:blipFill>
        <p:spPr>
          <a:xfrm>
            <a:off x="4905939" y="1550091"/>
            <a:ext cx="228234" cy="228234"/>
          </a:xfrm>
          <a:prstGeom prst="rect">
            <a:avLst/>
          </a:prstGeom>
        </p:spPr>
      </p:pic>
      <p:sp>
        <p:nvSpPr>
          <p:cNvPr id="14" name="Text 10"/>
          <p:cNvSpPr txBox="1"/>
          <p:nvPr/>
        </p:nvSpPr>
        <p:spPr>
          <a:xfrm>
            <a:off x="5394960" y="1298448"/>
            <a:ext cx="3108960" cy="274320"/>
          </a:xfrm>
          <a:prstGeom prst="rect">
            <a:avLst/>
          </a:prstGeom>
          <a:noFill/>
          <a:ln/>
        </p:spPr>
        <p:txBody>
          <a:bodyPr wrap="square" lIns="0" tIns="0" rIns="0" bIns="0" rtlCol="0" anchor="t"/>
          <a:lstStyle/>
          <a:p>
            <a:pPr indent="0" marL="0">
              <a:buNone/>
            </a:pPr>
            <a:r>
              <a:rPr lang="en-US" sz="1200" b="1" dirty="0">
                <a:solidFill>
                  <a:srgbClr val="1B4D3E"/>
                </a:solidFill>
                <a:latin typeface="Arial" pitchFamily="34" charset="0"/>
                <a:ea typeface="Arial" pitchFamily="34" charset="-122"/>
                <a:cs typeface="Arial" pitchFamily="34" charset="-120"/>
              </a:rPr>
              <a:t>Agent-native machines</a:t>
            </a:r>
            <a:endParaRPr lang="en-US" sz="1200" dirty="0"/>
          </a:p>
        </p:txBody>
      </p:sp>
      <p:sp>
        <p:nvSpPr>
          <p:cNvPr id="15" name="Text 11"/>
          <p:cNvSpPr txBox="1"/>
          <p:nvPr/>
        </p:nvSpPr>
        <p:spPr>
          <a:xfrm>
            <a:off x="5394960" y="1591056"/>
            <a:ext cx="3108960" cy="502920"/>
          </a:xfrm>
          <a:prstGeom prst="rect">
            <a:avLst/>
          </a:prstGeom>
          <a:noFill/>
          <a:ln/>
        </p:spPr>
        <p:txBody>
          <a:bodyPr wrap="square" lIns="0" tIns="0" rIns="0" bIns="0" rtlCol="0" anchor="t"/>
          <a:lstStyle/>
          <a:p>
            <a:pPr indent="0" marL="0">
              <a:buNone/>
            </a:pPr>
            <a:r>
              <a:rPr lang="en-US" sz="950" dirty="0">
                <a:solidFill>
                  <a:srgbClr val="1D2522"/>
                </a:solidFill>
                <a:latin typeface="Arial" pitchFamily="34" charset="0"/>
                <a:ea typeface="Arial" pitchFamily="34" charset="-122"/>
                <a:cs typeface="Arial" pitchFamily="34" charset="-120"/>
              </a:rPr>
              <a:t>Baker and Mixer expose state, calibration and actions to Proto. Other machines were built for a person at a keyboard</a:t>
            </a:r>
            <a:endParaRPr lang="en-US" sz="950" dirty="0"/>
          </a:p>
        </p:txBody>
      </p:sp>
      <p:sp>
        <p:nvSpPr>
          <p:cNvPr id="16" name="Shape 12"/>
          <p:cNvSpPr/>
          <p:nvPr/>
        </p:nvSpPr>
        <p:spPr>
          <a:xfrm>
            <a:off x="457200" y="2286000"/>
            <a:ext cx="4023360" cy="960120"/>
          </a:xfrm>
          <a:prstGeom prst="roundRect">
            <a:avLst>
              <a:gd name="adj" fmla="val 7619"/>
            </a:avLst>
          </a:prstGeom>
          <a:solidFill>
            <a:srgbClr val="E8F1EC"/>
          </a:solidFill>
          <a:ln w="12700">
            <a:solidFill>
              <a:srgbClr val="E8F1EC"/>
            </a:solidFill>
            <a:prstDash val="solid"/>
          </a:ln>
        </p:spPr>
      </p:sp>
      <p:sp>
        <p:nvSpPr>
          <p:cNvPr id="17" name="Shape 13"/>
          <p:cNvSpPr/>
          <p:nvPr/>
        </p:nvSpPr>
        <p:spPr>
          <a:xfrm>
            <a:off x="594360" y="2542032"/>
            <a:ext cx="438912" cy="438912"/>
          </a:xfrm>
          <a:prstGeom prst="ellipse">
            <a:avLst/>
          </a:prstGeom>
          <a:solidFill>
            <a:srgbClr val="F6E7D8"/>
          </a:solidFill>
          <a:ln w="15875">
            <a:solidFill>
              <a:srgbClr val="C8793A"/>
            </a:solidFill>
            <a:prstDash val="solid"/>
          </a:ln>
        </p:spPr>
      </p:sp>
      <p:pic>
        <p:nvPicPr>
          <p:cNvPr id="18" name="Image 2" descr="preencoded.png">    </p:cNvPr>
          <p:cNvPicPr>
            <a:picLocks noChangeAspect="1"/>
          </p:cNvPicPr>
          <p:nvPr/>
        </p:nvPicPr>
        <p:blipFill>
          <a:blip r:embed="rId3"/>
          <a:stretch>
            <a:fillRect/>
          </a:stretch>
        </p:blipFill>
        <p:spPr>
          <a:xfrm>
            <a:off x="699699" y="2647371"/>
            <a:ext cx="228234" cy="228234"/>
          </a:xfrm>
          <a:prstGeom prst="rect">
            <a:avLst/>
          </a:prstGeom>
        </p:spPr>
      </p:pic>
      <p:sp>
        <p:nvSpPr>
          <p:cNvPr id="19" name="Text 14"/>
          <p:cNvSpPr txBox="1"/>
          <p:nvPr/>
        </p:nvSpPr>
        <p:spPr>
          <a:xfrm>
            <a:off x="1188720" y="2395728"/>
            <a:ext cx="3108960" cy="274320"/>
          </a:xfrm>
          <a:prstGeom prst="rect">
            <a:avLst/>
          </a:prstGeom>
          <a:noFill/>
          <a:ln/>
        </p:spPr>
        <p:txBody>
          <a:bodyPr wrap="square" lIns="0" tIns="0" rIns="0" bIns="0" rtlCol="0" anchor="t"/>
          <a:lstStyle/>
          <a:p>
            <a:pPr indent="0" marL="0">
              <a:buNone/>
            </a:pPr>
            <a:r>
              <a:rPr lang="en-US" sz="1200" b="1" dirty="0">
                <a:solidFill>
                  <a:srgbClr val="1B4D3E"/>
                </a:solidFill>
                <a:latin typeface="Arial" pitchFamily="34" charset="0"/>
                <a:ea typeface="Arial" pitchFamily="34" charset="-122"/>
                <a:cs typeface="Arial" pitchFamily="34" charset="-120"/>
              </a:rPr>
              <a:t>Process IP</a:t>
            </a:r>
            <a:endParaRPr lang="en-US" sz="1200" dirty="0"/>
          </a:p>
        </p:txBody>
      </p:sp>
      <p:sp>
        <p:nvSpPr>
          <p:cNvPr id="20" name="Text 15"/>
          <p:cNvSpPr txBox="1"/>
          <p:nvPr/>
        </p:nvSpPr>
        <p:spPr>
          <a:xfrm>
            <a:off x="1188720" y="2688336"/>
            <a:ext cx="3108960" cy="502920"/>
          </a:xfrm>
          <a:prstGeom prst="rect">
            <a:avLst/>
          </a:prstGeom>
          <a:noFill/>
          <a:ln/>
        </p:spPr>
        <p:txBody>
          <a:bodyPr wrap="square" lIns="0" tIns="0" rIns="0" bIns="0" rtlCol="0" anchor="t"/>
          <a:lstStyle/>
          <a:p>
            <a:pPr indent="0" marL="0">
              <a:buNone/>
            </a:pPr>
            <a:r>
              <a:rPr lang="en-US" sz="950" dirty="0">
                <a:solidFill>
                  <a:srgbClr val="1D2522"/>
                </a:solidFill>
                <a:latin typeface="Arial" pitchFamily="34" charset="0"/>
                <a:ea typeface="Arial" pitchFamily="34" charset="-122"/>
                <a:cs typeface="Arial" pitchFamily="34" charset="-120"/>
              </a:rPr>
              <a:t>One frame for mill, mask and stencil from the same Gerber: registration a stand-alone mill doesn't have</a:t>
            </a:r>
            <a:endParaRPr lang="en-US" sz="950" dirty="0"/>
          </a:p>
        </p:txBody>
      </p:sp>
      <p:sp>
        <p:nvSpPr>
          <p:cNvPr id="21" name="Shape 16"/>
          <p:cNvSpPr/>
          <p:nvPr/>
        </p:nvSpPr>
        <p:spPr>
          <a:xfrm>
            <a:off x="4663440" y="2286000"/>
            <a:ext cx="4023360" cy="960120"/>
          </a:xfrm>
          <a:prstGeom prst="roundRect">
            <a:avLst>
              <a:gd name="adj" fmla="val 7619"/>
            </a:avLst>
          </a:prstGeom>
          <a:solidFill>
            <a:srgbClr val="E8F1EC"/>
          </a:solidFill>
          <a:ln w="12700">
            <a:solidFill>
              <a:srgbClr val="E8F1EC"/>
            </a:solidFill>
            <a:prstDash val="solid"/>
          </a:ln>
        </p:spPr>
      </p:sp>
      <p:sp>
        <p:nvSpPr>
          <p:cNvPr id="22" name="Shape 17"/>
          <p:cNvSpPr/>
          <p:nvPr/>
        </p:nvSpPr>
        <p:spPr>
          <a:xfrm>
            <a:off x="4800600" y="2542032"/>
            <a:ext cx="438912" cy="438912"/>
          </a:xfrm>
          <a:prstGeom prst="ellipse">
            <a:avLst/>
          </a:prstGeom>
          <a:solidFill>
            <a:srgbClr val="F6E7D8"/>
          </a:solidFill>
          <a:ln w="15875">
            <a:solidFill>
              <a:srgbClr val="C8793A"/>
            </a:solidFill>
            <a:prstDash val="solid"/>
          </a:ln>
        </p:spPr>
      </p:sp>
      <p:pic>
        <p:nvPicPr>
          <p:cNvPr id="23" name="Image 3" descr="preencoded.png">    </p:cNvPr>
          <p:cNvPicPr>
            <a:picLocks noChangeAspect="1"/>
          </p:cNvPicPr>
          <p:nvPr/>
        </p:nvPicPr>
        <p:blipFill>
          <a:blip r:embed="rId4"/>
          <a:stretch>
            <a:fillRect/>
          </a:stretch>
        </p:blipFill>
        <p:spPr>
          <a:xfrm>
            <a:off x="4905939" y="2647371"/>
            <a:ext cx="228234" cy="228234"/>
          </a:xfrm>
          <a:prstGeom prst="rect">
            <a:avLst/>
          </a:prstGeom>
        </p:spPr>
      </p:pic>
      <p:sp>
        <p:nvSpPr>
          <p:cNvPr id="24" name="Text 18"/>
          <p:cNvSpPr txBox="1"/>
          <p:nvPr/>
        </p:nvSpPr>
        <p:spPr>
          <a:xfrm>
            <a:off x="5394960" y="2395728"/>
            <a:ext cx="3108960" cy="274320"/>
          </a:xfrm>
          <a:prstGeom prst="rect">
            <a:avLst/>
          </a:prstGeom>
          <a:noFill/>
          <a:ln/>
        </p:spPr>
        <p:txBody>
          <a:bodyPr wrap="square" lIns="0" tIns="0" rIns="0" bIns="0" rtlCol="0" anchor="t"/>
          <a:lstStyle/>
          <a:p>
            <a:pPr indent="0" marL="0">
              <a:buNone/>
            </a:pPr>
            <a:r>
              <a:rPr lang="en-US" sz="1200" b="1" dirty="0">
                <a:solidFill>
                  <a:srgbClr val="1B4D3E"/>
                </a:solidFill>
                <a:latin typeface="Arial" pitchFamily="34" charset="0"/>
                <a:ea typeface="Arial" pitchFamily="34" charset="-122"/>
                <a:cs typeface="Arial" pitchFamily="34" charset="-120"/>
              </a:rPr>
              <a:t>Cost base</a:t>
            </a:r>
            <a:endParaRPr lang="en-US" sz="1200" dirty="0"/>
          </a:p>
        </p:txBody>
      </p:sp>
      <p:sp>
        <p:nvSpPr>
          <p:cNvPr id="25" name="Text 19"/>
          <p:cNvSpPr txBox="1"/>
          <p:nvPr/>
        </p:nvSpPr>
        <p:spPr>
          <a:xfrm>
            <a:off x="5394960" y="2688336"/>
            <a:ext cx="3108960" cy="502920"/>
          </a:xfrm>
          <a:prstGeom prst="rect">
            <a:avLst/>
          </a:prstGeom>
          <a:noFill/>
          <a:ln/>
        </p:spPr>
        <p:txBody>
          <a:bodyPr wrap="square" lIns="0" tIns="0" rIns="0" bIns="0" rtlCol="0" anchor="t"/>
          <a:lstStyle/>
          <a:p>
            <a:pPr indent="0" marL="0">
              <a:buNone/>
            </a:pPr>
            <a:r>
              <a:rPr lang="en-US" sz="950" dirty="0">
                <a:solidFill>
                  <a:srgbClr val="1D2522"/>
                </a:solidFill>
                <a:latin typeface="Arial" pitchFamily="34" charset="0"/>
                <a:ea typeface="Arial" pitchFamily="34" charset="-122"/>
                <a:cs typeface="Arial" pitchFamily="34" charset="-120"/>
              </a:rPr>
              <a:t>₹1.45 lakh production Baker; China turnkey build with India test</a:t>
            </a:r>
            <a:endParaRPr lang="en-US" sz="950" dirty="0"/>
          </a:p>
        </p:txBody>
      </p:sp>
      <p:sp>
        <p:nvSpPr>
          <p:cNvPr id="26" name="Shape 20"/>
          <p:cNvSpPr/>
          <p:nvPr/>
        </p:nvSpPr>
        <p:spPr>
          <a:xfrm>
            <a:off x="457200" y="3383280"/>
            <a:ext cx="8229600" cy="960120"/>
          </a:xfrm>
          <a:prstGeom prst="roundRect">
            <a:avLst>
              <a:gd name="adj" fmla="val 7619"/>
            </a:avLst>
          </a:prstGeom>
          <a:solidFill>
            <a:srgbClr val="E8F1EC"/>
          </a:solidFill>
          <a:ln w="12700">
            <a:solidFill>
              <a:srgbClr val="E8F1EC"/>
            </a:solidFill>
            <a:prstDash val="solid"/>
          </a:ln>
        </p:spPr>
      </p:sp>
      <p:sp>
        <p:nvSpPr>
          <p:cNvPr id="27" name="Shape 21"/>
          <p:cNvSpPr/>
          <p:nvPr/>
        </p:nvSpPr>
        <p:spPr>
          <a:xfrm>
            <a:off x="594360" y="3639312"/>
            <a:ext cx="438912" cy="438912"/>
          </a:xfrm>
          <a:prstGeom prst="ellipse">
            <a:avLst/>
          </a:prstGeom>
          <a:solidFill>
            <a:srgbClr val="F6E7D8"/>
          </a:solidFill>
          <a:ln w="15875">
            <a:solidFill>
              <a:srgbClr val="C8793A"/>
            </a:solidFill>
            <a:prstDash val="solid"/>
          </a:ln>
        </p:spPr>
      </p:sp>
      <p:pic>
        <p:nvPicPr>
          <p:cNvPr id="28" name="Image 4" descr="preencoded.png">    </p:cNvPr>
          <p:cNvPicPr>
            <a:picLocks noChangeAspect="1"/>
          </p:cNvPicPr>
          <p:nvPr/>
        </p:nvPicPr>
        <p:blipFill>
          <a:blip r:embed="rId5"/>
          <a:stretch>
            <a:fillRect/>
          </a:stretch>
        </p:blipFill>
        <p:spPr>
          <a:xfrm>
            <a:off x="699699" y="3744651"/>
            <a:ext cx="228234" cy="228234"/>
          </a:xfrm>
          <a:prstGeom prst="rect">
            <a:avLst/>
          </a:prstGeom>
        </p:spPr>
      </p:pic>
      <p:sp>
        <p:nvSpPr>
          <p:cNvPr id="29" name="Text 22"/>
          <p:cNvSpPr txBox="1"/>
          <p:nvPr/>
        </p:nvSpPr>
        <p:spPr>
          <a:xfrm>
            <a:off x="1188720" y="3493008"/>
            <a:ext cx="7315200" cy="274320"/>
          </a:xfrm>
          <a:prstGeom prst="rect">
            <a:avLst/>
          </a:prstGeom>
          <a:noFill/>
          <a:ln/>
        </p:spPr>
        <p:txBody>
          <a:bodyPr wrap="square" lIns="0" tIns="0" rIns="0" bIns="0" rtlCol="0" anchor="t"/>
          <a:lstStyle/>
          <a:p>
            <a:pPr indent="0" marL="0">
              <a:buNone/>
            </a:pPr>
            <a:r>
              <a:rPr lang="en-US" sz="1200" b="1" dirty="0">
                <a:solidFill>
                  <a:srgbClr val="1B4D3E"/>
                </a:solidFill>
                <a:latin typeface="Arial" pitchFamily="34" charset="0"/>
                <a:ea typeface="Arial" pitchFamily="34" charset="-122"/>
                <a:cs typeface="Arial" pitchFamily="34" charset="-120"/>
              </a:rPr>
              <a:t>Recurring revenue</a:t>
            </a:r>
            <a:endParaRPr lang="en-US" sz="1200" dirty="0"/>
          </a:p>
        </p:txBody>
      </p:sp>
      <p:sp>
        <p:nvSpPr>
          <p:cNvPr id="30" name="Text 23"/>
          <p:cNvSpPr txBox="1"/>
          <p:nvPr/>
        </p:nvSpPr>
        <p:spPr>
          <a:xfrm>
            <a:off x="1188720" y="3785616"/>
            <a:ext cx="7315200" cy="502920"/>
          </a:xfrm>
          <a:prstGeom prst="rect">
            <a:avLst/>
          </a:prstGeom>
          <a:noFill/>
          <a:ln/>
        </p:spPr>
        <p:txBody>
          <a:bodyPr wrap="square" lIns="0" tIns="0" rIns="0" bIns="0" rtlCol="0" anchor="t"/>
          <a:lstStyle/>
          <a:p>
            <a:pPr indent="0" marL="0">
              <a:buNone/>
            </a:pPr>
            <a:r>
              <a:rPr lang="en-US" sz="950" dirty="0">
                <a:solidFill>
                  <a:srgbClr val="1D2522"/>
                </a:solidFill>
                <a:latin typeface="Arial" pitchFamily="34" charset="0"/>
                <a:ea typeface="Arial" pitchFamily="34" charset="-122"/>
                <a:cs typeface="Arial" pitchFamily="34" charset="-120"/>
              </a:rPr>
              <a:t>Proto subscription + consumables ≈ ₹1.65 lakh per machine per year</a:t>
            </a:r>
            <a:endParaRPr lang="en-US" sz="9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201168"/>
          </a:xfrm>
          <a:prstGeom prst="rect">
            <a:avLst/>
          </a:prstGeom>
          <a:noFill/>
          <a:ln/>
        </p:spPr>
        <p:txBody>
          <a:bodyPr wrap="square" lIns="0" tIns="0" rIns="0" bIns="0" rtlCol="0" anchor="t"/>
          <a:lstStyle/>
          <a:p>
            <a:pPr indent="0" marL="0">
              <a:buNone/>
            </a:pPr>
            <a:r>
              <a:rPr lang="en-US" sz="900" b="1" spc="200" kern="0" dirty="0">
                <a:solidFill>
                  <a:srgbClr val="C8793A"/>
                </a:solidFill>
                <a:latin typeface="Arial" pitchFamily="34" charset="0"/>
                <a:ea typeface="Arial" pitchFamily="34" charset="-122"/>
                <a:cs typeface="Arial" pitchFamily="34" charset="-120"/>
              </a:rPr>
              <a:t>RISKS</a:t>
            </a:r>
            <a:endParaRPr lang="en-US" sz="900" dirty="0"/>
          </a:p>
        </p:txBody>
      </p:sp>
      <p:sp>
        <p:nvSpPr>
          <p:cNvPr id="3" name="Text 1"/>
          <p:cNvSpPr txBox="1"/>
          <p:nvPr/>
        </p:nvSpPr>
        <p:spPr>
          <a:xfrm>
            <a:off x="457200" y="457200"/>
            <a:ext cx="8229600" cy="566928"/>
          </a:xfrm>
          <a:prstGeom prst="rect">
            <a:avLst/>
          </a:prstGeom>
          <a:noFill/>
          <a:ln/>
        </p:spPr>
        <p:txBody>
          <a:bodyPr wrap="square" lIns="0" tIns="0" rIns="0" bIns="0" rtlCol="0" anchor="ctr">
            <a:normAutofit/>
          </a:bodyPr>
          <a:lstStyle/>
          <a:p>
            <a:pPr indent="0" marL="0">
              <a:buNone/>
            </a:pPr>
            <a:r>
              <a:rPr lang="en-US" sz="2200" b="1" dirty="0">
                <a:solidFill>
                  <a:srgbClr val="0F2A22"/>
                </a:solidFill>
                <a:latin typeface="Arial" pitchFamily="34" charset="0"/>
                <a:ea typeface="Arial" pitchFamily="34" charset="-122"/>
                <a:cs typeface="Arial" pitchFamily="34" charset="-120"/>
              </a:rPr>
              <a:t>Business risks and how we reduce them</a:t>
            </a:r>
            <a:endParaRPr lang="en-US" sz="2200" dirty="0"/>
          </a:p>
        </p:txBody>
      </p:sp>
      <p:sp>
        <p:nvSpPr>
          <p:cNvPr id="4" name="Text 2"/>
          <p:cNvSpPr txBox="1"/>
          <p:nvPr/>
        </p:nvSpPr>
        <p:spPr>
          <a:xfrm>
            <a:off x="8321040" y="4828032"/>
            <a:ext cx="365760" cy="182880"/>
          </a:xfrm>
          <a:prstGeom prst="rect">
            <a:avLst/>
          </a:prstGeom>
          <a:noFill/>
          <a:ln/>
        </p:spPr>
        <p:txBody>
          <a:bodyPr wrap="square" lIns="0" tIns="0" rIns="0" bIns="0" rtlCol="0" anchor="t"/>
          <a:lstStyle/>
          <a:p>
            <a:pPr algn="r" indent="0" marL="0">
              <a:buNone/>
            </a:pPr>
            <a:r>
              <a:rPr lang="en-US" sz="800" dirty="0">
                <a:solidFill>
                  <a:srgbClr val="5E6B66"/>
                </a:solidFill>
                <a:latin typeface="Arial" pitchFamily="34" charset="0"/>
                <a:ea typeface="Arial" pitchFamily="34" charset="-122"/>
                <a:cs typeface="Arial" pitchFamily="34" charset="-120"/>
              </a:rPr>
              <a:t>28</a:t>
            </a:r>
            <a:endParaRPr lang="en-US" sz="800" dirty="0"/>
          </a:p>
        </p:txBody>
      </p:sp>
      <p:sp>
        <p:nvSpPr>
          <p:cNvPr id="5" name="Text 3"/>
          <p:cNvSpPr txBox="1"/>
          <p:nvPr/>
        </p:nvSpPr>
        <p:spPr>
          <a:xfrm>
            <a:off x="457200" y="4828032"/>
            <a:ext cx="2743200" cy="182880"/>
          </a:xfrm>
          <a:prstGeom prst="rect">
            <a:avLst/>
          </a:prstGeom>
          <a:noFill/>
          <a:ln/>
        </p:spPr>
        <p:txBody>
          <a:bodyPr wrap="square" lIns="0" tIns="0" rIns="0" bIns="0" rtlCol="0" anchor="t"/>
          <a:lstStyle/>
          <a:p>
            <a:pPr indent="0" marL="0">
              <a:buNone/>
            </a:pPr>
            <a:r>
              <a:rPr lang="en-US" sz="800" dirty="0">
                <a:solidFill>
                  <a:srgbClr val="5E6B66"/>
                </a:solidFill>
                <a:latin typeface="Arial" pitchFamily="34" charset="0"/>
                <a:ea typeface="Arial" pitchFamily="34" charset="-122"/>
                <a:cs typeface="Arial" pitchFamily="34" charset="-120"/>
              </a:rPr>
              <a:t>Protopulse · pitch v2</a:t>
            </a:r>
            <a:endParaRPr lang="en-US" sz="8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2926080"/>
                <a:gridCol w="5303520"/>
              </a:tblGrid>
              <a:tr h="475488">
                <a:tc>
                  <a:txBody>
                    <a:bodyPr/>
                    <a:lstStyle/>
                    <a:p>
                      <a:pPr indent="0" marL="0">
                        <a:buNone/>
                      </a:pPr>
                      <a:r>
                        <a:rPr lang="en-US" sz="1000" b="1" dirty="0">
                          <a:solidFill>
                            <a:srgbClr val="FFFFFF"/>
                          </a:solidFill>
                          <a:latin typeface="Arial" pitchFamily="34" charset="0"/>
                          <a:ea typeface="Arial" pitchFamily="34" charset="-122"/>
                          <a:cs typeface="Arial" pitchFamily="34" charset="-120"/>
                        </a:rPr>
                        <a:t>Risk</a:t>
                      </a:r>
                      <a:endParaRPr lang="en-US" sz="10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1B4D3E"/>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How we reduce it</a:t>
                      </a:r>
                      <a:endParaRPr lang="en-US" sz="10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1B4D3E"/>
                    </a:solidFill>
                  </a:tcPr>
                </a:tc>
              </a:tr>
              <a:tr h="475488">
                <a:tc>
                  <a:txBody>
                    <a:bodyPr/>
                    <a:lstStyle/>
                    <a:p>
                      <a:pPr indent="0" marL="0">
                        <a:buNone/>
                      </a:pPr>
                      <a:r>
                        <a:rPr lang="en-US" sz="1000" b="1" dirty="0">
                          <a:solidFill>
                            <a:srgbClr val="1D2522"/>
                          </a:solidFill>
                          <a:latin typeface="Arial" pitchFamily="34" charset="0"/>
                          <a:ea typeface="Arial" pitchFamily="34" charset="-122"/>
                          <a:cs typeface="Arial" pitchFamily="34" charset="-120"/>
                        </a:rPr>
                        <a:t>Process doesn't reach 0.5 mm pitch or ±50 µm</a:t>
                      </a:r>
                      <a:endParaRPr lang="en-US" sz="10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E8F1EC"/>
                    </a:solidFill>
                  </a:tcPr>
                </a:tc>
                <a:tc>
                  <a:txBody>
                    <a:bodyPr/>
                    <a:lstStyle/>
                    <a:p>
                      <a:pPr indent="0" marL="0">
                        <a:buNone/>
                      </a:pPr>
                      <a:r>
                        <a:rPr lang="en-US" sz="1000" dirty="0">
                          <a:solidFill>
                            <a:srgbClr val="1D2522"/>
                          </a:solidFill>
                          <a:latin typeface="Arial" pitchFamily="34" charset="0"/>
                          <a:ea typeface="Arial" pitchFamily="34" charset="-122"/>
                          <a:cs typeface="Arial" pitchFamily="34" charset="-120"/>
                        </a:rPr>
                        <a:t>Phase 1 gates on coupons; fallbacks on slide 13; launch spec set by measured results</a:t>
                      </a:r>
                      <a:endParaRPr lang="en-US" sz="10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E8F1EC"/>
                    </a:solidFill>
                  </a:tcPr>
                </a:tc>
              </a:tr>
              <a:tr h="475488">
                <a:tc>
                  <a:txBody>
                    <a:bodyPr/>
                    <a:lstStyle/>
                    <a:p>
                      <a:pPr indent="0" marL="0">
                        <a:buNone/>
                      </a:pPr>
                      <a:r>
                        <a:rPr lang="en-US" sz="1000" b="1" dirty="0">
                          <a:solidFill>
                            <a:srgbClr val="1D2522"/>
                          </a:solidFill>
                          <a:latin typeface="Arial" pitchFamily="34" charset="0"/>
                          <a:ea typeface="Arial" pitchFamily="34" charset="-122"/>
                          <a:cs typeface="Arial" pitchFamily="34" charset="-120"/>
                        </a:rPr>
                        <a:t>Laser and chemical safety in labs</a:t>
                      </a:r>
                      <a:endParaRPr lang="en-US" sz="10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1000" dirty="0">
                          <a:solidFill>
                            <a:srgbClr val="1D2522"/>
                          </a:solidFill>
                          <a:latin typeface="Arial" pitchFamily="34" charset="0"/>
                          <a:ea typeface="Arial" pitchFamily="34" charset="-122"/>
                          <a:cs typeface="Arial" pitchFamily="34" charset="-120"/>
                        </a:rPr>
                        <a:t>Interlocked Class 1 enclosure goal, E-stop, a few mL of dilute Na₂CO₃ only, safety review in the budget</a:t>
                      </a:r>
                      <a:endParaRPr lang="en-US" sz="10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r h="475488">
                <a:tc>
                  <a:txBody>
                    <a:bodyPr/>
                    <a:lstStyle/>
                    <a:p>
                      <a:pPr indent="0" marL="0">
                        <a:buNone/>
                      </a:pPr>
                      <a:r>
                        <a:rPr lang="en-US" sz="1000" b="1" dirty="0">
                          <a:solidFill>
                            <a:srgbClr val="1D2522"/>
                          </a:solidFill>
                          <a:latin typeface="Arial" pitchFamily="34" charset="0"/>
                          <a:ea typeface="Arial" pitchFamily="34" charset="-122"/>
                          <a:cs typeface="Arial" pitchFamily="34" charset="-120"/>
                        </a:rPr>
                        <a:t>Colleges buy slowly</a:t>
                      </a:r>
                      <a:endParaRPr lang="en-US" sz="10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E8F1EC"/>
                    </a:solidFill>
                  </a:tcPr>
                </a:tc>
                <a:tc>
                  <a:txBody>
                    <a:bodyPr/>
                    <a:lstStyle/>
                    <a:p>
                      <a:pPr indent="0" marL="0">
                        <a:buNone/>
                      </a:pPr>
                      <a:r>
                        <a:rPr lang="en-US" sz="1000" dirty="0">
                          <a:solidFill>
                            <a:srgbClr val="1D2522"/>
                          </a:solidFill>
                          <a:latin typeface="Arial" pitchFamily="34" charset="0"/>
                          <a:ea typeface="Arial" pitchFamily="34" charset="-122"/>
                          <a:cs typeface="Arial" pitchFamily="34" charset="-120"/>
                        </a:rPr>
                        <a:t>Price fits under grant budgets (ATL ₹10 lakh setup, IDEA Lab ≈₹1.1 Cr); startups as the faster second segment</a:t>
                      </a:r>
                      <a:endParaRPr lang="en-US" sz="10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E8F1EC"/>
                    </a:solidFill>
                  </a:tcPr>
                </a:tc>
              </a:tr>
              <a:tr h="475488">
                <a:tc>
                  <a:txBody>
                    <a:bodyPr/>
                    <a:lstStyle/>
                    <a:p>
                      <a:pPr indent="0" marL="0">
                        <a:buNone/>
                      </a:pPr>
                      <a:r>
                        <a:rPr lang="en-US" sz="1000" b="1" dirty="0">
                          <a:solidFill>
                            <a:srgbClr val="1D2522"/>
                          </a:solidFill>
                          <a:latin typeface="Arial" pitchFamily="34" charset="0"/>
                          <a:ea typeface="Arial" pitchFamily="34" charset="-122"/>
                          <a:cs typeface="Arial" pitchFamily="34" charset="-120"/>
                        </a:rPr>
                        <a:t>Model and API costs</a:t>
                      </a:r>
                      <a:endParaRPr lang="en-US" sz="10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1000" dirty="0">
                          <a:solidFill>
                            <a:srgbClr val="1D2522"/>
                          </a:solidFill>
                          <a:latin typeface="Arial" pitchFamily="34" charset="0"/>
                          <a:ea typeface="Arial" pitchFamily="34" charset="-122"/>
                          <a:cs typeface="Arial" pitchFamily="34" charset="-120"/>
                        </a:rPr>
                        <a:t>Model-agnostic; measure cloud cost per lab in pilots before fixing subscription price</a:t>
                      </a:r>
                      <a:endParaRPr lang="en-US" sz="10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r h="475488">
                <a:tc>
                  <a:txBody>
                    <a:bodyPr/>
                    <a:lstStyle/>
                    <a:p>
                      <a:pPr indent="0" marL="0">
                        <a:buNone/>
                      </a:pPr>
                      <a:r>
                        <a:rPr lang="en-US" sz="1000" b="1" dirty="0">
                          <a:solidFill>
                            <a:srgbClr val="1D2522"/>
                          </a:solidFill>
                          <a:latin typeface="Arial" pitchFamily="34" charset="0"/>
                          <a:ea typeface="Arial" pitchFamily="34" charset="-122"/>
                          <a:cs typeface="Arial" pitchFamily="34" charset="-120"/>
                        </a:rPr>
                        <a:t>Copycat hardware</a:t>
                      </a:r>
                      <a:endParaRPr lang="en-US" sz="10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E8F1EC"/>
                    </a:solidFill>
                  </a:tcPr>
                </a:tc>
                <a:tc>
                  <a:txBody>
                    <a:bodyPr/>
                    <a:lstStyle/>
                    <a:p>
                      <a:pPr indent="0" marL="0">
                        <a:buNone/>
                      </a:pPr>
                      <a:r>
                        <a:rPr lang="en-US" sz="1000" dirty="0">
                          <a:solidFill>
                            <a:srgbClr val="1D2522"/>
                          </a:solidFill>
                          <a:latin typeface="Arial" pitchFamily="34" charset="0"/>
                          <a:ea typeface="Arial" pitchFamily="34" charset="-122"/>
                          <a:cs typeface="Arial" pitchFamily="34" charset="-120"/>
                        </a:rPr>
                        <a:t>Value is in Proto and the run data; the hardware is cheap to us by design</a:t>
                      </a:r>
                      <a:endParaRPr lang="en-US" sz="10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E8F1EC"/>
                    </a:solidFill>
                  </a:tcPr>
                </a:tc>
              </a:tr>
              <a:tr h="475488">
                <a:tc>
                  <a:txBody>
                    <a:bodyPr/>
                    <a:lstStyle/>
                    <a:p>
                      <a:pPr indent="0" marL="0">
                        <a:buNone/>
                      </a:pPr>
                      <a:r>
                        <a:rPr lang="en-US" sz="1000" b="1" dirty="0">
                          <a:solidFill>
                            <a:srgbClr val="1D2522"/>
                          </a:solidFill>
                          <a:latin typeface="Arial" pitchFamily="34" charset="0"/>
                          <a:ea typeface="Arial" pitchFamily="34" charset="-122"/>
                          <a:cs typeface="Arial" pitchFamily="34" charset="-120"/>
                        </a:rPr>
                        <a:t>China supplier risk / IP</a:t>
                      </a:r>
                      <a:endParaRPr lang="en-US" sz="10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c>
                  <a:txBody>
                    <a:bodyPr/>
                    <a:lstStyle/>
                    <a:p>
                      <a:pPr indent="0" marL="0">
                        <a:buNone/>
                      </a:pPr>
                      <a:r>
                        <a:rPr lang="en-US" sz="1000" dirty="0">
                          <a:solidFill>
                            <a:srgbClr val="1D2522"/>
                          </a:solidFill>
                          <a:latin typeface="Arial" pitchFamily="34" charset="0"/>
                          <a:ea typeface="Arial" pitchFamily="34" charset="-122"/>
                          <a:cs typeface="Arial" pitchFamily="34" charset="-120"/>
                        </a:rPr>
                        <a:t>Two-supplier strategy, NNN, tooling ownership, we own the test system</a:t>
                      </a:r>
                      <a:endParaRPr lang="en-US" sz="1000" dirty="0">
                        <a:latin typeface="Arial" charset="0"/>
                        <a:ea typeface="Arial" charset="0"/>
                        <a:cs typeface="Arial" charset="0"/>
                      </a:endParaRPr>
                    </a:p>
                  </a:txBody>
                  <a:tcPr marL="50800" marR="50800" marT="25400" marB="25400" anchor="ctr">
                    <a:lnL w="6350" cap="flat" cmpd="sng" algn="ctr">
                      <a:solidFill>
                        <a:srgbClr val="C9D6CF"/>
                      </a:solidFill>
                      <a:prstDash val="solid"/>
                      <a:round/>
                      <a:headEnd type="none" w="med" len="med"/>
                      <a:tailEnd type="none" w="med" len="med"/>
                    </a:lnL>
                    <a:lnR w="6350" cap="flat" cmpd="sng" algn="ctr">
                      <a:solidFill>
                        <a:srgbClr val="C9D6CF"/>
                      </a:solidFill>
                      <a:prstDash val="solid"/>
                      <a:round/>
                      <a:headEnd type="none" w="med" len="med"/>
                      <a:tailEnd type="none" w="med" len="med"/>
                    </a:lnR>
                    <a:lnT w="6350" cap="flat" cmpd="sng" algn="ctr">
                      <a:solidFill>
                        <a:srgbClr val="C9D6CF"/>
                      </a:solidFill>
                      <a:prstDash val="solid"/>
                      <a:round/>
                      <a:headEnd type="none" w="med" len="med"/>
                      <a:tailEnd type="none" w="med" len="med"/>
                    </a:lnT>
                    <a:lnB w="6350" cap="flat" cmpd="sng" algn="ctr">
                      <a:solidFill>
                        <a:srgbClr val="C9D6CF"/>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F2A22"/>
        </a:solidFill>
      </p:bgPr>
    </p:bg>
    <p:spTree>
      <p:nvGrpSpPr>
        <p:cNvPr id="1" name=""/>
        <p:cNvGrpSpPr/>
        <p:nvPr/>
      </p:nvGrpSpPr>
      <p:grpSpPr>
        <a:xfrm>
          <a:off x="0" y="0"/>
          <a:ext cx="0" cy="0"/>
          <a:chOff x="0" y="0"/>
          <a:chExt cx="0" cy="0"/>
        </a:xfrm>
      </p:grpSpPr>
      <p:sp>
        <p:nvSpPr>
          <p:cNvPr id="2" name="Text 0"/>
          <p:cNvSpPr txBox="1"/>
          <p:nvPr/>
        </p:nvSpPr>
        <p:spPr>
          <a:xfrm>
            <a:off x="548640" y="502920"/>
            <a:ext cx="4572000" cy="228600"/>
          </a:xfrm>
          <a:prstGeom prst="rect">
            <a:avLst/>
          </a:prstGeom>
          <a:noFill/>
          <a:ln/>
        </p:spPr>
        <p:txBody>
          <a:bodyPr wrap="square" lIns="0" tIns="0" rIns="0" bIns="0" rtlCol="0" anchor="t"/>
          <a:lstStyle/>
          <a:p>
            <a:pPr indent="0" marL="0">
              <a:buNone/>
            </a:pPr>
            <a:r>
              <a:rPr lang="en-US" sz="1000" b="1" spc="300" kern="0" dirty="0">
                <a:solidFill>
                  <a:srgbClr val="C8793A"/>
                </a:solidFill>
                <a:latin typeface="Arial" pitchFamily="34" charset="0"/>
                <a:ea typeface="Arial" pitchFamily="34" charset="-122"/>
                <a:cs typeface="Arial" pitchFamily="34" charset="-120"/>
              </a:rPr>
              <a:t>THE ASK</a:t>
            </a:r>
            <a:endParaRPr lang="en-US" sz="1000" dirty="0"/>
          </a:p>
        </p:txBody>
      </p:sp>
      <p:sp>
        <p:nvSpPr>
          <p:cNvPr id="3" name="Text 1"/>
          <p:cNvSpPr txBox="1"/>
          <p:nvPr/>
        </p:nvSpPr>
        <p:spPr>
          <a:xfrm>
            <a:off x="548640" y="822960"/>
            <a:ext cx="7863840" cy="1097280"/>
          </a:xfrm>
          <a:prstGeom prst="rect">
            <a:avLst/>
          </a:prstGeom>
          <a:noFill/>
          <a:ln/>
        </p:spPr>
        <p:txBody>
          <a:bodyPr wrap="square" lIns="0" tIns="0" rIns="0" bIns="0" rtlCol="0" anchor="t"/>
          <a:lstStyle/>
          <a:p>
            <a:pPr indent="0" marL="0">
              <a:buNone/>
            </a:pPr>
            <a:r>
              <a:rPr lang="en-US" sz="2600" b="1" dirty="0">
                <a:solidFill>
                  <a:srgbClr val="FFFFFF"/>
                </a:solidFill>
                <a:latin typeface="Arial" pitchFamily="34" charset="0"/>
                <a:ea typeface="Arial" pitchFamily="34" charset="-122"/>
                <a:cs typeface="Arial" pitchFamily="34" charset="-120"/>
              </a:rPr>
              <a:t>₹10 lakh to prove that an AI can take a prompt to a tested board on Baker</a:t>
            </a:r>
            <a:endParaRPr lang="en-US" sz="2600" dirty="0"/>
          </a:p>
        </p:txBody>
      </p:sp>
      <p:sp>
        <p:nvSpPr>
          <p:cNvPr id="4" name="Text 2"/>
          <p:cNvSpPr txBox="1"/>
          <p:nvPr/>
        </p:nvSpPr>
        <p:spPr>
          <a:xfrm>
            <a:off x="548640" y="2286000"/>
            <a:ext cx="1920240" cy="548640"/>
          </a:xfrm>
          <a:prstGeom prst="rect">
            <a:avLst/>
          </a:prstGeom>
          <a:noFill/>
          <a:ln/>
        </p:spPr>
        <p:txBody>
          <a:bodyPr wrap="square" lIns="0" tIns="0" rIns="0" bIns="0" rtlCol="0" anchor="t"/>
          <a:lstStyle/>
          <a:p>
            <a:pPr indent="0" marL="0">
              <a:buNone/>
            </a:pPr>
            <a:r>
              <a:rPr lang="en-US" sz="2600" b="1" dirty="0">
                <a:solidFill>
                  <a:srgbClr val="C8793A"/>
                </a:solidFill>
                <a:latin typeface="Arial" pitchFamily="34" charset="0"/>
                <a:ea typeface="Arial" pitchFamily="34" charset="-122"/>
                <a:cs typeface="Arial" pitchFamily="34" charset="-120"/>
              </a:rPr>
              <a:t>9 months</a:t>
            </a:r>
            <a:endParaRPr lang="en-US" sz="2600" dirty="0"/>
          </a:p>
        </p:txBody>
      </p:sp>
      <p:sp>
        <p:nvSpPr>
          <p:cNvPr id="5" name="Text 3"/>
          <p:cNvSpPr txBox="1"/>
          <p:nvPr/>
        </p:nvSpPr>
        <p:spPr>
          <a:xfrm>
            <a:off x="548640" y="2834640"/>
            <a:ext cx="1920240" cy="365760"/>
          </a:xfrm>
          <a:prstGeom prst="rect">
            <a:avLst/>
          </a:prstGeom>
          <a:noFill/>
          <a:ln/>
        </p:spPr>
        <p:txBody>
          <a:bodyPr wrap="square" lIns="0" tIns="0" rIns="0" bIns="0" rtlCol="0" anchor="t"/>
          <a:lstStyle/>
          <a:p>
            <a:pPr indent="0" marL="0">
              <a:buNone/>
            </a:pPr>
            <a:r>
              <a:rPr lang="en-US" sz="1000" dirty="0">
                <a:solidFill>
                  <a:srgbClr val="D3E5DB"/>
                </a:solidFill>
                <a:latin typeface="Arial" pitchFamily="34" charset="0"/>
                <a:ea typeface="Arial" pitchFamily="34" charset="-122"/>
                <a:cs typeface="Arial" pitchFamily="34" charset="-120"/>
              </a:rPr>
              <a:t>to Phase 1 exit</a:t>
            </a:r>
            <a:endParaRPr lang="en-US" sz="1000" dirty="0"/>
          </a:p>
        </p:txBody>
      </p:sp>
      <p:sp>
        <p:nvSpPr>
          <p:cNvPr id="6" name="Text 4"/>
          <p:cNvSpPr txBox="1"/>
          <p:nvPr/>
        </p:nvSpPr>
        <p:spPr>
          <a:xfrm>
            <a:off x="2560320" y="2286000"/>
            <a:ext cx="1920240" cy="548640"/>
          </a:xfrm>
          <a:prstGeom prst="rect">
            <a:avLst/>
          </a:prstGeom>
          <a:noFill/>
          <a:ln/>
        </p:spPr>
        <p:txBody>
          <a:bodyPr wrap="square" lIns="0" tIns="0" rIns="0" bIns="0" rtlCol="0" anchor="t"/>
          <a:lstStyle/>
          <a:p>
            <a:pPr indent="0" marL="0">
              <a:buNone/>
            </a:pPr>
            <a:r>
              <a:rPr lang="en-US" sz="2600" b="1" dirty="0">
                <a:solidFill>
                  <a:srgbClr val="C8793A"/>
                </a:solidFill>
                <a:latin typeface="Arial" pitchFamily="34" charset="0"/>
                <a:ea typeface="Arial" pitchFamily="34" charset="-122"/>
                <a:cs typeface="Arial" pitchFamily="34" charset="-120"/>
              </a:rPr>
              <a:t>3 + 50</a:t>
            </a:r>
            <a:endParaRPr lang="en-US" sz="2600" dirty="0"/>
          </a:p>
        </p:txBody>
      </p:sp>
      <p:sp>
        <p:nvSpPr>
          <p:cNvPr id="7" name="Text 5"/>
          <p:cNvSpPr txBox="1"/>
          <p:nvPr/>
        </p:nvSpPr>
        <p:spPr>
          <a:xfrm>
            <a:off x="2560320" y="2834640"/>
            <a:ext cx="1920240" cy="365760"/>
          </a:xfrm>
          <a:prstGeom prst="rect">
            <a:avLst/>
          </a:prstGeom>
          <a:noFill/>
          <a:ln/>
        </p:spPr>
        <p:txBody>
          <a:bodyPr wrap="square" lIns="0" tIns="0" rIns="0" bIns="0" rtlCol="0" anchor="t"/>
          <a:lstStyle/>
          <a:p>
            <a:pPr indent="0" marL="0">
              <a:buNone/>
            </a:pPr>
            <a:r>
              <a:rPr lang="en-US" sz="1000" dirty="0">
                <a:solidFill>
                  <a:srgbClr val="D3E5DB"/>
                </a:solidFill>
                <a:latin typeface="Arial" pitchFamily="34" charset="0"/>
                <a:ea typeface="Arial" pitchFamily="34" charset="-122"/>
                <a:cs typeface="Arial" pitchFamily="34" charset="-120"/>
              </a:rPr>
              <a:t>pilot sites + boards</a:t>
            </a:r>
            <a:endParaRPr lang="en-US" sz="1000" dirty="0"/>
          </a:p>
        </p:txBody>
      </p:sp>
      <p:sp>
        <p:nvSpPr>
          <p:cNvPr id="8" name="Text 6"/>
          <p:cNvSpPr txBox="1"/>
          <p:nvPr/>
        </p:nvSpPr>
        <p:spPr>
          <a:xfrm>
            <a:off x="4572000" y="2286000"/>
            <a:ext cx="1920240" cy="548640"/>
          </a:xfrm>
          <a:prstGeom prst="rect">
            <a:avLst/>
          </a:prstGeom>
          <a:noFill/>
          <a:ln/>
        </p:spPr>
        <p:txBody>
          <a:bodyPr wrap="square" lIns="0" tIns="0" rIns="0" bIns="0" rtlCol="0" anchor="t"/>
          <a:lstStyle/>
          <a:p>
            <a:pPr indent="0" marL="0">
              <a:buNone/>
            </a:pPr>
            <a:r>
              <a:rPr lang="en-US" sz="2600" b="1" dirty="0">
                <a:solidFill>
                  <a:srgbClr val="C8793A"/>
                </a:solidFill>
                <a:latin typeface="Arial" pitchFamily="34" charset="0"/>
                <a:ea typeface="Arial" pitchFamily="34" charset="-122"/>
                <a:cs typeface="Arial" pitchFamily="34" charset="-120"/>
              </a:rPr>
              <a:t>59</a:t>
            </a:r>
            <a:endParaRPr lang="en-US" sz="2600" dirty="0"/>
          </a:p>
        </p:txBody>
      </p:sp>
      <p:sp>
        <p:nvSpPr>
          <p:cNvPr id="9" name="Text 7"/>
          <p:cNvSpPr txBox="1"/>
          <p:nvPr/>
        </p:nvSpPr>
        <p:spPr>
          <a:xfrm>
            <a:off x="4572000" y="2834640"/>
            <a:ext cx="1920240" cy="365760"/>
          </a:xfrm>
          <a:prstGeom prst="rect">
            <a:avLst/>
          </a:prstGeom>
          <a:noFill/>
          <a:ln/>
        </p:spPr>
        <p:txBody>
          <a:bodyPr wrap="square" lIns="0" tIns="0" rIns="0" bIns="0" rtlCol="0" anchor="t"/>
          <a:lstStyle/>
          <a:p>
            <a:pPr indent="0" marL="0">
              <a:buNone/>
            </a:pPr>
            <a:r>
              <a:rPr lang="en-US" sz="1000" dirty="0">
                <a:solidFill>
                  <a:srgbClr val="D3E5DB"/>
                </a:solidFill>
                <a:latin typeface="Arial" pitchFamily="34" charset="0"/>
                <a:ea typeface="Arial" pitchFamily="34" charset="-122"/>
                <a:cs typeface="Arial" pitchFamily="34" charset="-120"/>
              </a:rPr>
              <a:t>boards to customer payback</a:t>
            </a:r>
            <a:endParaRPr lang="en-US" sz="1000" dirty="0"/>
          </a:p>
        </p:txBody>
      </p:sp>
      <p:sp>
        <p:nvSpPr>
          <p:cNvPr id="10" name="Text 8"/>
          <p:cNvSpPr txBox="1"/>
          <p:nvPr/>
        </p:nvSpPr>
        <p:spPr>
          <a:xfrm>
            <a:off x="6583680" y="2286000"/>
            <a:ext cx="1920240" cy="548640"/>
          </a:xfrm>
          <a:prstGeom prst="rect">
            <a:avLst/>
          </a:prstGeom>
          <a:noFill/>
          <a:ln/>
        </p:spPr>
        <p:txBody>
          <a:bodyPr wrap="square" lIns="0" tIns="0" rIns="0" bIns="0" rtlCol="0" anchor="t"/>
          <a:lstStyle/>
          <a:p>
            <a:pPr indent="0" marL="0">
              <a:buNone/>
            </a:pPr>
            <a:r>
              <a:rPr lang="en-US" sz="2600" b="1" dirty="0">
                <a:solidFill>
                  <a:srgbClr val="C8793A"/>
                </a:solidFill>
                <a:latin typeface="Arial" pitchFamily="34" charset="0"/>
                <a:ea typeface="Arial" pitchFamily="34" charset="-122"/>
                <a:cs typeface="Arial" pitchFamily="34" charset="-120"/>
              </a:rPr>
              <a:t>58.5%</a:t>
            </a:r>
            <a:endParaRPr lang="en-US" sz="2600" dirty="0"/>
          </a:p>
        </p:txBody>
      </p:sp>
      <p:sp>
        <p:nvSpPr>
          <p:cNvPr id="11" name="Text 9"/>
          <p:cNvSpPr txBox="1"/>
          <p:nvPr/>
        </p:nvSpPr>
        <p:spPr>
          <a:xfrm>
            <a:off x="6583680" y="2834640"/>
            <a:ext cx="1920240" cy="365760"/>
          </a:xfrm>
          <a:prstGeom prst="rect">
            <a:avLst/>
          </a:prstGeom>
          <a:noFill/>
          <a:ln/>
        </p:spPr>
        <p:txBody>
          <a:bodyPr wrap="square" lIns="0" tIns="0" rIns="0" bIns="0" rtlCol="0" anchor="t"/>
          <a:lstStyle/>
          <a:p>
            <a:pPr indent="0" marL="0">
              <a:buNone/>
            </a:pPr>
            <a:r>
              <a:rPr lang="en-US" sz="1000" dirty="0">
                <a:solidFill>
                  <a:srgbClr val="D3E5DB"/>
                </a:solidFill>
                <a:latin typeface="Arial" pitchFamily="34" charset="0"/>
                <a:ea typeface="Arial" pitchFamily="34" charset="-122"/>
                <a:cs typeface="Arial" pitchFamily="34" charset="-120"/>
              </a:rPr>
              <a:t>Baker gross margin</a:t>
            </a:r>
            <a:endParaRPr lang="en-US" sz="1000" dirty="0"/>
          </a:p>
        </p:txBody>
      </p:sp>
      <p:sp>
        <p:nvSpPr>
          <p:cNvPr id="12" name="Text 10"/>
          <p:cNvSpPr txBox="1"/>
          <p:nvPr/>
        </p:nvSpPr>
        <p:spPr>
          <a:xfrm>
            <a:off x="548640" y="3749040"/>
            <a:ext cx="7863840" cy="365760"/>
          </a:xfrm>
          <a:prstGeom prst="rect">
            <a:avLst/>
          </a:prstGeom>
          <a:noFill/>
          <a:ln/>
        </p:spPr>
        <p:txBody>
          <a:bodyPr wrap="square" lIns="0" tIns="0" rIns="0" bIns="0" rtlCol="0" anchor="t"/>
          <a:lstStyle/>
          <a:p>
            <a:pPr indent="0" marL="0">
              <a:buNone/>
            </a:pPr>
            <a:r>
              <a:rPr lang="en-US" sz="1400" i="1" dirty="0">
                <a:solidFill>
                  <a:srgbClr val="FFFFFF"/>
                </a:solidFill>
                <a:latin typeface="Arial" pitchFamily="34" charset="0"/>
                <a:ea typeface="Arial" pitchFamily="34" charset="-122"/>
                <a:cs typeface="Arial" pitchFamily="34" charset="-120"/>
              </a:rPr>
              <a:t>Proto is the company. Baker is its first machine. Mixer is how it sees.</a:t>
            </a:r>
            <a:endParaRPr lang="en-US" sz="1400" dirty="0"/>
          </a:p>
        </p:txBody>
      </p:sp>
      <p:sp>
        <p:nvSpPr>
          <p:cNvPr id="13" name="Text 11"/>
          <p:cNvSpPr txBox="1"/>
          <p:nvPr/>
        </p:nvSpPr>
        <p:spPr>
          <a:xfrm>
            <a:off x="548640" y="4480560"/>
            <a:ext cx="7315200" cy="274320"/>
          </a:xfrm>
          <a:prstGeom prst="rect">
            <a:avLst/>
          </a:prstGeom>
          <a:noFill/>
          <a:ln/>
        </p:spPr>
        <p:txBody>
          <a:bodyPr wrap="square" lIns="0" tIns="0" rIns="0" bIns="0" rtlCol="0" anchor="t"/>
          <a:lstStyle/>
          <a:p>
            <a:pPr indent="0" marL="0">
              <a:buNone/>
            </a:pPr>
            <a:r>
              <a:rPr lang="en-US" sz="1000" dirty="0">
                <a:solidFill>
                  <a:srgbClr val="D3E5DB"/>
                </a:solidFill>
                <a:latin typeface="Arial" pitchFamily="34" charset="0"/>
                <a:ea typeface="Arial" pitchFamily="34" charset="-122"/>
                <a:cs typeface="Arial" pitchFamily="34" charset="-120"/>
              </a:rPr>
              <a:t>Protopulse · Delhi</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201168"/>
          </a:xfrm>
          <a:prstGeom prst="rect">
            <a:avLst/>
          </a:prstGeom>
          <a:noFill/>
          <a:ln/>
        </p:spPr>
        <p:txBody>
          <a:bodyPr wrap="square" lIns="0" tIns="0" rIns="0" bIns="0" rtlCol="0" anchor="t"/>
          <a:lstStyle/>
          <a:p>
            <a:pPr indent="0" marL="0">
              <a:buNone/>
            </a:pPr>
            <a:r>
              <a:rPr lang="en-US" sz="900" b="1" spc="200" kern="0" dirty="0">
                <a:solidFill>
                  <a:srgbClr val="C8793A"/>
                </a:solidFill>
                <a:latin typeface="Arial" pitchFamily="34" charset="0"/>
                <a:ea typeface="Arial" pitchFamily="34" charset="-122"/>
                <a:cs typeface="Arial" pitchFamily="34" charset="-120"/>
              </a:rPr>
              <a:t>APPENDIX</a:t>
            </a:r>
            <a:endParaRPr lang="en-US" sz="900" dirty="0"/>
          </a:p>
        </p:txBody>
      </p:sp>
      <p:sp>
        <p:nvSpPr>
          <p:cNvPr id="3" name="Text 1"/>
          <p:cNvSpPr txBox="1"/>
          <p:nvPr/>
        </p:nvSpPr>
        <p:spPr>
          <a:xfrm>
            <a:off x="457200" y="457200"/>
            <a:ext cx="8229600" cy="566928"/>
          </a:xfrm>
          <a:prstGeom prst="rect">
            <a:avLst/>
          </a:prstGeom>
          <a:noFill/>
          <a:ln/>
        </p:spPr>
        <p:txBody>
          <a:bodyPr wrap="square" lIns="0" tIns="0" rIns="0" bIns="0" rtlCol="0" anchor="ctr">
            <a:normAutofit/>
          </a:bodyPr>
          <a:lstStyle/>
          <a:p>
            <a:pPr indent="0" marL="0">
              <a:buNone/>
            </a:pPr>
            <a:r>
              <a:rPr lang="en-US" sz="2200" b="1" dirty="0">
                <a:solidFill>
                  <a:srgbClr val="0F2A22"/>
                </a:solidFill>
                <a:latin typeface="Arial" pitchFamily="34" charset="0"/>
                <a:ea typeface="Arial" pitchFamily="34" charset="-122"/>
                <a:cs typeface="Arial" pitchFamily="34" charset="-120"/>
              </a:rPr>
              <a:t>Sources</a:t>
            </a:r>
            <a:endParaRPr lang="en-US" sz="2200" dirty="0"/>
          </a:p>
        </p:txBody>
      </p:sp>
      <p:sp>
        <p:nvSpPr>
          <p:cNvPr id="4" name="Text 2"/>
          <p:cNvSpPr txBox="1"/>
          <p:nvPr/>
        </p:nvSpPr>
        <p:spPr>
          <a:xfrm>
            <a:off x="8321040" y="4828032"/>
            <a:ext cx="365760" cy="182880"/>
          </a:xfrm>
          <a:prstGeom prst="rect">
            <a:avLst/>
          </a:prstGeom>
          <a:noFill/>
          <a:ln/>
        </p:spPr>
        <p:txBody>
          <a:bodyPr wrap="square" lIns="0" tIns="0" rIns="0" bIns="0" rtlCol="0" anchor="t"/>
          <a:lstStyle/>
          <a:p>
            <a:pPr algn="r" indent="0" marL="0">
              <a:buNone/>
            </a:pPr>
            <a:r>
              <a:rPr lang="en-US" sz="800" dirty="0">
                <a:solidFill>
                  <a:srgbClr val="5E6B66"/>
                </a:solidFill>
                <a:latin typeface="Arial" pitchFamily="34" charset="0"/>
                <a:ea typeface="Arial" pitchFamily="34" charset="-122"/>
                <a:cs typeface="Arial" pitchFamily="34" charset="-120"/>
              </a:rPr>
              <a:t>30</a:t>
            </a:r>
            <a:endParaRPr lang="en-US" sz="800" dirty="0"/>
          </a:p>
        </p:txBody>
      </p:sp>
      <p:sp>
        <p:nvSpPr>
          <p:cNvPr id="5" name="Text 3"/>
          <p:cNvSpPr txBox="1"/>
          <p:nvPr/>
        </p:nvSpPr>
        <p:spPr>
          <a:xfrm>
            <a:off x="457200" y="4828032"/>
            <a:ext cx="2743200" cy="182880"/>
          </a:xfrm>
          <a:prstGeom prst="rect">
            <a:avLst/>
          </a:prstGeom>
          <a:noFill/>
          <a:ln/>
        </p:spPr>
        <p:txBody>
          <a:bodyPr wrap="square" lIns="0" tIns="0" rIns="0" bIns="0" rtlCol="0" anchor="t"/>
          <a:lstStyle/>
          <a:p>
            <a:pPr indent="0" marL="0">
              <a:buNone/>
            </a:pPr>
            <a:r>
              <a:rPr lang="en-US" sz="800" dirty="0">
                <a:solidFill>
                  <a:srgbClr val="5E6B66"/>
                </a:solidFill>
                <a:latin typeface="Arial" pitchFamily="34" charset="0"/>
                <a:ea typeface="Arial" pitchFamily="34" charset="-122"/>
                <a:cs typeface="Arial" pitchFamily="34" charset="-120"/>
              </a:rPr>
              <a:t>Protopulse · pitch v2</a:t>
            </a:r>
            <a:endParaRPr lang="en-US" sz="800" dirty="0"/>
          </a:p>
        </p:txBody>
      </p:sp>
      <p:sp>
        <p:nvSpPr>
          <p:cNvPr id="6" name="Text 4"/>
          <p:cNvSpPr txBox="1"/>
          <p:nvPr/>
        </p:nvSpPr>
        <p:spPr>
          <a:xfrm>
            <a:off x="457200" y="1097280"/>
            <a:ext cx="8229600" cy="3566160"/>
          </a:xfrm>
          <a:prstGeom prst="rect">
            <a:avLst/>
          </a:prstGeom>
          <a:noFill/>
          <a:ln/>
        </p:spPr>
        <p:txBody>
          <a:bodyPr wrap="square" lIns="0" tIns="0" rIns="0" bIns="0" rtlCol="0" anchor="t"/>
          <a:lstStyle/>
          <a:p>
            <a:pPr marL="152400" indent="-152400">
              <a:spcAft>
                <a:spcPts val="400"/>
              </a:spcAft>
              <a:buSzPct val="100000"/>
              <a:buChar char="•"/>
            </a:pPr>
            <a:r>
              <a:rPr lang="en-US" sz="850" dirty="0">
                <a:solidFill>
                  <a:srgbClr val="1D2522"/>
                </a:solidFill>
                <a:latin typeface="Arial" pitchFamily="34" charset="0"/>
                <a:ea typeface="Arial" pitchFamily="34" charset="-122"/>
                <a:cs typeface="Arial" pitchFamily="34" charset="-120"/>
              </a:rPr>
              <a:t>Protopus cost report, BOM and Baker workflow story (29 Sep 2026); Baker China manufacturing package (29 Sep 2026)</a:t>
            </a:r>
            <a:endParaRPr lang="en-US" sz="850" dirty="0"/>
          </a:p>
          <a:p>
            <a:pPr marL="152400" indent="-152400">
              <a:spcAft>
                <a:spcPts val="400"/>
              </a:spcAft>
              <a:buSzPct val="100000"/>
              <a:buChar char="•"/>
            </a:pPr>
            <a:r>
              <a:rPr lang="en-US" sz="850" dirty="0">
                <a:solidFill>
                  <a:srgbClr val="1D2522"/>
                </a:solidFill>
                <a:latin typeface="Arial" pitchFamily="34" charset="0"/>
                <a:ea typeface="Arial" pitchFamily="34" charset="-122"/>
                <a:cs typeface="Arial" pitchFamily="34" charset="-120"/>
              </a:rPr>
              <a:t>JLCPCB pricing: jlcpcb.com PCB and PCBA pages; India shipping, duty and timing: zbotic.in guides</a:t>
            </a:r>
            <a:endParaRPr lang="en-US" sz="850" dirty="0"/>
          </a:p>
          <a:p>
            <a:pPr marL="152400" indent="-152400">
              <a:spcAft>
                <a:spcPts val="400"/>
              </a:spcAft>
              <a:buSzPct val="100000"/>
              <a:buChar char="•"/>
            </a:pPr>
            <a:r>
              <a:rPr lang="en-US" sz="850" dirty="0">
                <a:solidFill>
                  <a:srgbClr val="1D2522"/>
                </a:solidFill>
                <a:latin typeface="Arial" pitchFamily="34" charset="0"/>
                <a:ea typeface="Arial" pitchFamily="34" charset="-122"/>
                <a:cs typeface="Arial" pitchFamily="34" charset="-120"/>
              </a:rPr>
              <a:t>Indian fabs: zbotic.in rush-prototyping guide (PCB Power, Lion Circuits)</a:t>
            </a:r>
            <a:endParaRPr lang="en-US" sz="850" dirty="0"/>
          </a:p>
          <a:p>
            <a:pPr marL="152400" indent="-152400">
              <a:spcAft>
                <a:spcPts val="400"/>
              </a:spcAft>
              <a:buSzPct val="100000"/>
              <a:buChar char="•"/>
            </a:pPr>
            <a:r>
              <a:rPr lang="en-US" sz="850" dirty="0">
                <a:solidFill>
                  <a:srgbClr val="1D2522"/>
                </a:solidFill>
                <a:latin typeface="Arial" pitchFamily="34" charset="0"/>
                <a:ea typeface="Arial" pitchFamily="34" charset="-122"/>
                <a:cs typeface="Arial" pitchFamily="34" charset="-120"/>
              </a:rPr>
              <a:t>Voltera NOVA: store.voltera.io; V-One: eleshop.eu, elektor.com, aniwaa.com</a:t>
            </a:r>
            <a:endParaRPr lang="en-US" sz="850" dirty="0"/>
          </a:p>
          <a:p>
            <a:pPr marL="152400" indent="-152400">
              <a:spcAft>
                <a:spcPts val="400"/>
              </a:spcAft>
              <a:buSzPct val="100000"/>
              <a:buChar char="•"/>
            </a:pPr>
            <a:r>
              <a:rPr lang="en-US" sz="850" dirty="0">
                <a:solidFill>
                  <a:srgbClr val="1D2522"/>
                </a:solidFill>
                <a:latin typeface="Arial" pitchFamily="34" charset="0"/>
                <a:ea typeface="Arial" pitchFamily="34" charset="-122"/>
                <a:cs typeface="Arial" pitchFamily="34" charset="-120"/>
              </a:rPr>
              <a:t>Makera Carvera: PR Newswire via Utusan Malaysia (Jun 2026)</a:t>
            </a:r>
            <a:endParaRPr lang="en-US" sz="850" dirty="0"/>
          </a:p>
          <a:p>
            <a:pPr marL="152400" indent="-152400">
              <a:spcAft>
                <a:spcPts val="400"/>
              </a:spcAft>
              <a:buSzPct val="100000"/>
              <a:buChar char="•"/>
            </a:pPr>
            <a:r>
              <a:rPr lang="en-US" sz="850" dirty="0">
                <a:solidFill>
                  <a:srgbClr val="1D2522"/>
                </a:solidFill>
                <a:latin typeface="Arial" pitchFamily="34" charset="0"/>
                <a:ea typeface="Arial" pitchFamily="34" charset="-122"/>
                <a:cs typeface="Arial" pitchFamily="34" charset="-120"/>
              </a:rPr>
              <a:t>Bantam Tools: makezine.com, hackaday.com, toolguyd.com ('no longer sells CNC milling or PCB machines')</a:t>
            </a:r>
            <a:endParaRPr lang="en-US" sz="850" dirty="0"/>
          </a:p>
          <a:p>
            <a:pPr marL="152400" indent="-152400">
              <a:spcAft>
                <a:spcPts val="400"/>
              </a:spcAft>
              <a:buSzPct val="100000"/>
              <a:buChar char="•"/>
            </a:pPr>
            <a:r>
              <a:rPr lang="en-US" sz="850" dirty="0">
                <a:solidFill>
                  <a:srgbClr val="1D2522"/>
                </a:solidFill>
                <a:latin typeface="Arial" pitchFamily="34" charset="0"/>
                <a:ea typeface="Arial" pitchFamily="34" charset="-122"/>
                <a:cs typeface="Arial" pitchFamily="34" charset="-120"/>
              </a:rPr>
              <a:t>BotFactory: techcrunch.com, technical.ly; Nano Dimension AME sale: evertiq.com (8 Apr 2026), tctmagazine.com</a:t>
            </a:r>
            <a:endParaRPr lang="en-US" sz="850" dirty="0"/>
          </a:p>
          <a:p>
            <a:pPr marL="152400" indent="-152400">
              <a:spcAft>
                <a:spcPts val="400"/>
              </a:spcAft>
              <a:buSzPct val="100000"/>
              <a:buChar char="•"/>
            </a:pPr>
            <a:r>
              <a:rPr lang="en-US" sz="850" dirty="0">
                <a:solidFill>
                  <a:srgbClr val="1D2522"/>
                </a:solidFill>
                <a:latin typeface="Arial" pitchFamily="34" charset="0"/>
                <a:ea typeface="Arial" pitchFamily="34" charset="-122"/>
                <a:cs typeface="Arial" pitchFamily="34" charset="-120"/>
              </a:rPr>
              <a:t>LPKF: lpkf.com (quote-only); exapro.com used S104 line listing (~$96,000 new in 2019)</a:t>
            </a:r>
            <a:endParaRPr lang="en-US" sz="850" dirty="0"/>
          </a:p>
          <a:p>
            <a:pPr marL="152400" indent="-152400">
              <a:spcAft>
                <a:spcPts val="400"/>
              </a:spcAft>
              <a:buSzPct val="100000"/>
              <a:buChar char="•"/>
            </a:pPr>
            <a:r>
              <a:rPr lang="en-US" sz="850" dirty="0">
                <a:solidFill>
                  <a:srgbClr val="1D2522"/>
                </a:solidFill>
                <a:latin typeface="Arial" pitchFamily="34" charset="0"/>
                <a:ea typeface="Arial" pitchFamily="34" charset="-122"/>
                <a:cs typeface="Arial" pitchFamily="34" charset="-120"/>
              </a:rPr>
              <a:t>Neoden YY1: eevblog.com forum; Analog Discovery 3: jameco.com, digikey.com; ADALM2000: richardsonrfpd.com, Mouser</a:t>
            </a:r>
            <a:endParaRPr lang="en-US" sz="850" dirty="0"/>
          </a:p>
          <a:p>
            <a:pPr marL="152400" indent="-152400">
              <a:spcAft>
                <a:spcPts val="400"/>
              </a:spcAft>
              <a:buSzPct val="100000"/>
              <a:buChar char="•"/>
            </a:pPr>
            <a:r>
              <a:rPr lang="en-US" sz="850" dirty="0">
                <a:solidFill>
                  <a:srgbClr val="1D2522"/>
                </a:solidFill>
                <a:latin typeface="Arial" pitchFamily="34" charset="0"/>
                <a:ea typeface="Arial" pitchFamily="34" charset="-122"/>
                <a:cs typeface="Arial" pitchFamily="34" charset="-120"/>
              </a:rPr>
              <a:t>Moku:Go: tequipment.net; Red Pitaya: redpitaya.com; Saleae: saleae.com; Rigol DHO804: electro-meters.com</a:t>
            </a:r>
            <a:endParaRPr lang="en-US" sz="850" dirty="0"/>
          </a:p>
          <a:p>
            <a:pPr marL="152400" indent="-152400">
              <a:spcAft>
                <a:spcPts val="400"/>
              </a:spcAft>
              <a:buSzPct val="100000"/>
              <a:buChar char="•"/>
            </a:pPr>
            <a:r>
              <a:rPr lang="en-US" sz="850" dirty="0">
                <a:solidFill>
                  <a:srgbClr val="1D2522"/>
                </a:solidFill>
                <a:latin typeface="Arial" pitchFamily="34" charset="0"/>
                <a:ea typeface="Arial" pitchFamily="34" charset="-122"/>
                <a:cs typeface="Arial" pitchFamily="34" charset="-120"/>
              </a:rPr>
              <a:t>Flux: flux.ai pricing, siliconangle.com (27 Feb 2026); Quilter: businesswire.com (7 Oct 2025); Diode: fenwick.com</a:t>
            </a:r>
            <a:endParaRPr lang="en-US" sz="850" dirty="0"/>
          </a:p>
          <a:p>
            <a:pPr marL="152400" indent="-152400">
              <a:spcAft>
                <a:spcPts val="400"/>
              </a:spcAft>
              <a:buSzPct val="100000"/>
              <a:buChar char="•"/>
            </a:pPr>
            <a:r>
              <a:rPr lang="en-US" sz="850" dirty="0">
                <a:solidFill>
                  <a:srgbClr val="1D2522"/>
                </a:solidFill>
                <a:latin typeface="Arial" pitchFamily="34" charset="0"/>
                <a:ea typeface="Arial" pitchFamily="34" charset="-122"/>
                <a:cs typeface="Arial" pitchFamily="34" charset="-120"/>
              </a:rPr>
              <a:t>Claude connectors: claude.com/connectors/autodesk-fusion; digitalproduction.com (30 Apr 2026, Blender)</a:t>
            </a:r>
            <a:endParaRPr lang="en-US" sz="850" dirty="0"/>
          </a:p>
          <a:p>
            <a:pPr marL="152400" indent="-152400">
              <a:spcAft>
                <a:spcPts val="400"/>
              </a:spcAft>
              <a:buSzPct val="100000"/>
              <a:buChar char="•"/>
            </a:pPr>
            <a:r>
              <a:rPr lang="en-US" sz="850" dirty="0">
                <a:solidFill>
                  <a:srgbClr val="1D2522"/>
                </a:solidFill>
                <a:latin typeface="Arial" pitchFamily="34" charset="0"/>
                <a:ea typeface="Arial" pitchFamily="34" charset="-122"/>
                <a:cs typeface="Arial" pitchFamily="34" charset="-120"/>
              </a:rPr>
              <a:t>Lovable: techcrunch.com (23 Jul 2025), founded.com (Feb 2026)</a:t>
            </a:r>
            <a:endParaRPr lang="en-US" sz="850" dirty="0"/>
          </a:p>
          <a:p>
            <a:pPr marL="152400" indent="-152400">
              <a:spcAft>
                <a:spcPts val="400"/>
              </a:spcAft>
              <a:buSzPct val="100000"/>
              <a:buChar char="•"/>
            </a:pPr>
            <a:r>
              <a:rPr lang="en-US" sz="850" dirty="0">
                <a:solidFill>
                  <a:srgbClr val="1D2522"/>
                </a:solidFill>
                <a:latin typeface="Arial" pitchFamily="34" charset="0"/>
                <a:ea typeface="Arial" pitchFamily="34" charset="-122"/>
                <a:cs typeface="Arial" pitchFamily="34" charset="-120"/>
              </a:rPr>
              <a:t>India: AIM/PIB (10,000 ATLs), Union Budget 2025-26 (50,000 ATLs), AIM grant guideline (₹20 lakh), AICTE via educationforallinindia (5,868), AISHE (23.2 lakh B.Tech), TiE/DPIIT (2.25 lakh startups), MeitY/PIB (C2S), AICTE IDEA Lab EOI</a:t>
            </a:r>
            <a:endParaRPr lang="en-US" sz="850" dirty="0"/>
          </a:p>
          <a:p>
            <a:pPr marL="152400" indent="-152400">
              <a:spcAft>
                <a:spcPts val="400"/>
              </a:spcAft>
              <a:buSzPct val="100000"/>
              <a:buChar char="•"/>
            </a:pPr>
            <a:r>
              <a:rPr lang="en-US" sz="850" dirty="0">
                <a:solidFill>
                  <a:srgbClr val="1D2522"/>
                </a:solidFill>
                <a:latin typeface="Arial" pitchFamily="34" charset="0"/>
                <a:ea typeface="Arial" pitchFamily="34" charset="-122"/>
                <a:cs typeface="Arial" pitchFamily="34" charset="-120"/>
              </a:rPr>
              <a:t>Global: Fab Foundation (2,300+ labs), Fortune Business Insights (oscilloscopes), QYResearch via electronicsforu (desktop CNC)</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Protopulse pitch v2</dc:title>
  <dc:subject>PptxGenJS Presentation</dc:subject>
  <dc:creator>Protopulse</dc:creator>
  <cp:lastModifiedBy>Protopulse</cp:lastModifiedBy>
  <cp:revision>1</cp:revision>
  <dcterms:created xsi:type="dcterms:W3CDTF">2026-09-30T13:00:30Z</dcterms:created>
  <dcterms:modified xsi:type="dcterms:W3CDTF">2026-09-30T13:00:30Z</dcterms:modified>
</cp:coreProperties>
</file>