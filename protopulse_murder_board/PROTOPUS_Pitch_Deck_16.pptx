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2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lo/src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475488"/>
            <a:ext cx="1965960" cy="34198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11480" y="1572768"/>
            <a:ext cx="8412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4200" b="1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Focus on</a:t>
            </a:r>
            <a:endParaRPr lang="en-US" sz="42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4200" b="1" u="wavy" dirty="0">
                <a:solidFill>
                  <a:srgbClr val="E8EEF2"/>
                </a:solidFill>
                <a:uFill>
                  <a:solidFill>
                    <a:srgbClr val="54ACF0"/>
                  </a:solidFill>
                </a:u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innovation</a:t>
            </a:r>
            <a:pPr indent="0" marL="0">
              <a:lnSpc>
                <a:spcPct val="95000"/>
              </a:lnSpc>
              <a:buNone/>
            </a:pPr>
            <a:r>
              <a:rPr lang="en-US" sz="4200" b="1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.</a:t>
            </a:r>
            <a:endParaRPr lang="en-US" sz="4200" dirty="0"/>
          </a:p>
        </p:txBody>
      </p:sp>
      <p:sp>
        <p:nvSpPr>
          <p:cNvPr id="4" name="Text 1"/>
          <p:cNvSpPr txBox="1"/>
          <p:nvPr/>
        </p:nvSpPr>
        <p:spPr>
          <a:xfrm>
            <a:off x="411480" y="2816352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9FB0B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We take care of the rest.</a:t>
            </a:r>
            <a:endParaRPr lang="en-US" sz="4200" dirty="0"/>
          </a:p>
        </p:txBody>
      </p:sp>
      <p:sp>
        <p:nvSpPr>
          <p:cNvPr id="5" name="Text 2"/>
          <p:cNvSpPr txBox="1"/>
          <p:nvPr/>
        </p:nvSpPr>
        <p:spPr>
          <a:xfrm>
            <a:off x="411480" y="3749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2C23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proto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, our AI engineer, plans every step.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F8F4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baker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 makes the board.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4ACF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mixer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 tests it.</a:t>
            </a:r>
            <a:endParaRPr lang="en-US" sz="1150" dirty="0"/>
          </a:p>
        </p:txBody>
      </p:sp>
      <p:sp>
        <p:nvSpPr>
          <p:cNvPr id="6" name="Text 3"/>
          <p:cNvSpPr txBox="1"/>
          <p:nvPr/>
        </p:nvSpPr>
        <p:spPr>
          <a:xfrm>
            <a:off x="411480" y="443484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E7A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protopus-kappa.vercel.app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2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429768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250" kern="0" dirty="0">
                <a:solidFill>
                  <a:srgbClr val="CF8F4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01 · PROBLEM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658368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prototype is a loop,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and every lap costs weeks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993392"/>
            <a:ext cx="2240280" cy="2240280"/>
          </a:xfrm>
          <a:prstGeom prst="ellipse">
            <a:avLst/>
          </a:prstGeom>
          <a:solidFill>
            <a:srgbClr val="0E1216"/>
          </a:solidFill>
          <a:ln w="11430">
            <a:solidFill>
              <a:srgbClr val="424A51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1554480" y="1856232"/>
            <a:ext cx="603504" cy="274320"/>
          </a:xfrm>
          <a:prstGeom prst="rect">
            <a:avLst/>
          </a:prstGeom>
          <a:solidFill>
            <a:srgbClr val="0E1216"/>
          </a:solidFill>
          <a:ln w="9525">
            <a:solidFill>
              <a:srgbClr val="E8EEF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554480" y="185623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design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624328" y="2395728"/>
            <a:ext cx="548640" cy="274320"/>
          </a:xfrm>
          <a:prstGeom prst="rect">
            <a:avLst/>
          </a:prstGeom>
          <a:solidFill>
            <a:srgbClr val="0E1216"/>
          </a:solidFill>
          <a:ln w="9525">
            <a:solidFill>
              <a:srgbClr val="E8EEF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624328" y="23957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order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42032" y="3090672"/>
            <a:ext cx="1051560" cy="274320"/>
          </a:xfrm>
          <a:prstGeom prst="rect">
            <a:avLst/>
          </a:prstGeom>
          <a:solidFill>
            <a:srgbClr val="CF8F4E"/>
          </a:solidFill>
          <a:ln w="9525">
            <a:solidFill>
              <a:srgbClr val="CF8F4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542032" y="309067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40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wait 2 weeks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234440" y="4096512"/>
            <a:ext cx="1234440" cy="274320"/>
          </a:xfrm>
          <a:prstGeom prst="rect">
            <a:avLst/>
          </a:prstGeom>
          <a:solidFill>
            <a:srgbClr val="0E1216"/>
          </a:solidFill>
          <a:ln w="9525">
            <a:solidFill>
              <a:srgbClr val="E8EEF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234440" y="409651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solder by hand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57784" y="3584448"/>
            <a:ext cx="475488" cy="274320"/>
          </a:xfrm>
          <a:prstGeom prst="rect">
            <a:avLst/>
          </a:prstGeom>
          <a:solidFill>
            <a:srgbClr val="0E1216"/>
          </a:solidFill>
          <a:ln w="9525">
            <a:solidFill>
              <a:srgbClr val="E8EEF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57784" y="358444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test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2624328"/>
            <a:ext cx="868680" cy="274320"/>
          </a:xfrm>
          <a:prstGeom prst="rect">
            <a:avLst/>
          </a:prstGeom>
          <a:solidFill>
            <a:srgbClr val="0E1216"/>
          </a:solidFill>
          <a:ln w="9525">
            <a:solidFill>
              <a:srgbClr val="54AC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65760" y="262432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4ACF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bug found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276148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6E7A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AND AGAIN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024128" y="299008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×3, ×4, ×5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3703320" y="178308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CF8F4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</a:t>
            </a:r>
            <a:endParaRPr lang="en-US" sz="4400" dirty="0"/>
          </a:p>
        </p:txBody>
      </p:sp>
      <p:sp>
        <p:nvSpPr>
          <p:cNvPr id="20" name="Text 18"/>
          <p:cNvSpPr txBox="1"/>
          <p:nvPr/>
        </p:nvSpPr>
        <p:spPr>
          <a:xfrm>
            <a:off x="4937760" y="1892808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weeks waiting for a board to come back from a fab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703320" y="2551176"/>
            <a:ext cx="5029200" cy="0"/>
          </a:xfrm>
          <a:prstGeom prst="line">
            <a:avLst/>
          </a:prstGeom>
          <a:noFill/>
          <a:ln w="9525">
            <a:solidFill>
              <a:srgbClr val="1F2A3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703320" y="260604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CF8F4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</a:t>
            </a:r>
            <a:endParaRPr lang="en-US" sz="4400" dirty="0"/>
          </a:p>
        </p:txBody>
      </p:sp>
      <p:sp>
        <p:nvSpPr>
          <p:cNvPr id="23" name="Text 21"/>
          <p:cNvSpPr txBox="1"/>
          <p:nvPr/>
        </p:nvSpPr>
        <p:spPr>
          <a:xfrm>
            <a:off x="4937760" y="2715768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instruments to buy before you can measure it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703320" y="3374136"/>
            <a:ext cx="5029200" cy="0"/>
          </a:xfrm>
          <a:prstGeom prst="line">
            <a:avLst/>
          </a:prstGeom>
          <a:noFill/>
          <a:ln w="9525">
            <a:solidFill>
              <a:srgbClr val="1F2A3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703320" y="342900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CF8F4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</a:t>
            </a:r>
            <a:endParaRPr lang="en-US" sz="4400" dirty="0"/>
          </a:p>
        </p:txBody>
      </p:sp>
      <p:sp>
        <p:nvSpPr>
          <p:cNvPr id="26" name="Text 24"/>
          <p:cNvSpPr txBox="1"/>
          <p:nvPr/>
        </p:nvSpPr>
        <p:spPr>
          <a:xfrm>
            <a:off x="4937760" y="3538728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vendor apps and driver stacks to keep alive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411480" y="452628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Nobody is short of ideas. </a:t>
            </a:r>
            <a:pPr indent="0" marL="0">
              <a:buNone/>
            </a:pPr>
            <a:r>
              <a:rPr lang="en-US" sz="1400" b="1" dirty="0">
                <a:solidFill>
                  <a:srgbClr val="F2C2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They are short of tries.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2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429768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250" kern="0" dirty="0">
                <a:solidFill>
                  <a:srgbClr val="CF8F4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02 · WHY NOW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658368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AI already builds software.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 hardware, it stops at the file.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1783080"/>
            <a:ext cx="2651760" cy="36576"/>
          </a:xfrm>
          <a:prstGeom prst="rect">
            <a:avLst/>
          </a:prstGeom>
          <a:solidFill>
            <a:srgbClr val="F2C230"/>
          </a:solidFill>
          <a:ln w="12700">
            <a:solidFill>
              <a:srgbClr val="F2C23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11480" y="189280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F2C23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SOFTWARE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11480" y="212140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$100M ARR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411480" y="2724912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Lovable, 8 months after launch, selling to people who can't code.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46120" y="1783080"/>
            <a:ext cx="2651760" cy="36576"/>
          </a:xfrm>
          <a:prstGeom prst="rect">
            <a:avLst/>
          </a:prstGeom>
          <a:solidFill>
            <a:srgbClr val="CF8F4E"/>
          </a:solidFill>
          <a:ln w="12700">
            <a:solidFill>
              <a:srgbClr val="CF8F4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46120" y="189280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CF8F4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HARDWARE FILES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3246120" y="212140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~$100M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3246120" y="2724912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raised by AI that draws boards: Flux, Quilter, Diode. Claude now drives Fusion and Blender.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080760" y="1783080"/>
            <a:ext cx="2651760" cy="36576"/>
          </a:xfrm>
          <a:prstGeom prst="rect">
            <a:avLst/>
          </a:prstGeom>
          <a:solidFill>
            <a:srgbClr val="54ACF0"/>
          </a:solidFill>
          <a:ln w="12700">
            <a:solidFill>
              <a:srgbClr val="54AC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080760" y="189280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4ACF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THE BENCH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6080760" y="212140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6080760" y="2724912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AI tools that can make the board, power it and see if it works.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11480" y="3703320"/>
            <a:ext cx="1005840" cy="329184"/>
          </a:xfrm>
          <a:prstGeom prst="rect">
            <a:avLst/>
          </a:prstGeom>
          <a:solidFill>
            <a:srgbClr val="0E1216"/>
          </a:solidFill>
          <a:ln w="9525">
            <a:solidFill>
              <a:srgbClr val="E8EEF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11480" y="370332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idea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417320" y="3867912"/>
            <a:ext cx="182880" cy="0"/>
          </a:xfrm>
          <a:prstGeom prst="line">
            <a:avLst/>
          </a:prstGeom>
          <a:noFill/>
          <a:ln w="9525">
            <a:solidFill>
              <a:srgbClr val="424A51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1600200" y="3703320"/>
            <a:ext cx="1005840" cy="329184"/>
          </a:xfrm>
          <a:prstGeom prst="rect">
            <a:avLst/>
          </a:prstGeom>
          <a:solidFill>
            <a:srgbClr val="0E1216"/>
          </a:solidFill>
          <a:ln w="9525">
            <a:solidFill>
              <a:srgbClr val="E8EEF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600200" y="370332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files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606040" y="3867912"/>
            <a:ext cx="182880" cy="0"/>
          </a:xfrm>
          <a:prstGeom prst="line">
            <a:avLst/>
          </a:prstGeom>
          <a:noFill/>
          <a:ln w="9525">
            <a:solidFill>
              <a:srgbClr val="424A51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2788920" y="3703320"/>
            <a:ext cx="1005840" cy="329184"/>
          </a:xfrm>
          <a:prstGeom prst="rect">
            <a:avLst/>
          </a:prstGeom>
          <a:solidFill>
            <a:srgbClr val="0E1216"/>
          </a:solidFill>
          <a:ln w="9525">
            <a:solidFill>
              <a:srgbClr val="CF8F4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788920" y="370332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F8F4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board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794760" y="3867912"/>
            <a:ext cx="182880" cy="0"/>
          </a:xfrm>
          <a:prstGeom prst="line">
            <a:avLst/>
          </a:prstGeom>
          <a:noFill/>
          <a:ln w="9525">
            <a:solidFill>
              <a:srgbClr val="424A51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3977640" y="3703320"/>
            <a:ext cx="1005840" cy="329184"/>
          </a:xfrm>
          <a:prstGeom prst="rect">
            <a:avLst/>
          </a:prstGeom>
          <a:solidFill>
            <a:srgbClr val="0E1216"/>
          </a:solidFill>
          <a:ln w="9525">
            <a:solidFill>
              <a:srgbClr val="54ACF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977640" y="370332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4ACF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test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983480" y="3867912"/>
            <a:ext cx="182880" cy="0"/>
          </a:xfrm>
          <a:prstGeom prst="line">
            <a:avLst/>
          </a:prstGeom>
          <a:noFill/>
          <a:ln w="9525">
            <a:solidFill>
              <a:srgbClr val="424A51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5166360" y="3703320"/>
            <a:ext cx="1005840" cy="329184"/>
          </a:xfrm>
          <a:prstGeom prst="rect">
            <a:avLst/>
          </a:prstGeom>
          <a:solidFill>
            <a:srgbClr val="0E1216"/>
          </a:solidFill>
          <a:ln w="9525">
            <a:solidFill>
              <a:srgbClr val="F2C23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166360" y="370332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2C23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verdict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697480" y="3566160"/>
            <a:ext cx="0" cy="685800"/>
          </a:xfrm>
          <a:prstGeom prst="line">
            <a:avLst/>
          </a:prstGeom>
          <a:noFill/>
          <a:ln w="15875">
            <a:solidFill>
              <a:srgbClr val="CF8F4E"/>
            </a:solidFill>
            <a:prstDash val="dash"/>
          </a:ln>
        </p:spPr>
      </p:sp>
      <p:sp>
        <p:nvSpPr>
          <p:cNvPr id="31" name="Text 29"/>
          <p:cNvSpPr txBox="1"/>
          <p:nvPr/>
        </p:nvSpPr>
        <p:spPr>
          <a:xfrm>
            <a:off x="411480" y="413308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6E7A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AI today</a:t>
            </a:r>
            <a:endParaRPr lang="en-US" sz="750" dirty="0"/>
          </a:p>
        </p:txBody>
      </p:sp>
      <p:sp>
        <p:nvSpPr>
          <p:cNvPr id="32" name="Text 30"/>
          <p:cNvSpPr txBox="1"/>
          <p:nvPr/>
        </p:nvSpPr>
        <p:spPr>
          <a:xfrm>
            <a:off x="2788920" y="413308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F2C23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protopus: the AI's hands and eyes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6446520" y="3639312"/>
            <a:ext cx="2286000" cy="731520"/>
          </a:xfrm>
          <a:prstGeom prst="rect">
            <a:avLst/>
          </a:prstGeom>
          <a:solidFill>
            <a:srgbClr val="F2C230"/>
          </a:solidFill>
          <a:ln w="12700">
            <a:solidFill>
              <a:srgbClr val="F2C230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556248" y="3639312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40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Smart machines give the AI access to the real world.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411480" y="4754880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6E7A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TechCrunch 23 Jul 2025 · SiliconANGLE 27 Feb 2026 · BusinessWire 7 Oct 2025 · Fenwick · claude.com/connectors · digitalproduction.com 30 Apr 2026</a:t>
            </a:r>
            <a:endParaRPr lang="en-US" sz="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2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429768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250" kern="0" dirty="0">
                <a:solidFill>
                  <a:srgbClr val="CF8F4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03 · SOLUTION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658368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One AI engineer, and the two smart machines it runs</a:t>
            </a:r>
            <a:endParaRPr lang="en-US" sz="2400" dirty="0"/>
          </a:p>
        </p:txBody>
      </p:sp>
      <p:pic>
        <p:nvPicPr>
          <p:cNvPr id="4" name="Image 0" descr="/home/user/lo/src/masc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7629" y="1280160"/>
            <a:ext cx="2099462" cy="12801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11480" y="2633472"/>
            <a:ext cx="2651760" cy="36576"/>
          </a:xfrm>
          <a:prstGeom prst="rect">
            <a:avLst/>
          </a:prstGeom>
          <a:solidFill>
            <a:srgbClr val="F2C230"/>
          </a:solidFill>
          <a:ln w="12700">
            <a:solidFill>
              <a:srgbClr val="F2C23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11480" y="276148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2C2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proto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411480" y="32004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Plans the build, runs the machines, explains the results.</a:t>
            </a:r>
            <a:endParaRPr lang="en-US" sz="950" dirty="0"/>
          </a:p>
        </p:txBody>
      </p:sp>
      <p:pic>
        <p:nvPicPr>
          <p:cNvPr id="8" name="Image 1" descr="/home/user/lo/src/r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3627" y="1280160"/>
            <a:ext cx="1813322" cy="128016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264408" y="2633472"/>
            <a:ext cx="2651760" cy="36576"/>
          </a:xfrm>
          <a:prstGeom prst="rect">
            <a:avLst/>
          </a:prstGeom>
          <a:solidFill>
            <a:srgbClr val="CF8F4E"/>
          </a:solidFill>
          <a:ln w="12700">
            <a:solidFill>
              <a:srgbClr val="CF8F4E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3264408" y="276148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CF8F4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baker</a:t>
            </a:r>
            <a:endParaRPr lang="en-US" sz="2400" dirty="0"/>
          </a:p>
        </p:txBody>
      </p:sp>
      <p:sp>
        <p:nvSpPr>
          <p:cNvPr id="11" name="Text 7"/>
          <p:cNvSpPr txBox="1"/>
          <p:nvPr/>
        </p:nvSpPr>
        <p:spPr>
          <a:xfrm>
            <a:off x="3264408" y="32004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Makes the board: mill, mask, stencil, paste, reflow.</a:t>
            </a:r>
            <a:endParaRPr lang="en-US" sz="950" dirty="0"/>
          </a:p>
        </p:txBody>
      </p:sp>
      <p:pic>
        <p:nvPicPr>
          <p:cNvPr id="12" name="Image 2" descr="/home/user/lo/src/r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2230" y="1280160"/>
            <a:ext cx="1721971" cy="128016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6117336" y="2633472"/>
            <a:ext cx="2651760" cy="36576"/>
          </a:xfrm>
          <a:prstGeom prst="rect">
            <a:avLst/>
          </a:prstGeom>
          <a:solidFill>
            <a:srgbClr val="54ACF0"/>
          </a:solidFill>
          <a:ln w="12700">
            <a:solidFill>
              <a:srgbClr val="54ACF0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6117336" y="276148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54AC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mixer</a:t>
            </a:r>
            <a:endParaRPr lang="en-US" sz="2400" dirty="0"/>
          </a:p>
        </p:txBody>
      </p:sp>
      <p:sp>
        <p:nvSpPr>
          <p:cNvPr id="15" name="Text 10"/>
          <p:cNvSpPr txBox="1"/>
          <p:nvPr/>
        </p:nvSpPr>
        <p:spPr>
          <a:xfrm>
            <a:off x="6117336" y="32004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Tests it: eight instruments on one cable.</a:t>
            </a:r>
            <a:endParaRPr lang="en-US" sz="950" dirty="0"/>
          </a:p>
        </p:txBody>
      </p:sp>
      <p:sp>
        <p:nvSpPr>
          <p:cNvPr id="16" name="Shape 11"/>
          <p:cNvSpPr/>
          <p:nvPr/>
        </p:nvSpPr>
        <p:spPr>
          <a:xfrm>
            <a:off x="411480" y="3931920"/>
            <a:ext cx="8321040" cy="0"/>
          </a:xfrm>
          <a:prstGeom prst="line">
            <a:avLst/>
          </a:prstGeom>
          <a:noFill/>
          <a:ln w="9525">
            <a:solidFill>
              <a:srgbClr val="1F2A32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411480" y="41148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F8F4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FOR PROTOTYPES · </a:t>
            </a:r>
            <a:pPr indent="0" marL="0">
              <a:buNone/>
            </a:pPr>
            <a:r>
              <a:rPr lang="en-US" sz="85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the first 1–10 boards of a design. Volume goes to a fab.</a:t>
            </a:r>
            <a:endParaRPr lang="en-US" sz="850" dirty="0"/>
          </a:p>
        </p:txBody>
      </p:sp>
      <p:sp>
        <p:nvSpPr>
          <p:cNvPr id="18" name="Shape 13"/>
          <p:cNvSpPr/>
          <p:nvPr/>
        </p:nvSpPr>
        <p:spPr>
          <a:xfrm>
            <a:off x="3657600" y="4078224"/>
            <a:ext cx="2395728" cy="603504"/>
          </a:xfrm>
          <a:prstGeom prst="rect">
            <a:avLst/>
          </a:prstGeom>
          <a:solidFill>
            <a:srgbClr val="121A21"/>
          </a:solidFill>
          <a:ln w="9525">
            <a:solidFill>
              <a:srgbClr val="1F2A32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3767328" y="4261104"/>
            <a:ext cx="621792" cy="237744"/>
          </a:xfrm>
          <a:prstGeom prst="rect">
            <a:avLst/>
          </a:prstGeom>
          <a:solidFill>
            <a:srgbClr val="F2C230"/>
          </a:solidFill>
          <a:ln w="12700">
            <a:solidFill>
              <a:srgbClr val="F2C230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3767328" y="4261104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1A140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DEMO 1</a:t>
            </a:r>
            <a:endParaRPr lang="en-US" sz="800" dirty="0"/>
          </a:p>
        </p:txBody>
      </p:sp>
      <p:sp>
        <p:nvSpPr>
          <p:cNvPr id="21" name="Text 16"/>
          <p:cNvSpPr txBox="1"/>
          <p:nvPr/>
        </p:nvSpPr>
        <p:spPr>
          <a:xfrm>
            <a:off x="4480560" y="4114800"/>
            <a:ext cx="15179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Website · protopus-kappa.vercel.app</a:t>
            </a:r>
            <a:endParaRPr lang="en-US" sz="800" dirty="0"/>
          </a:p>
        </p:txBody>
      </p:sp>
      <p:sp>
        <p:nvSpPr>
          <p:cNvPr id="22" name="Shape 17"/>
          <p:cNvSpPr/>
          <p:nvPr/>
        </p:nvSpPr>
        <p:spPr>
          <a:xfrm>
            <a:off x="6217920" y="4078224"/>
            <a:ext cx="2395728" cy="603504"/>
          </a:xfrm>
          <a:prstGeom prst="rect">
            <a:avLst/>
          </a:prstGeom>
          <a:solidFill>
            <a:srgbClr val="121A21"/>
          </a:solidFill>
          <a:ln w="9525">
            <a:solidFill>
              <a:srgbClr val="1F2A32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6327648" y="4261104"/>
            <a:ext cx="621792" cy="237744"/>
          </a:xfrm>
          <a:prstGeom prst="rect">
            <a:avLst/>
          </a:prstGeom>
          <a:solidFill>
            <a:srgbClr val="F2C230"/>
          </a:solidFill>
          <a:ln w="12700">
            <a:solidFill>
              <a:srgbClr val="F2C230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6327648" y="4261104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1A140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DEMO 2</a:t>
            </a:r>
            <a:endParaRPr lang="en-US" sz="800" dirty="0"/>
          </a:p>
        </p:txBody>
      </p:sp>
      <p:sp>
        <p:nvSpPr>
          <p:cNvPr id="25" name="Text 20"/>
          <p:cNvSpPr txBox="1"/>
          <p:nvPr/>
        </p:nvSpPr>
        <p:spPr>
          <a:xfrm>
            <a:off x="7040880" y="4114800"/>
            <a:ext cx="15179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Video · Baker prototype running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2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429768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250" kern="0" dirty="0">
                <a:solidFill>
                  <a:srgbClr val="F2C23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04 · PROTO · WHAT MAKES IT OURS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658368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 AI engineer that understands your board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1371600"/>
            <a:ext cx="3657600" cy="2203704"/>
          </a:xfrm>
          <a:prstGeom prst="rect">
            <a:avLst/>
          </a:prstGeom>
          <a:solidFill>
            <a:srgbClr val="0E1216"/>
          </a:solidFill>
          <a:ln w="15875">
            <a:solidFill>
              <a:srgbClr val="F2C230"/>
            </a:solidFill>
            <a:prstDash val="solid"/>
          </a:ln>
        </p:spPr>
      </p:sp>
      <p:pic>
        <p:nvPicPr>
          <p:cNvPr id="5" name="Image 0" descr="/home/user/lo/src/studi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" y="1389888"/>
            <a:ext cx="3621024" cy="216712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11480" y="365760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Baker Studio today: Proto found the thin trace, fixed it and planned the mill. You press Accept.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343400" y="1325880"/>
            <a:ext cx="4389120" cy="0"/>
          </a:xfrm>
          <a:prstGeom prst="line">
            <a:avLst/>
          </a:prstGeom>
          <a:noFill/>
          <a:ln w="9525">
            <a:solidFill>
              <a:srgbClr val="1F2A3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343400" y="13716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CF8F4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4846320" y="138988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CF8F4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READS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4846320" y="159105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schematics and layouts, via the Flux.ai API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343400" y="1892808"/>
            <a:ext cx="4389120" cy="0"/>
          </a:xfrm>
          <a:prstGeom prst="line">
            <a:avLst/>
          </a:prstGeom>
          <a:noFill/>
          <a:ln w="9525">
            <a:solidFill>
              <a:srgbClr val="1F2A3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343400" y="193852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CF8F4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4846320" y="195681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CF8F4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MAKES</a:t>
            </a:r>
            <a:endParaRPr lang="en-US" sz="800" dirty="0"/>
          </a:p>
        </p:txBody>
      </p:sp>
      <p:sp>
        <p:nvSpPr>
          <p:cNvPr id="14" name="Text 11"/>
          <p:cNvSpPr txBox="1"/>
          <p:nvPr/>
        </p:nvSpPr>
        <p:spPr>
          <a:xfrm>
            <a:off x="4846320" y="215798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the Baker job: mill, drill, mask, stencil, jig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343400" y="2459736"/>
            <a:ext cx="4389120" cy="0"/>
          </a:xfrm>
          <a:prstGeom prst="line">
            <a:avLst/>
          </a:prstGeom>
          <a:noFill/>
          <a:ln w="9525">
            <a:solidFill>
              <a:srgbClr val="1F2A3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43400" y="250545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54AC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4846320" y="2523744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54ACF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DIAGNOSES</a:t>
            </a:r>
            <a:endParaRPr lang="en-US" sz="800" dirty="0"/>
          </a:p>
        </p:txBody>
      </p:sp>
      <p:sp>
        <p:nvSpPr>
          <p:cNvPr id="18" name="Text 15"/>
          <p:cNvSpPr txBox="1"/>
          <p:nvPr/>
        </p:nvSpPr>
        <p:spPr>
          <a:xfrm>
            <a:off x="4846320" y="272491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through Mixer, in plain words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4343400" y="3026664"/>
            <a:ext cx="4389120" cy="0"/>
          </a:xfrm>
          <a:prstGeom prst="line">
            <a:avLst/>
          </a:prstGeom>
          <a:noFill/>
          <a:ln w="9525">
            <a:solidFill>
              <a:srgbClr val="1F2A32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307238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C2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04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4846320" y="309067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F2C23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HAS A CHARACTER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4846320" y="329184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a platypus engineer, built on Gemini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4343400" y="3657600"/>
            <a:ext cx="4389120" cy="502920"/>
          </a:xfrm>
          <a:prstGeom prst="rect">
            <a:avLst/>
          </a:prstGeom>
          <a:solidFill>
            <a:srgbClr val="121A21"/>
          </a:solidFill>
          <a:ln w="12700">
            <a:solidFill>
              <a:srgbClr val="121A21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462272" y="3785616"/>
            <a:ext cx="566928" cy="237744"/>
          </a:xfrm>
          <a:prstGeom prst="rect">
            <a:avLst/>
          </a:prstGeom>
          <a:solidFill>
            <a:srgbClr val="F2C230"/>
          </a:solidFill>
          <a:ln w="12700">
            <a:solidFill>
              <a:srgbClr val="F2C230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462272" y="3785616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1A140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NEXT</a:t>
            </a:r>
            <a:endParaRPr lang="en-US" sz="800" dirty="0"/>
          </a:p>
        </p:txBody>
      </p:sp>
      <p:sp>
        <p:nvSpPr>
          <p:cNvPr id="26" name="Text 23"/>
          <p:cNvSpPr txBox="1"/>
          <p:nvPr/>
        </p:nvSpPr>
        <p:spPr>
          <a:xfrm>
            <a:off x="5138928" y="365760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Probe matrix: probes under the board reach every net.</a:t>
            </a:r>
            <a:endParaRPr lang="en-US" sz="800" dirty="0"/>
          </a:p>
        </p:txBody>
      </p:sp>
      <p:sp>
        <p:nvSpPr>
          <p:cNvPr id="27" name="Text 24"/>
          <p:cNvSpPr txBox="1"/>
          <p:nvPr/>
        </p:nvSpPr>
        <p:spPr>
          <a:xfrm>
            <a:off x="411480" y="443484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Simple enough that a </a:t>
            </a:r>
            <a:pPr indent="0" marL="0">
              <a:buNone/>
            </a:pPr>
            <a:r>
              <a:rPr lang="en-US" sz="1400" b="1" dirty="0">
                <a:solidFill>
                  <a:srgbClr val="F2C2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high-school student</a:t>
            </a:r>
            <a:pPr indent="0" marL="0">
              <a:buNone/>
            </a:pPr>
            <a:r>
              <a:rPr lang="en-US" sz="14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can print a board.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2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429768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250" kern="0" dirty="0">
                <a:solidFill>
                  <a:srgbClr val="F2C23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05 · PROTO · HOW THE AI WORKS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658368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loop, not a chatbot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1463040"/>
            <a:ext cx="1920240" cy="868680"/>
          </a:xfrm>
          <a:prstGeom prst="rect">
            <a:avLst/>
          </a:prstGeom>
          <a:solidFill>
            <a:srgbClr val="0E1216"/>
          </a:solidFill>
          <a:ln w="9525">
            <a:solidFill>
              <a:srgbClr val="F2C23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21208" y="153619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2C23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UNDERSTAND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521208" y="17830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design → board model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331720" y="1892808"/>
            <a:ext cx="182880" cy="0"/>
          </a:xfrm>
          <a:prstGeom prst="line">
            <a:avLst/>
          </a:prstGeom>
          <a:noFill/>
          <a:ln w="9525">
            <a:solidFill>
              <a:srgbClr val="424A51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514600" y="1463040"/>
            <a:ext cx="1920240" cy="868680"/>
          </a:xfrm>
          <a:prstGeom prst="rect">
            <a:avLst/>
          </a:prstGeom>
          <a:solidFill>
            <a:srgbClr val="0E1216"/>
          </a:solidFill>
          <a:ln w="9525">
            <a:solidFill>
              <a:srgbClr val="F2C23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624328" y="153619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2C23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PLAN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2624328" y="17830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LLM breaks the goal into steps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434840" y="1892808"/>
            <a:ext cx="182880" cy="0"/>
          </a:xfrm>
          <a:prstGeom prst="line">
            <a:avLst/>
          </a:prstGeom>
          <a:noFill/>
          <a:ln w="9525">
            <a:solidFill>
              <a:srgbClr val="424A51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617720" y="1463040"/>
            <a:ext cx="1920240" cy="868680"/>
          </a:xfrm>
          <a:prstGeom prst="rect">
            <a:avLst/>
          </a:prstGeom>
          <a:solidFill>
            <a:srgbClr val="0E1216"/>
          </a:solidFill>
          <a:ln w="9525">
            <a:solidFill>
              <a:srgbClr val="8FB3C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727448" y="153619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8FB3C9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CHECK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4727448" y="17830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DRC + Baker rules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537960" y="1892808"/>
            <a:ext cx="182880" cy="0"/>
          </a:xfrm>
          <a:prstGeom prst="line">
            <a:avLst/>
          </a:prstGeom>
          <a:noFill/>
          <a:ln w="9525">
            <a:solidFill>
              <a:srgbClr val="424A51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720840" y="1463040"/>
            <a:ext cx="1920240" cy="868680"/>
          </a:xfrm>
          <a:prstGeom prst="rect">
            <a:avLst/>
          </a:prstGeom>
          <a:solidFill>
            <a:srgbClr val="0E1216"/>
          </a:solidFill>
          <a:ln w="9525">
            <a:solidFill>
              <a:srgbClr val="CF8F4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30568" y="153619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CF8F4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MAKE</a:t>
            </a:r>
            <a:endParaRPr lang="en-US" sz="800" dirty="0"/>
          </a:p>
        </p:txBody>
      </p:sp>
      <p:sp>
        <p:nvSpPr>
          <p:cNvPr id="18" name="Text 16"/>
          <p:cNvSpPr txBox="1"/>
          <p:nvPr/>
        </p:nvSpPr>
        <p:spPr>
          <a:xfrm>
            <a:off x="6830568" y="17830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toolpaths, mask, stencil, jig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680960" y="2331720"/>
            <a:ext cx="0" cy="320040"/>
          </a:xfrm>
          <a:prstGeom prst="line">
            <a:avLst/>
          </a:prstGeom>
          <a:noFill/>
          <a:ln w="9525">
            <a:solidFill>
              <a:srgbClr val="424A51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11480" y="2651760"/>
            <a:ext cx="1920240" cy="868680"/>
          </a:xfrm>
          <a:prstGeom prst="rect">
            <a:avLst/>
          </a:prstGeom>
          <a:solidFill>
            <a:srgbClr val="F2C230"/>
          </a:solidFill>
          <a:ln w="9525">
            <a:solidFill>
              <a:srgbClr val="F2C23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21208" y="272491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1A140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YOU GET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521208" y="29718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40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a tested board + a sentence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514600" y="2651760"/>
            <a:ext cx="1920240" cy="868680"/>
          </a:xfrm>
          <a:prstGeom prst="rect">
            <a:avLst/>
          </a:prstGeom>
          <a:solidFill>
            <a:srgbClr val="0E1216"/>
          </a:solidFill>
          <a:ln w="9525">
            <a:solidFill>
              <a:srgbClr val="F2C23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624328" y="272491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2C23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EXPLAIN</a:t>
            </a:r>
            <a:endParaRPr lang="en-US" sz="800" dirty="0"/>
          </a:p>
        </p:txBody>
      </p:sp>
      <p:sp>
        <p:nvSpPr>
          <p:cNvPr id="25" name="Text 23"/>
          <p:cNvSpPr txBox="1"/>
          <p:nvPr/>
        </p:nvSpPr>
        <p:spPr>
          <a:xfrm>
            <a:off x="2624328" y="29718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measured vs expected → fix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514600" y="3081528"/>
            <a:ext cx="-182880" cy="0"/>
          </a:xfrm>
          <a:prstGeom prst="line">
            <a:avLst/>
          </a:prstGeom>
          <a:noFill/>
          <a:ln w="9525">
            <a:solidFill>
              <a:srgbClr val="424A51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4617720" y="2651760"/>
            <a:ext cx="1920240" cy="868680"/>
          </a:xfrm>
          <a:prstGeom prst="rect">
            <a:avLst/>
          </a:prstGeom>
          <a:solidFill>
            <a:srgbClr val="0E1216"/>
          </a:solidFill>
          <a:ln w="9525">
            <a:solidFill>
              <a:srgbClr val="54ACF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727448" y="272491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54ACF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MEASURE</a:t>
            </a:r>
            <a:endParaRPr lang="en-US" sz="800" dirty="0"/>
          </a:p>
        </p:txBody>
      </p:sp>
      <p:sp>
        <p:nvSpPr>
          <p:cNvPr id="29" name="Text 27"/>
          <p:cNvSpPr txBox="1"/>
          <p:nvPr/>
        </p:nvSpPr>
        <p:spPr>
          <a:xfrm>
            <a:off x="4727448" y="29718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Mixer runs the test plan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617720" y="3081528"/>
            <a:ext cx="-182880" cy="0"/>
          </a:xfrm>
          <a:prstGeom prst="line">
            <a:avLst/>
          </a:prstGeom>
          <a:noFill/>
          <a:ln w="9525">
            <a:solidFill>
              <a:srgbClr val="424A51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720840" y="2651760"/>
            <a:ext cx="1920240" cy="868680"/>
          </a:xfrm>
          <a:prstGeom prst="rect">
            <a:avLst/>
          </a:prstGeom>
          <a:solidFill>
            <a:srgbClr val="0E1216"/>
          </a:solidFill>
          <a:ln w="9525">
            <a:solidFill>
              <a:srgbClr val="E8EEF2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830568" y="272491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APPROVE</a:t>
            </a:r>
            <a:endParaRPr lang="en-US" sz="800" dirty="0"/>
          </a:p>
        </p:txBody>
      </p:sp>
      <p:sp>
        <p:nvSpPr>
          <p:cNvPr id="33" name="Text 31"/>
          <p:cNvSpPr txBox="1"/>
          <p:nvPr/>
        </p:nvSpPr>
        <p:spPr>
          <a:xfrm>
            <a:off x="6830568" y="29718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you press Accept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720840" y="3081528"/>
            <a:ext cx="-182880" cy="0"/>
          </a:xfrm>
          <a:prstGeom prst="line">
            <a:avLst/>
          </a:prstGeom>
          <a:noFill/>
          <a:ln w="9525">
            <a:solidFill>
              <a:srgbClr val="424A51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3474720" y="2651760"/>
            <a:ext cx="0" cy="-320040"/>
          </a:xfrm>
          <a:prstGeom prst="line">
            <a:avLst/>
          </a:prstGeom>
          <a:noFill/>
          <a:ln w="11430">
            <a:solidFill>
              <a:srgbClr val="F2C230"/>
            </a:solidFill>
            <a:prstDash val="solid"/>
            <a:tailEnd type="triangle"/>
          </a:ln>
        </p:spPr>
      </p:sp>
      <p:sp>
        <p:nvSpPr>
          <p:cNvPr id="36" name="Text 34"/>
          <p:cNvSpPr txBox="1"/>
          <p:nvPr/>
        </p:nvSpPr>
        <p:spPr>
          <a:xfrm>
            <a:off x="3547872" y="239572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F2C23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next attempt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411480" y="3749040"/>
            <a:ext cx="8321040" cy="457200"/>
          </a:xfrm>
          <a:prstGeom prst="rect">
            <a:avLst/>
          </a:prstGeom>
          <a:solidFill>
            <a:srgbClr val="121A21"/>
          </a:solidFill>
          <a:ln w="9525">
            <a:solidFill>
              <a:srgbClr val="1F2A32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48640" y="374904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2C23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MEMORY  </a:t>
            </a:r>
            <a:pPr indent="0" marL="0">
              <a:buNone/>
            </a:pPr>
            <a:r>
              <a:rPr lang="en-US" sz="85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every run logs design → settings → measurements → outcome. No files-only AI has this data: it's the moat.</a:t>
            </a:r>
            <a:endParaRPr lang="en-US" sz="850" dirty="0"/>
          </a:p>
        </p:txBody>
      </p:sp>
      <p:sp>
        <p:nvSpPr>
          <p:cNvPr id="39" name="Text 37"/>
          <p:cNvSpPr txBox="1"/>
          <p:nvPr/>
        </p:nvSpPr>
        <p:spPr>
          <a:xfrm>
            <a:off x="411480" y="438912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2C23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The model proposes · tested engines compute · you approve · the machine executes.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2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429768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250" kern="0" dirty="0">
                <a:solidFill>
                  <a:srgbClr val="F2C23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06 · PROTO · ONE RUN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658368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From “import” to “PASS” in one sitting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1371600"/>
            <a:ext cx="8321040" cy="3200400"/>
          </a:xfrm>
          <a:prstGeom prst="rect">
            <a:avLst/>
          </a:prstGeom>
          <a:solidFill>
            <a:srgbClr val="121A21"/>
          </a:solidFill>
          <a:ln w="9525">
            <a:solidFill>
              <a:srgbClr val="1F2A3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144475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E7A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baker studio — sensor-hat-rev-c.brd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411480" y="1673352"/>
            <a:ext cx="8321040" cy="0"/>
          </a:xfrm>
          <a:prstGeom prst="line">
            <a:avLst/>
          </a:prstGeom>
          <a:noFill/>
          <a:ln w="9525">
            <a:solidFill>
              <a:srgbClr val="1F2A3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66928" y="1810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7A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10:02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181051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you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1874520" y="1810512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import sensor-hat-rev-c from Flux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213969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7A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10:03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13969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2C23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proto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1874520" y="2139696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one trace under the MCU necks to 5.8 mil. Widened to 7 mil.  [Accept]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566928" y="2468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7A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10:04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24688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F8F4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baker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1874520" y="246888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mill · drill 42 holes · mask · stencil · jig prints in parallel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566928" y="27980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7A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11:40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279806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you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1874520" y="279806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drop parts into the jig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566928" y="31272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7A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11:52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1188720" y="31272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F8F4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baker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1874520" y="3127248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low-temperature reflow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566928" y="34564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7A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12:05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1188720" y="345643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4ACF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mixer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1874520" y="3456432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power up ✓   3V3 rail ✓   I²C sensor: no reply ✗</a:t>
            </a:r>
            <a:endParaRPr lang="en-US" sz="850" dirty="0"/>
          </a:p>
        </p:txBody>
      </p:sp>
      <p:sp>
        <p:nvSpPr>
          <p:cNvPr id="25" name="Text 23"/>
          <p:cNvSpPr txBox="1"/>
          <p:nvPr/>
        </p:nvSpPr>
        <p:spPr>
          <a:xfrm>
            <a:off x="566928" y="37856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7A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12:08</a:t>
            </a: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1188720" y="378561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2C23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proto</a:t>
            </a:r>
            <a:endParaRPr lang="en-US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1874520" y="3785616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“SDA has no pull-up: R4 is lifted on one pad. Reheat R4.”</a:t>
            </a:r>
            <a:endParaRPr lang="en-US" sz="850" dirty="0"/>
          </a:p>
        </p:txBody>
      </p:sp>
      <p:sp>
        <p:nvSpPr>
          <p:cNvPr id="28" name="Text 26"/>
          <p:cNvSpPr txBox="1"/>
          <p:nvPr/>
        </p:nvSpPr>
        <p:spPr>
          <a:xfrm>
            <a:off x="566928" y="4114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7A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12:15</a:t>
            </a:r>
            <a:endParaRPr lang="en-US" sz="850" dirty="0"/>
          </a:p>
        </p:txBody>
      </p:sp>
      <p:sp>
        <p:nvSpPr>
          <p:cNvPr id="29" name="Text 27"/>
          <p:cNvSpPr txBox="1"/>
          <p:nvPr/>
        </p:nvSpPr>
        <p:spPr>
          <a:xfrm>
            <a:off x="1188720" y="4114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4ACF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mixer</a:t>
            </a:r>
            <a:endParaRPr lang="en-US" sz="850" dirty="0"/>
          </a:p>
        </p:txBody>
      </p:sp>
      <p:sp>
        <p:nvSpPr>
          <p:cNvPr id="30" name="Text 28"/>
          <p:cNvSpPr txBox="1"/>
          <p:nvPr/>
        </p:nvSpPr>
        <p:spPr>
          <a:xfrm>
            <a:off x="1874520" y="411480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retest: sensor replies  ✓  PASS</a:t>
            </a:r>
            <a:endParaRPr lang="en-US" sz="850" dirty="0"/>
          </a:p>
        </p:txBody>
      </p:sp>
      <p:sp>
        <p:nvSpPr>
          <p:cNvPr id="31" name="Text 29"/>
          <p:cNvSpPr txBox="1"/>
          <p:nvPr/>
        </p:nvSpPr>
        <p:spPr>
          <a:xfrm>
            <a:off x="411480" y="4681728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6E7A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Illustrative run on the Baker Studio board. Times are engineering targets; the proof of concept measures them.</a:t>
            </a:r>
            <a:endParaRPr lang="en-US" sz="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2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429768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250" kern="0" dirty="0">
                <a:solidFill>
                  <a:srgbClr val="CF8F4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07 · BAKER · UNDER THE HOOD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658368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Fifteen steps on one shuttle, in one box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1417320"/>
            <a:ext cx="5669280" cy="2514600"/>
          </a:xfrm>
          <a:prstGeom prst="rect">
            <a:avLst/>
          </a:prstGeom>
          <a:solidFill>
            <a:srgbClr val="0E1216"/>
          </a:solidFill>
          <a:ln w="11430">
            <a:solidFill>
              <a:srgbClr val="424A5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1572768"/>
            <a:ext cx="2148840" cy="1371600"/>
          </a:xfrm>
          <a:prstGeom prst="rect">
            <a:avLst/>
          </a:prstGeom>
          <a:solidFill>
            <a:srgbClr val="0E1216"/>
          </a:solidFill>
          <a:ln w="12700">
            <a:solidFill>
              <a:srgbClr val="CF8F4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15568" y="1645920"/>
            <a:ext cx="1965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CF8F4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ZONE A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500 W spindle · touch probe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mill · drill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10 W laser cuts the stencil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337560" y="1572768"/>
            <a:ext cx="2148840" cy="1371600"/>
          </a:xfrm>
          <a:prstGeom prst="rect">
            <a:avLst/>
          </a:prstGeom>
          <a:solidFill>
            <a:srgbClr val="0E1216"/>
          </a:solidFill>
          <a:ln w="12700">
            <a:solidFill>
              <a:srgbClr val="8FB3C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47288" y="1645920"/>
            <a:ext cx="1965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8FB3C9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ZONE B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liquid mask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10.1" LCD, 405 nm UV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wipe · dry · cure · paste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30352" y="1572768"/>
            <a:ext cx="365760" cy="1371600"/>
          </a:xfrm>
          <a:prstGeom prst="rect">
            <a:avLst/>
          </a:prstGeom>
          <a:solidFill>
            <a:srgbClr val="0E1216"/>
          </a:solidFill>
          <a:ln w="9525">
            <a:solidFill>
              <a:srgbClr val="424A5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30352" y="1572768"/>
            <a:ext cx="365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E7A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FR4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530352" y="3154680"/>
            <a:ext cx="5440680" cy="310896"/>
          </a:xfrm>
          <a:prstGeom prst="rect">
            <a:avLst/>
          </a:prstGeom>
          <a:solidFill>
            <a:srgbClr val="CF8F4E"/>
          </a:solidFill>
          <a:ln w="12700">
            <a:solidFill>
              <a:srgbClr val="CF8F4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30352" y="3154680"/>
            <a:ext cx="5440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40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⟷  SHUTTLE · one fixture, one coordinate frame, steps 01–12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530352" y="3566160"/>
            <a:ext cx="5440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6E7A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stencil cut from the same Gerber, in the same frame: no alignment step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309360" y="1417320"/>
            <a:ext cx="2423160" cy="1097280"/>
          </a:xfrm>
          <a:prstGeom prst="rect">
            <a:avLst/>
          </a:prstGeom>
          <a:solidFill>
            <a:srgbClr val="0E1216"/>
          </a:solidFill>
          <a:ln w="9525">
            <a:solidFill>
              <a:srgbClr val="6E7A8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19088" y="1490472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YOU · STEPS 13–14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drop parts into a printed jig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hotplate reflow, 138 °C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309360" y="2697480"/>
            <a:ext cx="2423160" cy="1234440"/>
          </a:xfrm>
          <a:prstGeom prst="rect">
            <a:avLst/>
          </a:prstGeom>
          <a:solidFill>
            <a:srgbClr val="0E1216"/>
          </a:solidFill>
          <a:ln w="9525">
            <a:solidFill>
              <a:srgbClr val="54AC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19088" y="2770632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54ACF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MIXER · STEP 15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one cable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eight instruments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Proto reads the result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080760" y="1965960"/>
            <a:ext cx="228600" cy="0"/>
          </a:xfrm>
          <a:prstGeom prst="line">
            <a:avLst/>
          </a:prstGeom>
          <a:noFill/>
          <a:ln w="9525">
            <a:solidFill>
              <a:srgbClr val="424A51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516368" y="2514600"/>
            <a:ext cx="0" cy="182880"/>
          </a:xfrm>
          <a:prstGeom prst="line">
            <a:avLst/>
          </a:prstGeom>
          <a:noFill/>
          <a:ln w="9525">
            <a:solidFill>
              <a:srgbClr val="424A51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11480" y="4133088"/>
            <a:ext cx="1920240" cy="27432"/>
          </a:xfrm>
          <a:prstGeom prst="rect">
            <a:avLst/>
          </a:prstGeom>
          <a:solidFill>
            <a:srgbClr val="CF8F4E"/>
          </a:solidFill>
          <a:ln w="12700">
            <a:solidFill>
              <a:srgbClr val="CF8F4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11480" y="4206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CF8F4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≈2 h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411480" y="457200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per board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2496312" y="4133088"/>
            <a:ext cx="1920240" cy="27432"/>
          </a:xfrm>
          <a:prstGeom prst="rect">
            <a:avLst/>
          </a:prstGeom>
          <a:solidFill>
            <a:srgbClr val="F2C230"/>
          </a:solidFill>
          <a:ln w="12700">
            <a:solidFill>
              <a:srgbClr val="F2C23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496312" y="4206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2C2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15–20 min</a:t>
            </a:r>
            <a:endParaRPr lang="en-US" sz="1900" dirty="0"/>
          </a:p>
        </p:txBody>
      </p:sp>
      <p:sp>
        <p:nvSpPr>
          <p:cNvPr id="25" name="Text 23"/>
          <p:cNvSpPr txBox="1"/>
          <p:nvPr/>
        </p:nvSpPr>
        <p:spPr>
          <a:xfrm>
            <a:off x="2496312" y="457200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of it hands-on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4581144" y="4133088"/>
            <a:ext cx="1920240" cy="27432"/>
          </a:xfrm>
          <a:prstGeom prst="rect">
            <a:avLst/>
          </a:prstGeom>
          <a:solidFill>
            <a:srgbClr val="424A51"/>
          </a:solidFill>
          <a:ln w="12700">
            <a:solidFill>
              <a:srgbClr val="424A5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581144" y="4206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3–5</a:t>
            </a:r>
            <a:endParaRPr lang="en-US" sz="1900" dirty="0"/>
          </a:p>
        </p:txBody>
      </p:sp>
      <p:sp>
        <p:nvSpPr>
          <p:cNvPr id="28" name="Text 26"/>
          <p:cNvSpPr txBox="1"/>
          <p:nvPr/>
        </p:nvSpPr>
        <p:spPr>
          <a:xfrm>
            <a:off x="4581144" y="457200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boards per shift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6665976" y="4133088"/>
            <a:ext cx="1920240" cy="27432"/>
          </a:xfrm>
          <a:prstGeom prst="rect">
            <a:avLst/>
          </a:prstGeom>
          <a:solidFill>
            <a:srgbClr val="424A51"/>
          </a:solidFill>
          <a:ln w="12700">
            <a:solidFill>
              <a:srgbClr val="424A5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665976" y="4206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₹1.45L</a:t>
            </a:r>
            <a:endParaRPr lang="en-US" sz="1900" dirty="0"/>
          </a:p>
        </p:txBody>
      </p:sp>
      <p:sp>
        <p:nvSpPr>
          <p:cNvPr id="31" name="Text 29"/>
          <p:cNvSpPr txBox="1"/>
          <p:nvPr/>
        </p:nvSpPr>
        <p:spPr>
          <a:xfrm>
            <a:off x="6665976" y="457200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production cost</a:t>
            </a:r>
            <a:endParaRPr lang="en-US" sz="750" dirty="0"/>
          </a:p>
        </p:txBody>
      </p:sp>
      <p:sp>
        <p:nvSpPr>
          <p:cNvPr id="32" name="Text 30"/>
          <p:cNvSpPr txBox="1"/>
          <p:nvPr/>
        </p:nvSpPr>
        <p:spPr>
          <a:xfrm>
            <a:off x="411480" y="4800600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6E7A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Times are engineering targets. Prototype ₹3,73,418 → production ₹1,44,842 (China parts, Delhi build, 100 units).</a:t>
            </a:r>
            <a:endParaRPr lang="en-US" sz="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2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429768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250" kern="0" dirty="0">
                <a:solidFill>
                  <a:srgbClr val="54ACF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08 · MIXER · UNDER THE HOOD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658368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Eight instruments, one cable, one brain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1417320"/>
            <a:ext cx="2011680" cy="274320"/>
          </a:xfrm>
          <a:prstGeom prst="rect">
            <a:avLst/>
          </a:prstGeom>
          <a:solidFill>
            <a:srgbClr val="0E1216"/>
          </a:solidFill>
          <a:ln w="9525">
            <a:solidFill>
              <a:srgbClr val="424A5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14173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scope · 2 ch · 12-bit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2423160" y="1554480"/>
            <a:ext cx="274320" cy="0"/>
          </a:xfrm>
          <a:prstGeom prst="line">
            <a:avLst/>
          </a:prstGeom>
          <a:noFill/>
          <a:ln w="9525">
            <a:solidFill>
              <a:srgbClr val="424A51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11480" y="1746504"/>
            <a:ext cx="2011680" cy="274320"/>
          </a:xfrm>
          <a:prstGeom prst="rect">
            <a:avLst/>
          </a:prstGeom>
          <a:solidFill>
            <a:srgbClr val="0E1216"/>
          </a:solidFill>
          <a:ln w="9525">
            <a:solidFill>
              <a:srgbClr val="424A5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" y="1746504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wavegen · 2 ch · 14-bit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423160" y="1883664"/>
            <a:ext cx="274320" cy="0"/>
          </a:xfrm>
          <a:prstGeom prst="line">
            <a:avLst/>
          </a:prstGeom>
          <a:noFill/>
          <a:ln w="9525">
            <a:solidFill>
              <a:srgbClr val="424A51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11480" y="2075688"/>
            <a:ext cx="2011680" cy="274320"/>
          </a:xfrm>
          <a:prstGeom prst="rect">
            <a:avLst/>
          </a:prstGeom>
          <a:solidFill>
            <a:srgbClr val="0E1216"/>
          </a:solidFill>
          <a:ln w="9525">
            <a:solidFill>
              <a:srgbClr val="424A5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2920" y="207568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logic · 16 ch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2423160" y="2212848"/>
            <a:ext cx="274320" cy="0"/>
          </a:xfrm>
          <a:prstGeom prst="line">
            <a:avLst/>
          </a:prstGeom>
          <a:noFill/>
          <a:ln w="9525">
            <a:solidFill>
              <a:srgbClr val="424A51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11480" y="2404872"/>
            <a:ext cx="2011680" cy="274320"/>
          </a:xfrm>
          <a:prstGeom prst="rect">
            <a:avLst/>
          </a:prstGeom>
          <a:solidFill>
            <a:srgbClr val="0E1216"/>
          </a:solidFill>
          <a:ln w="9525">
            <a:solidFill>
              <a:srgbClr val="424A5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02920" y="240487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pattern generator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2423160" y="2542032"/>
            <a:ext cx="274320" cy="0"/>
          </a:xfrm>
          <a:prstGeom prst="line">
            <a:avLst/>
          </a:prstGeom>
          <a:noFill/>
          <a:ln w="9525">
            <a:solidFill>
              <a:srgbClr val="424A51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11480" y="2734056"/>
            <a:ext cx="2011680" cy="274320"/>
          </a:xfrm>
          <a:prstGeom prst="rect">
            <a:avLst/>
          </a:prstGeom>
          <a:solidFill>
            <a:srgbClr val="0E1216"/>
          </a:solidFill>
          <a:ln w="9525">
            <a:solidFill>
              <a:srgbClr val="424A5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02920" y="2734056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protocol decoder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2423160" y="2871216"/>
            <a:ext cx="274320" cy="0"/>
          </a:xfrm>
          <a:prstGeom prst="line">
            <a:avLst/>
          </a:prstGeom>
          <a:noFill/>
          <a:ln w="9525">
            <a:solidFill>
              <a:srgbClr val="424A51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11480" y="3063240"/>
            <a:ext cx="2011680" cy="274320"/>
          </a:xfrm>
          <a:prstGeom prst="rect">
            <a:avLst/>
          </a:prstGeom>
          <a:solidFill>
            <a:srgbClr val="0E1216"/>
          </a:solidFill>
          <a:ln w="9525">
            <a:solidFill>
              <a:srgbClr val="424A5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02920" y="306324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2 programmable supplies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423160" y="3200400"/>
            <a:ext cx="274320" cy="0"/>
          </a:xfrm>
          <a:prstGeom prst="line">
            <a:avLst/>
          </a:prstGeom>
          <a:noFill/>
          <a:ln w="9525">
            <a:solidFill>
              <a:srgbClr val="424A51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411480" y="3392424"/>
            <a:ext cx="2011680" cy="274320"/>
          </a:xfrm>
          <a:prstGeom prst="rect">
            <a:avLst/>
          </a:prstGeom>
          <a:solidFill>
            <a:srgbClr val="0E1216"/>
          </a:solidFill>
          <a:ln w="9525">
            <a:solidFill>
              <a:srgbClr val="424A5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02920" y="3392424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24-bit multimeter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2423160" y="3529584"/>
            <a:ext cx="274320" cy="0"/>
          </a:xfrm>
          <a:prstGeom prst="line">
            <a:avLst/>
          </a:prstGeom>
          <a:noFill/>
          <a:ln w="9525">
            <a:solidFill>
              <a:srgbClr val="424A51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2697480" y="1417320"/>
            <a:ext cx="1645920" cy="2249424"/>
          </a:xfrm>
          <a:prstGeom prst="rect">
            <a:avLst/>
          </a:prstGeom>
          <a:solidFill>
            <a:srgbClr val="54ACF0"/>
          </a:solidFill>
          <a:ln w="12700">
            <a:solidFill>
              <a:srgbClr val="54ACF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788920" y="1417320"/>
            <a:ext cx="1463040" cy="2249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140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FPGA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140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capture, trigger,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140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waveforms, logic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343400" y="2542032"/>
            <a:ext cx="274320" cy="0"/>
          </a:xfrm>
          <a:prstGeom prst="line">
            <a:avLst/>
          </a:prstGeom>
          <a:noFill/>
          <a:ln w="9525">
            <a:solidFill>
              <a:srgbClr val="424A51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4617720" y="2103120"/>
            <a:ext cx="1463040" cy="868680"/>
          </a:xfrm>
          <a:prstGeom prst="rect">
            <a:avLst/>
          </a:prstGeom>
          <a:solidFill>
            <a:srgbClr val="0E1216"/>
          </a:solidFill>
          <a:ln w="9525">
            <a:solidFill>
              <a:srgbClr val="F2C23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709160" y="2103120"/>
            <a:ext cx="12984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2C23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PROTO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expected vs measured → verdict</a:t>
            </a:r>
            <a:endParaRPr lang="en-US" sz="800" dirty="0"/>
          </a:p>
        </p:txBody>
      </p:sp>
      <p:sp>
        <p:nvSpPr>
          <p:cNvPr id="30" name="Text 28"/>
          <p:cNvSpPr txBox="1"/>
          <p:nvPr/>
        </p:nvSpPr>
        <p:spPr>
          <a:xfrm>
            <a:off x="6400800" y="141732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54ACF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HOW A TEST RUNS</a:t>
            </a:r>
            <a:endParaRPr lang="en-US" sz="800" dirty="0"/>
          </a:p>
        </p:txBody>
      </p:sp>
      <p:sp>
        <p:nvSpPr>
          <p:cNvPr id="31" name="Text 29"/>
          <p:cNvSpPr txBox="1"/>
          <p:nvPr/>
        </p:nvSpPr>
        <p:spPr>
          <a:xfrm>
            <a:off x="6400800" y="167335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4ACF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T1</a:t>
            </a:r>
            <a:endParaRPr lang="en-US" sz="800" dirty="0"/>
          </a:p>
        </p:txBody>
      </p:sp>
      <p:sp>
        <p:nvSpPr>
          <p:cNvPr id="32" name="Text 30"/>
          <p:cNvSpPr txBox="1"/>
          <p:nvPr/>
        </p:nvSpPr>
        <p:spPr>
          <a:xfrm>
            <a:off x="6784848" y="1673352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connect</a:t>
            </a:r>
            <a:endParaRPr lang="en-US" sz="800" dirty="0"/>
          </a:p>
        </p:txBody>
      </p:sp>
      <p:sp>
        <p:nvSpPr>
          <p:cNvPr id="33" name="Text 31"/>
          <p:cNvSpPr txBox="1"/>
          <p:nvPr/>
        </p:nvSpPr>
        <p:spPr>
          <a:xfrm>
            <a:off x="6400800" y="1929384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4ACF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T2</a:t>
            </a:r>
            <a:endParaRPr lang="en-US" sz="800" dirty="0"/>
          </a:p>
        </p:txBody>
      </p:sp>
      <p:sp>
        <p:nvSpPr>
          <p:cNvPr id="34" name="Text 32"/>
          <p:cNvSpPr txBox="1"/>
          <p:nvPr/>
        </p:nvSpPr>
        <p:spPr>
          <a:xfrm>
            <a:off x="6784848" y="1929384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power up, current watched</a:t>
            </a:r>
            <a:endParaRPr lang="en-US" sz="800" dirty="0"/>
          </a:p>
        </p:txBody>
      </p:sp>
      <p:sp>
        <p:nvSpPr>
          <p:cNvPr id="35" name="Text 33"/>
          <p:cNvSpPr txBox="1"/>
          <p:nvPr/>
        </p:nvSpPr>
        <p:spPr>
          <a:xfrm>
            <a:off x="6400800" y="2185416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4ACF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T3</a:t>
            </a:r>
            <a:endParaRPr lang="en-US" sz="800" dirty="0"/>
          </a:p>
        </p:txBody>
      </p:sp>
      <p:sp>
        <p:nvSpPr>
          <p:cNvPr id="36" name="Text 34"/>
          <p:cNvSpPr txBox="1"/>
          <p:nvPr/>
        </p:nvSpPr>
        <p:spPr>
          <a:xfrm>
            <a:off x="6784848" y="2185416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check the rails</a:t>
            </a:r>
            <a:endParaRPr lang="en-US" sz="800" dirty="0"/>
          </a:p>
        </p:txBody>
      </p:sp>
      <p:sp>
        <p:nvSpPr>
          <p:cNvPr id="37" name="Text 35"/>
          <p:cNvSpPr txBox="1"/>
          <p:nvPr/>
        </p:nvSpPr>
        <p:spPr>
          <a:xfrm>
            <a:off x="6400800" y="244144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4ACF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T4</a:t>
            </a:r>
            <a:endParaRPr lang="en-US" sz="800" dirty="0"/>
          </a:p>
        </p:txBody>
      </p:sp>
      <p:sp>
        <p:nvSpPr>
          <p:cNvPr id="38" name="Text 36"/>
          <p:cNvSpPr txBox="1"/>
          <p:nvPr/>
        </p:nvSpPr>
        <p:spPr>
          <a:xfrm>
            <a:off x="6784848" y="2441448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drive the inputs</a:t>
            </a:r>
            <a:endParaRPr lang="en-US" sz="800" dirty="0"/>
          </a:p>
        </p:txBody>
      </p:sp>
      <p:sp>
        <p:nvSpPr>
          <p:cNvPr id="39" name="Text 37"/>
          <p:cNvSpPr txBox="1"/>
          <p:nvPr/>
        </p:nvSpPr>
        <p:spPr>
          <a:xfrm>
            <a:off x="6400800" y="26974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4ACF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T5</a:t>
            </a:r>
            <a:endParaRPr lang="en-US" sz="800" dirty="0"/>
          </a:p>
        </p:txBody>
      </p:sp>
      <p:sp>
        <p:nvSpPr>
          <p:cNvPr id="40" name="Text 38"/>
          <p:cNvSpPr txBox="1"/>
          <p:nvPr/>
        </p:nvSpPr>
        <p:spPr>
          <a:xfrm>
            <a:off x="6784848" y="269748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capture outputs</a:t>
            </a:r>
            <a:endParaRPr lang="en-US" sz="800" dirty="0"/>
          </a:p>
        </p:txBody>
      </p:sp>
      <p:sp>
        <p:nvSpPr>
          <p:cNvPr id="41" name="Text 39"/>
          <p:cNvSpPr txBox="1"/>
          <p:nvPr/>
        </p:nvSpPr>
        <p:spPr>
          <a:xfrm>
            <a:off x="6400800" y="295351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4ACF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T6</a:t>
            </a:r>
            <a:endParaRPr lang="en-US" sz="800" dirty="0"/>
          </a:p>
        </p:txBody>
      </p:sp>
      <p:sp>
        <p:nvSpPr>
          <p:cNvPr id="42" name="Text 40"/>
          <p:cNvSpPr txBox="1"/>
          <p:nvPr/>
        </p:nvSpPr>
        <p:spPr>
          <a:xfrm>
            <a:off x="6784848" y="2953512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decode the buses</a:t>
            </a:r>
            <a:endParaRPr lang="en-US" sz="800" dirty="0"/>
          </a:p>
        </p:txBody>
      </p:sp>
      <p:sp>
        <p:nvSpPr>
          <p:cNvPr id="43" name="Text 41"/>
          <p:cNvSpPr txBox="1"/>
          <p:nvPr/>
        </p:nvSpPr>
        <p:spPr>
          <a:xfrm>
            <a:off x="6400800" y="3209544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2C23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T7</a:t>
            </a:r>
            <a:endParaRPr lang="en-US" sz="800" dirty="0"/>
          </a:p>
        </p:txBody>
      </p:sp>
      <p:sp>
        <p:nvSpPr>
          <p:cNvPr id="44" name="Text 42"/>
          <p:cNvSpPr txBox="1"/>
          <p:nvPr/>
        </p:nvSpPr>
        <p:spPr>
          <a:xfrm>
            <a:off x="6784848" y="3209544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verdict in plain words</a:t>
            </a:r>
            <a:endParaRPr lang="en-US" sz="800" dirty="0"/>
          </a:p>
        </p:txBody>
      </p:sp>
      <p:sp>
        <p:nvSpPr>
          <p:cNvPr id="45" name="Text 43"/>
          <p:cNvSpPr txBox="1"/>
          <p:nvPr/>
        </p:nvSpPr>
        <p:spPr>
          <a:xfrm>
            <a:off x="6400800" y="3465576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4ACF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T8</a:t>
            </a:r>
            <a:endParaRPr lang="en-US" sz="800" dirty="0"/>
          </a:p>
        </p:txBody>
      </p:sp>
      <p:sp>
        <p:nvSpPr>
          <p:cNvPr id="46" name="Text 44"/>
          <p:cNvSpPr txBox="1"/>
          <p:nvPr/>
        </p:nvSpPr>
        <p:spPr>
          <a:xfrm>
            <a:off x="6784848" y="3465576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fix → next board same evening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411480" y="4023360"/>
            <a:ext cx="2651760" cy="27432"/>
          </a:xfrm>
          <a:prstGeom prst="rect">
            <a:avLst/>
          </a:prstGeom>
          <a:solidFill>
            <a:srgbClr val="54ACF0"/>
          </a:solidFill>
          <a:ln w="12700">
            <a:solidFill>
              <a:srgbClr val="54ACF0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411480" y="409651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4AC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₹13,740</a:t>
            </a:r>
            <a:endParaRPr lang="en-US" sz="1800" dirty="0"/>
          </a:p>
        </p:txBody>
      </p:sp>
      <p:sp>
        <p:nvSpPr>
          <p:cNvPr id="49" name="Text 47"/>
          <p:cNvSpPr txBox="1"/>
          <p:nvPr/>
        </p:nvSpPr>
        <p:spPr>
          <a:xfrm>
            <a:off x="411480" y="4462272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production cost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3227832" y="4023360"/>
            <a:ext cx="2651760" cy="27432"/>
          </a:xfrm>
          <a:prstGeom prst="rect">
            <a:avLst/>
          </a:prstGeom>
          <a:solidFill>
            <a:srgbClr val="424A51"/>
          </a:solidFill>
          <a:ln w="12700">
            <a:solidFill>
              <a:srgbClr val="424A51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3227832" y="409651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8 in 1</a:t>
            </a:r>
            <a:endParaRPr lang="en-US" sz="1800" dirty="0"/>
          </a:p>
        </p:txBody>
      </p:sp>
      <p:sp>
        <p:nvSpPr>
          <p:cNvPr id="52" name="Text 50"/>
          <p:cNvSpPr txBox="1"/>
          <p:nvPr/>
        </p:nvSpPr>
        <p:spPr>
          <a:xfrm>
            <a:off x="3227832" y="4462272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scope to 24-bit meter, AD3 class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6044184" y="4023360"/>
            <a:ext cx="2651760" cy="27432"/>
          </a:xfrm>
          <a:prstGeom prst="rect">
            <a:avLst/>
          </a:prstGeom>
          <a:solidFill>
            <a:srgbClr val="F2C230"/>
          </a:solidFill>
          <a:ln w="12700">
            <a:solidFill>
              <a:srgbClr val="F2C230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6044184" y="409651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2C2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Our tester</a:t>
            </a:r>
            <a:endParaRPr lang="en-US" sz="1800" dirty="0"/>
          </a:p>
        </p:txBody>
      </p:sp>
      <p:sp>
        <p:nvSpPr>
          <p:cNvPr id="55" name="Text 53"/>
          <p:cNvSpPr txBox="1"/>
          <p:nvPr/>
        </p:nvSpPr>
        <p:spPr>
          <a:xfrm>
            <a:off x="6044184" y="4462272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on the China line too</a:t>
            </a:r>
            <a:endParaRPr lang="en-US" sz="750" dirty="0"/>
          </a:p>
        </p:txBody>
      </p:sp>
      <p:sp>
        <p:nvSpPr>
          <p:cNvPr id="56" name="Text 54"/>
          <p:cNvSpPr txBox="1"/>
          <p:nvPr/>
        </p:nvSpPr>
        <p:spPr>
          <a:xfrm>
            <a:off x="411480" y="4754880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6E7A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Prototype ₹74,847 keeps 12/14-bit converters; production drops to 8-bit, one USB cable, no screen. Status: designed, first build in the proof of concept.</a:t>
            </a:r>
            <a:endParaRPr lang="en-US" sz="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2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429768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250" kern="0" dirty="0">
                <a:solidFill>
                  <a:srgbClr val="CF8F4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09 · COMPETITION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658368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Others solve one step.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Nobody closes the whole loop.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1737360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spc="100" kern="0" dirty="0">
                <a:solidFill>
                  <a:srgbClr val="6E7A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PRODUCT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3246120" y="173736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spc="100" kern="0" dirty="0">
                <a:solidFill>
                  <a:srgbClr val="6E7A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PRICE · ₹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5257800" y="173736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spc="100" kern="0" dirty="0">
                <a:solidFill>
                  <a:srgbClr val="6E7A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MAKE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6126480" y="1737360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spc="100" kern="0" dirty="0">
                <a:solidFill>
                  <a:srgbClr val="6E7A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ASSEMBLE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7040880" y="173736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spc="100" kern="0" dirty="0">
                <a:solidFill>
                  <a:srgbClr val="6E7A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TEST</a:t>
            </a:r>
            <a:endParaRPr lang="en-US" sz="750" dirty="0"/>
          </a:p>
        </p:txBody>
      </p:sp>
      <p:sp>
        <p:nvSpPr>
          <p:cNvPr id="9" name="Text 7"/>
          <p:cNvSpPr txBox="1"/>
          <p:nvPr/>
        </p:nvSpPr>
        <p:spPr>
          <a:xfrm>
            <a:off x="7863840" y="1737360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spc="100" kern="0" dirty="0">
                <a:solidFill>
                  <a:srgbClr val="6E7A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GUIDE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411480" y="1956816"/>
            <a:ext cx="8321040" cy="0"/>
          </a:xfrm>
          <a:prstGeom prst="line">
            <a:avLst/>
          </a:prstGeom>
          <a:noFill/>
          <a:ln w="9525">
            <a:solidFill>
              <a:srgbClr val="E8EEF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11480" y="20116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Voltera V-One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3246120" y="20116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~3.1 lakh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618988" y="2103120"/>
            <a:ext cx="100584" cy="100584"/>
          </a:xfrm>
          <a:prstGeom prst="ellipse">
            <a:avLst/>
          </a:prstGeom>
          <a:solidFill>
            <a:srgbClr val="F2C230"/>
          </a:solidFill>
          <a:ln w="9525">
            <a:solidFill>
              <a:srgbClr val="F2C23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10528" y="2103120"/>
            <a:ext cx="100584" cy="100584"/>
          </a:xfrm>
          <a:prstGeom prst="ellipse">
            <a:avLst/>
          </a:prstGeom>
          <a:solidFill>
            <a:srgbClr val="F2C230"/>
          </a:solidFill>
          <a:ln w="9525">
            <a:solidFill>
              <a:srgbClr val="F2C23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02068" y="2103120"/>
            <a:ext cx="100584" cy="100584"/>
          </a:xfrm>
          <a:prstGeom prst="ellipse">
            <a:avLst/>
          </a:prstGeom>
          <a:solidFill>
            <a:srgbClr val="0E1216"/>
          </a:solidFill>
          <a:ln w="9525">
            <a:solidFill>
              <a:srgbClr val="424A5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47888" y="2103120"/>
            <a:ext cx="100584" cy="100584"/>
          </a:xfrm>
          <a:prstGeom prst="ellipse">
            <a:avLst/>
          </a:prstGeom>
          <a:solidFill>
            <a:srgbClr val="0E1216"/>
          </a:solidFill>
          <a:ln w="9525">
            <a:solidFill>
              <a:srgbClr val="424A5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" y="2313432"/>
            <a:ext cx="8321040" cy="0"/>
          </a:xfrm>
          <a:prstGeom prst="line">
            <a:avLst/>
          </a:prstGeom>
          <a:noFill/>
          <a:ln w="9525">
            <a:solidFill>
              <a:srgbClr val="1F2A3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11480" y="232257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LPKF ProtoMat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3246120" y="232257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8.6–24.5 lakh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618988" y="2414016"/>
            <a:ext cx="100584" cy="100584"/>
          </a:xfrm>
          <a:prstGeom prst="ellipse">
            <a:avLst/>
          </a:prstGeom>
          <a:solidFill>
            <a:srgbClr val="F2C230"/>
          </a:solidFill>
          <a:ln w="9525">
            <a:solidFill>
              <a:srgbClr val="F2C23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10528" y="2414016"/>
            <a:ext cx="100584" cy="100584"/>
          </a:xfrm>
          <a:prstGeom prst="ellipse">
            <a:avLst/>
          </a:prstGeom>
          <a:solidFill>
            <a:srgbClr val="0E1216"/>
          </a:solidFill>
          <a:ln w="9525">
            <a:solidFill>
              <a:srgbClr val="424A5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402068" y="2414016"/>
            <a:ext cx="100584" cy="100584"/>
          </a:xfrm>
          <a:prstGeom prst="ellipse">
            <a:avLst/>
          </a:prstGeom>
          <a:solidFill>
            <a:srgbClr val="0E1216"/>
          </a:solidFill>
          <a:ln w="9525">
            <a:solidFill>
              <a:srgbClr val="424A5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47888" y="2414016"/>
            <a:ext cx="100584" cy="100584"/>
          </a:xfrm>
          <a:prstGeom prst="ellipse">
            <a:avLst/>
          </a:prstGeom>
          <a:solidFill>
            <a:srgbClr val="0E1216"/>
          </a:solidFill>
          <a:ln w="9525">
            <a:solidFill>
              <a:srgbClr val="424A5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1480" y="2624328"/>
            <a:ext cx="8321040" cy="0"/>
          </a:xfrm>
          <a:prstGeom prst="line">
            <a:avLst/>
          </a:prstGeom>
          <a:noFill/>
          <a:ln w="9525">
            <a:solidFill>
              <a:srgbClr val="1F2A3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11480" y="263347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Makera Carvera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3246120" y="26334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~5.1 lakh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618988" y="2724912"/>
            <a:ext cx="100584" cy="100584"/>
          </a:xfrm>
          <a:prstGeom prst="ellipse">
            <a:avLst/>
          </a:prstGeom>
          <a:solidFill>
            <a:srgbClr val="F2C230"/>
          </a:solidFill>
          <a:ln w="9525">
            <a:solidFill>
              <a:srgbClr val="F2C23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510528" y="2724912"/>
            <a:ext cx="100584" cy="100584"/>
          </a:xfrm>
          <a:prstGeom prst="ellipse">
            <a:avLst/>
          </a:prstGeom>
          <a:solidFill>
            <a:srgbClr val="0E1216"/>
          </a:solidFill>
          <a:ln w="9525">
            <a:solidFill>
              <a:srgbClr val="424A5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402068" y="2724912"/>
            <a:ext cx="100584" cy="100584"/>
          </a:xfrm>
          <a:prstGeom prst="ellipse">
            <a:avLst/>
          </a:prstGeom>
          <a:solidFill>
            <a:srgbClr val="0E1216"/>
          </a:solidFill>
          <a:ln w="9525">
            <a:solidFill>
              <a:srgbClr val="424A5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47888" y="2724912"/>
            <a:ext cx="100584" cy="100584"/>
          </a:xfrm>
          <a:prstGeom prst="ellipse">
            <a:avLst/>
          </a:prstGeom>
          <a:solidFill>
            <a:srgbClr val="0E1216"/>
          </a:solidFill>
          <a:ln w="9525">
            <a:solidFill>
              <a:srgbClr val="424A5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11480" y="2935224"/>
            <a:ext cx="8321040" cy="0"/>
          </a:xfrm>
          <a:prstGeom prst="line">
            <a:avLst/>
          </a:prstGeom>
          <a:noFill/>
          <a:ln w="9525">
            <a:solidFill>
              <a:srgbClr val="1F2A32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11480" y="294436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Bantam Tools · discontinued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3246120" y="29443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~3.1 lakh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618988" y="3035808"/>
            <a:ext cx="100584" cy="100584"/>
          </a:xfrm>
          <a:prstGeom prst="ellipse">
            <a:avLst/>
          </a:prstGeom>
          <a:solidFill>
            <a:srgbClr val="F2C230"/>
          </a:solidFill>
          <a:ln w="9525">
            <a:solidFill>
              <a:srgbClr val="F2C23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510528" y="3035808"/>
            <a:ext cx="100584" cy="100584"/>
          </a:xfrm>
          <a:prstGeom prst="ellipse">
            <a:avLst/>
          </a:prstGeom>
          <a:solidFill>
            <a:srgbClr val="0E1216"/>
          </a:solidFill>
          <a:ln w="9525">
            <a:solidFill>
              <a:srgbClr val="424A5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402068" y="3035808"/>
            <a:ext cx="100584" cy="100584"/>
          </a:xfrm>
          <a:prstGeom prst="ellipse">
            <a:avLst/>
          </a:prstGeom>
          <a:solidFill>
            <a:srgbClr val="0E1216"/>
          </a:solidFill>
          <a:ln w="9525">
            <a:solidFill>
              <a:srgbClr val="424A5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247888" y="3035808"/>
            <a:ext cx="100584" cy="100584"/>
          </a:xfrm>
          <a:prstGeom prst="ellipse">
            <a:avLst/>
          </a:prstGeom>
          <a:solidFill>
            <a:srgbClr val="0E1216"/>
          </a:solidFill>
          <a:ln w="9525">
            <a:solidFill>
              <a:srgbClr val="424A5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11480" y="3246120"/>
            <a:ext cx="8321040" cy="0"/>
          </a:xfrm>
          <a:prstGeom prst="line">
            <a:avLst/>
          </a:prstGeom>
          <a:noFill/>
          <a:ln w="9525">
            <a:solidFill>
              <a:srgbClr val="1F2A32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411480" y="325526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Digilent Analog Discovery 3</a:t>
            </a:r>
            <a:endParaRPr lang="en-US" sz="950" dirty="0"/>
          </a:p>
        </p:txBody>
      </p:sp>
      <p:sp>
        <p:nvSpPr>
          <p:cNvPr id="40" name="Text 38"/>
          <p:cNvSpPr txBox="1"/>
          <p:nvPr/>
        </p:nvSpPr>
        <p:spPr>
          <a:xfrm>
            <a:off x="3246120" y="325526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~33,000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618988" y="3346704"/>
            <a:ext cx="100584" cy="100584"/>
          </a:xfrm>
          <a:prstGeom prst="ellipse">
            <a:avLst/>
          </a:prstGeom>
          <a:solidFill>
            <a:srgbClr val="0E1216"/>
          </a:solidFill>
          <a:ln w="9525">
            <a:solidFill>
              <a:srgbClr val="424A5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510528" y="3346704"/>
            <a:ext cx="100584" cy="100584"/>
          </a:xfrm>
          <a:prstGeom prst="ellipse">
            <a:avLst/>
          </a:prstGeom>
          <a:solidFill>
            <a:srgbClr val="0E1216"/>
          </a:solidFill>
          <a:ln w="9525">
            <a:solidFill>
              <a:srgbClr val="424A51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402068" y="3346704"/>
            <a:ext cx="100584" cy="100584"/>
          </a:xfrm>
          <a:prstGeom prst="ellipse">
            <a:avLst/>
          </a:prstGeom>
          <a:solidFill>
            <a:srgbClr val="F2C230"/>
          </a:solidFill>
          <a:ln w="9525">
            <a:solidFill>
              <a:srgbClr val="F2C23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247888" y="3346704"/>
            <a:ext cx="100584" cy="100584"/>
          </a:xfrm>
          <a:prstGeom prst="ellipse">
            <a:avLst/>
          </a:prstGeom>
          <a:solidFill>
            <a:srgbClr val="0E1216"/>
          </a:solidFill>
          <a:ln w="9525">
            <a:solidFill>
              <a:srgbClr val="424A51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11480" y="3557016"/>
            <a:ext cx="8321040" cy="0"/>
          </a:xfrm>
          <a:prstGeom prst="line">
            <a:avLst/>
          </a:prstGeom>
          <a:noFill/>
          <a:ln w="9525">
            <a:solidFill>
              <a:srgbClr val="1F2A32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411480" y="35661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JLCPCB, PCBWay</a:t>
            </a:r>
            <a:endParaRPr lang="en-US" sz="950" dirty="0"/>
          </a:p>
        </p:txBody>
      </p:sp>
      <p:sp>
        <p:nvSpPr>
          <p:cNvPr id="47" name="Text 45"/>
          <p:cNvSpPr txBox="1"/>
          <p:nvPr/>
        </p:nvSpPr>
        <p:spPr>
          <a:xfrm>
            <a:off x="3246120" y="35661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per order, weeks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618988" y="3657600"/>
            <a:ext cx="100584" cy="100584"/>
          </a:xfrm>
          <a:prstGeom prst="ellipse">
            <a:avLst/>
          </a:prstGeom>
          <a:solidFill>
            <a:srgbClr val="F2C230"/>
          </a:solidFill>
          <a:ln w="9525">
            <a:solidFill>
              <a:srgbClr val="F2C23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510528" y="3657600"/>
            <a:ext cx="100584" cy="100584"/>
          </a:xfrm>
          <a:prstGeom prst="ellipse">
            <a:avLst/>
          </a:prstGeom>
          <a:solidFill>
            <a:srgbClr val="F2C230"/>
          </a:solidFill>
          <a:ln w="9525">
            <a:solidFill>
              <a:srgbClr val="F2C23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402068" y="3657600"/>
            <a:ext cx="100584" cy="100584"/>
          </a:xfrm>
          <a:prstGeom prst="ellipse">
            <a:avLst/>
          </a:prstGeom>
          <a:solidFill>
            <a:srgbClr val="0E1216"/>
          </a:solidFill>
          <a:ln w="9525">
            <a:solidFill>
              <a:srgbClr val="424A51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247888" y="3657600"/>
            <a:ext cx="100584" cy="100584"/>
          </a:xfrm>
          <a:prstGeom prst="ellipse">
            <a:avLst/>
          </a:prstGeom>
          <a:solidFill>
            <a:srgbClr val="0E1216"/>
          </a:solidFill>
          <a:ln w="9525">
            <a:solidFill>
              <a:srgbClr val="424A51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11480" y="3867912"/>
            <a:ext cx="8321040" cy="0"/>
          </a:xfrm>
          <a:prstGeom prst="line">
            <a:avLst/>
          </a:prstGeom>
          <a:noFill/>
          <a:ln w="9525">
            <a:solidFill>
              <a:srgbClr val="1F2A32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411480" y="387705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Flux (AI design)</a:t>
            </a:r>
            <a:endParaRPr lang="en-US" sz="950" dirty="0"/>
          </a:p>
        </p:txBody>
      </p:sp>
      <p:sp>
        <p:nvSpPr>
          <p:cNvPr id="54" name="Text 52"/>
          <p:cNvSpPr txBox="1"/>
          <p:nvPr/>
        </p:nvSpPr>
        <p:spPr>
          <a:xfrm>
            <a:off x="3246120" y="387705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1.3–4.3k / month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5618988" y="3968496"/>
            <a:ext cx="100584" cy="100584"/>
          </a:xfrm>
          <a:prstGeom prst="ellipse">
            <a:avLst/>
          </a:prstGeom>
          <a:solidFill>
            <a:srgbClr val="0E1216"/>
          </a:solidFill>
          <a:ln w="9525">
            <a:solidFill>
              <a:srgbClr val="424A51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510528" y="3968496"/>
            <a:ext cx="100584" cy="100584"/>
          </a:xfrm>
          <a:prstGeom prst="ellipse">
            <a:avLst/>
          </a:prstGeom>
          <a:solidFill>
            <a:srgbClr val="0E1216"/>
          </a:solidFill>
          <a:ln w="9525">
            <a:solidFill>
              <a:srgbClr val="424A51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402068" y="3968496"/>
            <a:ext cx="100584" cy="100584"/>
          </a:xfrm>
          <a:prstGeom prst="ellipse">
            <a:avLst/>
          </a:prstGeom>
          <a:solidFill>
            <a:srgbClr val="0E1216"/>
          </a:solidFill>
          <a:ln w="9525">
            <a:solidFill>
              <a:srgbClr val="424A51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247888" y="3968496"/>
            <a:ext cx="100584" cy="100584"/>
          </a:xfrm>
          <a:prstGeom prst="ellipse">
            <a:avLst/>
          </a:prstGeom>
          <a:solidFill>
            <a:srgbClr val="F2C230"/>
          </a:solidFill>
          <a:ln w="9525">
            <a:solidFill>
              <a:srgbClr val="F2C23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11480" y="4178808"/>
            <a:ext cx="8321040" cy="0"/>
          </a:xfrm>
          <a:prstGeom prst="line">
            <a:avLst/>
          </a:prstGeom>
          <a:noFill/>
          <a:ln w="9525">
            <a:solidFill>
              <a:srgbClr val="1F2A3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11480" y="4242816"/>
            <a:ext cx="8321040" cy="365760"/>
          </a:xfrm>
          <a:prstGeom prst="rect">
            <a:avLst/>
          </a:prstGeom>
          <a:solidFill>
            <a:srgbClr val="F2C230"/>
          </a:solidFill>
          <a:ln w="12700">
            <a:solidFill>
              <a:srgbClr val="F2C230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521208" y="424281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40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protopus</a:t>
            </a:r>
            <a:endParaRPr lang="en-US" sz="1000" dirty="0"/>
          </a:p>
        </p:txBody>
      </p:sp>
      <p:sp>
        <p:nvSpPr>
          <p:cNvPr id="62" name="Text 60"/>
          <p:cNvSpPr txBox="1"/>
          <p:nvPr/>
        </p:nvSpPr>
        <p:spPr>
          <a:xfrm>
            <a:off x="3246120" y="424281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40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3.34 lakh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5618988" y="4375404"/>
            <a:ext cx="100584" cy="100584"/>
          </a:xfrm>
          <a:prstGeom prst="ellipse">
            <a:avLst/>
          </a:prstGeom>
          <a:solidFill>
            <a:srgbClr val="1A1405"/>
          </a:solidFill>
          <a:ln w="9525">
            <a:solidFill>
              <a:srgbClr val="1A1405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510528" y="4375404"/>
            <a:ext cx="100584" cy="100584"/>
          </a:xfrm>
          <a:prstGeom prst="ellipse">
            <a:avLst/>
          </a:prstGeom>
          <a:solidFill>
            <a:srgbClr val="1A1405"/>
          </a:solidFill>
          <a:ln w="9525">
            <a:solidFill>
              <a:srgbClr val="1A1405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402068" y="4375404"/>
            <a:ext cx="100584" cy="100584"/>
          </a:xfrm>
          <a:prstGeom prst="ellipse">
            <a:avLst/>
          </a:prstGeom>
          <a:solidFill>
            <a:srgbClr val="1A1405"/>
          </a:solidFill>
          <a:ln w="9525">
            <a:solidFill>
              <a:srgbClr val="1A1405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247888" y="4375404"/>
            <a:ext cx="100584" cy="100584"/>
          </a:xfrm>
          <a:prstGeom prst="ellipse">
            <a:avLst/>
          </a:prstGeom>
          <a:solidFill>
            <a:srgbClr val="1A1405"/>
          </a:solidFill>
          <a:ln w="9525">
            <a:solidFill>
              <a:srgbClr val="1A1405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411480" y="4681728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6E7A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List prices at ₹88 per US$, before import duty · voltera.io · Design World · Makera · ToolGuyd · Digilent · flux.ai</a:t>
            </a:r>
            <a:endParaRPr lang="en-US" sz="6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12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429768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250" kern="0" dirty="0">
                <a:solidFill>
                  <a:srgbClr val="CF8F4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10 · ECONOMICS · PROJECTED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658368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We earn on every machine.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customer earns it back in months.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1755648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6E7A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PER UNIT · ₹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2194560" y="175564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spc="100" kern="0" dirty="0">
                <a:solidFill>
                  <a:srgbClr val="CF8F4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BAKER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3246120" y="175564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spc="100" kern="0" dirty="0">
                <a:solidFill>
                  <a:srgbClr val="54ACF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MIXER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411480" y="1956816"/>
            <a:ext cx="3657600" cy="0"/>
          </a:xfrm>
          <a:prstGeom prst="line">
            <a:avLst/>
          </a:prstGeom>
          <a:noFill/>
          <a:ln w="9525">
            <a:solidFill>
              <a:srgbClr val="E8EEF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" y="202996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Total cost (all-in)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2194560" y="2029968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2,00,000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3246120" y="2029968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22,500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2386584"/>
            <a:ext cx="3657600" cy="365760"/>
          </a:xfrm>
          <a:prstGeom prst="rect">
            <a:avLst/>
          </a:prstGeom>
          <a:solidFill>
            <a:srgbClr val="E8EEF2"/>
          </a:solidFill>
          <a:ln w="12700">
            <a:solidFill>
              <a:srgbClr val="E8EEF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02920" y="24140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12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Selling price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2194560" y="2414016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E12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2,99,000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3246120" y="2414016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E12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34,999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502920" y="2798064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Margin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2194560" y="2798064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F8F4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~33%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3246120" y="2798064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4AC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~36%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1480" y="3291840"/>
            <a:ext cx="3657600" cy="685800"/>
          </a:xfrm>
          <a:prstGeom prst="rect">
            <a:avLst/>
          </a:prstGeom>
          <a:solidFill>
            <a:srgbClr val="F2C230"/>
          </a:solidFill>
          <a:ln w="12700">
            <a:solidFill>
              <a:srgbClr val="F2C23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30352" y="329184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40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₹9,999</a:t>
            </a:r>
            <a:pPr indent="0" marL="0">
              <a:buNone/>
            </a:pPr>
            <a:r>
              <a:rPr lang="en-US" sz="850" b="1" dirty="0">
                <a:solidFill>
                  <a:srgbClr val="1A140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 / year · one Proto plan per workspace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411480" y="406908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+ consumables, reordered as labs build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4389120" y="1755648"/>
            <a:ext cx="0" cy="2651760"/>
          </a:xfrm>
          <a:prstGeom prst="line">
            <a:avLst/>
          </a:prstGeom>
          <a:noFill/>
          <a:ln w="9525">
            <a:solidFill>
              <a:srgbClr val="1F2A3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663440" y="1755648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F2C23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FOR THE CUSTOMER</a:t>
            </a:r>
            <a:endParaRPr lang="en-US" sz="750" dirty="0"/>
          </a:p>
        </p:txBody>
      </p:sp>
      <p:sp>
        <p:nvSpPr>
          <p:cNvPr id="23" name="Text 21"/>
          <p:cNvSpPr txBox="1"/>
          <p:nvPr/>
        </p:nvSpPr>
        <p:spPr>
          <a:xfrm>
            <a:off x="4663440" y="20116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₹334</a:t>
            </a:r>
            <a:endParaRPr lang="en-US" sz="2400" dirty="0"/>
          </a:p>
        </p:txBody>
      </p:sp>
      <p:sp>
        <p:nvSpPr>
          <p:cNvPr id="24" name="Text 22"/>
          <p:cNvSpPr txBox="1"/>
          <p:nvPr/>
        </p:nvSpPr>
        <p:spPr>
          <a:xfrm>
            <a:off x="4663440" y="248716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per board on Baker</a:t>
            </a:r>
            <a:endParaRPr lang="en-US" sz="750" dirty="0"/>
          </a:p>
        </p:txBody>
      </p:sp>
      <p:sp>
        <p:nvSpPr>
          <p:cNvPr id="25" name="Text 23"/>
          <p:cNvSpPr txBox="1"/>
          <p:nvPr/>
        </p:nvSpPr>
        <p:spPr>
          <a:xfrm>
            <a:off x="6720840" y="20116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₹6,721</a:t>
            </a:r>
            <a:endParaRPr lang="en-US" sz="2400" dirty="0"/>
          </a:p>
        </p:txBody>
      </p:sp>
      <p:sp>
        <p:nvSpPr>
          <p:cNvPr id="26" name="Text 24"/>
          <p:cNvSpPr txBox="1"/>
          <p:nvPr/>
        </p:nvSpPr>
        <p:spPr>
          <a:xfrm>
            <a:off x="6720840" y="248716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same board from JLCPCB, landed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4663440" y="2926080"/>
            <a:ext cx="4069080" cy="27432"/>
          </a:xfrm>
          <a:prstGeom prst="rect">
            <a:avLst/>
          </a:prstGeom>
          <a:solidFill>
            <a:srgbClr val="F2C230"/>
          </a:solidFill>
          <a:ln w="12700">
            <a:solidFill>
              <a:srgbClr val="F2C23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663440" y="30175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2C2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53 boards</a:t>
            </a:r>
            <a:endParaRPr lang="en-US" sz="2600" dirty="0"/>
          </a:p>
        </p:txBody>
      </p:sp>
      <p:sp>
        <p:nvSpPr>
          <p:cNvPr id="29" name="Text 27"/>
          <p:cNvSpPr txBox="1"/>
          <p:nvPr/>
        </p:nvSpPr>
        <p:spPr>
          <a:xfrm>
            <a:off x="4663440" y="35204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to pay back Baker + Mixer: about 6.6 months for a startup iterating twice a week</a:t>
            </a:r>
            <a:endParaRPr lang="en-US" sz="800" dirty="0"/>
          </a:p>
        </p:txBody>
      </p:sp>
      <p:sp>
        <p:nvSpPr>
          <p:cNvPr id="30" name="Text 28"/>
          <p:cNvSpPr txBox="1"/>
          <p:nvPr/>
        </p:nvSpPr>
        <p:spPr>
          <a:xfrm>
            <a:off x="411480" y="4681728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6E7A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Projections at 100-unit batches; costed model Baker ₹1,44,842, Mixer ₹13,740. JLCPCB: PCB + PCBA + DHL + 10% BCD + 18% IGST. Waiting time not counted.</a:t>
            </a:r>
            <a:endParaRPr lang="en-US" sz="6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12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429768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250" kern="0" dirty="0">
                <a:solidFill>
                  <a:srgbClr val="CF8F4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11 · MARKET PLAN / GROWTH STRATEGY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658368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Start in the maker studios, then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follow the people who watch them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1737360"/>
            <a:ext cx="8321040" cy="0"/>
          </a:xfrm>
          <a:prstGeom prst="line">
            <a:avLst/>
          </a:prstGeom>
          <a:noFill/>
          <a:ln w="9525">
            <a:solidFill>
              <a:srgbClr val="1F2A3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11480" y="182880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₹6.4L cr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11480" y="219456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global PCB market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404872" y="1737360"/>
            <a:ext cx="0" cy="731520"/>
          </a:xfrm>
          <a:prstGeom prst="line">
            <a:avLst/>
          </a:prstGeom>
          <a:noFill/>
          <a:ln w="9525">
            <a:solidFill>
              <a:srgbClr val="1F2A3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496312" y="182880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₹3.1L cr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2496312" y="219456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global test and measurement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4489704" y="1737360"/>
            <a:ext cx="0" cy="731520"/>
          </a:xfrm>
          <a:prstGeom prst="line">
            <a:avLst/>
          </a:prstGeom>
          <a:noFill/>
          <a:ln w="9525">
            <a:solidFill>
              <a:srgbClr val="1F2A3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81144" y="182880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CF8F4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₹55K cr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581144" y="219456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India PCB, ~15% a year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6574536" y="1737360"/>
            <a:ext cx="0" cy="731520"/>
          </a:xfrm>
          <a:prstGeom prst="line">
            <a:avLst/>
          </a:prstGeom>
          <a:noFill/>
          <a:ln w="9525">
            <a:solidFill>
              <a:srgbClr val="1F2A3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665976" y="182880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CF8F4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₹8.3K cr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665976" y="219456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India test and measurement</a:t>
            </a:r>
            <a:endParaRPr lang="en-US" sz="750" dirty="0"/>
          </a:p>
        </p:txBody>
      </p:sp>
      <p:sp>
        <p:nvSpPr>
          <p:cNvPr id="16" name="Text 14"/>
          <p:cNvSpPr txBox="1"/>
          <p:nvPr/>
        </p:nvSpPr>
        <p:spPr>
          <a:xfrm>
            <a:off x="411480" y="256032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4AC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33M+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411480" y="29260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active Arduino users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2404872" y="2468880"/>
            <a:ext cx="0" cy="731520"/>
          </a:xfrm>
          <a:prstGeom prst="line">
            <a:avLst/>
          </a:prstGeom>
          <a:noFill/>
          <a:ln w="9525">
            <a:solidFill>
              <a:srgbClr val="1F2A3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496312" y="256032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4AC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2.3M+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2496312" y="29260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Hackster hardware community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4489704" y="2468880"/>
            <a:ext cx="0" cy="731520"/>
          </a:xfrm>
          <a:prstGeom prst="line">
            <a:avLst/>
          </a:prstGeom>
          <a:noFill/>
          <a:ln w="9525">
            <a:solidFill>
              <a:srgbClr val="1F2A3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81144" y="256032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2C2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10,000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4581144" y="29260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Atal Tinkering Labs, +50,000 planned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574536" y="2468880"/>
            <a:ext cx="0" cy="731520"/>
          </a:xfrm>
          <a:prstGeom prst="line">
            <a:avLst/>
          </a:prstGeom>
          <a:noFill/>
          <a:ln w="9525">
            <a:solidFill>
              <a:srgbClr val="1F2A3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665976" y="256032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2C2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~2,500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6665976" y="29260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Fab Labs in 125 countries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411480" y="2468880"/>
            <a:ext cx="8321040" cy="0"/>
          </a:xfrm>
          <a:prstGeom prst="line">
            <a:avLst/>
          </a:prstGeom>
          <a:noFill/>
          <a:ln w="9525">
            <a:solidFill>
              <a:srgbClr val="1F2A3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11480" y="3200400"/>
            <a:ext cx="8321040" cy="0"/>
          </a:xfrm>
          <a:prstGeom prst="line">
            <a:avLst/>
          </a:prstGeom>
          <a:noFill/>
          <a:ln w="9525">
            <a:solidFill>
              <a:srgbClr val="1F2A3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11480" y="3364992"/>
            <a:ext cx="2651760" cy="36576"/>
          </a:xfrm>
          <a:prstGeom prst="rect">
            <a:avLst/>
          </a:prstGeom>
          <a:solidFill>
            <a:srgbClr val="F2C230"/>
          </a:solidFill>
          <a:ln w="12700">
            <a:solidFill>
              <a:srgbClr val="F2C23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11480" y="3474720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F2C23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NOW</a:t>
            </a:r>
            <a:endParaRPr lang="en-US" sz="750" dirty="0"/>
          </a:p>
        </p:txBody>
      </p:sp>
      <p:sp>
        <p:nvSpPr>
          <p:cNvPr id="31" name="Text 29"/>
          <p:cNvSpPr txBox="1"/>
          <p:nvPr/>
        </p:nvSpPr>
        <p:spPr>
          <a:xfrm>
            <a:off x="411480" y="367588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Maker studios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411480" y="39319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Free units for featured videos. The Bambu Lab playbook.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227832" y="3364992"/>
            <a:ext cx="2651760" cy="36576"/>
          </a:xfrm>
          <a:prstGeom prst="rect">
            <a:avLst/>
          </a:prstGeom>
          <a:solidFill>
            <a:srgbClr val="54ACF0"/>
          </a:solidFill>
          <a:ln w="12700">
            <a:solidFill>
              <a:srgbClr val="54ACF0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3227832" y="3474720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54ACF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NEXT</a:t>
            </a:r>
            <a:endParaRPr lang="en-US" sz="750" dirty="0"/>
          </a:p>
        </p:txBody>
      </p:sp>
      <p:sp>
        <p:nvSpPr>
          <p:cNvPr id="35" name="Text 33"/>
          <p:cNvSpPr txBox="1"/>
          <p:nvPr/>
        </p:nvSpPr>
        <p:spPr>
          <a:xfrm>
            <a:off x="3227832" y="367588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Hobbyists and startups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3227832" y="39319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Everyone who watches and loses weeks per board.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6044184" y="3364992"/>
            <a:ext cx="2651760" cy="36576"/>
          </a:xfrm>
          <a:prstGeom prst="rect">
            <a:avLst/>
          </a:prstGeom>
          <a:solidFill>
            <a:srgbClr val="CF8F4E"/>
          </a:solidFill>
          <a:ln w="12700">
            <a:solidFill>
              <a:srgbClr val="CF8F4E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044184" y="3474720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CF8F4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ALONGSIDE</a:t>
            </a:r>
            <a:endParaRPr lang="en-US" sz="750" dirty="0"/>
          </a:p>
        </p:txBody>
      </p:sp>
      <p:sp>
        <p:nvSpPr>
          <p:cNvPr id="39" name="Text 37"/>
          <p:cNvSpPr txBox="1"/>
          <p:nvPr/>
        </p:nvSpPr>
        <p:spPr>
          <a:xfrm>
            <a:off x="6044184" y="367588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Prototyping labs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6044184" y="39319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Tinkering, Fab and college labs that already buy tools.</a:t>
            </a:r>
            <a:endParaRPr lang="en-US" sz="800" dirty="0"/>
          </a:p>
        </p:txBody>
      </p:sp>
      <p:sp>
        <p:nvSpPr>
          <p:cNvPr id="41" name="Text 39"/>
          <p:cNvSpPr txBox="1"/>
          <p:nvPr/>
        </p:nvSpPr>
        <p:spPr>
          <a:xfrm>
            <a:off x="411480" y="4681728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6E7A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IMARC · Grand View · Arduino · Hackster · Atal Innovation Mission · Forbes · at ₹88 per US$</a:t>
            </a:r>
            <a:endParaRPr lang="en-US" sz="6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12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429768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250" kern="0" dirty="0">
                <a:solidFill>
                  <a:srgbClr val="CF8F4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12 · WHERE WE ARE, AND WHAT THE MONEY PROVES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658368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Told honestly, one milestone at a time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1417320"/>
            <a:ext cx="2651760" cy="36576"/>
          </a:xfrm>
          <a:prstGeom prst="rect">
            <a:avLst/>
          </a:prstGeom>
          <a:solidFill>
            <a:srgbClr val="CF8F4E"/>
          </a:solidFill>
          <a:ln w="12700">
            <a:solidFill>
              <a:srgbClr val="CF8F4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11480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Baker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411480" y="187452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prototype running on the bench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3246120" y="1417320"/>
            <a:ext cx="2651760" cy="36576"/>
          </a:xfrm>
          <a:prstGeom prst="rect">
            <a:avLst/>
          </a:prstGeom>
          <a:solidFill>
            <a:srgbClr val="F2C230"/>
          </a:solidFill>
          <a:ln w="12700">
            <a:solidFill>
              <a:srgbClr val="F2C23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246120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Software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3246120" y="187452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Baker Studio + Proto; website live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080760" y="1417320"/>
            <a:ext cx="2651760" cy="36576"/>
          </a:xfrm>
          <a:prstGeom prst="rect">
            <a:avLst/>
          </a:prstGeom>
          <a:solidFill>
            <a:srgbClr val="424A51"/>
          </a:solidFill>
          <a:ln w="12700">
            <a:solidFill>
              <a:srgbClr val="424A5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080760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A3B3B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Mixer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6080760" y="187452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designed, not yet built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11480" y="2542032"/>
            <a:ext cx="8321040" cy="0"/>
          </a:xfrm>
          <a:prstGeom prst="line">
            <a:avLst/>
          </a:prstGeom>
          <a:noFill/>
          <a:ln w="9525">
            <a:solidFill>
              <a:srgbClr val="E8EE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2496312"/>
            <a:ext cx="91440" cy="91440"/>
          </a:xfrm>
          <a:prstGeom prst="ellipse">
            <a:avLst/>
          </a:prstGeom>
          <a:solidFill>
            <a:srgbClr val="CF8F4E"/>
          </a:solidFill>
          <a:ln w="9525">
            <a:solidFill>
              <a:srgbClr val="CF8F4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11480" y="2697480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CF8F4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M2</a:t>
            </a:r>
            <a:endParaRPr lang="en-US" sz="800" dirty="0"/>
          </a:p>
        </p:txBody>
      </p:sp>
      <p:sp>
        <p:nvSpPr>
          <p:cNvPr id="16" name="Text 14"/>
          <p:cNvSpPr txBox="1"/>
          <p:nvPr/>
        </p:nvSpPr>
        <p:spPr>
          <a:xfrm>
            <a:off x="411480" y="2907792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Baker runs all 15 steps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810512" y="2496312"/>
            <a:ext cx="91440" cy="91440"/>
          </a:xfrm>
          <a:prstGeom prst="ellipse">
            <a:avLst/>
          </a:prstGeom>
          <a:solidFill>
            <a:srgbClr val="CF8F4E"/>
          </a:solidFill>
          <a:ln w="9525">
            <a:solidFill>
              <a:srgbClr val="CF8F4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810512" y="2697480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CF8F4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M3</a:t>
            </a:r>
            <a:endParaRPr lang="en-US" sz="800" dirty="0"/>
          </a:p>
        </p:txBody>
      </p:sp>
      <p:sp>
        <p:nvSpPr>
          <p:cNvPr id="19" name="Text 17"/>
          <p:cNvSpPr txBox="1"/>
          <p:nvPr/>
        </p:nvSpPr>
        <p:spPr>
          <a:xfrm>
            <a:off x="1810512" y="2907792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process tests pass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9544" y="2496312"/>
            <a:ext cx="91440" cy="91440"/>
          </a:xfrm>
          <a:prstGeom prst="ellipse">
            <a:avLst/>
          </a:prstGeom>
          <a:solidFill>
            <a:srgbClr val="54ACF0"/>
          </a:solidFill>
          <a:ln w="9525">
            <a:solidFill>
              <a:srgbClr val="54ACF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209544" y="2697480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4ACF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M4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3209544" y="2907792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Mixer measures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608576" y="2496312"/>
            <a:ext cx="91440" cy="91440"/>
          </a:xfrm>
          <a:prstGeom prst="ellipse">
            <a:avLst/>
          </a:prstGeom>
          <a:solidFill>
            <a:srgbClr val="54ACF0"/>
          </a:solidFill>
          <a:ln w="9525">
            <a:solidFill>
              <a:srgbClr val="54ACF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608576" y="2697480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4ACF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M5</a:t>
            </a:r>
            <a:endParaRPr lang="en-US" sz="800" dirty="0"/>
          </a:p>
        </p:txBody>
      </p:sp>
      <p:sp>
        <p:nvSpPr>
          <p:cNvPr id="25" name="Text 23"/>
          <p:cNvSpPr txBox="1"/>
          <p:nvPr/>
        </p:nvSpPr>
        <p:spPr>
          <a:xfrm>
            <a:off x="4608576" y="2907792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Rev B + 5 Mixers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007608" y="2496312"/>
            <a:ext cx="91440" cy="91440"/>
          </a:xfrm>
          <a:prstGeom prst="ellipse">
            <a:avLst/>
          </a:prstGeom>
          <a:solidFill>
            <a:srgbClr val="F2C230"/>
          </a:solidFill>
          <a:ln w="9525">
            <a:solidFill>
              <a:srgbClr val="F2C23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007608" y="2697480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F2C23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M6</a:t>
            </a:r>
            <a:endParaRPr lang="en-US" sz="800" dirty="0"/>
          </a:p>
        </p:txBody>
      </p:sp>
      <p:sp>
        <p:nvSpPr>
          <p:cNvPr id="28" name="Text 26"/>
          <p:cNvSpPr txBox="1"/>
          <p:nvPr/>
        </p:nvSpPr>
        <p:spPr>
          <a:xfrm>
            <a:off x="6007608" y="2907792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proof of concept: 20 boards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406640" y="2496312"/>
            <a:ext cx="91440" cy="91440"/>
          </a:xfrm>
          <a:prstGeom prst="ellipse">
            <a:avLst/>
          </a:prstGeom>
          <a:solidFill>
            <a:srgbClr val="60A05A"/>
          </a:solidFill>
          <a:ln w="9525">
            <a:solidFill>
              <a:srgbClr val="60A05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406640" y="2697480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0A05A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M7–9</a:t>
            </a:r>
            <a:endParaRPr lang="en-US" sz="800" dirty="0"/>
          </a:p>
        </p:txBody>
      </p:sp>
      <p:sp>
        <p:nvSpPr>
          <p:cNvPr id="31" name="Text 29"/>
          <p:cNvSpPr txBox="1"/>
          <p:nvPr/>
        </p:nvSpPr>
        <p:spPr>
          <a:xfrm>
            <a:off x="7406640" y="2907792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seed round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11480" y="3657600"/>
            <a:ext cx="8321040" cy="603504"/>
          </a:xfrm>
          <a:prstGeom prst="rect">
            <a:avLst/>
          </a:prstGeom>
          <a:solidFill>
            <a:srgbClr val="121A21"/>
          </a:solidFill>
          <a:ln w="9525">
            <a:solidFill>
              <a:srgbClr val="1F2A3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66928" y="3840480"/>
            <a:ext cx="713232" cy="237744"/>
          </a:xfrm>
          <a:prstGeom prst="rect">
            <a:avLst/>
          </a:prstGeom>
          <a:solidFill>
            <a:srgbClr val="F2C230"/>
          </a:solidFill>
          <a:ln w="12700">
            <a:solidFill>
              <a:srgbClr val="F2C230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66928" y="3840480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1A140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SIGNAL</a:t>
            </a:r>
            <a:endParaRPr lang="en-US" sz="800" dirty="0"/>
          </a:p>
        </p:txBody>
      </p:sp>
      <p:sp>
        <p:nvSpPr>
          <p:cNvPr id="35" name="Text 33"/>
          <p:cNvSpPr txBox="1"/>
          <p:nvPr/>
        </p:nvSpPr>
        <p:spPr>
          <a:xfrm>
            <a:off x="1444752" y="3657600"/>
            <a:ext cx="7178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Samuel Beek</a:t>
            </a:r>
            <a:pPr indent="0" marL="0">
              <a:buNone/>
            </a:pPr>
            <a:r>
              <a:rPr lang="en-US" sz="95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, Founder &amp; CEO of Schematik, is interested in funding us at proof of concept.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411480" y="4462272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E7A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Built in the university lab, tested with students and makers. A demo video every month.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E3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42976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250" kern="0" dirty="0">
                <a:solidFill>
                  <a:srgbClr val="8A5F31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13 · GRANT / FUNDING REQUIRED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86868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b="1" dirty="0">
                <a:solidFill>
                  <a:srgbClr val="8A5F31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₹16,00,000</a:t>
            </a:r>
            <a:endParaRPr lang="en-US" sz="66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1920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3121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nine months to a proof of concept, and time to raise.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2514600"/>
            <a:ext cx="1261872" cy="45720"/>
          </a:xfrm>
          <a:prstGeom prst="rect">
            <a:avLst/>
          </a:prstGeom>
          <a:solidFill>
            <a:srgbClr val="8A5F31"/>
          </a:solidFill>
          <a:ln w="12700">
            <a:solidFill>
              <a:srgbClr val="8A5F3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11480" y="267004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3121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₹4.48L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411480" y="3090672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3121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Baker + Mixer builds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824228" y="2514600"/>
            <a:ext cx="1261872" cy="45720"/>
          </a:xfrm>
          <a:prstGeom prst="rect">
            <a:avLst/>
          </a:prstGeom>
          <a:solidFill>
            <a:srgbClr val="1B64A8"/>
          </a:solidFill>
          <a:ln w="12700">
            <a:solidFill>
              <a:srgbClr val="1B64A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824228" y="267004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3121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₹2.20L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1824228" y="3090672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3121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Rev B + 5 Mixers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236976" y="2514600"/>
            <a:ext cx="1261872" cy="45720"/>
          </a:xfrm>
          <a:prstGeom prst="rect">
            <a:avLst/>
          </a:prstGeom>
          <a:solidFill>
            <a:srgbClr val="131210"/>
          </a:solidFill>
          <a:ln w="12700">
            <a:solidFill>
              <a:srgbClr val="13121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236976" y="267004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3121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₹4.50L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3236976" y="3090672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3121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one engineer, 9 months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649724" y="2514600"/>
            <a:ext cx="1261872" cy="45720"/>
          </a:xfrm>
          <a:prstGeom prst="rect">
            <a:avLst/>
          </a:prstGeom>
          <a:solidFill>
            <a:srgbClr val="C08A12"/>
          </a:solidFill>
          <a:ln w="12700">
            <a:solidFill>
              <a:srgbClr val="C08A1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649724" y="267004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3121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₹1.35L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4649724" y="3090672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3121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Proto software + compute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062472" y="2514600"/>
            <a:ext cx="1261872" cy="45720"/>
          </a:xfrm>
          <a:prstGeom prst="rect">
            <a:avLst/>
          </a:prstGeom>
          <a:solidFill>
            <a:srgbClr val="9C8F7C"/>
          </a:solidFill>
          <a:ln w="12700">
            <a:solidFill>
              <a:srgbClr val="9C8F7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062472" y="267004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3121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₹1.50L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6062472" y="3090672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3121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testing, tooling, safety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7475220" y="2514600"/>
            <a:ext cx="1261872" cy="45720"/>
          </a:xfrm>
          <a:prstGeom prst="rect">
            <a:avLst/>
          </a:prstGeom>
          <a:solidFill>
            <a:srgbClr val="60A05A"/>
          </a:solidFill>
          <a:ln w="12700">
            <a:solidFill>
              <a:srgbClr val="60A05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475220" y="267004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3121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₹1.97L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7475220" y="3090672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3121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IP, outreach, reserve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11480" y="4069080"/>
            <a:ext cx="8321040" cy="0"/>
          </a:xfrm>
          <a:prstGeom prst="line">
            <a:avLst/>
          </a:prstGeom>
          <a:noFill/>
          <a:ln w="12700">
            <a:solidFill>
              <a:srgbClr val="13121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11480" y="4206240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3121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Enough to survive one failed iteration and raise from strength. Builds line by line from the cost report.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E12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429768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250" kern="0" dirty="0">
                <a:solidFill>
                  <a:srgbClr val="CF8F4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14 · WHAT'S NEXT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658368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After proof of concept: raise,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build in China, run lean from Delhi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1755648"/>
            <a:ext cx="2651760" cy="36576"/>
          </a:xfrm>
          <a:prstGeom prst="rect">
            <a:avLst/>
          </a:prstGeom>
          <a:solidFill>
            <a:srgbClr val="CF8F4E"/>
          </a:solidFill>
          <a:ln w="12700">
            <a:solidFill>
              <a:srgbClr val="CF8F4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11480" y="1847088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6E7A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THE ROUND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411480" y="20574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~₹1.5 Cr seed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11480" y="256032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China pilots ₹70L · set-up + IP ₹25L · team of 5 ₹25L · Delhi centre ₹20L · buffer ₹10L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46120" y="1755648"/>
            <a:ext cx="2651760" cy="36576"/>
          </a:xfrm>
          <a:prstGeom prst="rect">
            <a:avLst/>
          </a:prstGeom>
          <a:solidFill>
            <a:srgbClr val="F2C230"/>
          </a:solidFill>
          <a:ln w="12700">
            <a:solidFill>
              <a:srgbClr val="F2C23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46120" y="1847088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6E7A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THE CHINA PLAN</a:t>
            </a:r>
            <a:endParaRPr lang="en-US" sz="750" dirty="0"/>
          </a:p>
        </p:txBody>
      </p:sp>
      <p:sp>
        <p:nvSpPr>
          <p:cNvPr id="10" name="Text 8"/>
          <p:cNvSpPr txBox="1"/>
          <p:nvPr/>
        </p:nvSpPr>
        <p:spPr>
          <a:xfrm>
            <a:off x="3246120" y="20574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Design in Delhi, build in Shenzhen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246120" y="256032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Mixer: turnkey from batch one. Baker: modules first; turnkey once ≤ $1,305 ex-works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080760" y="1755648"/>
            <a:ext cx="2651760" cy="36576"/>
          </a:xfrm>
          <a:prstGeom prst="rect">
            <a:avLst/>
          </a:prstGeom>
          <a:solidFill>
            <a:srgbClr val="54ACF0"/>
          </a:solidFill>
          <a:ln w="12700">
            <a:solidFill>
              <a:srgbClr val="54AC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080760" y="1847088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6E7A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OPERATIONS</a:t>
            </a:r>
            <a:endParaRPr lang="en-US" sz="750" dirty="0"/>
          </a:p>
        </p:txBody>
      </p:sp>
      <p:sp>
        <p:nvSpPr>
          <p:cNvPr id="14" name="Text 12"/>
          <p:cNvSpPr txBox="1"/>
          <p:nvPr/>
        </p:nvSpPr>
        <p:spPr>
          <a:xfrm>
            <a:off x="6080760" y="20574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Delhi finalises, doesn't build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080760" y="256032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Scan, test, activate Proto, ship. Mixer is our production tester: our rig, our data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11480" y="3611880"/>
            <a:ext cx="8321040" cy="0"/>
          </a:xfrm>
          <a:prstGeom prst="line">
            <a:avLst/>
          </a:prstGeom>
          <a:noFill/>
          <a:ln w="9525">
            <a:solidFill>
              <a:srgbClr val="E8EEF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11480" y="373075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CF8F4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MONTH 0–2</a:t>
            </a:r>
            <a:endParaRPr lang="en-US" sz="800" dirty="0"/>
          </a:p>
        </p:txBody>
      </p:sp>
      <p:sp>
        <p:nvSpPr>
          <p:cNvPr id="18" name="Text 16"/>
          <p:cNvSpPr txBox="1"/>
          <p:nvPr/>
        </p:nvSpPr>
        <p:spPr>
          <a:xfrm>
            <a:off x="411480" y="395020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design freeze, 12 RFQs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386584" y="3611880"/>
            <a:ext cx="0" cy="822960"/>
          </a:xfrm>
          <a:prstGeom prst="line">
            <a:avLst/>
          </a:prstGeom>
          <a:noFill/>
          <a:ln w="9525">
            <a:solidFill>
              <a:srgbClr val="1F2A3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496312" y="373075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CF8F4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MONTH 3–5</a:t>
            </a:r>
            <a:endParaRPr lang="en-US" sz="800" dirty="0"/>
          </a:p>
        </p:txBody>
      </p:sp>
      <p:sp>
        <p:nvSpPr>
          <p:cNvPr id="21" name="Text 19"/>
          <p:cNvSpPr txBox="1"/>
          <p:nvPr/>
        </p:nvSpPr>
        <p:spPr>
          <a:xfrm>
            <a:off x="2496312" y="395020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EVT + DVT pilots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471416" y="3611880"/>
            <a:ext cx="0" cy="822960"/>
          </a:xfrm>
          <a:prstGeom prst="line">
            <a:avLst/>
          </a:prstGeom>
          <a:noFill/>
          <a:ln w="9525">
            <a:solidFill>
              <a:srgbClr val="1F2A3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81144" y="373075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4ACF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MONTH 6–9</a:t>
            </a:r>
            <a:endParaRPr lang="en-US" sz="800" dirty="0"/>
          </a:p>
        </p:txBody>
      </p:sp>
      <p:sp>
        <p:nvSpPr>
          <p:cNvPr id="24" name="Text 22"/>
          <p:cNvSpPr txBox="1"/>
          <p:nvPr/>
        </p:nvSpPr>
        <p:spPr>
          <a:xfrm>
            <a:off x="4581144" y="395020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PVT: 100 Mixers, 20 Bakers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556248" y="3611880"/>
            <a:ext cx="0" cy="822960"/>
          </a:xfrm>
          <a:prstGeom prst="line">
            <a:avLst/>
          </a:prstGeom>
          <a:noFill/>
          <a:ln w="9525">
            <a:solidFill>
              <a:srgbClr val="1F2A3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665976" y="373075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4ACF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MONTH 10–12</a:t>
            </a:r>
            <a:endParaRPr lang="en-US" sz="800" dirty="0"/>
          </a:p>
        </p:txBody>
      </p:sp>
      <p:sp>
        <p:nvSpPr>
          <p:cNvPr id="27" name="Text 25"/>
          <p:cNvSpPr txBox="1"/>
          <p:nvPr/>
        </p:nvSpPr>
        <p:spPr>
          <a:xfrm>
            <a:off x="6665976" y="395020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first container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411480" y="4681728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6E7A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From the China assembly line master plan. Pilot batches are sellable (≈₹95L at list). Months counted from the round.</a:t>
            </a:r>
            <a:endParaRPr lang="en-US" sz="6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E12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lo/src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475488"/>
            <a:ext cx="1965960" cy="34198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11480" y="278892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Thank you.</a:t>
            </a:r>
            <a:endParaRPr lang="en-US" sz="4600" dirty="0"/>
          </a:p>
        </p:txBody>
      </p:sp>
      <p:sp>
        <p:nvSpPr>
          <p:cNvPr id="4" name="Text 1"/>
          <p:cNvSpPr txBox="1"/>
          <p:nvPr/>
        </p:nvSpPr>
        <p:spPr>
          <a:xfrm>
            <a:off x="411480" y="35661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Come and try the loop.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411480" y="40690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F8F4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protopus-kappa.vercel.app</a:t>
            </a:r>
            <a:endParaRPr lang="en-US" sz="950" dirty="0"/>
          </a:p>
        </p:txBody>
      </p:sp>
      <p:sp>
        <p:nvSpPr>
          <p:cNvPr id="6" name="Text 3"/>
          <p:cNvSpPr txBox="1"/>
          <p:nvPr/>
        </p:nvSpPr>
        <p:spPr>
          <a:xfrm>
            <a:off x="411480" y="431596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4ACF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soham9763015@ece.du.ac.in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5029200" y="411480"/>
            <a:ext cx="0" cy="4480560"/>
          </a:xfrm>
          <a:prstGeom prst="line">
            <a:avLst/>
          </a:prstGeom>
          <a:noFill/>
          <a:ln w="9525">
            <a:solidFill>
              <a:srgbClr val="1F2A3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40680" y="429768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CF8F4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MANAGEMENT TEAM &amp; CORE SKILLS</a:t>
            </a:r>
            <a:endParaRPr lang="en-US" sz="850" dirty="0"/>
          </a:p>
        </p:txBody>
      </p:sp>
      <p:sp>
        <p:nvSpPr>
          <p:cNvPr id="9" name="Text 6"/>
          <p:cNvSpPr txBox="1"/>
          <p:nvPr/>
        </p:nvSpPr>
        <p:spPr>
          <a:xfrm>
            <a:off x="5440680" y="68580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Who is building this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440680" y="118872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Soham</a:t>
            </a:r>
            <a:endParaRPr lang="en-US" sz="3000" dirty="0"/>
          </a:p>
        </p:txBody>
      </p:sp>
      <p:sp>
        <p:nvSpPr>
          <p:cNvPr id="11" name="Text 8"/>
          <p:cNvSpPr txBox="1"/>
          <p:nvPr/>
        </p:nvSpPr>
        <p:spPr>
          <a:xfrm>
            <a:off x="5440680" y="1755648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F8F4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Founder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5440680" y="20116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Third year ECE, Faculty of Technology, University of Delhi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5440680" y="2560320"/>
            <a:ext cx="1572768" cy="0"/>
          </a:xfrm>
          <a:prstGeom prst="line">
            <a:avLst/>
          </a:prstGeom>
          <a:noFill/>
          <a:ln w="11430">
            <a:solidFill>
              <a:srgbClr val="CF8F4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40680" y="262432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Industrial design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7141464" y="2560320"/>
            <a:ext cx="1572768" cy="0"/>
          </a:xfrm>
          <a:prstGeom prst="line">
            <a:avLst/>
          </a:prstGeom>
          <a:noFill/>
          <a:ln w="11430">
            <a:solidFill>
              <a:srgbClr val="CF8F4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141464" y="262432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Mechanical architecture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5440680" y="3063240"/>
            <a:ext cx="1572768" cy="0"/>
          </a:xfrm>
          <a:prstGeom prst="line">
            <a:avLst/>
          </a:prstGeom>
          <a:noFill/>
          <a:ln w="11430">
            <a:solidFill>
              <a:srgbClr val="54ACF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440680" y="312724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Embedded electronics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7141464" y="3063240"/>
            <a:ext cx="1572768" cy="0"/>
          </a:xfrm>
          <a:prstGeom prst="line">
            <a:avLst/>
          </a:prstGeom>
          <a:noFill/>
          <a:ln w="11430">
            <a:solidFill>
              <a:srgbClr val="CF8F4E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141464" y="312724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Machine software</a:t>
            </a:r>
            <a:endParaRPr lang="en-US" sz="850" dirty="0"/>
          </a:p>
        </p:txBody>
      </p:sp>
      <p:sp>
        <p:nvSpPr>
          <p:cNvPr id="21" name="Text 18"/>
          <p:cNvSpPr txBox="1"/>
          <p:nvPr/>
        </p:nvSpPr>
        <p:spPr>
          <a:xfrm>
            <a:off x="5440680" y="41605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E7A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HIRING NEXT · </a:t>
            </a:r>
            <a:pPr indent="0" marL="0">
              <a:buNone/>
            </a:pPr>
            <a:r>
              <a:rPr lang="en-US" sz="75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a software engineer who also writes firmware.</a:t>
            </a:r>
            <a:endParaRPr lang="en-US" sz="750" dirty="0"/>
          </a:p>
        </p:txBody>
      </p:sp>
      <p:pic>
        <p:nvPicPr>
          <p:cNvPr id="22" name="Image 1" descr="/home/user/lo/src/mascot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480" y="3840480"/>
            <a:ext cx="1463040" cy="89054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PROTOPUS pitch deck</dc:title>
  <dc:subject>PptxGenJS Presentation</dc:subject>
  <dc:creator>PROTOPUS</dc:creator>
  <cp:lastModifiedBy>PROTOPUS</cp:lastModifiedBy>
  <cp:revision>1</cp:revision>
  <dcterms:created xsi:type="dcterms:W3CDTF">2026-09-30T13:56:09Z</dcterms:created>
  <dcterms:modified xsi:type="dcterms:W3CDTF">2026-09-30T13:56:09Z</dcterms:modified>
</cp:coreProperties>
</file>