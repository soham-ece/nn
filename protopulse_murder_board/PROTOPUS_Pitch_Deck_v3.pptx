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(min)</c:v>
                </c:pt>
              </c:strCache>
            </c:strRef>
          </c:tx>
          <c:spPr>
            <a:solidFill>
              <a:srgbClr val="424A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550" u="none">
                    <a:solidFill>
                      <a:srgbClr val="A3B3BE"/>
                    </a:solidFill>
                    <a:latin typeface="Space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Load + probe</c:v>
                  </c:pt>
                  <c:pt idx="1">
                    <c:v>Mill</c:v>
                  </c:pt>
                  <c:pt idx="2">
                    <c:v>Drill</c:v>
                  </c:pt>
                  <c:pt idx="3">
                    <c:v>Clean</c:v>
                  </c:pt>
                  <c:pt idx="4">
                    <c:v>Mask coat</c:v>
                  </c:pt>
                  <c:pt idx="5">
                    <c:v>UV image</c:v>
                  </c:pt>
                  <c:pt idx="6">
                    <c:v>Develop + dry</c:v>
                  </c:pt>
                  <c:pt idx="7">
                    <c:v>Flood cure</c:v>
                  </c:pt>
                  <c:pt idx="8">
                    <c:v>Laser stencil</c:v>
                  </c:pt>
                  <c:pt idx="9">
                    <c:v>Paste + release</c:v>
                  </c:pt>
                  <c:pt idx="10">
                    <c:v>Place (you)</c:v>
                  </c:pt>
                  <c:pt idx="11">
                    <c:v>Reflow + cool</c:v>
                  </c:pt>
                  <c:pt idx="12">
                    <c:v>Test on Mixer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25</c:v>
                </c:pt>
                <c:pt idx="2">
                  <c:v>5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5</c:v>
                </c:pt>
                <c:pt idx="8">
                  <c:v>5</c:v>
                </c:pt>
                <c:pt idx="9">
                  <c:v>3</c:v>
                </c:pt>
                <c:pt idx="10">
                  <c:v>7</c:v>
                </c:pt>
                <c:pt idx="11">
                  <c:v>10</c:v>
                </c:pt>
                <c:pt idx="1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(min)</c:v>
                </c:pt>
              </c:strCache>
            </c:strRef>
          </c:tx>
          <c:spPr>
            <a:solidFill>
              <a:srgbClr val="CF8F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550" u="none">
                    <a:solidFill>
                      <a:srgbClr val="A3B3BE"/>
                    </a:solidFill>
                    <a:latin typeface="Space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Load + probe</c:v>
                  </c:pt>
                  <c:pt idx="1">
                    <c:v>Mill</c:v>
                  </c:pt>
                  <c:pt idx="2">
                    <c:v>Drill</c:v>
                  </c:pt>
                  <c:pt idx="3">
                    <c:v>Clean</c:v>
                  </c:pt>
                  <c:pt idx="4">
                    <c:v>Mask coat</c:v>
                  </c:pt>
                  <c:pt idx="5">
                    <c:v>UV image</c:v>
                  </c:pt>
                  <c:pt idx="6">
                    <c:v>Develop + dry</c:v>
                  </c:pt>
                  <c:pt idx="7">
                    <c:v>Flood cure</c:v>
                  </c:pt>
                  <c:pt idx="8">
                    <c:v>Laser stencil</c:v>
                  </c:pt>
                  <c:pt idx="9">
                    <c:v>Paste + release</c:v>
                  </c:pt>
                  <c:pt idx="10">
                    <c:v>Place (you)</c:v>
                  </c:pt>
                  <c:pt idx="11">
                    <c:v>Reflow + cool</c:v>
                  </c:pt>
                  <c:pt idx="12">
                    <c:v>Test on Mixer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5</c:v>
                </c:pt>
                <c:pt idx="1">
                  <c:v>45</c:v>
                </c:pt>
                <c:pt idx="2">
                  <c:v>10</c:v>
                </c:pt>
                <c:pt idx="3">
                  <c:v>2</c:v>
                </c:pt>
                <c:pt idx="4">
                  <c:v>5</c:v>
                </c:pt>
                <c:pt idx="5">
                  <c:v>4</c:v>
                </c:pt>
                <c:pt idx="6">
                  <c:v>6</c:v>
                </c:pt>
                <c:pt idx="7">
                  <c:v>10</c:v>
                </c:pt>
                <c:pt idx="8">
                  <c:v>10</c:v>
                </c:pt>
                <c:pt idx="9">
                  <c:v>3</c:v>
                </c:pt>
                <c:pt idx="10">
                  <c:v>14</c:v>
                </c:pt>
                <c:pt idx="11">
                  <c:v>12</c:v>
                </c:pt>
                <c:pt idx="1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550" u="none">
                  <a:solidFill>
                    <a:srgbClr val="A3B3BE"/>
                  </a:solidFill>
                  <a:latin typeface="Space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2A32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A3B3BE"/>
                </a:solidFill>
                <a:latin typeface="Space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F2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1F2A32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6E7A83"/>
                </a:solidFill>
                <a:latin typeface="Space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50">
              <a:solidFill>
                <a:srgbClr val="A3B3BE"/>
              </a:solidFill>
              <a:latin typeface="Space Mono"/>
              <a:cs typeface="Space Mon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 now leads the line: the AI engineer is the company; Baker and Mixer are the machines it works through (Prateek, round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wording changes from round 1: not 'a small electronics factory' (we are for prototypes), and placement is honest: you drop parts into a printed jig. Baker's own cycle is about two hours, so morning → evening 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part is proven: about $100M has gone into AI that produces hardware files. All of it stops at the file. Protopus builds the machines and accessories that let a model make, measure and 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 first. Baker now reads 'guided placement', not 'pick and place': the operator drops parts into a printed jig, which is what the prototype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AI actually works. The language model understands, plans and explains. Precise work (DRC maths, toolpaths, G-code, pass/fail limits) is done by deterministic engines Proto calls as tools. A person approves before anything physical happens. Every run feeds a memory that no files-only AI can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concrete run, from import to PASS. Proto calls tools; it doesn't improvise G-code. The diagnosis is where the language model shines: it links a missing I²C ACK to a lifted pull-up resistor and says what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'is the AI safe near a spindle and a Class 4 laser?' and 'what is real today?'. V0 is running in Baker Studio; V1 is what the ₹16 lakh 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machine on one slide, from the workflow story. The shuttle never lifts or re-registers the board between cutting, masking and stencilling: that is the process 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Replaces 'send the design at night, pick it up in the morning' (Prateek: too aggressive). You load boards and place parts; we say so and give the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 PLACE became ASSEMBLE: we also place parts by hand, into a jig, so the old knock on Voltera no longer holds. Added Carvera, Neoden, Flux and Bantam's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Prateek: don't pitch a desktop PCB mill, and 'will it scale to 1,000 / 10,000 / 1 lakh boards?'. Answer: it's a prototyping cell for iterations 1–10; volume goes to a fab.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Prateek's 'say X lakh, does it cancel my cost?'. At ₹3.34 lakh the pair pays back after ~53 boards against JLCPCB: about 6.6 months for a startup iterating twice a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o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"/>
            <a:ext cx="1965960" cy="34198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572768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Focus on</a:t>
            </a:r>
            <a:endParaRPr lang="en-US" sz="4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200" b="1" u="wavy" dirty="0">
                <a:solidFill>
                  <a:srgbClr val="E8EEF2"/>
                </a:solidFill>
                <a:uFill>
                  <a:solidFill>
                    <a:srgbClr val="54ACF0"/>
                  </a:solidFill>
                </a:u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innovation</a:t>
            </a:r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.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281635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9FB0B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 take care of the rest.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, our AI engineer, plans every step.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makes the board.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tests it.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44348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protopus-kappa.vercel.app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· EXECUTIVE SUMMARY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prototyping lab and a full test bench,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 one desk, run by an AI engineer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764792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965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MORNING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2402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describe it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63347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reads the design, checks it and points at what will bite later.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86584" y="1764792"/>
            <a:ext cx="0" cy="178308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96312" y="1965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MIDDAY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496312" y="22402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 builds it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496312" y="263347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Milled, masked, stencilled and pasted. You drop parts into a printed jig; Baker reflows.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71416" y="1764792"/>
            <a:ext cx="0" cy="178308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1144" y="1965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AFTERNOON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81144" y="22402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Mixer tests it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263347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cable, eight instruments, and a verdict Proto writes in plain words.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56248" y="1764792"/>
            <a:ext cx="0" cy="178308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65976" y="1965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EVENING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665976" y="22402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try again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665976" y="263347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next attempt starts the same evening, not two weeks from now.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93192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4114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WHAT MAKES</a:t>
            </a:r>
            <a:endParaRPr lang="en-US" sz="850" dirty="0"/>
          </a:p>
          <a:p>
            <a:pPr indent="0" marL="0">
              <a:buNone/>
            </a:pPr>
            <a:r>
              <a:rPr lang="en-US" sz="850" spc="2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IT OURS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06908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Making and testing on one desk, with Proto guiding every step instead of a hundred buttons.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4617720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Built for prototypes: the first 1–10 boards of a design. Volume goes to a fab, with files that already worked.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· PROBLEM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prototype is a loop,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every lap costs weeks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1993392"/>
            <a:ext cx="2240280" cy="2240280"/>
          </a:xfrm>
          <a:prstGeom prst="ellipse">
            <a:avLst/>
          </a:prstGeom>
          <a:solidFill>
            <a:srgbClr val="0E1216"/>
          </a:solidFill>
          <a:ln w="11430">
            <a:solidFill>
              <a:srgbClr val="424A5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54480" y="1856232"/>
            <a:ext cx="603504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18562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design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24328" y="2395728"/>
            <a:ext cx="54864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24328" y="2395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order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42032" y="3090672"/>
            <a:ext cx="1051560" cy="274320"/>
          </a:xfrm>
          <a:prstGeom prst="rect">
            <a:avLst/>
          </a:prstGeom>
          <a:solidFill>
            <a:srgbClr val="CF8F4E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42032" y="30906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wait 2 weeks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34440" y="4096512"/>
            <a:ext cx="123444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4096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solder by hand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" y="3584448"/>
            <a:ext cx="475488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" y="35844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624328"/>
            <a:ext cx="868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26243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bug found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7614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AND AGAIN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2990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×3, ×4, ×5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17830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8928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weeks waiting for a board to come back from a fabrication house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03320" y="2551176"/>
            <a:ext cx="50292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03320" y="26060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27157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instruments to buy before you can even measure 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03320" y="3374136"/>
            <a:ext cx="50292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03320" y="34290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5387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vendor apps and driver stacks to learn and keep alive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4480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 my department a board ordered in week one gets measured in week four. </a:t>
            </a:r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Nobody is short of ideas. They are short of tries.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4407408"/>
            <a:ext cx="4069080" cy="566928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73168" y="440740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WHY NOW · </a:t>
            </a:r>
            <a:pPr indent="0" marL="0">
              <a:buNone/>
            </a:pPr>
            <a:r>
              <a:rPr lang="en-US" sz="85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compute is cheap enough for machines to carry the fidelity. People should carry the innovation.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· WHY NOW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can already build the software.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Hardware is where it gets stuck.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269748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8928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SOFTWARE HAS A CLOSED LOOP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$100M ARR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633472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Lovable, 8 months after launch, selling to people who can't code. The model writes the code, runs it, reads the error and fixes it.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56032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8928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AI ALREADY DRAWS HARDWARE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1488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Flux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3134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$49M raised · 1M+ users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4871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Quilter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65176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$40M raised · AI layout</a:t>
            </a:r>
            <a:endParaRPr lang="en-US" sz="72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8254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Diode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29900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$11.4M Series A · a16z</a:t>
            </a:r>
            <a:endParaRPr lang="en-US" sz="72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16382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Claude ↔ Fusion, Blender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3284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official connectors, 2026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217920" y="1783080"/>
            <a:ext cx="251460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8928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…AND STOPS AT THE FILE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1488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 model can make the board, power it, or see whether it works. The loop breaks at the bench, and a person carries it for two weeks.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703320"/>
            <a:ext cx="100584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3703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17320" y="3858768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600200" y="3703320"/>
            <a:ext cx="100584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00200" y="3703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06040" y="3858768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788920" y="3703320"/>
            <a:ext cx="100584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88920" y="3703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94760" y="3858768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977640" y="3703320"/>
            <a:ext cx="100584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77640" y="3703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3858768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166360" y="3703320"/>
            <a:ext cx="100584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66360" y="3703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verdict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97480" y="3566160"/>
            <a:ext cx="0" cy="658368"/>
          </a:xfrm>
          <a:prstGeom prst="line">
            <a:avLst/>
          </a:prstGeom>
          <a:noFill/>
          <a:ln w="15875">
            <a:solidFill>
              <a:srgbClr val="CF8F4E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411480" y="40965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AI works here today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2788920" y="4096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protopus gives the AI hands and eyes here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446520" y="3611880"/>
            <a:ext cx="2286000" cy="731520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37960" y="361188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Smart machines + smart accessories = the AI's access to the real world.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11480" y="4736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TechCrunch 23 Jul 2025 · SiliconANGLE 27 Feb 2026 · BusinessWire 7 Oct 2025 · Fenwick · claude.com/connectors · digitalproduction.com 30 Apr 2026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· WHO WE UNLOCK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rung of hardware knowledge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loses people. Proto removes rungs.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7373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RUNG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7373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USED TO NEED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7373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WHO CARRIES IT NOW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576072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965960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96596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idea → spec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196596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What exactly should it do?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196596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asks, then writes it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304288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30428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230428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Datasheets, stock, footprints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230428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picks in-stock parts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1480" y="2624328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2642616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264261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schematic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264261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Circuit theory, references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264261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Flux + Proto check it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1480" y="2962656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" y="2980944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298094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layout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298094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 EDA tool, DRC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298094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fixes it (Baker Studio)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1480" y="3300984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" y="3319272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331927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fabrication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103120" y="331927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Vendors, customs, 7–20 days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343400" y="331927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Baker, same day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11480" y="3639312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1480" y="3657600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365760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assembly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2103120" y="365760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SMD soldering, stencil, reflow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4343400" y="365760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+ printed jig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11480" y="3977640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11480" y="3995928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49808" y="399592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bring-up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2103120" y="399592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Scope, logic analyser, firmware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4343400" y="399592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 measures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11480" y="4315968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" y="4334256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749808" y="433425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debug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2103120" y="433425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Root cause, next revision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4343400" y="433425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explains the fix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11480" y="4654296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46520" y="1737360"/>
            <a:ext cx="2286000" cy="3017520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46520" y="1737360"/>
            <a:ext cx="228600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601968" y="1874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HOW PEOPLE LEARN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6601968" y="2103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By doing: try, look, adjust (Kolb's cycle). The speed of feedback sets the speed of learning.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6601968" y="2926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weeks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6601968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 try: beginners quit, experts batch changes</a:t>
            </a:r>
            <a:endParaRPr lang="en-US" sz="720" dirty="0"/>
          </a:p>
        </p:txBody>
      </p:sp>
      <p:sp>
        <p:nvSpPr>
          <p:cNvPr id="54" name="Text 52"/>
          <p:cNvSpPr txBox="1"/>
          <p:nvPr/>
        </p:nvSpPr>
        <p:spPr>
          <a:xfrm>
            <a:off x="6601968" y="36576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evening</a:t>
            </a: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6601968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 try: a student gets many more attempts in one semester</a:t>
            </a:r>
            <a:endParaRPr lang="en-US" sz="720" dirty="0"/>
          </a:p>
        </p:txBody>
      </p:sp>
      <p:sp>
        <p:nvSpPr>
          <p:cNvPr id="56" name="Text 54"/>
          <p:cNvSpPr txBox="1"/>
          <p:nvPr/>
        </p:nvSpPr>
        <p:spPr>
          <a:xfrm>
            <a:off x="411480" y="46817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Every rung we take away brings in a new crowd: students, designers, domain experts. Lovable showed what happens when the coding rung disappears.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· SOLUTION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AI engineer, and the two smart machines it runs</a:t>
            </a:r>
            <a:endParaRPr lang="en-US" sz="2300" dirty="0"/>
          </a:p>
        </p:txBody>
      </p:sp>
      <p:pic>
        <p:nvPicPr>
          <p:cNvPr id="4" name="Image 0" descr="/home/user/lo/src/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613" y="1234440"/>
            <a:ext cx="1979493" cy="1207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496312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" y="2633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0723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platypus AI engineer inside both machines.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34930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Reads the design · plans the job · flags mistakes · explains results</a:t>
            </a:r>
            <a:endParaRPr lang="en-US" sz="780" dirty="0"/>
          </a:p>
        </p:txBody>
      </p:sp>
      <p:pic>
        <p:nvPicPr>
          <p:cNvPr id="9" name="Image 1" descr="/home/user/lo/src/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436" y="1234440"/>
            <a:ext cx="1709704" cy="12070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64408" y="2496312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264408" y="2633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3264408" y="30723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Makes the board, ready for parts.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3264408" y="34930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Mill · drill · mask · laser stencil · paste · guided placement · reflow</a:t>
            </a:r>
            <a:endParaRPr lang="en-US" sz="780" dirty="0"/>
          </a:p>
        </p:txBody>
      </p:sp>
      <p:pic>
        <p:nvPicPr>
          <p:cNvPr id="14" name="Image 2" descr="/home/user/lo/src/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430" y="1234440"/>
            <a:ext cx="1623573" cy="120700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117336" y="2496312"/>
            <a:ext cx="265176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117336" y="2633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mixer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117336" y="30723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Tests the board in real life.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6117336" y="34930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Eight instruments behind one cable</a:t>
            </a:r>
            <a:endParaRPr lang="en-US" sz="780" dirty="0"/>
          </a:p>
        </p:txBody>
      </p:sp>
      <p:sp>
        <p:nvSpPr>
          <p:cNvPr id="19" name="Shape 14"/>
          <p:cNvSpPr/>
          <p:nvPr/>
        </p:nvSpPr>
        <p:spPr>
          <a:xfrm>
            <a:off x="411480" y="397764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11480" y="41330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VISION · </a:t>
            </a:r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bridge between idea and innovation for anyone who wants to bring theirs to the world.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3657600" y="4096512"/>
            <a:ext cx="2395728" cy="640080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767328" y="4306824"/>
            <a:ext cx="603504" cy="21945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767328" y="430682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DEMO 1</a:t>
            </a:r>
            <a:endParaRPr lang="en-US" sz="750" dirty="0"/>
          </a:p>
        </p:txBody>
      </p:sp>
      <p:sp>
        <p:nvSpPr>
          <p:cNvPr id="24" name="Text 19"/>
          <p:cNvSpPr txBox="1"/>
          <p:nvPr/>
        </p:nvSpPr>
        <p:spPr>
          <a:xfrm>
            <a:off x="4462272" y="414223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Website walk-through · protopus-kappa.vercel.app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6217920" y="4096512"/>
            <a:ext cx="2395728" cy="640080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27648" y="4306824"/>
            <a:ext cx="603504" cy="21945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327648" y="430682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DEMO 2</a:t>
            </a:r>
            <a:endParaRPr lang="en-US" sz="750" dirty="0"/>
          </a:p>
        </p:txBody>
      </p:sp>
      <p:sp>
        <p:nvSpPr>
          <p:cNvPr id="28" name="Text 23"/>
          <p:cNvSpPr txBox="1"/>
          <p:nvPr/>
        </p:nvSpPr>
        <p:spPr>
          <a:xfrm>
            <a:off x="7022592" y="414223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Video · raw Baker prototype running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· WHAT MAKES IT OURS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Proto: an AI engineer that understands your board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3200400" cy="1929384"/>
          </a:xfrm>
          <a:prstGeom prst="rect">
            <a:avLst/>
          </a:prstGeom>
          <a:solidFill>
            <a:srgbClr val="0E1216"/>
          </a:solidFill>
          <a:ln w="15875">
            <a:solidFill>
              <a:srgbClr val="F2C230"/>
            </a:solidFill>
            <a:prstDash val="solid"/>
          </a:ln>
        </p:spPr>
      </p:sp>
      <p:pic>
        <p:nvPicPr>
          <p:cNvPr id="5" name="Image 0" descr="/home/user/lo/src/stu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98448"/>
            <a:ext cx="3163824" cy="18928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" y="32918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PROTOPUS   </a:t>
            </a:r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Studio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502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has already found the thin trace, fixed it and planned the mill. You press Accept.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886200" y="1243584"/>
            <a:ext cx="48463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86200" y="1280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315968" y="12801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READS THE BOARD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4315968" y="1463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Understands schematics and layouts. Pulls designs in through the Flux.ai API.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886200" y="1883664"/>
            <a:ext cx="48463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86200" y="1920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315968" y="192024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MAKES IT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315968" y="21031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Generates the Gerbers and the Baker job: mill, drill, mask, stencil, placement.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886200" y="2523744"/>
            <a:ext cx="48463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86200" y="2560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315968" y="25603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DIAGNOSES IT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4315968" y="27432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Tests through Mixer, understands the waveforms and says in plain words what is wrong.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886200" y="3163824"/>
            <a:ext cx="48463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86200" y="3200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315968" y="32004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HAS A CHARACTER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4315968" y="3383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platypus engineer with a personality developed through Gemini.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11480" y="3977640"/>
            <a:ext cx="8321040" cy="548640"/>
          </a:xfrm>
          <a:prstGeom prst="rect">
            <a:avLst/>
          </a:prstGeom>
          <a:solidFill>
            <a:srgbClr val="121A21"/>
          </a:solidFill>
          <a:ln w="12700">
            <a:solidFill>
              <a:srgbClr val="121A2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4142232"/>
            <a:ext cx="1005840" cy="21945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1422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COMING NEXT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1691640" y="40233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Probe matrix accessory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691640" y="42245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grid of probes under the board gives Proto full access to every net on the PCB: it can measure anything, not just what you clip.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411480" y="4645152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Simple enough that a </a:t>
            </a:r>
            <a:pPr indent="0" marL="0">
              <a:buNone/>
            </a:pPr>
            <a:r>
              <a:rPr lang="en-US" sz="14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high-school student</a:t>
            </a:r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can print a board.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· PROTO · HOW THE AI WORKS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 is a loop, not a chatbot: understand,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plan, check, make, measure, explain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1234440" cy="2148840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856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GIVE IT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03120"/>
            <a:ext cx="1115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 idea in words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450592"/>
            <a:ext cx="1115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sketch or photo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798064"/>
            <a:ext cx="1115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Flux / KiCad files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45536"/>
            <a:ext cx="1115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Gerber set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493008"/>
            <a:ext cx="1115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“why is this hot?”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645920" y="2852928"/>
            <a:ext cx="201168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901952" y="1783080"/>
            <a:ext cx="1572768" cy="932688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93392" y="1847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UNDERSTAND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1993392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Parses netlist, footprints, stack-up into a board model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3474720" y="2249424"/>
            <a:ext cx="146304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21024" y="1783080"/>
            <a:ext cx="1572768" cy="932688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12464" y="1847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PLAN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3712464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LLM planner turns the goal into steps; asks when unsure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5193792" y="2249424"/>
            <a:ext cx="146304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40096" y="1783080"/>
            <a:ext cx="1572768" cy="932688"/>
          </a:xfrm>
          <a:prstGeom prst="rect">
            <a:avLst/>
          </a:prstGeom>
          <a:solidFill>
            <a:srgbClr val="0E1216"/>
          </a:solidFill>
          <a:ln w="9525">
            <a:solidFill>
              <a:srgbClr val="8FB3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31536" y="1847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FB3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CHECK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431536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DRC + Baker rules: trace, clearance, aperture, drill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912864" y="2249424"/>
            <a:ext cx="146304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59168" y="1783080"/>
            <a:ext cx="1572768" cy="932688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50608" y="1847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7150608" y="2057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CAM engine: toolpaths, mask image, stencil, jig → Baker job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7845552" y="2715768"/>
            <a:ext cx="0" cy="27432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621024" y="2999232"/>
            <a:ext cx="1572768" cy="932688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12464" y="30632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EXPLAIN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3712464" y="32735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Compares measured vs expected; writes the verdict and the fix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5340096" y="2999232"/>
            <a:ext cx="1572768" cy="932688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31536" y="30632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MEASURE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431536" y="32735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 runs the test plan: rails, currents, waveforms, buses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7059168" y="2999232"/>
            <a:ext cx="1572768" cy="932688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50608" y="30632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APPROVE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7150608" y="327355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press Accept. Nothing is cut, lasered or powered before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7059168" y="3465576"/>
            <a:ext cx="-146304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340096" y="3465576"/>
            <a:ext cx="-146304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407408" y="2999232"/>
            <a:ext cx="0" cy="-274320"/>
          </a:xfrm>
          <a:prstGeom prst="line">
            <a:avLst/>
          </a:prstGeom>
          <a:noFill/>
          <a:ln w="11430">
            <a:solidFill>
              <a:srgbClr val="F2C230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4462272" y="2761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next attempt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901952" y="2999232"/>
            <a:ext cx="1572768" cy="932688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993392" y="30632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GET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1993392" y="3273552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tested board and a sentence: what passed, what failed, where to look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3621024" y="3465576"/>
            <a:ext cx="-146304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11480" y="4114800"/>
            <a:ext cx="8321040" cy="457200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30352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MEMORY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1463040" y="411480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Every run is logged: design → process settings → measurements → outcome. The next board, and every other Baker, learns from it. No files-only AI tool can collect this data: it is the moat.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411480" y="46817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Model-agnostic: the character runs on Gemini today; the planner calls any frontier model through an API. Machine control stays local and works offline.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· PROTO · ONE RUN, STEP BY STEP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happens between “import” and “PASS”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5989320" cy="3401568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0759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studio — sensor-hat-rev-c.brd · 62.0 × 40.5 mm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11480" y="1517904"/>
            <a:ext cx="59893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10:02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60020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import sensor-hat-rev-c from Flux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847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10:02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847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184708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DRC 0/0. Baker rules: one trace under the MCU necks to 5.8 mil.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0939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10:03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0939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</a:t>
            </a:r>
            <a:endParaRPr lang="en-US" sz="72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209397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widened it to 7 mil and kept clearance. Board still fits.  [Accept]</a:t>
            </a:r>
            <a:endParaRPr lang="en-US" sz="72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3408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10:03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34086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</a:t>
            </a:r>
            <a:endParaRPr lang="en-US" sz="72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2340864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job: isolation mill, 0.4 mm V, 2 passes · drill 42 holes · mask · stencil · jig</a:t>
            </a:r>
            <a:endParaRPr lang="en-US" sz="72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587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10:04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25877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</a:t>
            </a:r>
            <a:endParaRPr lang="en-US" sz="72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258775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steps 01–12 running · placement jig printing in parallel</a:t>
            </a:r>
            <a:endParaRPr lang="en-US" sz="72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834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11:40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28346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</a:t>
            </a:r>
            <a:endParaRPr lang="en-US" sz="72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283464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drop parts into the jig pockets · vacuum pen</a:t>
            </a:r>
            <a:endParaRPr lang="en-US" sz="72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081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11:52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3081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</a:t>
            </a:r>
            <a:endParaRPr lang="en-US" sz="72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308152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reflow, Sn42Bi58 low-temperature profile</a:t>
            </a:r>
            <a:endParaRPr lang="en-US" sz="72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3284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12:05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" y="33284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endParaRPr lang="en-US" sz="720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332841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T2 power up: current limit set · idle current in range  ✓</a:t>
            </a:r>
            <a:endParaRPr lang="en-US" sz="72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5753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12:06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" y="35753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endParaRPr lang="en-US" sz="720" dirty="0"/>
          </a:p>
        </p:txBody>
      </p:sp>
      <p:sp>
        <p:nvSpPr>
          <p:cNvPr id="33" name="Text 31"/>
          <p:cNvSpPr txBox="1"/>
          <p:nvPr/>
        </p:nvSpPr>
        <p:spPr>
          <a:xfrm>
            <a:off x="1554480" y="3575304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T3 rails: 3V3 within limit  ✓</a:t>
            </a:r>
            <a:endParaRPr lang="en-US" sz="72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822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12:07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38221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endParaRPr lang="en-US" sz="720" dirty="0"/>
          </a:p>
        </p:txBody>
      </p:sp>
      <p:sp>
        <p:nvSpPr>
          <p:cNvPr id="36" name="Text 34"/>
          <p:cNvSpPr txBox="1"/>
          <p:nvPr/>
        </p:nvSpPr>
        <p:spPr>
          <a:xfrm>
            <a:off x="1554480" y="382219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T6 I²C scan: no ACK from the sensor  ✗</a:t>
            </a:r>
            <a:endParaRPr lang="en-US" sz="72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069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12:08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1024128" y="40690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</a:t>
            </a:r>
            <a:endParaRPr lang="en-US" sz="720" dirty="0"/>
          </a:p>
        </p:txBody>
      </p:sp>
      <p:sp>
        <p:nvSpPr>
          <p:cNvPr id="39" name="Text 37"/>
          <p:cNvSpPr txBox="1"/>
          <p:nvPr/>
        </p:nvSpPr>
        <p:spPr>
          <a:xfrm>
            <a:off x="1554480" y="406908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“SDA has no pull-up. R4 is lifted on one pad. Reheat R4 and retest.”</a:t>
            </a:r>
            <a:endParaRPr lang="en-US" sz="72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4315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12:15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43159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endParaRPr lang="en-US" sz="720" dirty="0"/>
          </a:p>
        </p:txBody>
      </p:sp>
      <p:sp>
        <p:nvSpPr>
          <p:cNvPr id="42" name="Text 40"/>
          <p:cNvSpPr txBox="1"/>
          <p:nvPr/>
        </p:nvSpPr>
        <p:spPr>
          <a:xfrm>
            <a:off x="1554480" y="4315968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retest: sensor ACKs, reading plausible  ✓  PASS</a:t>
            </a:r>
            <a:endParaRPr lang="en-US" sz="720" dirty="0"/>
          </a:p>
        </p:txBody>
      </p:sp>
      <p:sp>
        <p:nvSpPr>
          <p:cNvPr id="43" name="Text 41"/>
          <p:cNvSpPr txBox="1"/>
          <p:nvPr/>
        </p:nvSpPr>
        <p:spPr>
          <a:xfrm>
            <a:off x="662940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WHAT PROTO CALLED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6629400" y="15087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Flux.ai API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6629400" y="16916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design in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629400" y="1883664"/>
            <a:ext cx="2103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29400" y="19110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DRC + Baker rules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629400" y="209397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found 5.8 mil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629400" y="2286000"/>
            <a:ext cx="2103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629400" y="23134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CAM engine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6629400" y="249631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toolpaths, mask, stencil, jig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629400" y="2688336"/>
            <a:ext cx="2103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29400" y="27157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Klipper / Moonraker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6629400" y="28986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ran Baker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29400" y="3090672"/>
            <a:ext cx="2103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629400" y="31181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Test-plan builder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6629400" y="33009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from the netlist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629400" y="3493008"/>
            <a:ext cx="2103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629400" y="3520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Mixer driver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6629400" y="37033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supplies, DMM, logic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629400" y="3895344"/>
            <a:ext cx="2103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629400" y="39227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Language model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6629400" y="41056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plain-words verdict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629400" y="4297680"/>
            <a:ext cx="2103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11480" y="4736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Illustrative run on the board shown in Baker Studio. Times are the engineering targets (≈2 h Baker cycle, ≈15–20 min hands-on); the proof of concept measures them.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· PROTO · GUARDRAILS AND ROADMAP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the AI is, and where it isn't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371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MODEL DOES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understands what you want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9110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reads the design and datasheets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1579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plans the job and asks questions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404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drafts the test plan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2651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explains results and proposes the fix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28986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has a character (Gemini)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46120" y="1261872"/>
            <a:ext cx="2651760" cy="36576"/>
          </a:xfrm>
          <a:prstGeom prst="rect">
            <a:avLst/>
          </a:prstGeom>
          <a:solidFill>
            <a:srgbClr val="8FB3C9"/>
          </a:solidFill>
          <a:ln w="12700">
            <a:solidFill>
              <a:srgbClr val="8FB3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46120" y="1371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FB3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ENGINES DO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DRC maths and Baker process rules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19110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toolpaths, G-code, mask and stencil images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21579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jig geometry and placement map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2404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test limits and pass/fail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2651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current limits on every supply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28986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interlocks: door, E-stop, laser cut-off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80760" y="1261872"/>
            <a:ext cx="2651760" cy="36576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80760" y="1371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DO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describe the idea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080760" y="19110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press Accept before anything physical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080760" y="21579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drop parts into the jig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080760" y="2404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decide on the fix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26517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own the design and the IP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32004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model never drives a motor directly. It proposes; tested engines compute; you approve; the machine executes.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566160"/>
            <a:ext cx="832104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520440"/>
            <a:ext cx="91440" cy="91440"/>
          </a:xfrm>
          <a:prstGeom prst="ellipse">
            <a:avLst/>
          </a:prstGeom>
          <a:solidFill>
            <a:srgbClr val="CF8F4E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" y="370332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V0 · TODAY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391363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Studio: DRC fix + mill planning, with Proto inside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96312" y="3520440"/>
            <a:ext cx="91440" cy="91440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496312" y="370332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V1 · PROOF OF CONCEPT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2496312" y="391363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Full Baker job + Mixer test plan + plain-words verdict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377440" y="3703320"/>
            <a:ext cx="0" cy="82296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81144" y="3520440"/>
            <a:ext cx="91440" cy="91440"/>
          </a:xfrm>
          <a:prstGeom prst="ellipse">
            <a:avLst/>
          </a:prstGeom>
          <a:solidFill>
            <a:srgbClr val="54ACF0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81144" y="370332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V2 · AFTER SEED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4581144" y="391363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 → design via Flux/KiCad; enclosures via Fusion/Blender; 3D printer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462272" y="3703320"/>
            <a:ext cx="0" cy="82296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65976" y="3520440"/>
            <a:ext cx="91440" cy="91440"/>
          </a:xfrm>
          <a:prstGeom prst="ellipse">
            <a:avLst/>
          </a:prstGeom>
          <a:solidFill>
            <a:srgbClr val="60A05A"/>
          </a:solidFill>
          <a:ln w="9525">
            <a:solidFill>
              <a:srgbClr val="60A05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65976" y="370332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0A05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V3 · FLEET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6665976" y="391363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Learns from every Baker's run data; probe matrix sees every net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547104" y="3703320"/>
            <a:ext cx="0" cy="82296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· BAKER · AT A GLANCE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Fifteen steps on one shuttle, in one box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5669280" cy="3017520"/>
          </a:xfrm>
          <a:prstGeom prst="rect">
            <a:avLst/>
          </a:prstGeom>
          <a:solidFill>
            <a:srgbClr val="0E1216"/>
          </a:solidFill>
          <a:ln w="11430">
            <a:solidFill>
              <a:srgbClr val="424A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31673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ENCLOSURE · T-slot frame · acrylic · 450 nm laser-safe window · door interlocks · E-stop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1463040" y="1572768"/>
            <a:ext cx="3566160" cy="237744"/>
          </a:xfrm>
          <a:prstGeom prst="rect">
            <a:avLst/>
          </a:prstGeom>
          <a:solidFill>
            <a:srgbClr val="0E1216"/>
          </a:solidFill>
          <a:ln w="9525">
            <a:solidFill>
              <a:srgbClr val="8FB3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1572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B3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Kapton stencil film roll · 4 electromagnet clamp · solenoid cut-off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05840" y="1938528"/>
            <a:ext cx="2148840" cy="1371600"/>
          </a:xfrm>
          <a:prstGeom prst="rect">
            <a:avLst/>
          </a:prstGeom>
          <a:solidFill>
            <a:srgbClr val="0E1216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19842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ZONE A · cross axis + Z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1945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Spindle 500 W ER11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touch probe · V-bit · drills</a:t>
            </a:r>
            <a:endParaRPr lang="en-US" sz="680" dirty="0"/>
          </a:p>
          <a:p>
            <a:pPr indent="0" marL="0">
              <a:buNone/>
            </a:pP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Laser 10 W 445 nm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fixed offset · air assist</a:t>
            </a:r>
            <a:endParaRPr lang="en-US" sz="680" dirty="0"/>
          </a:p>
          <a:p>
            <a:pPr indent="0" marL="0">
              <a:buNone/>
            </a:pP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vacuum dust extraction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3337560" y="1938528"/>
            <a:ext cx="2148840" cy="1371600"/>
          </a:xfrm>
          <a:prstGeom prst="rect">
            <a:avLst/>
          </a:prstGeom>
          <a:solidFill>
            <a:srgbClr val="0E1216"/>
          </a:solidFill>
          <a:ln w="12700">
            <a:solidFill>
              <a:srgbClr val="8FB3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9842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8FB3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ZONE B · cross axis + Z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945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Mask: syringe LPSM</a:t>
            </a:r>
            <a:endParaRPr lang="en-US" sz="680" dirty="0"/>
          </a:p>
          <a:p>
            <a:pPr indent="0" marL="0">
              <a:buNone/>
            </a:pP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UV: 10.1" 12K LCD, 405 nm</a:t>
            </a:r>
            <a:endParaRPr lang="en-US" sz="680" dirty="0"/>
          </a:p>
          <a:p>
            <a:pPr indent="0" marL="0">
              <a:buNone/>
            </a:pP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Wipe: Na₂CO₃ + air knife</a:t>
            </a:r>
            <a:endParaRPr lang="en-US" sz="680" dirty="0"/>
          </a:p>
          <a:p>
            <a:pPr indent="0" marL="0">
              <a:buNone/>
            </a:pP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paste squeegee rides here too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530352" y="1938528"/>
            <a:ext cx="365760" cy="137160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" y="1938528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FR4</a:t>
            </a:r>
            <a:endParaRPr lang="en-US" sz="63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mag</a:t>
            </a:r>
            <a:endParaRPr lang="en-US" sz="630" dirty="0"/>
          </a:p>
          <a:p>
            <a:pPr algn="ctr" indent="0" marL="0">
              <a:buNone/>
            </a:pPr>
            <a:r>
              <a:rPr lang="en-US" sz="63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azine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530352" y="3520440"/>
            <a:ext cx="5440680" cy="31089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352044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⟷  SHUTTLE = long X axis · ball screw + NEMA23 · FR4 on 2 registration pins · runs under both zones</a:t>
            </a:r>
            <a:endParaRPr lang="en-US" sz="680" dirty="0"/>
          </a:p>
        </p:txBody>
      </p:sp>
      <p:sp>
        <p:nvSpPr>
          <p:cNvPr id="18" name="Text 16"/>
          <p:cNvSpPr txBox="1"/>
          <p:nvPr/>
        </p:nvSpPr>
        <p:spPr>
          <a:xfrm>
            <a:off x="530352" y="3931920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steps 01–12 happen in one coordinate frame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6309360" y="1261872"/>
            <a:ext cx="1143000" cy="1417320"/>
          </a:xfrm>
          <a:prstGeom prst="rect">
            <a:avLst/>
          </a:prstGeom>
          <a:solidFill>
            <a:srgbClr val="0E1216"/>
          </a:solidFill>
          <a:ln w="9525">
            <a:solidFill>
              <a:srgbClr val="6E7A8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13167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PLACE + REFLOW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517904"/>
            <a:ext cx="1078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steps 13–14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printed jig on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same pins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vacuum pen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300 W hotplate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Sn42Bi58, 138 °C</a:t>
            </a:r>
            <a:endParaRPr lang="en-US" sz="630" dirty="0"/>
          </a:p>
        </p:txBody>
      </p:sp>
      <p:sp>
        <p:nvSpPr>
          <p:cNvPr id="22" name="Shape 20"/>
          <p:cNvSpPr/>
          <p:nvPr/>
        </p:nvSpPr>
        <p:spPr>
          <a:xfrm>
            <a:off x="7589520" y="1261872"/>
            <a:ext cx="1143000" cy="141732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35240" y="13167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1517904"/>
            <a:ext cx="1078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15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cable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 instruments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reads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results</a:t>
            </a:r>
            <a:endParaRPr lang="en-US" sz="630" dirty="0"/>
          </a:p>
        </p:txBody>
      </p:sp>
      <p:sp>
        <p:nvSpPr>
          <p:cNvPr id="25" name="Shape 23"/>
          <p:cNvSpPr/>
          <p:nvPr/>
        </p:nvSpPr>
        <p:spPr>
          <a:xfrm>
            <a:off x="7452360" y="1965960"/>
            <a:ext cx="13716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80760" y="1965960"/>
            <a:ext cx="22860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309360" y="2834640"/>
            <a:ext cx="2423160" cy="50292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resin printer, in parallel: prints the TR300 jig during steps 01–12</a:t>
            </a:r>
            <a:endParaRPr lang="en-US" sz="680" dirty="0"/>
          </a:p>
        </p:txBody>
      </p:sp>
      <p:sp>
        <p:nvSpPr>
          <p:cNvPr id="29" name="Text 27"/>
          <p:cNvSpPr txBox="1"/>
          <p:nvPr/>
        </p:nvSpPr>
        <p:spPr>
          <a:xfrm>
            <a:off x="411480" y="43708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" y="4700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steps, blank FR4 → tested board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2496312" y="43708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2496312" y="4700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shuttle, one coordinate frame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4581144" y="43708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100×160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4581144" y="4700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mm board in the workflow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6665976" y="43708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665976" y="4700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instruments on Mixer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 · BAKER · THE STORY OF ONE BOARD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a plain sheet to a board ready for Mixer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2651760" cy="36576"/>
          </a:xfrm>
          <a:prstGeom prst="rect">
            <a:avLst/>
          </a:prstGeom>
          <a:solidFill>
            <a:srgbClr val="6E7A83"/>
          </a:solidFill>
          <a:ln w="12700">
            <a:solidFill>
              <a:srgbClr val="6E7A8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3533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STEPS 01 · 05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5361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starts as a plain sheet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792224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FR4 drops from the magazine onto two registration pins. One coordinate frame from here to placement.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52374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cast · FR4 blanks · dowel pins · ball-screw shuttle + NEMA23</a:t>
            </a:r>
            <a:endParaRPr lang="en-US" sz="630" dirty="0"/>
          </a:p>
        </p:txBody>
      </p:sp>
      <p:sp>
        <p:nvSpPr>
          <p:cNvPr id="9" name="Shape 7"/>
          <p:cNvSpPr/>
          <p:nvPr/>
        </p:nvSpPr>
        <p:spPr>
          <a:xfrm>
            <a:off x="3246120" y="1261872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3533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STEPS 02–04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15361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Zone A reads the board, then cuts it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1792224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touch probe maps height on a grid, so the 0.1 mm V-bit cuts the same few microns everywhere. Same spindle drills; vacuum pulls the dust.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52374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cast · pogo probe · 500 W ER11 · 20° V-bits · 0.3–1.2 mm drills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6080760" y="1261872"/>
            <a:ext cx="2651760" cy="36576"/>
          </a:xfrm>
          <a:prstGeom prst="rect">
            <a:avLst/>
          </a:prstGeom>
          <a:solidFill>
            <a:srgbClr val="8FB3C9"/>
          </a:solidFill>
          <a:ln w="12700">
            <a:solidFill>
              <a:srgbClr val="8FB3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13533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FB3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STEPS 06–09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15361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Zone B finishes the copper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1792224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Liquid mask, a 10.1" LCD cures all but the pads, a dilute Na₂CO₃ wipe lifts the pads clean, air knife, flood cure. No tank, no bath.</a:t>
            </a:r>
            <a:endParaRPr lang="en-US" sz="72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252374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cast · syringe LPSM · 12K mono LCD · 405 nm UV · peristaltic pump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>
            <a:off x="411480" y="2999232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30906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STEPS 10–12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" y="327355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stencil fits this exact board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" y="3529584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laser cuts pad openings in film above the board, from the same Gerber in the same frame. Magnets clamp, squeegee pastes, film is cut away.</a:t>
            </a:r>
            <a:endParaRPr lang="en-US" sz="720" dirty="0"/>
          </a:p>
        </p:txBody>
      </p:sp>
      <p:sp>
        <p:nvSpPr>
          <p:cNvPr id="23" name="Text 21"/>
          <p:cNvSpPr txBox="1"/>
          <p:nvPr/>
        </p:nvSpPr>
        <p:spPr>
          <a:xfrm>
            <a:off x="411480" y="426110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cast · 10 W 445 nm laser · Kapton roll · 4 × 8 kg magnets · 25 N solenoid</a:t>
            </a:r>
            <a:endParaRPr lang="en-US" sz="630" dirty="0"/>
          </a:p>
        </p:txBody>
      </p:sp>
      <p:sp>
        <p:nvSpPr>
          <p:cNvPr id="24" name="Shape 22"/>
          <p:cNvSpPr/>
          <p:nvPr/>
        </p:nvSpPr>
        <p:spPr>
          <a:xfrm>
            <a:off x="3246120" y="2999232"/>
            <a:ext cx="2651760" cy="36576"/>
          </a:xfrm>
          <a:prstGeom prst="rect">
            <a:avLst/>
          </a:prstGeom>
          <a:solidFill>
            <a:srgbClr val="6E7A83"/>
          </a:solidFill>
          <a:ln w="12700">
            <a:solidFill>
              <a:srgbClr val="6E7A8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46120" y="30906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STEPS 13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327355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jig does the aiming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246120" y="3529584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While 01–12 ran, the resin printer made a jig with one pocket per part. You drop each part in with the foot-pedal vacuum pen.</a:t>
            </a:r>
            <a:endParaRPr lang="en-US" sz="720" dirty="0"/>
          </a:p>
        </p:txBody>
      </p:sp>
      <p:sp>
        <p:nvSpPr>
          <p:cNvPr id="28" name="Text 26"/>
          <p:cNvSpPr txBox="1"/>
          <p:nvPr/>
        </p:nvSpPr>
        <p:spPr>
          <a:xfrm>
            <a:off x="3246120" y="426110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cast · TR300 resin (160 °C) · vacuum pump + NC valve · foot pedal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6080760" y="2999232"/>
            <a:ext cx="265176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80760" y="30906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STEPS 14 → 15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6080760" y="327355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Reflow at low temperature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080760" y="3529584"/>
            <a:ext cx="2633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jig lifts off; the hotplate runs a Sn42Bi58 profile (138 °C), below the resin's limit, with less warp. Then Mixer tests it.</a:t>
            </a:r>
            <a:endParaRPr lang="en-US" sz="720" dirty="0"/>
          </a:p>
        </p:txBody>
      </p:sp>
      <p:sp>
        <p:nvSpPr>
          <p:cNvPr id="33" name="Text 31"/>
          <p:cNvSpPr txBox="1"/>
          <p:nvPr/>
        </p:nvSpPr>
        <p:spPr>
          <a:xfrm>
            <a:off x="6080760" y="426110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cast · 300 W silicone pad · SSR-25DA · MAX31855 + K-type</a:t>
            </a:r>
            <a:endParaRPr lang="en-US" sz="630" dirty="0"/>
          </a:p>
        </p:txBody>
      </p:sp>
      <p:sp>
        <p:nvSpPr>
          <p:cNvPr id="34" name="Text 32"/>
          <p:cNvSpPr txBox="1"/>
          <p:nvPr/>
        </p:nvSpPr>
        <p:spPr>
          <a:xfrm>
            <a:off x="411480" y="4773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Source: PROTOPUS Baker + Mixer workflow, “The story of a PCB” (29 Sep 2026).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 · BAKER · TECH STACK, PROTOTYPE → PRODUCTION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story, cheaper parts: ₹3,73,418 → ₹1,44,842</a:t>
            </a:r>
            <a:endParaRPr lang="en-US" sz="2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8321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06040"/>
                <a:gridCol w="2606040"/>
                <a:gridCol w="19202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FUNCTION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PROTOTYPE (INDIA, 1 UNIT)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PRODUCTION (CHINA PARTS, 100)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WHY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Axes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Finished ball-screw linear stages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SFU1605 ball screws + HGR15 rails built in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≈₹5,500 per axis vs ₹16,500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Z axes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100 mm SFU1605 stage + NEMA17 ×2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T8 screw + linear guide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Spindle/laser Z and dispense Z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Control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Raspberry Pi 5 + BTT Octopus Pro + DM556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BTT Manta M8P V2 + CB1 (8 × TMC2209)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One board, 8 drivers, ≈₹10,800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Power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24 V + 48 V + 12 V supplies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One LRS-350-24 rail (spindle keeps its own)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Fewer supplies, simpler wiring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Spindle + laser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500 W ER11 kit · 10 W 445 nm diode (retail)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Volume-sourced; quotes at 100 units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Where the turnkey case is won or lost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Mask + UV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Syringe LPSM · 10.1" 12K LCD · ChiTu L K1 · 405 nm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Same engine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The LCD also prints jigs in production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Placement jig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Separate Saturn 3 Ultra + wash/cure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Small resin vat + lift under Baker's own UV screen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Removes the printer (to test)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Frame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T-slot extrusion + acrylic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Sheet-metal frame + acrylic panels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Repeatable fabrication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Firmware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Klipper + Moonraker + Proto job runner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Locked factory image; activation stays with us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IP by architecture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Unit cost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₹3,73,418 (incl. 35% duty/courier, 15% contingency)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F8F4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₹1,44,842 (incl. duty, freight, Delhi assembly)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Deck target ₹1,50,000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11480" y="4736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Sources: PROTOPUS Cost Report (29 Sep 2026, 81 of 96 lines from live listings, USD at ₹88) · workflow story, chapter 6.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13 · MIXER · AT A GLANCE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Eight instruments, one cable, one brain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123444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2801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 × scope in · BNC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" y="1682496"/>
            <a:ext cx="123444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68249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wavegen out · 2-ch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411480" y="2084832"/>
            <a:ext cx="123444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20848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16 logic lines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11480" y="2487168"/>
            <a:ext cx="123444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248716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DMM leads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11480" y="2889504"/>
            <a:ext cx="123444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8895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 × supply out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828800" y="1280160"/>
            <a:ext cx="1554480" cy="713232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1280160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analog front end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AD8066 FET buffers · relay ranges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1828800" y="2084832"/>
            <a:ext cx="155448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74520" y="208483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level shifters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74LVC245 ×2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1828800" y="2487168"/>
            <a:ext cx="155448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74520" y="248716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24-bit multimeter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ADS1256 + REF5025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1828800" y="2889504"/>
            <a:ext cx="155448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874520" y="288950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 programmable supplies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MCP4728 → XL6009 ×2 · INA226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3566160" y="1280160"/>
            <a:ext cx="118872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84448" y="128016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ADC ×2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AD9226 12-bit 65 MS/s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566160" y="1682496"/>
            <a:ext cx="1188720" cy="310896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84448" y="1682496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DAC 2-ch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AN9767 14-bit 125 MS/s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4937760" y="1280160"/>
            <a:ext cx="1188720" cy="1115568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83480" y="1280160"/>
            <a:ext cx="11155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FPGA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Tang Primer 20K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capture + trigger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waveform synthesis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pattern gen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logic sampling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4937760" y="2560320"/>
            <a:ext cx="1188720" cy="658368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83480" y="2560320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HOST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Raspberry Pi 5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runs Proto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1645920" y="1636776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645920" y="2240280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645920" y="2642616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645920" y="3044952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383280" y="1435608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383280" y="1837944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754880" y="1645920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383280" y="2642616"/>
            <a:ext cx="1554480" cy="9144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532120" y="2395728"/>
            <a:ext cx="0" cy="164592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11480" y="3401568"/>
            <a:ext cx="5715000" cy="347472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02920" y="34015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→ Proto compares every reading with what the design expects and writes the verdict in plain words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280160"/>
          <a:ext cx="23774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344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INSTRUMENT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PROTOTYPE SPEC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Oscilloscope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2 ch · 12-bit · 65 MS/s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Waveform generator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2 ch · 14-bit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Logic analyser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16 ch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Pattern generator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digital stimulus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Protocol decoder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I²C · SPI · serial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Supply 1 + 2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set-point + current readback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Multimeter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24-bit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" name="Text 39"/>
          <p:cNvSpPr txBox="1"/>
          <p:nvPr/>
        </p:nvSpPr>
        <p:spPr>
          <a:xfrm>
            <a:off x="411480" y="3931920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Analog Discovery 3 class. The prototype keeps 12/14-bit converters so the front end can be tuned first.</a:t>
            </a:r>
            <a:endParaRPr lang="en-US" sz="750" dirty="0"/>
          </a:p>
        </p:txBody>
      </p:sp>
      <p:sp>
        <p:nvSpPr>
          <p:cNvPr id="43" name="Text 40"/>
          <p:cNvSpPr txBox="1"/>
          <p:nvPr/>
        </p:nvSpPr>
        <p:spPr>
          <a:xfrm>
            <a:off x="635508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Status: architecture and BOM defined (₹74,847 prototype); first build in the proof of concept.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11480" y="46634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Source: workflow story, chapter 4 (signal path drawn from the Mixer BOM).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14 · MIXER · HOW A TEST RUNS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T1 to T8, in the order a careful engineer would work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1938528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3533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6733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cable; probes on the test points the design calls for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2496312" y="1261872"/>
            <a:ext cx="1938528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96312" y="13533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1371600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Power up safely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496312" y="16733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Supplies set; INA226 watches current, so a bridge is a spike, not a burnt part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4581144" y="1261872"/>
            <a:ext cx="1938528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1144" y="13533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992624" y="1371600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the rails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16733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24-bit meter reads each rail and reference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665976" y="1261872"/>
            <a:ext cx="1938528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65976" y="13533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77456" y="1371600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Drive the inputs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665976" y="16733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Generator + pattern generator push known signals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411480" y="2286000"/>
            <a:ext cx="1938528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23774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2395728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Watch the outputs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" y="2697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Scope for analog, 16-ch logic for digital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496312" y="2286000"/>
            <a:ext cx="1938528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96312" y="23774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907792" y="2395728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the buses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496312" y="2697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Decoder turns captures into I²C/SPI/serial traffic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581144" y="2286000"/>
            <a:ext cx="1938528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81144" y="23774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992624" y="2395728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Verdict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81144" y="2697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writes what passed, what failed, where to look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6665976" y="2286000"/>
            <a:ext cx="1938528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65976" y="23774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077456" y="2395728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Loop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665976" y="2697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fix goes into the design; next board the same evening</a:t>
            </a:r>
            <a:endParaRPr lang="en-US" sz="72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401568"/>
          <a:ext cx="58978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783080"/>
                <a:gridCol w="2240280"/>
                <a:gridCol w="8686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FUNCTION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PROTOTYPE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PRODUCTION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WHY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Capture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AD9226 12-bit 65 MS/s ×2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AD9288 dual 8-bit 80 MS/s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cost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Generation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AN9767 dual 14-bit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DAC908 8-bit 165 MS/s ×2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cost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FPGA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Tang Primer 20K Dock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Tang Nano 9K (GW1NR-9 + 64 Mb PSRAM)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smaller, cheaper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Host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Pi 5 + 7" screen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FT232HL USB 2.0 HS, no screen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one USB cable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Unit cost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₹74,847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54ACF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₹13,740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target ₹15,000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6492240" y="3401568"/>
            <a:ext cx="2240280" cy="1316736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92240" y="3401568"/>
            <a:ext cx="224028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601968" y="35112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ALSO OUR PRODUCTION TESTER</a:t>
            </a:r>
            <a:endParaRPr lang="en-US" sz="680" dirty="0"/>
          </a:p>
        </p:txBody>
      </p:sp>
      <p:sp>
        <p:nvSpPr>
          <p:cNvPr id="40" name="Text 37"/>
          <p:cNvSpPr txBox="1"/>
          <p:nvPr/>
        </p:nvSpPr>
        <p:spPr>
          <a:xfrm>
            <a:off x="6601968" y="3730752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golden Mixer + our test app tests every Mixer, and every Baker module, on the China line. The factory runs it; we own the limits, software and data.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15 · TIME PER LOOP, TOLD HONESTLY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About two hours on Baker; 15–20 minutes of it yours</a:t>
            </a:r>
            <a:endParaRPr lang="en-US" sz="2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18872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09160" y="1261872"/>
            <a:ext cx="192024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09160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81–141 min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709160" y="17007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 board, end to end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766560" y="1261872"/>
            <a:ext cx="192024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15–20 min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17007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hands-on: load, place, hook up</a:t>
            </a:r>
            <a:endParaRPr lang="en-US" sz="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1031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USUAL LOOP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BAKER + MIXER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Fabrication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outside fab, shipped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steps 01–12, on the bench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Stencil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ordered, aligned by hand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cut in place, same frame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Placement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tweezers or a service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printed jig + vacuum pen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Test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scope, supply, DMM, LA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Mixer: one cable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Diagnosis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engineer reads raw traces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Proto, in plain words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Next attempt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about two weeks later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2C230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the same evening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709160" y="4160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Engineering targets for a 100 × 160 mm board with ~40 parts; the jig prints in parallel. 3–5 boards per 8-hour shift. The proof of concept measures the real numbers.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16 · A NEW CATEGORY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Between the DIY bench and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industrial manufacturing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206240" y="1737360"/>
            <a:ext cx="2240280" cy="2816352"/>
          </a:xfrm>
          <a:prstGeom prst="rect">
            <a:avLst/>
          </a:prstGeom>
          <a:solidFill>
            <a:srgbClr val="1A1D12"/>
          </a:solidFill>
          <a:ln w="15875">
            <a:solidFill>
              <a:srgbClr val="F2C2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1737360"/>
            <a:ext cx="2240280" cy="566928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2024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DIY bench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029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breadboards, hand etching, borrowed scopes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315968" y="18013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40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protopus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15968" y="20574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+ baker + mixer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industrial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029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fab house, assembly house, bench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2377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TIME PER LOOP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2377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1–3 days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2377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Same day (≈2 h on Baker)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377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1–3 weeks + customs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798064"/>
            <a:ext cx="37947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798064"/>
            <a:ext cx="22860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2807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EXPERTISE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2807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seasoned engineer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315968" y="28072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guides you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28072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Expert to design and test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3227832"/>
            <a:ext cx="37947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3227832"/>
            <a:ext cx="22860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32369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ASSEMBLED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1920240" y="32369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By hand, if you can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315968" y="323697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pastes + reflows; you drop parts into a jig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32369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Yes, at extra cost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3657600"/>
            <a:ext cx="37947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3657600"/>
            <a:ext cx="22860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" y="36667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TESTED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1920240" y="36667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Only if you own a bench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315968" y="366674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Yes, by Mixer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3666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Separate ₹ lakhs of instruments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4087368"/>
            <a:ext cx="37947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4087368"/>
            <a:ext cx="22860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1480" y="40965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BEST FOR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40965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one-off hacks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315968" y="409651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first 1–10 boards of a design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6537960" y="40965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100+ identical boards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11480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DIY bench needs an expert. The factory needs time and money. </a:t>
            </a:r>
            <a:pPr indent="0" marL="0">
              <a:buNone/>
            </a:pPr>
            <a:r>
              <a:rPr lang="en-US" sz="115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Most ideas have neither.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17 · COMPETITION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Others solve one step.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Nobody closes the whole loop.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70078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PRODUCT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7007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PRICE · ₹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257800" y="17007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7007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ASSEMBLE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17007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7007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GUIDE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832104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Voltera V-One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~3.1 lakh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18988" y="2057400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2057400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2068" y="2057400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2057400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249424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2258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LPKF ProtoMat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2258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8.6–24.5 lakh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18988" y="2350008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528" y="2350008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2068" y="2350008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47888" y="2350008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542032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25511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Makera Carvera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25511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~5.1 lakh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18988" y="2642616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0528" y="264261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2068" y="264261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888" y="264261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83464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" y="2843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Bantam Tools mill · discontinued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3246120" y="2843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~3.1 lakh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18988" y="2935224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10528" y="2935224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02068" y="2935224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7888" y="2935224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127248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11480" y="3136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Neoden YY1 pick-and-place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3246120" y="3136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&lt;2.6 lakh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18988" y="3227832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10528" y="3227832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02068" y="3227832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47888" y="3227832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419856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1148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Digilent Analog Discovery 3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324612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~33,000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18988" y="3520440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10528" y="3520440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02068" y="3520440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47888" y="3520440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1480" y="3712464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11480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JLCPCB, PCBWay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3246120" y="3721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 order, weeks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618988" y="3813048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10528" y="3813048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02068" y="3813048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47888" y="3813048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1480" y="4005072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11480" y="4014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Flux (AI design)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3246120" y="4014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1.3–4.3k / month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618988" y="410565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10528" y="410565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02068" y="410565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47888" y="4105656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1480" y="429768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1480" y="4352544"/>
            <a:ext cx="8321040" cy="347472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21208" y="43525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40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protopus proto + baker + mixer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3246120" y="4352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0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3.34 lakh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618988" y="4475988"/>
            <a:ext cx="100584" cy="100584"/>
          </a:xfrm>
          <a:prstGeom prst="ellipse">
            <a:avLst/>
          </a:prstGeom>
          <a:solidFill>
            <a:srgbClr val="1A1405"/>
          </a:solidFill>
          <a:ln w="9525">
            <a:solidFill>
              <a:srgbClr val="1A140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510528" y="4475988"/>
            <a:ext cx="100584" cy="100584"/>
          </a:xfrm>
          <a:prstGeom prst="ellipse">
            <a:avLst/>
          </a:prstGeom>
          <a:solidFill>
            <a:srgbClr val="1A1405"/>
          </a:solidFill>
          <a:ln w="9525">
            <a:solidFill>
              <a:srgbClr val="1A140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402068" y="4475988"/>
            <a:ext cx="100584" cy="100584"/>
          </a:xfrm>
          <a:prstGeom prst="ellipse">
            <a:avLst/>
          </a:prstGeom>
          <a:solidFill>
            <a:srgbClr val="1A1405"/>
          </a:solidFill>
          <a:ln w="9525">
            <a:solidFill>
              <a:srgbClr val="1A140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247888" y="4475988"/>
            <a:ext cx="100584" cy="100584"/>
          </a:xfrm>
          <a:prstGeom prst="ellipse">
            <a:avLst/>
          </a:prstGeom>
          <a:solidFill>
            <a:srgbClr val="1A1405"/>
          </a:solidFill>
          <a:ln w="9525">
            <a:solidFill>
              <a:srgbClr val="1A1405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11480" y="476402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List prices at ₹88 per US$, before import duty. ASSEMBLE = paste + reflow or placement. Bantam Tools has stopped selling its PCB mill. Flux guides design and stops at the file.</a:t>
            </a:r>
            <a:endParaRPr lang="en-US" sz="650" dirty="0"/>
          </a:p>
        </p:txBody>
      </p:sp>
      <p:sp>
        <p:nvSpPr>
          <p:cNvPr id="75" name="Text 73"/>
          <p:cNvSpPr txBox="1"/>
          <p:nvPr/>
        </p:nvSpPr>
        <p:spPr>
          <a:xfrm>
            <a:off x="6035040" y="476402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voltera.io · Design World · Makera · ToolGuyd · EEVblog · Digilent · flux.ai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18 · BUILT FOR PROTOTYPES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 a desktop mill, not a factory.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a fab wins, we say so.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7190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BOARDS A YEAR → RIGHT TOOL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420624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965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93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8541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same-day loops beat fab minimums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11480" y="2423160"/>
            <a:ext cx="42062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4414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4688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6609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machine covers a busy lab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411480" y="2898648"/>
            <a:ext cx="42062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291693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1,000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443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bakers + a fab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136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any batch of 10+ identical boards → fab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411480" y="3374136"/>
            <a:ext cx="42062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339242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10,000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41985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fab / EMS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6118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production; Proto exports checked files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11480" y="3849624"/>
            <a:ext cx="42062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38679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1,00,000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9534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fab / EMS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0873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not what Baker is for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11480" y="4325112"/>
            <a:ext cx="42062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4434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Baker: 3–5 boards per shift, 750–1,250 a year. We scale by the number of labs, not boards per machine.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892040" y="1719072"/>
            <a:ext cx="3840480" cy="3063240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1719072"/>
            <a:ext cx="384048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9200" y="1828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DESKTOP PCB MACHINES: A ROUGH HISTORY</a:t>
            </a:r>
            <a:endParaRPr lang="en-US" sz="72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Othermill → Bantam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2103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PCB mill dropped; now sells art machines</a:t>
            </a:r>
            <a:endParaRPr lang="en-US" sz="680" dirty="0"/>
          </a:p>
        </p:txBody>
      </p:sp>
      <p:sp>
        <p:nvSpPr>
          <p:cNvPr id="32" name="Text 30"/>
          <p:cNvSpPr txBox="1"/>
          <p:nvPr/>
        </p:nvSpPr>
        <p:spPr>
          <a:xfrm>
            <a:off x="5029200" y="2432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Voltera V-One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24323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out of stock; moved up to NOVA ($45,974)</a:t>
            </a:r>
            <a:endParaRPr lang="en-US" sz="68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2761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BotFactory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27614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Squink $3,199–4,499; SV2 now on request</a:t>
            </a:r>
            <a:endParaRPr lang="en-US" sz="680" dirty="0"/>
          </a:p>
        </p:txBody>
      </p:sp>
      <p:sp>
        <p:nvSpPr>
          <p:cNvPr id="36" name="Text 34"/>
          <p:cNvSpPr txBox="1"/>
          <p:nvPr/>
        </p:nvSpPr>
        <p:spPr>
          <a:xfrm>
            <a:off x="5029200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Nano Dimension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30906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sold its electronics unit, Apr 2026, $2M cash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5029200" y="3456432"/>
            <a:ext cx="35661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29200" y="35295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WHY, AND OUR ANSWER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0" y="37490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step automated → </a:t>
            </a:r>
            <a:pPr indent="0" marL="0">
              <a:lnSpc>
                <a:spcPct val="125000"/>
              </a:lnSpc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whole loop, mill to verdict</a:t>
            </a:r>
            <a:endParaRPr lang="en-US" sz="7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fought $2 boards on price → </a:t>
            </a:r>
            <a:pPr indent="0" marL="0">
              <a:lnSpc>
                <a:spcPct val="125000"/>
              </a:lnSpc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 sell hours per loop</a:t>
            </a:r>
            <a:endParaRPr lang="en-US" sz="7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tool for experts → </a:t>
            </a:r>
            <a:pPr indent="0" marL="0">
              <a:lnSpc>
                <a:spcPct val="125000"/>
              </a:lnSpc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 outcome for non-experts</a:t>
            </a:r>
            <a:endParaRPr lang="en-US" sz="7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 software → </a:t>
            </a:r>
            <a:pPr indent="0" marL="0">
              <a:lnSpc>
                <a:spcPct val="125000"/>
              </a:lnSpc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+ run data are the moat</a:t>
            </a:r>
            <a:endParaRPr lang="en-US" sz="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19 · BUSINESS MODEL · PROJECTED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aim for: sell the machines, and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Proto plan runs all of them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627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PROJECTED PER UNIT · ₹</a:t>
            </a:r>
            <a:endParaRPr lang="en-US" sz="72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162763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16276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411480" y="1819656"/>
            <a:ext cx="402336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8470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Hardware (target)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8470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1,50,000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18470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15,000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2034540"/>
            <a:ext cx="40233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2039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Assembly and QC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03911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12,000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0391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2,000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2226564"/>
            <a:ext cx="40233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2311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Packing and shipping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223113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8,000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22311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1,000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2418588"/>
            <a:ext cx="40233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2423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Warranty reserve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24231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7,500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703320" y="24231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750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2610612"/>
            <a:ext cx="40233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26151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Software share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261518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10,000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3703320" y="2615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2,000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802636"/>
            <a:ext cx="40233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" y="28072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Sales and support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2697480" y="280720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12,500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3703320" y="28072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1,750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2994660"/>
            <a:ext cx="402336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" y="3017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Projected total cost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2697480" y="30175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2,00,000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3703320" y="30175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22,500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3255264"/>
            <a:ext cx="4023360" cy="274320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2920" y="3255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12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 selling price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697480" y="32552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12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2,99,000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703320" y="32552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12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34,999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35661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Projected margin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2697480" y="35661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~33%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3703320" y="35661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~36%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411480" y="38039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Costed model: Baker ₹1,44,842, Mixer ₹13,740 incl. assembly.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663440" y="1627632"/>
            <a:ext cx="4069080" cy="1024128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791456" y="17007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PLANNED · ONE PROTO PLAN · EVERY MACHINE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4791456" y="1892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40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₹9,999</a:t>
            </a:r>
            <a:pPr indent="0" marL="0">
              <a:buNone/>
            </a:pPr>
            <a:r>
              <a:rPr lang="en-US" sz="90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/ year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4791456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subscription per workspace: Baker Studio, Mixer Station, Proto and every update.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663440" y="2743200"/>
            <a:ext cx="406908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663440" y="2816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Consumables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4663440" y="30358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Board blanks, mask, paste, film, jig resin and end mills: ≈₹334 of material per board, reordered as labs keep building.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663440" y="3456432"/>
            <a:ext cx="406908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663440" y="35295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Industrial variants, later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4663440" y="37490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Bigger beds, multilayer and production test come after the base machines.</a:t>
            </a:r>
            <a:endParaRPr lang="en-US" sz="720" dirty="0"/>
          </a:p>
        </p:txBody>
      </p:sp>
      <p:sp>
        <p:nvSpPr>
          <p:cNvPr id="53" name="Text 51"/>
          <p:cNvSpPr txBox="1"/>
          <p:nvPr/>
        </p:nvSpPr>
        <p:spPr>
          <a:xfrm>
            <a:off x="411480" y="40690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ROADMAP TO THESE NUMBERS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11480" y="4279392"/>
            <a:ext cx="1965960" cy="27432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11480" y="4352544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NOW</a:t>
            </a:r>
            <a:endParaRPr lang="en-US" sz="650" dirty="0"/>
          </a:p>
        </p:txBody>
      </p:sp>
      <p:sp>
        <p:nvSpPr>
          <p:cNvPr id="56" name="Text 54"/>
          <p:cNvSpPr txBox="1"/>
          <p:nvPr/>
        </p:nvSpPr>
        <p:spPr>
          <a:xfrm>
            <a:off x="411480" y="4526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Prototypes costed: Baker ₹3.73L, Mixer ₹74,847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496312" y="4279392"/>
            <a:ext cx="1965960" cy="27432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496312" y="4352544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MONTHS 0–9 · THIS ASK</a:t>
            </a:r>
            <a:endParaRPr lang="en-US" sz="650" dirty="0"/>
          </a:p>
        </p:txBody>
      </p:sp>
      <p:sp>
        <p:nvSpPr>
          <p:cNvPr id="59" name="Text 57"/>
          <p:cNvSpPr txBox="1"/>
          <p:nvPr/>
        </p:nvSpPr>
        <p:spPr>
          <a:xfrm>
            <a:off x="2496312" y="4526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₹16L proof of concept: Baker Rev B, 5 Mixers in studios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581144" y="4279392"/>
            <a:ext cx="1965960" cy="27432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581144" y="4352544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AFTER POC · SEED</a:t>
            </a:r>
            <a:endParaRPr lang="en-US" sz="650" dirty="0"/>
          </a:p>
        </p:txBody>
      </p:sp>
      <p:sp>
        <p:nvSpPr>
          <p:cNvPr id="62" name="Text 60"/>
          <p:cNvSpPr txBox="1"/>
          <p:nvPr/>
        </p:nvSpPr>
        <p:spPr>
          <a:xfrm>
            <a:off x="4581144" y="4526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~₹1.5 Cr: China pilots, first 100 Mixers + 20 Bakers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665976" y="4279392"/>
            <a:ext cx="1965960" cy="27432"/>
          </a:xfrm>
          <a:prstGeom prst="rect">
            <a:avLst/>
          </a:prstGeom>
          <a:solidFill>
            <a:srgbClr val="60A05A"/>
          </a:solidFill>
          <a:ln w="12700">
            <a:solidFill>
              <a:srgbClr val="60A05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665976" y="4352544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60A05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100-UNIT BATCHES</a:t>
            </a:r>
            <a:endParaRPr lang="en-US" sz="650" dirty="0"/>
          </a:p>
        </p:txBody>
      </p:sp>
      <p:sp>
        <p:nvSpPr>
          <p:cNvPr id="65" name="Text 63"/>
          <p:cNvSpPr txBox="1"/>
          <p:nvPr/>
        </p:nvSpPr>
        <p:spPr>
          <a:xfrm>
            <a:off x="6665976" y="45262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projected unit economics above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 · DOES IT PAY FOR ITSELF?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 about 53 boards, before counting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two weeks each loop saves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737360"/>
            <a:ext cx="2651760" cy="36576"/>
          </a:xfrm>
          <a:prstGeom prst="rect">
            <a:avLst/>
          </a:prstGeom>
          <a:solidFill>
            <a:srgbClr val="424A51"/>
          </a:solidFill>
          <a:ln w="12700">
            <a:solidFill>
              <a:srgbClr val="424A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₹334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3591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consumables per 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27832" y="1737360"/>
            <a:ext cx="2651760" cy="36576"/>
          </a:xfrm>
          <a:prstGeom prst="rect">
            <a:avLst/>
          </a:prstGeom>
          <a:solidFill>
            <a:srgbClr val="424A51"/>
          </a:solidFill>
          <a:ln w="12700">
            <a:solidFill>
              <a:srgbClr val="424A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27832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₹6,721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227832" y="23591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same assembled board from JLCPCB, landed in India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44184" y="1737360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44184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044184" y="23591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boards to recover ₹3,33,999 (Baker + Mixer)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26080"/>
          <a:ext cx="83210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188720"/>
                <a:gridCol w="1554480"/>
                <a:gridCol w="15544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COMPARED WITH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SAVING / BOARD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BREAK-EVEN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STARTUP · 2 / WEEK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LAB · 1 / WEEK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JLCPCB → India, 7–20 days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₹6,387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53 boards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6.6 months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13.3 months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Indian 24-hour fab, bare boards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₹5,166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65 boards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8.1 months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16.3 months</a:t>
                      </a:r>
                      <a:endParaRPr lang="en-US" sz="8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11480" y="39593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HOW ₹6,721 IS BUILT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411480" y="41422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 PCBs $5 · PCBA setup $8 · stencil $1.50 · 200 joints $0.34 · 3 extended parts $9 · DHL $35 → ₹5,178 at ₹88, + 10% BCD and 18% IGST (₹1,543).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39593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WHAT IT LEAVES OUT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414223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Components (you buy them either way), engineer hours and the waiting. The Proto plan, ₹9,999 a year, is worth about two boards.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411480" y="4736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jlcpcb.com PCB/PCBA pricing · zbotic.in (DHL $25–45, 10% BCD + 18% IGST, 7–20 days door to door; Indian 24-h fab ₹3,000–8,000 for 5) · consumables from the BOM listings.</a:t>
            </a:r>
            <a:endParaRPr lang="en-US" sz="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21 · MARKET PLAN / GROWTH STRATEGY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in the maker studios, then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follow the people who watch them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73736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828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₹6.4L cr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global PCB market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404872" y="173736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96312" y="1828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₹3.1L cr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496312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global test and measurement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489704" y="173736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1828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₹55K cr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India PCB, ~15% a year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574536" y="173736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65976" y="1828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₹8.3K cr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65976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India test and measurement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2560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33M+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active Arduino users worldwide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04872" y="246888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96312" y="2560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2.3M+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496312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Hackster hardware community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89704" y="246888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81144" y="2560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10,000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Atal Tinkering Labs, 50,000 more planned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74536" y="246888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65976" y="2560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~2,500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665976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Fab Labs in 125 countries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1480" y="246888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20040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337560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" y="34472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NOW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36393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Maker studios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11480" y="3886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Free Baker and Mixer units, with a contract for featured videos. The Bambu Lab playbook.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27832" y="3337560"/>
            <a:ext cx="265176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27832" y="34472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NEXT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3227832" y="36393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Hobbyists and startups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227832" y="3886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people who watch those videos and lose weeks on every board.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044184" y="3337560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44184" y="34472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ALONGSIDE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6044184" y="36393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Prototyping labs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044184" y="3886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Tinkering labs, Fab Labs and college labs that already buy tools.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411480" y="46177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IMARC · Grand View · Arduino · Hackster · Atal Innovation Mission · Forbes · at ₹88 per US$. Bottom-up, India only: 5,868 AICTE colleges × ₹3.34 lakh ≈ ₹196 Cr of hardware.</a:t>
            </a:r>
            <a:endParaRPr lang="en-US" sz="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22 · CURRENT PROGRESS / ACHIEVEMENTS &amp; TIMELINE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we are, told honestly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Raw prototype running on the bench. The video.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Studio with Proto inside. Website live.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80760" y="1280160"/>
            <a:ext cx="2651760" cy="36576"/>
          </a:xfrm>
          <a:prstGeom prst="rect">
            <a:avLst/>
          </a:prstGeom>
          <a:solidFill>
            <a:srgbClr val="424A51"/>
          </a:solidFill>
          <a:ln w="12700">
            <a:solidFill>
              <a:srgbClr val="424A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3B3B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 phase. Architecture and BOM defined, not built.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514600"/>
            <a:ext cx="8321040" cy="640080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724912"/>
            <a:ext cx="658368" cy="21945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7249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SIGNAL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560320"/>
            <a:ext cx="7178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Met </a:t>
            </a:r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Samuel Beek</a:t>
            </a:r>
            <a:pPr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, Founder &amp; CEO of Schematik. Interested in funding us once the proof of concept is ready.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364992"/>
            <a:ext cx="832104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3520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0–2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37673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 runs all 15 steps on a real board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86584" y="3364992"/>
            <a:ext cx="0" cy="123444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96312" y="3520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2–4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496312" y="37673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First Mixer built and measuring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71416" y="3364992"/>
            <a:ext cx="0" cy="123444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81144" y="3520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4–6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581144" y="37673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Proof of concept, first maker-studio units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56248" y="3364992"/>
            <a:ext cx="0" cy="123444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65976" y="3520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AFTER POC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665976" y="37673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 round, first sales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23 · WHAT THE MONEY PROVES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goal: a working proof of concept,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milestone you can watch at a time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810512"/>
            <a:ext cx="832104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764792"/>
            <a:ext cx="91440" cy="91440"/>
          </a:xfrm>
          <a:prstGeom prst="ellipse">
            <a:avLst/>
          </a:prstGeom>
          <a:solidFill>
            <a:srgbClr val="CF8F4E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993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2</a:t>
            </a:r>
            <a:endParaRPr lang="en-US" sz="72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194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 runs all 15 steps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6060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Blank FR4 to a reflowed board, on video.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810512" y="1764792"/>
            <a:ext cx="91440" cy="91440"/>
          </a:xfrm>
          <a:prstGeom prst="ellipse">
            <a:avLst/>
          </a:prstGeom>
          <a:solidFill>
            <a:srgbClr val="CF8F4E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993392"/>
            <a:ext cx="0" cy="160020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10512" y="1993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3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1810512" y="2194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 proven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810512" y="26060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PR-001…004: mask, film, jig and laser pass written tests.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209544" y="1764792"/>
            <a:ext cx="91440" cy="91440"/>
          </a:xfrm>
          <a:prstGeom prst="ellipse">
            <a:avLst/>
          </a:prstGeom>
          <a:solidFill>
            <a:srgbClr val="54ACF0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36392" y="1993392"/>
            <a:ext cx="0" cy="160020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9544" y="1993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4</a:t>
            </a:r>
            <a:endParaRPr lang="en-US" sz="720" dirty="0"/>
          </a:p>
        </p:txBody>
      </p:sp>
      <p:sp>
        <p:nvSpPr>
          <p:cNvPr id="17" name="Text 15"/>
          <p:cNvSpPr txBox="1"/>
          <p:nvPr/>
        </p:nvSpPr>
        <p:spPr>
          <a:xfrm>
            <a:off x="3209544" y="2194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Mixer measures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209544" y="26060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All 8 instruments checked against reference gear.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608576" y="1764792"/>
            <a:ext cx="91440" cy="91440"/>
          </a:xfrm>
          <a:prstGeom prst="ellipse">
            <a:avLst/>
          </a:prstGeom>
          <a:solidFill>
            <a:srgbClr val="54ACF0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35424" y="1993392"/>
            <a:ext cx="0" cy="160020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08576" y="1993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5</a:t>
            </a:r>
            <a:endParaRPr lang="en-US" sz="720" dirty="0"/>
          </a:p>
        </p:txBody>
      </p:sp>
      <p:sp>
        <p:nvSpPr>
          <p:cNvPr id="22" name="Text 20"/>
          <p:cNvSpPr txBox="1"/>
          <p:nvPr/>
        </p:nvSpPr>
        <p:spPr>
          <a:xfrm>
            <a:off x="4608576" y="2194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 B + Mixer boards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608576" y="26060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Rev B built; 5 production Mixers pass test.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007608" y="1764792"/>
            <a:ext cx="91440" cy="91440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34456" y="1993392"/>
            <a:ext cx="0" cy="160020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07608" y="1993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6</a:t>
            </a:r>
            <a:endParaRPr lang="en-US" sz="720" dirty="0"/>
          </a:p>
        </p:txBody>
      </p:sp>
      <p:sp>
        <p:nvSpPr>
          <p:cNvPr id="27" name="Text 25"/>
          <p:cNvSpPr txBox="1"/>
          <p:nvPr/>
        </p:nvSpPr>
        <p:spPr>
          <a:xfrm>
            <a:off x="6007608" y="2194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Proof of concept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007608" y="26060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 boards file-to-tested; Mixers in maker studios.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7406640" y="1764792"/>
            <a:ext cx="91440" cy="91440"/>
          </a:xfrm>
          <a:prstGeom prst="ellipse">
            <a:avLst/>
          </a:prstGeom>
          <a:solidFill>
            <a:srgbClr val="60A05A"/>
          </a:solidFill>
          <a:ln w="9525">
            <a:solidFill>
              <a:srgbClr val="60A0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33488" y="1993392"/>
            <a:ext cx="0" cy="160020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06640" y="1993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60A05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MONTHS 7–9</a:t>
            </a:r>
            <a:endParaRPr lang="en-US" sz="72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219456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 round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26060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Seed raised on the proof; China quotes out.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411480" y="3703320"/>
            <a:ext cx="8321040" cy="731520"/>
          </a:xfrm>
          <a:prstGeom prst="rect">
            <a:avLst/>
          </a:prstGeom>
          <a:solidFill>
            <a:srgbClr val="121A21"/>
          </a:solidFill>
          <a:ln w="12700">
            <a:solidFill>
              <a:srgbClr val="121A2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3776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₹16 lakh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4069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whole ask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2651760" y="3776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 months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651760" y="4069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 to proof + 3 to raise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4736592" y="3776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+ 1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736592" y="4069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founder + a software engineer who writes firmware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6821424" y="3776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month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821424" y="4069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demo video + Mixer test logs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411480" y="45720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in the university lab, tested with students and makers.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 · WHAT COULD STILL BREAK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open points, each written as a pass/fail test</a:t>
            </a:r>
            <a:endParaRPr lang="en-US" sz="2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61872"/>
          <a:ext cx="83210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148840"/>
                <a:gridCol w="2331720"/>
                <a:gridCol w="141732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ID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OPEN POINT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TEST ON THE PROTOTYPE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PASS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FALLBACK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CF8F4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PR-001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Wipe-develop cleanliness, 0.5 mm-pitch pads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0.5 mm footprint; inspect every pad after step 09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no mask left on any pad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skim pads with the spindle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CF8F4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PR-002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Film registration after magnetic clamping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measure film-to-copper offset at fiducials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±50 µm at every fiducial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clamp sequence / frame stiffness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CF8F4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PR-003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Jig-to-pin accuracy after resin shrink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post-cure jig; pockets vs pin datum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parts land on pads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scale compensation in the jig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CF8F4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PR-004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Laser offset drift with temperature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fiducial check, cold start and after a long job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inside the stencil budget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re-check every job (planned)</a:t>
                      </a:r>
                      <a:endParaRPr lang="en-US" sz="73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11480" y="33832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WHY THE ORDER IS THE DESIGN</a:t>
            </a:r>
            <a:endParaRPr lang="en-US" sz="72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3611880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mill before mask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767328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mask covers clean, finished copper</a:t>
            </a:r>
            <a:endParaRPr lang="en-US" sz="7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3959352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cure before stencil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4114800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laser never touches uncured mask</a:t>
            </a:r>
            <a:endParaRPr lang="en-US" sz="70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4306824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stencil from the same Gerber, same frame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411480" y="4462272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removes stencil-alignment error</a:t>
            </a:r>
            <a:endParaRPr lang="en-US" sz="7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3611880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jig prints in parallel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3767328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placement adds no waiting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3959352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Sn42Bi58 at 138 °C; jig lifts off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4114800"/>
            <a:ext cx="4023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stays under TR300's 160 °C; less warp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43251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Also to close before China: one board size, 100 × 160 (workflow) or 100 × 150 mm (BOM blanks). Plus lab safety: Class 4 laser inside an interlocked enclosure.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E3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8A5F3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25 · GRANT / FUNDING REQUIRED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229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8A5F3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₹16,00,000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874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sixteen lakh: nine months to a proof of concept, and time to raise.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480" y="2395728"/>
            <a:ext cx="1261872" cy="45720"/>
          </a:xfrm>
          <a:prstGeom prst="rect">
            <a:avLst/>
          </a:prstGeom>
          <a:solidFill>
            <a:srgbClr val="8A5F31"/>
          </a:solidFill>
          <a:ln w="12700">
            <a:solidFill>
              <a:srgbClr val="8A5F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2542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₹4.48L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97180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+ Mixer builds, costed line by line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65760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8A5F3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₹4,48,265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1824228" y="2395728"/>
            <a:ext cx="1261872" cy="45720"/>
          </a:xfrm>
          <a:prstGeom prst="rect">
            <a:avLst/>
          </a:prstGeom>
          <a:solidFill>
            <a:srgbClr val="1B64A8"/>
          </a:solidFill>
          <a:ln w="12700">
            <a:solidFill>
              <a:srgbClr val="1B6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4228" y="2542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₹2.20L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824228" y="297180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Rev B, 5 production Mixers, consumables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1824228" y="365760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8A5F3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₹2,20,000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3236976" y="2395728"/>
            <a:ext cx="1261872" cy="45720"/>
          </a:xfrm>
          <a:prstGeom prst="rect">
            <a:avLst/>
          </a:prstGeom>
          <a:solidFill>
            <a:srgbClr val="131210"/>
          </a:solidFill>
          <a:ln w="12700">
            <a:solidFill>
              <a:srgbClr val="13121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36976" y="2542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₹4.50L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236976" y="297180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software + firmware engineer, 9 months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236976" y="365760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8A5F3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₹4,50,000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4649724" y="2395728"/>
            <a:ext cx="1261872" cy="45720"/>
          </a:xfrm>
          <a:prstGeom prst="rect">
            <a:avLst/>
          </a:prstGeom>
          <a:solidFill>
            <a:srgbClr val="C08A12"/>
          </a:solidFill>
          <a:ln w="12700">
            <a:solidFill>
              <a:srgbClr val="C08A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49724" y="2542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₹1.35L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649724" y="297180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software and compute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4649724" y="365760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8A5F3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₹1,35,000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6062472" y="2395728"/>
            <a:ext cx="1261872" cy="45720"/>
          </a:xfrm>
          <a:prstGeom prst="rect">
            <a:avLst/>
          </a:prstGeom>
          <a:solidFill>
            <a:srgbClr val="9C8F7C"/>
          </a:solidFill>
          <a:ln w="12700">
            <a:solidFill>
              <a:srgbClr val="9C8F7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62472" y="2542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₹1.50L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062472" y="297180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Testing, tooling, lab safety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6062472" y="365760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8A5F3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₹1,50,000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475220" y="2395728"/>
            <a:ext cx="1261872" cy="45720"/>
          </a:xfrm>
          <a:prstGeom prst="rect">
            <a:avLst/>
          </a:prstGeom>
          <a:solidFill>
            <a:srgbClr val="60A05A"/>
          </a:solidFill>
          <a:ln w="12700">
            <a:solidFill>
              <a:srgbClr val="60A0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75220" y="2542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₹1.97L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475220" y="297180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IP, outreach, 6.6% reserve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7475220" y="365760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8A5F3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₹1,96,735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411480" y="4160520"/>
            <a:ext cx="8321040" cy="0"/>
          </a:xfrm>
          <a:prstGeom prst="line">
            <a:avLst/>
          </a:prstGeom>
          <a:noFill/>
          <a:ln w="12700">
            <a:solidFill>
              <a:srgbClr val="13121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" y="427939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Enough to survive one failed iteration and raise from strength.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45262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This builds the proof. The next round, at proof of concept, builds the business.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26 · COST BREAKUP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the ₹16 lakh goes, line by line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60604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307592"/>
            <a:ext cx="14333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453896" y="1307592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₹3,73,418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572768"/>
            <a:ext cx="18242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Frame &amp; enclosure</a:t>
            </a:r>
            <a:endParaRPr lang="en-US" sz="680" dirty="0"/>
          </a:p>
        </p:txBody>
      </p:sp>
      <p:sp>
        <p:nvSpPr>
          <p:cNvPr id="8" name="Text 6"/>
          <p:cNvSpPr txBox="1"/>
          <p:nvPr/>
        </p:nvSpPr>
        <p:spPr>
          <a:xfrm>
            <a:off x="1975104" y="1572768"/>
            <a:ext cx="104241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22,795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411480" y="1726387"/>
            <a:ext cx="2606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730045"/>
            <a:ext cx="18242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Motion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1975104" y="1730045"/>
            <a:ext cx="104241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80,382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411480" y="1883664"/>
            <a:ext cx="2606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887322"/>
            <a:ext cx="18242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Zone A: mill, drill, laser</a:t>
            </a:r>
            <a:endParaRPr lang="en-US" sz="680" dirty="0"/>
          </a:p>
        </p:txBody>
      </p:sp>
      <p:sp>
        <p:nvSpPr>
          <p:cNvPr id="14" name="Text 12"/>
          <p:cNvSpPr txBox="1"/>
          <p:nvPr/>
        </p:nvSpPr>
        <p:spPr>
          <a:xfrm>
            <a:off x="1975104" y="1887322"/>
            <a:ext cx="104241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38,270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11480" y="2040941"/>
            <a:ext cx="2606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044598"/>
            <a:ext cx="18242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Zone B: mask, UV, wipe</a:t>
            </a:r>
            <a:endParaRPr lang="en-US" sz="68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2044598"/>
            <a:ext cx="104241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33,058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411480" y="2198218"/>
            <a:ext cx="2606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2201875"/>
            <a:ext cx="18242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Stencil film</a:t>
            </a:r>
            <a:endParaRPr lang="en-US" sz="680" dirty="0"/>
          </a:p>
        </p:txBody>
      </p:sp>
      <p:sp>
        <p:nvSpPr>
          <p:cNvPr id="20" name="Text 18"/>
          <p:cNvSpPr txBox="1"/>
          <p:nvPr/>
        </p:nvSpPr>
        <p:spPr>
          <a:xfrm>
            <a:off x="1975104" y="2201875"/>
            <a:ext cx="104241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5,805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411480" y="2355494"/>
            <a:ext cx="2606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2359152"/>
            <a:ext cx="18242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Placement + reflow</a:t>
            </a:r>
            <a:endParaRPr lang="en-US" sz="680" dirty="0"/>
          </a:p>
        </p:txBody>
      </p:sp>
      <p:sp>
        <p:nvSpPr>
          <p:cNvPr id="23" name="Text 21"/>
          <p:cNvSpPr txBox="1"/>
          <p:nvPr/>
        </p:nvSpPr>
        <p:spPr>
          <a:xfrm>
            <a:off x="1975104" y="2359152"/>
            <a:ext cx="104241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4,891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411480" y="2512771"/>
            <a:ext cx="2606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2516429"/>
            <a:ext cx="18242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Board handling</a:t>
            </a:r>
            <a:endParaRPr lang="en-US" sz="68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2516429"/>
            <a:ext cx="104241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300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411480" y="2670048"/>
            <a:ext cx="2606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" y="2673706"/>
            <a:ext cx="18242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Electronics &amp; control</a:t>
            </a:r>
            <a:endParaRPr lang="en-US" sz="680" dirty="0"/>
          </a:p>
        </p:txBody>
      </p:sp>
      <p:sp>
        <p:nvSpPr>
          <p:cNvPr id="29" name="Text 27"/>
          <p:cNvSpPr txBox="1"/>
          <p:nvPr/>
        </p:nvSpPr>
        <p:spPr>
          <a:xfrm>
            <a:off x="1975104" y="2673706"/>
            <a:ext cx="104241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42,985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11480" y="2827325"/>
            <a:ext cx="2606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" y="2830982"/>
            <a:ext cx="18242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Resin printer (jigs)</a:t>
            </a:r>
            <a:endParaRPr lang="en-US" sz="680" dirty="0"/>
          </a:p>
        </p:txBody>
      </p:sp>
      <p:sp>
        <p:nvSpPr>
          <p:cNvPr id="32" name="Text 30"/>
          <p:cNvSpPr txBox="1"/>
          <p:nvPr/>
        </p:nvSpPr>
        <p:spPr>
          <a:xfrm>
            <a:off x="1975104" y="2830982"/>
            <a:ext cx="104241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77,698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11480" y="2984602"/>
            <a:ext cx="2606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1480" y="2988259"/>
            <a:ext cx="18242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First-run consumables</a:t>
            </a:r>
            <a:endParaRPr lang="en-US" sz="68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2988259"/>
            <a:ext cx="104241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6,280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411480" y="3141878"/>
            <a:ext cx="2606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1480" y="3145536"/>
            <a:ext cx="18242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Parts</a:t>
            </a:r>
            <a:endParaRPr lang="en-US" sz="680" dirty="0"/>
          </a:p>
        </p:txBody>
      </p:sp>
      <p:sp>
        <p:nvSpPr>
          <p:cNvPr id="38" name="Text 36"/>
          <p:cNvSpPr txBox="1"/>
          <p:nvPr/>
        </p:nvSpPr>
        <p:spPr>
          <a:xfrm>
            <a:off x="1975104" y="3145536"/>
            <a:ext cx="104241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3,12,465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411480" y="3299155"/>
            <a:ext cx="2606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11480" y="3302813"/>
            <a:ext cx="18242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Import duty + courier</a:t>
            </a:r>
            <a:endParaRPr lang="en-US" sz="680" dirty="0"/>
          </a:p>
        </p:txBody>
      </p:sp>
      <p:sp>
        <p:nvSpPr>
          <p:cNvPr id="41" name="Text 39"/>
          <p:cNvSpPr txBox="1"/>
          <p:nvPr/>
        </p:nvSpPr>
        <p:spPr>
          <a:xfrm>
            <a:off x="1975104" y="3302813"/>
            <a:ext cx="104241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12,247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411480" y="3456432"/>
            <a:ext cx="2606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" y="3460090"/>
            <a:ext cx="18242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Contingency (15%)</a:t>
            </a:r>
            <a:endParaRPr lang="en-US" sz="68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3460090"/>
            <a:ext cx="104241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48,707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411480" y="3613709"/>
            <a:ext cx="2606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11480" y="3617366"/>
            <a:ext cx="182422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Prototype total</a:t>
            </a:r>
            <a:endParaRPr lang="en-US" sz="680" dirty="0"/>
          </a:p>
        </p:txBody>
      </p:sp>
      <p:sp>
        <p:nvSpPr>
          <p:cNvPr id="47" name="Text 45"/>
          <p:cNvSpPr txBox="1"/>
          <p:nvPr/>
        </p:nvSpPr>
        <p:spPr>
          <a:xfrm>
            <a:off x="1975104" y="3617366"/>
            <a:ext cx="104241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₹3,73,418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411480" y="3770986"/>
            <a:ext cx="2606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91840" y="1234440"/>
            <a:ext cx="237744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291840" y="1307592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Mixer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242816" y="1307592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₹74,847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3291840" y="1572768"/>
            <a:ext cx="166420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Capture + generation</a:t>
            </a:r>
            <a:endParaRPr lang="en-US" sz="680" dirty="0"/>
          </a:p>
        </p:txBody>
      </p:sp>
      <p:sp>
        <p:nvSpPr>
          <p:cNvPr id="53" name="Text 51"/>
          <p:cNvSpPr txBox="1"/>
          <p:nvPr/>
        </p:nvSpPr>
        <p:spPr>
          <a:xfrm>
            <a:off x="4718304" y="1572768"/>
            <a:ext cx="9509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18,198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3291840" y="1726387"/>
            <a:ext cx="23774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291840" y="1730045"/>
            <a:ext cx="166420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Front end + instruments</a:t>
            </a:r>
            <a:endParaRPr lang="en-US" sz="680" dirty="0"/>
          </a:p>
        </p:txBody>
      </p:sp>
      <p:sp>
        <p:nvSpPr>
          <p:cNvPr id="56" name="Text 54"/>
          <p:cNvSpPr txBox="1"/>
          <p:nvPr/>
        </p:nvSpPr>
        <p:spPr>
          <a:xfrm>
            <a:off x="4718304" y="1730045"/>
            <a:ext cx="9509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15,752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3291840" y="1883664"/>
            <a:ext cx="23774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291840" y="1887322"/>
            <a:ext cx="166420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Host, screen, I/O</a:t>
            </a:r>
            <a:endParaRPr lang="en-US" sz="680" dirty="0"/>
          </a:p>
        </p:txBody>
      </p:sp>
      <p:sp>
        <p:nvSpPr>
          <p:cNvPr id="59" name="Text 57"/>
          <p:cNvSpPr txBox="1"/>
          <p:nvPr/>
        </p:nvSpPr>
        <p:spPr>
          <a:xfrm>
            <a:off x="4718304" y="1887322"/>
            <a:ext cx="9509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26,752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3291840" y="2040941"/>
            <a:ext cx="23774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291840" y="2044598"/>
            <a:ext cx="166420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Enclosure</a:t>
            </a:r>
            <a:endParaRPr lang="en-US" sz="680" dirty="0"/>
          </a:p>
        </p:txBody>
      </p:sp>
      <p:sp>
        <p:nvSpPr>
          <p:cNvPr id="62" name="Text 60"/>
          <p:cNvSpPr txBox="1"/>
          <p:nvPr/>
        </p:nvSpPr>
        <p:spPr>
          <a:xfrm>
            <a:off x="4718304" y="2044598"/>
            <a:ext cx="9509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1,510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291840" y="2198218"/>
            <a:ext cx="23774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291840" y="2201875"/>
            <a:ext cx="166420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Parts</a:t>
            </a:r>
            <a:endParaRPr lang="en-US" sz="680" dirty="0"/>
          </a:p>
        </p:txBody>
      </p:sp>
      <p:sp>
        <p:nvSpPr>
          <p:cNvPr id="65" name="Text 63"/>
          <p:cNvSpPr txBox="1"/>
          <p:nvPr/>
        </p:nvSpPr>
        <p:spPr>
          <a:xfrm>
            <a:off x="4718304" y="2201875"/>
            <a:ext cx="9509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62,212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3291840" y="2355494"/>
            <a:ext cx="23774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291840" y="2359152"/>
            <a:ext cx="166420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Import duty + courier</a:t>
            </a:r>
            <a:endParaRPr lang="en-US" sz="680" dirty="0"/>
          </a:p>
        </p:txBody>
      </p:sp>
      <p:sp>
        <p:nvSpPr>
          <p:cNvPr id="68" name="Text 66"/>
          <p:cNvSpPr txBox="1"/>
          <p:nvPr/>
        </p:nvSpPr>
        <p:spPr>
          <a:xfrm>
            <a:off x="4718304" y="2359152"/>
            <a:ext cx="9509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2,872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3291840" y="2512771"/>
            <a:ext cx="23774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291840" y="2516429"/>
            <a:ext cx="166420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Contingency (15%)</a:t>
            </a:r>
            <a:endParaRPr lang="en-US" sz="680" dirty="0"/>
          </a:p>
        </p:txBody>
      </p:sp>
      <p:sp>
        <p:nvSpPr>
          <p:cNvPr id="71" name="Text 69"/>
          <p:cNvSpPr txBox="1"/>
          <p:nvPr/>
        </p:nvSpPr>
        <p:spPr>
          <a:xfrm>
            <a:off x="4718304" y="2516429"/>
            <a:ext cx="9509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9,763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3291840" y="2670048"/>
            <a:ext cx="23774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291840" y="2673706"/>
            <a:ext cx="166420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Prototype total</a:t>
            </a:r>
            <a:endParaRPr lang="en-US" sz="680" dirty="0"/>
          </a:p>
        </p:txBody>
      </p:sp>
      <p:sp>
        <p:nvSpPr>
          <p:cNvPr id="74" name="Text 72"/>
          <p:cNvSpPr txBox="1"/>
          <p:nvPr/>
        </p:nvSpPr>
        <p:spPr>
          <a:xfrm>
            <a:off x="4718304" y="2673706"/>
            <a:ext cx="95097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₹74,847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3291840" y="2827325"/>
            <a:ext cx="23774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3291840" y="2926080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PRODUCTION UNIT (PROJECTED)</a:t>
            </a:r>
            <a:endParaRPr lang="en-US" sz="680" dirty="0"/>
          </a:p>
        </p:txBody>
      </p:sp>
      <p:sp>
        <p:nvSpPr>
          <p:cNvPr id="77" name="Text 75"/>
          <p:cNvSpPr txBox="1"/>
          <p:nvPr/>
        </p:nvSpPr>
        <p:spPr>
          <a:xfrm>
            <a:off x="3291840" y="3127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4389120" y="31272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₹1,44,842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3291840" y="33192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target ₹1,50,000 · under by ₹5,158</a:t>
            </a:r>
            <a:endParaRPr lang="en-US" sz="650" dirty="0"/>
          </a:p>
        </p:txBody>
      </p:sp>
      <p:sp>
        <p:nvSpPr>
          <p:cNvPr id="80" name="Text 78"/>
          <p:cNvSpPr txBox="1"/>
          <p:nvPr/>
        </p:nvSpPr>
        <p:spPr>
          <a:xfrm>
            <a:off x="3291840" y="3520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Mixer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4389120" y="3520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₹13,740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3291840" y="371246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target ₹15,000 · under by ₹1,260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5943600" y="1234440"/>
            <a:ext cx="278892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943600" y="1307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</a:t>
            </a:r>
            <a:endParaRPr lang="en-US" sz="1050" dirty="0"/>
          </a:p>
        </p:txBody>
      </p:sp>
      <p:sp>
        <p:nvSpPr>
          <p:cNvPr id="85" name="Text 83"/>
          <p:cNvSpPr txBox="1"/>
          <p:nvPr/>
        </p:nvSpPr>
        <p:spPr>
          <a:xfrm>
            <a:off x="7223760" y="1307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₹16,00,000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5943600" y="1618488"/>
            <a:ext cx="64008" cy="64008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062472" y="1572768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prototype build</a:t>
            </a:r>
            <a:endParaRPr lang="en-US" sz="680" dirty="0"/>
          </a:p>
        </p:txBody>
      </p:sp>
      <p:sp>
        <p:nvSpPr>
          <p:cNvPr id="88" name="Text 86"/>
          <p:cNvSpPr txBox="1"/>
          <p:nvPr/>
        </p:nvSpPr>
        <p:spPr>
          <a:xfrm>
            <a:off x="7863840" y="1572768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3,73,418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5943600" y="1726387"/>
            <a:ext cx="27889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943600" y="1775765"/>
            <a:ext cx="64008" cy="64008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6062472" y="1730045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 prototype build</a:t>
            </a:r>
            <a:endParaRPr lang="en-US" sz="680" dirty="0"/>
          </a:p>
        </p:txBody>
      </p:sp>
      <p:sp>
        <p:nvSpPr>
          <p:cNvPr id="92" name="Text 90"/>
          <p:cNvSpPr txBox="1"/>
          <p:nvPr/>
        </p:nvSpPr>
        <p:spPr>
          <a:xfrm>
            <a:off x="7863840" y="1730045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74,847</a:t>
            </a:r>
            <a:endParaRPr lang="en-US" sz="680" dirty="0"/>
          </a:p>
        </p:txBody>
      </p:sp>
      <p:sp>
        <p:nvSpPr>
          <p:cNvPr id="93" name="Shape 91"/>
          <p:cNvSpPr/>
          <p:nvPr/>
        </p:nvSpPr>
        <p:spPr>
          <a:xfrm>
            <a:off x="5943600" y="1883664"/>
            <a:ext cx="27889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943600" y="1933042"/>
            <a:ext cx="64008" cy="64008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062472" y="1887322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Rev B iteration</a:t>
            </a:r>
            <a:endParaRPr lang="en-US" sz="680" dirty="0"/>
          </a:p>
        </p:txBody>
      </p:sp>
      <p:sp>
        <p:nvSpPr>
          <p:cNvPr id="96" name="Text 94"/>
          <p:cNvSpPr txBox="1"/>
          <p:nvPr/>
        </p:nvSpPr>
        <p:spPr>
          <a:xfrm>
            <a:off x="7863840" y="1887322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1,00,000</a:t>
            </a:r>
            <a:endParaRPr lang="en-US" sz="680" dirty="0"/>
          </a:p>
        </p:txBody>
      </p:sp>
      <p:sp>
        <p:nvSpPr>
          <p:cNvPr id="97" name="Shape 95"/>
          <p:cNvSpPr/>
          <p:nvPr/>
        </p:nvSpPr>
        <p:spPr>
          <a:xfrm>
            <a:off x="5943600" y="2040941"/>
            <a:ext cx="27889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943600" y="2090318"/>
            <a:ext cx="64008" cy="64008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6062472" y="2044598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 production board ×5</a:t>
            </a:r>
            <a:endParaRPr lang="en-US" sz="680" dirty="0"/>
          </a:p>
        </p:txBody>
      </p:sp>
      <p:sp>
        <p:nvSpPr>
          <p:cNvPr id="100" name="Text 98"/>
          <p:cNvSpPr txBox="1"/>
          <p:nvPr/>
        </p:nvSpPr>
        <p:spPr>
          <a:xfrm>
            <a:off x="7863840" y="2044598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60,000</a:t>
            </a:r>
            <a:endParaRPr lang="en-US" sz="680" dirty="0"/>
          </a:p>
        </p:txBody>
      </p:sp>
      <p:sp>
        <p:nvSpPr>
          <p:cNvPr id="101" name="Shape 99"/>
          <p:cNvSpPr/>
          <p:nvPr/>
        </p:nvSpPr>
        <p:spPr>
          <a:xfrm>
            <a:off x="5943600" y="2198218"/>
            <a:ext cx="27889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943600" y="2247595"/>
            <a:ext cx="64008" cy="64008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6062472" y="2201875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PoC consumables</a:t>
            </a:r>
            <a:endParaRPr lang="en-US" sz="680" dirty="0"/>
          </a:p>
        </p:txBody>
      </p:sp>
      <p:sp>
        <p:nvSpPr>
          <p:cNvPr id="104" name="Text 102"/>
          <p:cNvSpPr txBox="1"/>
          <p:nvPr/>
        </p:nvSpPr>
        <p:spPr>
          <a:xfrm>
            <a:off x="7863840" y="2201875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60,000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5943600" y="2355494"/>
            <a:ext cx="27889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943600" y="2404872"/>
            <a:ext cx="64008" cy="64008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6062472" y="2359152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Engineer (software + firmware)</a:t>
            </a:r>
            <a:endParaRPr lang="en-US" sz="680" dirty="0"/>
          </a:p>
        </p:txBody>
      </p:sp>
      <p:sp>
        <p:nvSpPr>
          <p:cNvPr id="108" name="Text 106"/>
          <p:cNvSpPr txBox="1"/>
          <p:nvPr/>
        </p:nvSpPr>
        <p:spPr>
          <a:xfrm>
            <a:off x="7863840" y="2359152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4,50,000</a:t>
            </a:r>
            <a:endParaRPr lang="en-US" sz="680" dirty="0"/>
          </a:p>
        </p:txBody>
      </p:sp>
      <p:sp>
        <p:nvSpPr>
          <p:cNvPr id="109" name="Shape 107"/>
          <p:cNvSpPr/>
          <p:nvPr/>
        </p:nvSpPr>
        <p:spPr>
          <a:xfrm>
            <a:off x="5943600" y="2512771"/>
            <a:ext cx="27889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943600" y="2562149"/>
            <a:ext cx="64008" cy="64008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6062472" y="2516429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software + compute</a:t>
            </a:r>
            <a:endParaRPr lang="en-US" sz="680" dirty="0"/>
          </a:p>
        </p:txBody>
      </p:sp>
      <p:sp>
        <p:nvSpPr>
          <p:cNvPr id="112" name="Text 110"/>
          <p:cNvSpPr txBox="1"/>
          <p:nvPr/>
        </p:nvSpPr>
        <p:spPr>
          <a:xfrm>
            <a:off x="7863840" y="2516429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1,35,000</a:t>
            </a:r>
            <a:endParaRPr lang="en-US" sz="680" dirty="0"/>
          </a:p>
        </p:txBody>
      </p:sp>
      <p:sp>
        <p:nvSpPr>
          <p:cNvPr id="113" name="Shape 111"/>
          <p:cNvSpPr/>
          <p:nvPr/>
        </p:nvSpPr>
        <p:spPr>
          <a:xfrm>
            <a:off x="5943600" y="2670048"/>
            <a:ext cx="27889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943600" y="2719426"/>
            <a:ext cx="64008" cy="64008"/>
          </a:xfrm>
          <a:prstGeom prst="rect">
            <a:avLst/>
          </a:prstGeom>
          <a:solidFill>
            <a:srgbClr val="9C8F7C"/>
          </a:solidFill>
          <a:ln w="12700">
            <a:solidFill>
              <a:srgbClr val="9C8F7C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6062472" y="2673706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Testing + tooling</a:t>
            </a:r>
            <a:endParaRPr lang="en-US" sz="680" dirty="0"/>
          </a:p>
        </p:txBody>
      </p:sp>
      <p:sp>
        <p:nvSpPr>
          <p:cNvPr id="116" name="Text 114"/>
          <p:cNvSpPr txBox="1"/>
          <p:nvPr/>
        </p:nvSpPr>
        <p:spPr>
          <a:xfrm>
            <a:off x="7863840" y="2673706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1,00,000</a:t>
            </a:r>
            <a:endParaRPr lang="en-US" sz="680" dirty="0"/>
          </a:p>
        </p:txBody>
      </p:sp>
      <p:sp>
        <p:nvSpPr>
          <p:cNvPr id="117" name="Shape 115"/>
          <p:cNvSpPr/>
          <p:nvPr/>
        </p:nvSpPr>
        <p:spPr>
          <a:xfrm>
            <a:off x="5943600" y="2827325"/>
            <a:ext cx="27889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943600" y="2876702"/>
            <a:ext cx="64008" cy="64008"/>
          </a:xfrm>
          <a:prstGeom prst="rect">
            <a:avLst/>
          </a:prstGeom>
          <a:solidFill>
            <a:srgbClr val="9C8F7C"/>
          </a:solidFill>
          <a:ln w="12700">
            <a:solidFill>
              <a:srgbClr val="9C8F7C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6062472" y="2830982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Lab set-up + safety</a:t>
            </a:r>
            <a:endParaRPr lang="en-US" sz="680" dirty="0"/>
          </a:p>
        </p:txBody>
      </p:sp>
      <p:sp>
        <p:nvSpPr>
          <p:cNvPr id="120" name="Text 118"/>
          <p:cNvSpPr txBox="1"/>
          <p:nvPr/>
        </p:nvSpPr>
        <p:spPr>
          <a:xfrm>
            <a:off x="7863840" y="2830982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50,000</a:t>
            </a:r>
            <a:endParaRPr lang="en-US" sz="680" dirty="0"/>
          </a:p>
        </p:txBody>
      </p:sp>
      <p:sp>
        <p:nvSpPr>
          <p:cNvPr id="121" name="Shape 119"/>
          <p:cNvSpPr/>
          <p:nvPr/>
        </p:nvSpPr>
        <p:spPr>
          <a:xfrm>
            <a:off x="5943600" y="2984602"/>
            <a:ext cx="27889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43600" y="3033979"/>
            <a:ext cx="64008" cy="64008"/>
          </a:xfrm>
          <a:prstGeom prst="rect">
            <a:avLst/>
          </a:prstGeom>
          <a:solidFill>
            <a:srgbClr val="60A05A"/>
          </a:solidFill>
          <a:ln w="12700">
            <a:solidFill>
              <a:srgbClr val="60A05A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6062472" y="2988259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IP + legal</a:t>
            </a:r>
            <a:endParaRPr lang="en-US" sz="680" dirty="0"/>
          </a:p>
        </p:txBody>
      </p:sp>
      <p:sp>
        <p:nvSpPr>
          <p:cNvPr id="124" name="Text 122"/>
          <p:cNvSpPr txBox="1"/>
          <p:nvPr/>
        </p:nvSpPr>
        <p:spPr>
          <a:xfrm>
            <a:off x="7863840" y="2988259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75,000</a:t>
            </a:r>
            <a:endParaRPr lang="en-US" sz="680" dirty="0"/>
          </a:p>
        </p:txBody>
      </p:sp>
      <p:sp>
        <p:nvSpPr>
          <p:cNvPr id="125" name="Shape 123"/>
          <p:cNvSpPr/>
          <p:nvPr/>
        </p:nvSpPr>
        <p:spPr>
          <a:xfrm>
            <a:off x="5943600" y="3141878"/>
            <a:ext cx="27889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43600" y="3191256"/>
            <a:ext cx="64008" cy="64008"/>
          </a:xfrm>
          <a:prstGeom prst="rect">
            <a:avLst/>
          </a:prstGeom>
          <a:solidFill>
            <a:srgbClr val="60A05A"/>
          </a:solidFill>
          <a:ln w="12700">
            <a:solidFill>
              <a:srgbClr val="60A05A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6062472" y="3145536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Demos + studio outreach</a:t>
            </a:r>
            <a:endParaRPr lang="en-US" sz="680" dirty="0"/>
          </a:p>
        </p:txBody>
      </p:sp>
      <p:sp>
        <p:nvSpPr>
          <p:cNvPr id="128" name="Text 126"/>
          <p:cNvSpPr txBox="1"/>
          <p:nvPr/>
        </p:nvSpPr>
        <p:spPr>
          <a:xfrm>
            <a:off x="7863840" y="3145536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50,000</a:t>
            </a:r>
            <a:endParaRPr lang="en-US" sz="680" dirty="0"/>
          </a:p>
        </p:txBody>
      </p:sp>
      <p:sp>
        <p:nvSpPr>
          <p:cNvPr id="129" name="Shape 127"/>
          <p:cNvSpPr/>
          <p:nvPr/>
        </p:nvSpPr>
        <p:spPr>
          <a:xfrm>
            <a:off x="5943600" y="3299155"/>
            <a:ext cx="27889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943600" y="3348533"/>
            <a:ext cx="64008" cy="64008"/>
          </a:xfrm>
          <a:prstGeom prst="rect">
            <a:avLst/>
          </a:prstGeom>
          <a:solidFill>
            <a:srgbClr val="60A05A"/>
          </a:solidFill>
          <a:ln w="12700">
            <a:solidFill>
              <a:srgbClr val="60A05A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6062472" y="3302813"/>
            <a:ext cx="2011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Reserve (6.6%)</a:t>
            </a:r>
            <a:endParaRPr lang="en-US" sz="680" dirty="0"/>
          </a:p>
        </p:txBody>
      </p:sp>
      <p:sp>
        <p:nvSpPr>
          <p:cNvPr id="132" name="Text 130"/>
          <p:cNvSpPr txBox="1"/>
          <p:nvPr/>
        </p:nvSpPr>
        <p:spPr>
          <a:xfrm>
            <a:off x="7863840" y="3302813"/>
            <a:ext cx="868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71,735</a:t>
            </a:r>
            <a:endParaRPr lang="en-US" sz="680" dirty="0"/>
          </a:p>
        </p:txBody>
      </p:sp>
      <p:sp>
        <p:nvSpPr>
          <p:cNvPr id="133" name="Shape 131"/>
          <p:cNvSpPr/>
          <p:nvPr/>
        </p:nvSpPr>
        <p:spPr>
          <a:xfrm>
            <a:off x="5943600" y="3456432"/>
            <a:ext cx="27889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6062472" y="3474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</a:t>
            </a:r>
            <a:endParaRPr lang="en-US" sz="800" dirty="0"/>
          </a:p>
        </p:txBody>
      </p:sp>
      <p:sp>
        <p:nvSpPr>
          <p:cNvPr id="135" name="Text 133"/>
          <p:cNvSpPr txBox="1"/>
          <p:nvPr/>
        </p:nvSpPr>
        <p:spPr>
          <a:xfrm>
            <a:off x="7589520" y="34747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16,00,000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411480" y="4133088"/>
            <a:ext cx="2329891" cy="21945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466344" y="4133088"/>
            <a:ext cx="22750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Hardware ₹4.48L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2741371" y="4133088"/>
            <a:ext cx="1144143" cy="21945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2796235" y="4133088"/>
            <a:ext cx="1089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Iteration ₹2.20L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3885514" y="4133088"/>
            <a:ext cx="2340292" cy="219456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3940378" y="4133088"/>
            <a:ext cx="22854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E121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People ₹4.50L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6225807" y="4133088"/>
            <a:ext cx="702088" cy="21945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927894" y="4133088"/>
            <a:ext cx="780097" cy="219456"/>
          </a:xfrm>
          <a:prstGeom prst="rect">
            <a:avLst/>
          </a:prstGeom>
          <a:solidFill>
            <a:srgbClr val="9C8F7C"/>
          </a:solidFill>
          <a:ln w="12700">
            <a:solidFill>
              <a:srgbClr val="9C8F7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707992" y="4133088"/>
            <a:ext cx="1024528" cy="219456"/>
          </a:xfrm>
          <a:prstGeom prst="rect">
            <a:avLst/>
          </a:prstGeom>
          <a:solidFill>
            <a:srgbClr val="60A05A"/>
          </a:solidFill>
          <a:ln w="12700">
            <a:solidFill>
              <a:srgbClr val="60A05A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People 28% · Hardware 28% · Iteration 14% · IP + reserve 12% · Lab + tooling 9% · Software 8%</a:t>
            </a:r>
            <a:endParaRPr lang="en-US" sz="700" dirty="0"/>
          </a:p>
        </p:txBody>
      </p:sp>
      <p:sp>
        <p:nvSpPr>
          <p:cNvPr id="146" name="Text 144"/>
          <p:cNvSpPr txBox="1"/>
          <p:nvPr/>
        </p:nvSpPr>
        <p:spPr>
          <a:xfrm>
            <a:off x="411480" y="46634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Basis: PROTOPUS cost report, 29 Sep 2026: 96 BOM lines, 81 from live listings; USD at ₹88; imports carry 35% duty + courier; 15% contingency.</a:t>
            </a:r>
            <a:endParaRPr lang="en-US" sz="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27 · WHAT'S NEXT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 proof of concept: raise, build in China,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lean from Delhi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719072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8105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ROUND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993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~₹1.5 crore seed,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 proof of concept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719072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8105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CHINA PLAN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993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in Delhi,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in Shenzhen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719072"/>
            <a:ext cx="265176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8105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OPERATIONS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1993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Delhi finalises,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doesn't build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560320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China pilots + first batches</a:t>
            </a:r>
            <a:endParaRPr lang="en-US" sz="72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560320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₹70L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11480" y="2738628"/>
            <a:ext cx="26517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743200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China set-up, IP</a:t>
            </a:r>
            <a:endParaRPr lang="en-US" sz="72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743200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₹25L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411480" y="2921508"/>
            <a:ext cx="26517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2926080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Team of 5, 12 months</a:t>
            </a:r>
            <a:endParaRPr lang="en-US" sz="72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2926080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₹25L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11480" y="3104388"/>
            <a:ext cx="26517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3108960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Delhi centre + capital</a:t>
            </a:r>
            <a:endParaRPr lang="en-US" sz="72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3108960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₹20L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411480" y="3287268"/>
            <a:ext cx="26517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3291840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Buffer</a:t>
            </a:r>
            <a:endParaRPr lang="en-US" sz="72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3291840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₹10L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11480" y="3470148"/>
            <a:ext cx="265176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" y="3493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2194560" y="34930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₹1.5 Cr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" y="37216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Pilot batches are sellable (≈₹95L at list). Schematik interested at PoC.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3246120" y="2615184"/>
            <a:ext cx="54864" cy="5486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74136" y="25603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Mixer: full turnkey from batch one.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3246120" y="2944368"/>
            <a:ext cx="54864" cy="5486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74136" y="28895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Baker: China modules, final build in Delhi; turnkey once ≤ $1,305 ex-works.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3246120" y="3273552"/>
            <a:ext cx="54864" cy="5486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74136" y="32186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 factories quoted → 2 pilots → 1 primary + backup.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3246120" y="3602736"/>
            <a:ext cx="54864" cy="5486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374136" y="354787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Pilots: 20/50/100 Mixers, 3/5/20 Bakers.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6080760" y="2615184"/>
            <a:ext cx="54864" cy="54864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08776" y="25603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Every unit: scan, test, activate Proto, ship.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6080760" y="2944368"/>
            <a:ext cx="54864" cy="54864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08776" y="28895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 is our production tester: our rig, limits, data.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6080760" y="3273552"/>
            <a:ext cx="54864" cy="54864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08776" y="32186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Hire: a mechanical + a manufacturing/quality engineer.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6080760" y="3602736"/>
            <a:ext cx="54864" cy="54864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08776" y="354787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IEC, customs broker, China trademarks first.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411480" y="4096512"/>
            <a:ext cx="832104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11480" y="4187952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0–2</a:t>
            </a:r>
            <a:endParaRPr lang="en-US" sz="720" dirty="0"/>
          </a:p>
        </p:txBody>
      </p:sp>
      <p:sp>
        <p:nvSpPr>
          <p:cNvPr id="49" name="Text 47"/>
          <p:cNvSpPr txBox="1"/>
          <p:nvPr/>
        </p:nvSpPr>
        <p:spPr>
          <a:xfrm>
            <a:off x="411480" y="4370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freeze, 12 RFQs out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386584" y="4096512"/>
            <a:ext cx="0" cy="658368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496312" y="4187952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3–5</a:t>
            </a:r>
            <a:endParaRPr lang="en-US" sz="720" dirty="0"/>
          </a:p>
        </p:txBody>
      </p:sp>
      <p:sp>
        <p:nvSpPr>
          <p:cNvPr id="52" name="Text 50"/>
          <p:cNvSpPr txBox="1"/>
          <p:nvPr/>
        </p:nvSpPr>
        <p:spPr>
          <a:xfrm>
            <a:off x="2496312" y="4370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Pilots in China: EVT and DVT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471416" y="4096512"/>
            <a:ext cx="0" cy="658368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581144" y="4187952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6–9</a:t>
            </a:r>
            <a:endParaRPr lang="en-US" sz="720" dirty="0"/>
          </a:p>
        </p:txBody>
      </p:sp>
      <p:sp>
        <p:nvSpPr>
          <p:cNvPr id="55" name="Text 53"/>
          <p:cNvSpPr txBox="1"/>
          <p:nvPr/>
        </p:nvSpPr>
        <p:spPr>
          <a:xfrm>
            <a:off x="4581144" y="4370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PVT: first 100 Mixers, 20 Bakers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556248" y="4096512"/>
            <a:ext cx="0" cy="658368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665976" y="4187952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 10–12</a:t>
            </a:r>
            <a:endParaRPr lang="en-US" sz="720" dirty="0"/>
          </a:p>
        </p:txBody>
      </p:sp>
      <p:sp>
        <p:nvSpPr>
          <p:cNvPr id="58" name="Text 56"/>
          <p:cNvSpPr txBox="1"/>
          <p:nvPr/>
        </p:nvSpPr>
        <p:spPr>
          <a:xfrm>
            <a:off x="6665976" y="4370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Mass production, first container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8006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Months counted from the round. Round sizing is indicative; pilots costed from the BOM.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28 · CHINA ASSEMBLY LINE · STATION BY STATION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kinds of factory, one test system we own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19786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 LINE · FULL TURNKEY EMS, FROM BATCH ONE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1399032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435608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M1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429768" y="1600200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IQC</a:t>
            </a:r>
            <a:endParaRPr lang="en-US" sz="620" dirty="0"/>
          </a:p>
        </p:txBody>
      </p:sp>
      <p:sp>
        <p:nvSpPr>
          <p:cNvPr id="8" name="Shape 6"/>
          <p:cNvSpPr/>
          <p:nvPr/>
        </p:nvSpPr>
        <p:spPr>
          <a:xfrm>
            <a:off x="1108710" y="1399032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08710" y="1435608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M2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1126998" y="1600200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SMT + AOI</a:t>
            </a:r>
            <a:endParaRPr lang="en-US" sz="620" dirty="0"/>
          </a:p>
        </p:txBody>
      </p:sp>
      <p:sp>
        <p:nvSpPr>
          <p:cNvPr id="11" name="Shape 9"/>
          <p:cNvSpPr/>
          <p:nvPr/>
        </p:nvSpPr>
        <p:spPr>
          <a:xfrm>
            <a:off x="1805940" y="1399032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05940" y="1435608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M3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1824228" y="1600200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THT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2503170" y="1399032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03170" y="1435608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M4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521458" y="1600200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program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3200400" y="1399032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1435608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M5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3218688" y="1600200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PCBA FCT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3897630" y="1399032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97630" y="1435608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M6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3915918" y="1600200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box build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4594860" y="1399032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94860" y="1435608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M7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4613148" y="1600200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calibrate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5292090" y="1399032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92090" y="1435608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M8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310378" y="1600200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8-instr test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5989320" y="1399032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89320" y="1435608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M9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6007608" y="1600200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serialise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6686550" y="1399032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86550" y="1435608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M10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6704838" y="1600200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pack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7383780" y="1399032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83780" y="1435608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M11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7402068" y="1600200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OQC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8081010" y="1399032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81010" y="1435608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M12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8099298" y="1600200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ship FOB</a:t>
            </a:r>
            <a:endParaRPr lang="en-US" sz="620" dirty="0"/>
          </a:p>
        </p:txBody>
      </p:sp>
      <p:sp>
        <p:nvSpPr>
          <p:cNvPr id="41" name="Text 39"/>
          <p:cNvSpPr txBox="1"/>
          <p:nvPr/>
        </p:nvSpPr>
        <p:spPr>
          <a:xfrm>
            <a:off x="411480" y="199339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LINE · STAGE 1: TESTED MODULES (SKD) IN CHINA, INTEGRATION IN DELHI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11480" y="2194560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" y="2231136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B1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429768" y="2395728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IQC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1108710" y="2194560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08710" y="2231136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B2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1126998" y="2395728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frame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1805940" y="2194560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805940" y="2231136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B3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1824228" y="2395728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motion</a:t>
            </a:r>
            <a:endParaRPr lang="en-US" sz="620" dirty="0"/>
          </a:p>
        </p:txBody>
      </p:sp>
      <p:sp>
        <p:nvSpPr>
          <p:cNvPr id="51" name="Shape 49"/>
          <p:cNvSpPr/>
          <p:nvPr/>
        </p:nvSpPr>
        <p:spPr>
          <a:xfrm>
            <a:off x="2503170" y="2194560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503170" y="2231136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B4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2521458" y="2395728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zone A head</a:t>
            </a:r>
            <a:endParaRPr lang="en-US" sz="620" dirty="0"/>
          </a:p>
        </p:txBody>
      </p:sp>
      <p:sp>
        <p:nvSpPr>
          <p:cNvPr id="54" name="Shape 52"/>
          <p:cNvSpPr/>
          <p:nvPr/>
        </p:nvSpPr>
        <p:spPr>
          <a:xfrm>
            <a:off x="3200400" y="2194560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200400" y="2231136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B5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3218688" y="2395728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zone B head</a:t>
            </a:r>
            <a:endParaRPr lang="en-US" sz="620" dirty="0"/>
          </a:p>
        </p:txBody>
      </p:sp>
      <p:sp>
        <p:nvSpPr>
          <p:cNvPr id="57" name="Shape 55"/>
          <p:cNvSpPr/>
          <p:nvPr/>
        </p:nvSpPr>
        <p:spPr>
          <a:xfrm>
            <a:off x="3897630" y="2194560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897630" y="2231136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B6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3915918" y="2395728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stencil module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4594860" y="2194560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594860" y="2231136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B7</a:t>
            </a:r>
            <a:endParaRPr lang="en-US" sz="700" dirty="0"/>
          </a:p>
        </p:txBody>
      </p:sp>
      <p:sp>
        <p:nvSpPr>
          <p:cNvPr id="62" name="Text 60"/>
          <p:cNvSpPr txBox="1"/>
          <p:nvPr/>
        </p:nvSpPr>
        <p:spPr>
          <a:xfrm>
            <a:off x="4613148" y="2395728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control box</a:t>
            </a:r>
            <a:endParaRPr lang="en-US" sz="620" dirty="0"/>
          </a:p>
        </p:txBody>
      </p:sp>
      <p:sp>
        <p:nvSpPr>
          <p:cNvPr id="63" name="Shape 61"/>
          <p:cNvSpPr/>
          <p:nvPr/>
        </p:nvSpPr>
        <p:spPr>
          <a:xfrm>
            <a:off x="5292090" y="2194560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292090" y="2231136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B8</a:t>
            </a:r>
            <a:endParaRPr lang="en-US" sz="700" dirty="0"/>
          </a:p>
        </p:txBody>
      </p:sp>
      <p:sp>
        <p:nvSpPr>
          <p:cNvPr id="65" name="Text 63"/>
          <p:cNvSpPr txBox="1"/>
          <p:nvPr/>
        </p:nvSpPr>
        <p:spPr>
          <a:xfrm>
            <a:off x="5310378" y="2395728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module test (Mixer rig)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5989320" y="2194560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989320" y="2231136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B9</a:t>
            </a:r>
            <a:endParaRPr lang="en-US" sz="700" dirty="0"/>
          </a:p>
        </p:txBody>
      </p:sp>
      <p:sp>
        <p:nvSpPr>
          <p:cNvPr id="68" name="Text 66"/>
          <p:cNvSpPr txBox="1"/>
          <p:nvPr/>
        </p:nvSpPr>
        <p:spPr>
          <a:xfrm>
            <a:off x="6007608" y="2395728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kit + crate</a:t>
            </a:r>
            <a:endParaRPr lang="en-US" sz="620" dirty="0"/>
          </a:p>
        </p:txBody>
      </p:sp>
      <p:sp>
        <p:nvSpPr>
          <p:cNvPr id="69" name="Shape 67"/>
          <p:cNvSpPr/>
          <p:nvPr/>
        </p:nvSpPr>
        <p:spPr>
          <a:xfrm>
            <a:off x="6686550" y="2194560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686550" y="2231136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D1</a:t>
            </a:r>
            <a:endParaRPr lang="en-US" sz="700" dirty="0"/>
          </a:p>
        </p:txBody>
      </p:sp>
      <p:sp>
        <p:nvSpPr>
          <p:cNvPr id="71" name="Text 69"/>
          <p:cNvSpPr txBox="1"/>
          <p:nvPr/>
        </p:nvSpPr>
        <p:spPr>
          <a:xfrm>
            <a:off x="6704838" y="2395728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Delhi: integrate</a:t>
            </a:r>
            <a:endParaRPr lang="en-US" sz="620" dirty="0"/>
          </a:p>
        </p:txBody>
      </p:sp>
      <p:sp>
        <p:nvSpPr>
          <p:cNvPr id="72" name="Shape 70"/>
          <p:cNvSpPr/>
          <p:nvPr/>
        </p:nvSpPr>
        <p:spPr>
          <a:xfrm>
            <a:off x="7383780" y="2194560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383780" y="2231136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D2</a:t>
            </a:r>
            <a:endParaRPr lang="en-US" sz="700" dirty="0"/>
          </a:p>
        </p:txBody>
      </p:sp>
      <p:sp>
        <p:nvSpPr>
          <p:cNvPr id="74" name="Text 72"/>
          <p:cNvSpPr txBox="1"/>
          <p:nvPr/>
        </p:nvSpPr>
        <p:spPr>
          <a:xfrm>
            <a:off x="7402068" y="2395728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Delhi: calibrate</a:t>
            </a:r>
            <a:endParaRPr lang="en-US" sz="620" dirty="0"/>
          </a:p>
        </p:txBody>
      </p:sp>
      <p:sp>
        <p:nvSpPr>
          <p:cNvPr id="75" name="Shape 73"/>
          <p:cNvSpPr/>
          <p:nvPr/>
        </p:nvSpPr>
        <p:spPr>
          <a:xfrm>
            <a:off x="8081010" y="2194560"/>
            <a:ext cx="65151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081010" y="2231136"/>
            <a:ext cx="65151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D3</a:t>
            </a:r>
            <a:endParaRPr lang="en-US" sz="700" dirty="0"/>
          </a:p>
        </p:txBody>
      </p:sp>
      <p:sp>
        <p:nvSpPr>
          <p:cNvPr id="77" name="Text 75"/>
          <p:cNvSpPr txBox="1"/>
          <p:nvPr/>
        </p:nvSpPr>
        <p:spPr>
          <a:xfrm>
            <a:off x="8099298" y="2395728"/>
            <a:ext cx="6149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Delhi: make-a-PCB</a:t>
            </a:r>
            <a:endParaRPr lang="en-US" sz="620" dirty="0"/>
          </a:p>
        </p:txBody>
      </p:sp>
      <p:sp>
        <p:nvSpPr>
          <p:cNvPr id="78" name="Text 76"/>
          <p:cNvSpPr txBox="1"/>
          <p:nvPr/>
        </p:nvSpPr>
        <p:spPr>
          <a:xfrm>
            <a:off x="411480" y="278892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INDIA FINALISATION CENTRE · NOT A SECOND FACTORY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411480" y="2990088"/>
            <a:ext cx="134874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11480" y="3026664"/>
            <a:ext cx="13487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I1</a:t>
            </a:r>
            <a:endParaRPr lang="en-US" sz="700" dirty="0"/>
          </a:p>
        </p:txBody>
      </p:sp>
      <p:sp>
        <p:nvSpPr>
          <p:cNvPr id="81" name="Text 79"/>
          <p:cNvSpPr txBox="1"/>
          <p:nvPr/>
        </p:nvSpPr>
        <p:spPr>
          <a:xfrm>
            <a:off x="429768" y="3191256"/>
            <a:ext cx="13121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receive + scan</a:t>
            </a:r>
            <a:endParaRPr lang="en-US" sz="620" dirty="0"/>
          </a:p>
        </p:txBody>
      </p:sp>
      <p:sp>
        <p:nvSpPr>
          <p:cNvPr id="82" name="Shape 80"/>
          <p:cNvSpPr/>
          <p:nvPr/>
        </p:nvSpPr>
        <p:spPr>
          <a:xfrm>
            <a:off x="1805940" y="2990088"/>
            <a:ext cx="134874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805940" y="3026664"/>
            <a:ext cx="13487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I2</a:t>
            </a:r>
            <a:endParaRPr lang="en-US" sz="700" dirty="0"/>
          </a:p>
        </p:txBody>
      </p:sp>
      <p:sp>
        <p:nvSpPr>
          <p:cNvPr id="84" name="Text 82"/>
          <p:cNvSpPr txBox="1"/>
          <p:nvPr/>
        </p:nvSpPr>
        <p:spPr>
          <a:xfrm>
            <a:off x="1824228" y="3191256"/>
            <a:ext cx="13121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quarantine</a:t>
            </a:r>
            <a:endParaRPr lang="en-US" sz="620" dirty="0"/>
          </a:p>
        </p:txBody>
      </p:sp>
      <p:sp>
        <p:nvSpPr>
          <p:cNvPr id="85" name="Shape 83"/>
          <p:cNvSpPr/>
          <p:nvPr/>
        </p:nvSpPr>
        <p:spPr>
          <a:xfrm>
            <a:off x="3200400" y="2990088"/>
            <a:ext cx="134874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200400" y="3026664"/>
            <a:ext cx="13487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I3</a:t>
            </a:r>
            <a:endParaRPr lang="en-US" sz="700" dirty="0"/>
          </a:p>
        </p:txBody>
      </p:sp>
      <p:sp>
        <p:nvSpPr>
          <p:cNvPr id="87" name="Text 85"/>
          <p:cNvSpPr txBox="1"/>
          <p:nvPr/>
        </p:nvSpPr>
        <p:spPr>
          <a:xfrm>
            <a:off x="3218688" y="3191256"/>
            <a:ext cx="13121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power-on FCT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4594860" y="2990088"/>
            <a:ext cx="134874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4594860" y="3026664"/>
            <a:ext cx="13487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I4</a:t>
            </a:r>
            <a:endParaRPr lang="en-US" sz="700" dirty="0"/>
          </a:p>
        </p:txBody>
      </p:sp>
      <p:sp>
        <p:nvSpPr>
          <p:cNvPr id="90" name="Text 88"/>
          <p:cNvSpPr txBox="1"/>
          <p:nvPr/>
        </p:nvSpPr>
        <p:spPr>
          <a:xfrm>
            <a:off x="4613148" y="3191256"/>
            <a:ext cx="13121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calibration check</a:t>
            </a:r>
            <a:endParaRPr lang="en-US" sz="620" dirty="0"/>
          </a:p>
        </p:txBody>
      </p:sp>
      <p:sp>
        <p:nvSpPr>
          <p:cNvPr id="91" name="Shape 89"/>
          <p:cNvSpPr/>
          <p:nvPr/>
        </p:nvSpPr>
        <p:spPr>
          <a:xfrm>
            <a:off x="5989320" y="2990088"/>
            <a:ext cx="134874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989320" y="3026664"/>
            <a:ext cx="13487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I5</a:t>
            </a:r>
            <a:endParaRPr lang="en-US" sz="700" dirty="0"/>
          </a:p>
        </p:txBody>
      </p:sp>
      <p:sp>
        <p:nvSpPr>
          <p:cNvPr id="93" name="Text 91"/>
          <p:cNvSpPr txBox="1"/>
          <p:nvPr/>
        </p:nvSpPr>
        <p:spPr>
          <a:xfrm>
            <a:off x="6007608" y="3191256"/>
            <a:ext cx="13121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activate Proto licence</a:t>
            </a:r>
            <a:endParaRPr lang="en-US" sz="620" dirty="0"/>
          </a:p>
        </p:txBody>
      </p:sp>
      <p:sp>
        <p:nvSpPr>
          <p:cNvPr id="94" name="Shape 92"/>
          <p:cNvSpPr/>
          <p:nvPr/>
        </p:nvSpPr>
        <p:spPr>
          <a:xfrm>
            <a:off x="7383780" y="2990088"/>
            <a:ext cx="1348740" cy="54864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7383780" y="3026664"/>
            <a:ext cx="13487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I6</a:t>
            </a:r>
            <a:endParaRPr lang="en-US" sz="700" dirty="0"/>
          </a:p>
        </p:txBody>
      </p:sp>
      <p:sp>
        <p:nvSpPr>
          <p:cNvPr id="96" name="Text 94"/>
          <p:cNvSpPr txBox="1"/>
          <p:nvPr/>
        </p:nvSpPr>
        <p:spPr>
          <a:xfrm>
            <a:off x="7402068" y="3191256"/>
            <a:ext cx="13121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accept → stock</a:t>
            </a:r>
            <a:endParaRPr lang="en-US" sz="620" dirty="0"/>
          </a:p>
        </p:txBody>
      </p:sp>
      <p:sp>
        <p:nvSpPr>
          <p:cNvPr id="97" name="Shape 95"/>
          <p:cNvSpPr/>
          <p:nvPr/>
        </p:nvSpPr>
        <p:spPr>
          <a:xfrm>
            <a:off x="411480" y="3657600"/>
            <a:ext cx="4069080" cy="1024128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11480" y="3657600"/>
            <a:ext cx="406908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548640" y="374904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 OWN THE TEST SYSTEM</a:t>
            </a:r>
            <a:endParaRPr lang="en-US" sz="700" dirty="0"/>
          </a:p>
        </p:txBody>
      </p:sp>
      <p:sp>
        <p:nvSpPr>
          <p:cNvPr id="100" name="Text 98"/>
          <p:cNvSpPr txBox="1"/>
          <p:nvPr/>
        </p:nvSpPr>
        <p:spPr>
          <a:xfrm>
            <a:off x="548640" y="395020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Golden Mixer + our test app: scan serial → run sequence → PASS/FAIL per step → upload. Operators can't edit limits. One record per serial (PTP-MXR-2027-000173): lots, firmware hash, calibration, every value.</a:t>
            </a:r>
            <a:endParaRPr lang="en-US" sz="680" dirty="0"/>
          </a:p>
        </p:txBody>
      </p:sp>
      <p:sp>
        <p:nvSpPr>
          <p:cNvPr id="101" name="Shape 99"/>
          <p:cNvSpPr/>
          <p:nvPr/>
        </p:nvSpPr>
        <p:spPr>
          <a:xfrm>
            <a:off x="4663440" y="3657600"/>
            <a:ext cx="4069080" cy="1024128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663440" y="3657600"/>
            <a:ext cx="406908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4800600" y="374904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IP BY ARCHITECTURE</a:t>
            </a:r>
            <a:endParaRPr lang="en-US" sz="700" dirty="0"/>
          </a:p>
        </p:txBody>
      </p:sp>
      <p:sp>
        <p:nvSpPr>
          <p:cNvPr id="104" name="Text 102"/>
          <p:cNvSpPr txBox="1"/>
          <p:nvPr/>
        </p:nvSpPr>
        <p:spPr>
          <a:xfrm>
            <a:off x="4800600" y="395020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factory flashes a locked image; Proto activation and calibration logic stay with us. NNN in Chinese under PRC law, tooling is ours, no overruns, no substitution without a signed ECN.</a:t>
            </a:r>
            <a:endParaRPr lang="en-US" sz="680" dirty="0"/>
          </a:p>
        </p:txBody>
      </p:sp>
      <p:sp>
        <p:nvSpPr>
          <p:cNvPr id="105" name="Text 103"/>
          <p:cNvSpPr txBox="1"/>
          <p:nvPr/>
        </p:nvSpPr>
        <p:spPr>
          <a:xfrm>
            <a:off x="411480" y="4773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Source: PROTOPUS China assembly line master plan (29 Sep 2026), §7, §10, §14, §17.</a:t>
            </a:r>
            <a:endParaRPr lang="en-US" sz="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29 · CHINA · WHEN TURNKEY WINS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Price the landed cost, not the factory quote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406908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3350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27632"/>
          <a:ext cx="40690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325880"/>
                <a:gridCol w="150876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LINE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TODAY (REPORT)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CHINA TURNKEY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Parts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₹1,14,547 ($1,302)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inside the ex-works price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Duty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₹14,775 (16.5%)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16.5% × EXW (HS to confirm)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Freight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₹3,520 LCL share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≈₹8,000 crated machine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India labour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₹12,000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≈₹3,000 acceptance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Landed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₹1,44,842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EXW × 1.165 + 11,000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3017520"/>
            <a:ext cx="4069080" cy="384048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30175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Break-even EXW ≤ $1,305 (≤ $1,356 at the ₹1.5L target) vs $1,302 of parts → start SKD; turnkey when quotes prove it.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663440" y="1261872"/>
            <a:ext cx="406908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13350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Mixer</a:t>
            </a:r>
            <a:endParaRPr lang="en-US" sz="110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27632"/>
          <a:ext cx="40690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325880"/>
                <a:gridCol w="150876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LINE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TODAY (REPORT)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CHINA TURNKEY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Parts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₹9,926 ($112.8)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inside the ex-works price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Duty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₹1,638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16.5% × EXW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Freight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₹176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≈₹176 small carton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India labour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₹2,000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≈₹500 acceptance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Landed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₹13,740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EXW × 1.165 + 676</a:t>
                      </a:r>
                      <a:endParaRPr lang="en-US" sz="68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663440" y="3017520"/>
            <a:ext cx="4069080" cy="384048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54880" y="30175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Break-even EXW ≤ $127 (≤ $140 at target): $15–27 over parts. Tight at 100, comfortable at 1,000 → turnkey from day one.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411480" y="35478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NPI GATES · QUANTITIES SIZED TO EACH PRODUCT'S VALUE</a:t>
            </a:r>
            <a:endParaRPr lang="en-US" sz="700" dirty="0"/>
          </a:p>
        </p:txBody>
      </p:sp>
      <p:graphicFrame>
        <p:nvGraphicFramePr>
          <p:cNvPr id="9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730752"/>
          <a:ext cx="83210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188720"/>
                <a:gridCol w="1417320"/>
                <a:gridCol w="1600200"/>
                <a:gridCol w="356616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GATE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MIXER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BAKER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QUESTION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EXIT (ALL MUST PASS)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EVT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10 × 2 suppliers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2–3 module sets each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Can they reproduce it?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meets test spec; Rev B drawings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DVT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50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5 machines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Right for production?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reliability, transport, EMC pre-scan; PR-001…004 on factory units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PVT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100, sellable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10–20, sellable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Is the process right?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line operators; yield ≥ target (e.g. 95%); signed authorisation</a:t>
                      </a:r>
                      <a:endParaRPr lang="en-US" sz="66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411480" y="4773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Source: China assembly line master plan §9 and §12. Freight and India acceptance are the plan's assumptions; duty rate from the cost report. About 12 months to the first container.</a:t>
            </a:r>
            <a:endParaRPr lang="en-US" sz="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o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"/>
            <a:ext cx="1965960" cy="34198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788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you.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Come and try the loop.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40690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protopus-kappa.vercel.app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43159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soham9763015@ece.du.ac.in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0" y="411480"/>
            <a:ext cx="0" cy="448056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40680" y="429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MANAGEMENT TEAM &amp; CORE SKILLS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685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is building this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1188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Soham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5440680" y="17556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Founder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Third year ECE, Faculty of Technology, University of Delhi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440680" y="2560320"/>
            <a:ext cx="1572768" cy="0"/>
          </a:xfrm>
          <a:prstGeom prst="line">
            <a:avLst/>
          </a:prstGeom>
          <a:noFill/>
          <a:ln w="11430">
            <a:solidFill>
              <a:srgbClr val="CF8F4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40680" y="26243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Industrial design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141464" y="2560320"/>
            <a:ext cx="1572768" cy="0"/>
          </a:xfrm>
          <a:prstGeom prst="line">
            <a:avLst/>
          </a:prstGeom>
          <a:noFill/>
          <a:ln w="11430">
            <a:solidFill>
              <a:srgbClr val="CF8F4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41464" y="26243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Mechanical architecture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40680" y="3063240"/>
            <a:ext cx="1572768" cy="0"/>
          </a:xfrm>
          <a:prstGeom prst="line">
            <a:avLst/>
          </a:prstGeom>
          <a:noFill/>
          <a:ln w="11430">
            <a:solidFill>
              <a:srgbClr val="54AC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40680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Embedded electronics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141464" y="3063240"/>
            <a:ext cx="1572768" cy="0"/>
          </a:xfrm>
          <a:prstGeom prst="line">
            <a:avLst/>
          </a:prstGeom>
          <a:noFill/>
          <a:ln w="11430">
            <a:solidFill>
              <a:srgbClr val="CF8F4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41464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Machine software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4160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HIRING NEXT · </a:t>
            </a:r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software engineer who also writes firmware.</a:t>
            </a:r>
            <a:endParaRPr lang="en-US" sz="750" dirty="0"/>
          </a:p>
        </p:txBody>
      </p:sp>
      <p:pic>
        <p:nvPicPr>
          <p:cNvPr id="22" name="Image 1" descr="/home/user/lo/src/masco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3840480"/>
            <a:ext cx="1463040" cy="89054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APPENDIX · WHERE THE NUMBERS COME FROM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22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OUR DOCUMENTS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82296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PROTOPUS Cost Report · BOM workbook · Baker + Mixer workflow (“The story of a PCB”) · China assembly line master plan · all 29 Sep 2026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FAB PRICING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37160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jlcpcb.com PCB and PCBA pages · zbotic.in India shipping, duty and rush-fab guides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MACHINES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192024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voltera.io, eleshop.eu, elektor.com · Design World (LPKF) · Makera (PR Newswire, Jun 2026) · ToolGuyd, Make, Hackaday (Bantam) · TechCrunch (BotFactory) · Evertiq, 8 Apr 2026 (Nano Dimension) · EEVblog (Neoden)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INSTRUMENTS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46888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Digilent AD3 (Jameco, DigiKey) · ADALM2000 (Mouser) · Moku:Go (TEquipment) · Red Pitaya · Saleae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11480" y="297180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017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AI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301752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Flux (flux.ai; SiliconANGLE 27 Feb 2026) · Quilter (BusinessWire 7 Oct 2025) · Diode (Fenwick) · claude.com/connectors/autodesk-fusion · digitalproduction.com 30 Apr 2026 (Blender) · Lovable (TechCrunch 23 Jul 2025; founded.com)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11480" y="352044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MARKET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356616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IMARC · Grand View · Arduino · Hackster · Atal Innovation Mission · Forbes · Fab Foundation · AICTE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11480" y="406908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CONVENTIONS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2011680" y="411480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USD at ₹88 throughout, to match the cost report. Cycle times are engineering targets until the proof of concept measures them.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11480" y="461772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PROTOPUS pitch deck</dc:title>
  <dc:subject>PptxGenJS Presentation</dc:subject>
  <dc:creator>PROTOPUS</dc:creator>
  <cp:lastModifiedBy>PROTOPUS</cp:lastModifiedBy>
  <cp:revision>1</cp:revision>
  <dcterms:created xsi:type="dcterms:W3CDTF">2026-09-30T13:42:26Z</dcterms:created>
  <dcterms:modified xsi:type="dcterms:W3CDTF">2026-09-30T13:42:26Z</dcterms:modified>
</cp:coreProperties>
</file>